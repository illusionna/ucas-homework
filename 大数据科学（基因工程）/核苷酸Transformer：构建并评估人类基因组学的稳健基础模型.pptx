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9"/>
  </p:handoutMasterIdLst>
  <p:sldIdLst>
    <p:sldId id="3208" r:id="rId3"/>
    <p:sldId id="3209" r:id="rId4"/>
    <p:sldId id="3210" r:id="rId6"/>
    <p:sldId id="3211" r:id="rId7"/>
    <p:sldId id="3234" r:id="rId8"/>
    <p:sldId id="3213" r:id="rId9"/>
    <p:sldId id="3229" r:id="rId10"/>
    <p:sldId id="3235" r:id="rId11"/>
    <p:sldId id="3236" r:id="rId12"/>
    <p:sldId id="3237" r:id="rId13"/>
    <p:sldId id="3238" r:id="rId14"/>
    <p:sldId id="3239" r:id="rId15"/>
    <p:sldId id="3240" r:id="rId16"/>
    <p:sldId id="3241" r:id="rId17"/>
    <p:sldId id="3242" r:id="rId18"/>
    <p:sldId id="3243" r:id="rId19"/>
    <p:sldId id="3215" r:id="rId20"/>
    <p:sldId id="3217" r:id="rId21"/>
    <p:sldId id="3244" r:id="rId22"/>
    <p:sldId id="3218" r:id="rId23"/>
    <p:sldId id="3228" r:id="rId24"/>
    <p:sldId id="3245" r:id="rId25"/>
    <p:sldId id="3246" r:id="rId26"/>
    <p:sldId id="3247" r:id="rId27"/>
    <p:sldId id="3221" r:id="rId28"/>
  </p:sldIdLst>
  <p:sldSz cx="12858750" cy="7232650"/>
  <p:notesSz cx="6858000" cy="9144000"/>
  <p:custDataLst>
    <p:tags r:id="rId33"/>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p:defaultTextStyle>
  <p:extLst>
    <p:ext uri="{EFAFB233-063F-42B5-8137-9DF3F51BA10A}">
      <p15:sldGuideLst xmlns:p15="http://schemas.microsoft.com/office/powerpoint/2012/main">
        <p15:guide id="1" orient="horz" pos="370" userDrawn="1">
          <p15:clr>
            <a:srgbClr val="A4A3A4"/>
          </p15:clr>
        </p15:guide>
        <p15:guide id="2" pos="2833" userDrawn="1">
          <p15:clr>
            <a:srgbClr val="A4A3A4"/>
          </p15:clr>
        </p15:guide>
        <p15:guide id="3" pos="535" userDrawn="1">
          <p15:clr>
            <a:srgbClr val="A4A3A4"/>
          </p15:clr>
        </p15:guide>
        <p15:guide id="4" orient="horz" pos="4257" userDrawn="1">
          <p15:clr>
            <a:srgbClr val="A4A3A4"/>
          </p15:clr>
        </p15:guide>
        <p15:guide id="5" pos="7546" userDrawn="1">
          <p15:clr>
            <a:srgbClr val="A4A3A4"/>
          </p15:clr>
        </p15:guide>
        <p15:guide id="6" pos="421" userDrawn="1">
          <p15:clr>
            <a:srgbClr val="A4A3A4"/>
          </p15:clr>
        </p15:guide>
        <p15:guide id="7" pos="13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14271"/>
    <a:srgbClr val="7F7F7F"/>
    <a:srgbClr val="194A96"/>
    <a:srgbClr val="0170C1"/>
    <a:srgbClr val="A78357"/>
    <a:srgbClr val="28C7D4"/>
    <a:srgbClr val="F94D4D"/>
    <a:srgbClr val="FEFEFE"/>
    <a:srgbClr val="8F1A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72" autoAdjust="0"/>
    <p:restoredTop sz="92986" autoAdjust="0"/>
  </p:normalViewPr>
  <p:slideViewPr>
    <p:cSldViewPr showGuides="1">
      <p:cViewPr varScale="1">
        <p:scale>
          <a:sx n="104" d="100"/>
          <a:sy n="104" d="100"/>
        </p:scale>
        <p:origin x="96" y="740"/>
      </p:cViewPr>
      <p:guideLst>
        <p:guide orient="horz" pos="370"/>
        <p:guide pos="2833"/>
        <p:guide pos="535"/>
        <p:guide orient="horz" pos="4257"/>
        <p:guide pos="7546"/>
        <p:guide pos="421"/>
        <p:guide pos="1302"/>
      </p:guideLst>
    </p:cSldViewPr>
  </p:slideViewPr>
  <p:outlineViewPr>
    <p:cViewPr>
      <p:scale>
        <a:sx n="100" d="100"/>
        <a:sy n="100" d="100"/>
      </p:scale>
      <p:origin x="0" y="984"/>
    </p:cViewPr>
  </p:outlineViewPr>
  <p:notesTextViewPr>
    <p:cViewPr>
      <p:scale>
        <a:sx n="1" d="1"/>
        <a:sy n="1" d="1"/>
      </p:scale>
      <p:origin x="0" y="0"/>
    </p:cViewPr>
  </p:notesTextViewPr>
  <p:sorterViewPr>
    <p:cViewPr>
      <p:scale>
        <a:sx n="132" d="100"/>
        <a:sy n="132" d="100"/>
      </p:scale>
      <p:origin x="0" y="0"/>
    </p:cViewPr>
  </p:sorterViewPr>
  <p:notesViewPr>
    <p:cSldViewPr>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3" Type="http://schemas.openxmlformats.org/officeDocument/2006/relationships/tags" Target="tags/tag10.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742FC-62BB-4B81-9CA5-3B750A4B458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E82F1-5B17-4D95-A6D6-EB96F2D72B6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B1C3CEF-B625-4558-9E75-934060632C1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43A93E93-166D-47F5-9EF1-ACEABE24AEEA}" type="datetimeFigureOut">
              <a:rPr lang="zh-CN" altLang="en-US" smtClean="0"/>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118D5ACA-62CA-46DB-AD6B-12EDD6D51A2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microsoft.com/office/2007/relationships/hdphoto" Target="../media/image4.wdp"/><Relationship Id="rId14" Type="http://schemas.openxmlformats.org/officeDocument/2006/relationships/notesSlide" Target="../notesSlides/notesSlide1.xml"/><Relationship Id="rId13" Type="http://schemas.openxmlformats.org/officeDocument/2006/relationships/slideLayout" Target="../slideLayouts/slideLayout1.xml"/><Relationship Id="rId12" Type="http://schemas.openxmlformats.org/officeDocument/2006/relationships/image" Target="../media/image2.pn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t="7647" b="7647"/>
          <a:stretch>
            <a:fillRect/>
          </a:stretch>
        </p:blipFill>
        <p:spPr>
          <a:xfrm>
            <a:off x="353" y="0"/>
            <a:ext cx="12858044" cy="7232650"/>
          </a:xfrm>
          <a:prstGeom prst="rect">
            <a:avLst/>
          </a:prstGeom>
        </p:spPr>
      </p:pic>
      <p:sp>
        <p:nvSpPr>
          <p:cNvPr id="6" name="矩形 5"/>
          <p:cNvSpPr/>
          <p:nvPr/>
        </p:nvSpPr>
        <p:spPr>
          <a:xfrm>
            <a:off x="706" y="0"/>
            <a:ext cx="12858044" cy="7232650"/>
          </a:xfrm>
          <a:prstGeom prst="rect">
            <a:avLst/>
          </a:prstGeom>
          <a:gradFill flip="none" rotWithShape="1">
            <a:gsLst>
              <a:gs pos="5000">
                <a:srgbClr val="314371">
                  <a:lumMod val="43000"/>
                </a:srgbClr>
              </a:gs>
              <a:gs pos="40000">
                <a:srgbClr val="314371">
                  <a:alpha val="88000"/>
                </a:srgbClr>
              </a:gs>
              <a:gs pos="66000">
                <a:schemeClr val="accent5">
                  <a:alpha val="41000"/>
                  <a:lumMod val="94000"/>
                  <a:lumOff val="6000"/>
                </a:schemeClr>
              </a:gs>
              <a:gs pos="100000">
                <a:schemeClr val="accent5">
                  <a:lumMod val="10000"/>
                  <a:lumOff val="90000"/>
                  <a:alpha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1" name="矩形 10"/>
          <p:cNvSpPr/>
          <p:nvPr/>
        </p:nvSpPr>
        <p:spPr>
          <a:xfrm>
            <a:off x="596900" y="5681345"/>
            <a:ext cx="196342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596900" y="5260975"/>
            <a:ext cx="2701290" cy="398780"/>
          </a:xfrm>
          <a:prstGeom prst="rect">
            <a:avLst/>
          </a:prstGeom>
          <a:noFill/>
        </p:spPr>
        <p:txBody>
          <a:bodyPr wrap="square" rtlCol="0">
            <a:spAutoFit/>
          </a:bodyPr>
          <a:lstStyle/>
          <a:p>
            <a:r>
              <a:rPr lang="zh-CN" altLang="en-US" sz="2000" dirty="0">
                <a:solidFill>
                  <a:schemeClr val="bg1"/>
                </a:solidFill>
                <a:latin typeface="黑体" panose="02010609060101010101" charset="-122"/>
                <a:ea typeface="黑体" panose="02010609060101010101" charset="-122"/>
                <a:cs typeface="+mn-ea"/>
                <a:sym typeface="+mn-lt"/>
              </a:rPr>
              <a:t>汇报人：</a:t>
            </a:r>
            <a:r>
              <a:rPr lang="en-US" altLang="zh-CN" sz="2000" dirty="0">
                <a:solidFill>
                  <a:schemeClr val="bg1"/>
                </a:solidFill>
                <a:latin typeface="黑体" panose="02010609060101010101" charset="-122"/>
                <a:ea typeface="黑体" panose="02010609060101010101" charset="-122"/>
                <a:cs typeface="+mn-ea"/>
                <a:sym typeface="+mn-lt"/>
              </a:rPr>
              <a:t>Illusion</a:t>
            </a:r>
            <a:r>
              <a:rPr lang="en-US" altLang="zh-CN" sz="2000" dirty="0">
                <a:solidFill>
                  <a:schemeClr val="bg1"/>
                </a:solidFill>
                <a:latin typeface="黑体" panose="02010609060101010101" charset="-122"/>
                <a:ea typeface="黑体" panose="02010609060101010101" charset="-122"/>
                <a:cs typeface="+mn-ea"/>
                <a:sym typeface="+mn-lt"/>
              </a:rPr>
              <a:t>na</a:t>
            </a:r>
            <a:endParaRPr lang="en-US" altLang="zh-CN" sz="2000" dirty="0">
              <a:solidFill>
                <a:schemeClr val="bg1"/>
              </a:solidFill>
              <a:latin typeface="黑体" panose="02010609060101010101" charset="-122"/>
              <a:ea typeface="黑体" panose="02010609060101010101" charset="-122"/>
              <a:cs typeface="+mn-ea"/>
              <a:sym typeface="+mn-lt"/>
            </a:endParaRPr>
          </a:p>
        </p:txBody>
      </p:sp>
      <p:sp>
        <p:nvSpPr>
          <p:cNvPr id="17" name="文本框 16"/>
          <p:cNvSpPr txBox="1"/>
          <p:nvPr/>
        </p:nvSpPr>
        <p:spPr>
          <a:xfrm>
            <a:off x="392430" y="2282190"/>
            <a:ext cx="8880475" cy="2584450"/>
          </a:xfrm>
          <a:prstGeom prst="rect">
            <a:avLst/>
          </a:prstGeom>
          <a:noFill/>
        </p:spPr>
        <p:txBody>
          <a:bodyPr wrap="square" rtlCol="0">
            <a:spAutoFit/>
          </a:bodyPr>
          <a:lstStyle/>
          <a:p>
            <a:r>
              <a:rPr lang="zh-CN" altLang="en-US" sz="5400" dirty="0">
                <a:solidFill>
                  <a:schemeClr val="bg1"/>
                </a:solidFill>
                <a:uFillTx/>
                <a:latin typeface="Times New Roman" panose="02020503050405090304" charset="0"/>
                <a:ea typeface="黑体" panose="02010609060101010101" charset="-122"/>
                <a:cs typeface="+mn-ea"/>
                <a:sym typeface="+mn-lt"/>
              </a:rPr>
              <a:t>核苷酸</a:t>
            </a:r>
            <a:r>
              <a:rPr lang="en-US" altLang="zh-CN" sz="5400" dirty="0">
                <a:solidFill>
                  <a:schemeClr val="bg1"/>
                </a:solidFill>
                <a:uFillTx/>
                <a:latin typeface="Times New Roman" panose="02020503050405090304" charset="0"/>
                <a:ea typeface="黑体" panose="02010609060101010101" charset="-122"/>
                <a:cs typeface="+mn-ea"/>
                <a:sym typeface="+mn-lt"/>
              </a:rPr>
              <a:t> Transformer</a:t>
            </a:r>
            <a:r>
              <a:rPr lang="zh-CN" altLang="en-US" sz="5400" dirty="0">
                <a:solidFill>
                  <a:schemeClr val="bg1"/>
                </a:solidFill>
                <a:uFillTx/>
                <a:latin typeface="Times New Roman" panose="02020503050405090304" charset="0"/>
                <a:ea typeface="黑体" panose="02010609060101010101" charset="-122"/>
                <a:cs typeface="+mn-ea"/>
                <a:sym typeface="+mn-lt"/>
              </a:rPr>
              <a:t>：构建并评估人类基因组学的稳健基础模型</a:t>
            </a:r>
            <a:endParaRPr lang="zh-CN" altLang="en-US" sz="5400" dirty="0">
              <a:solidFill>
                <a:schemeClr val="bg1"/>
              </a:solidFill>
              <a:uFillTx/>
              <a:latin typeface="Times New Roman" panose="02020503050405090304" charset="0"/>
              <a:ea typeface="黑体" panose="02010609060101010101" charset="-122"/>
              <a:cs typeface="+mn-ea"/>
              <a:sym typeface="+mn-lt"/>
            </a:endParaRPr>
          </a:p>
        </p:txBody>
      </p:sp>
      <p:grpSp>
        <p:nvGrpSpPr>
          <p:cNvPr id="8" name="组合 7"/>
          <p:cNvGrpSpPr/>
          <p:nvPr/>
        </p:nvGrpSpPr>
        <p:grpSpPr>
          <a:xfrm>
            <a:off x="9017770" y="6098612"/>
            <a:ext cx="3428994" cy="829945"/>
            <a:chOff x="9017770" y="6098612"/>
            <a:chExt cx="3428994" cy="829945"/>
          </a:xfrm>
        </p:grpSpPr>
        <p:cxnSp>
          <p:nvCxnSpPr>
            <p:cNvPr id="39" name="直接连接符 38"/>
            <p:cNvCxnSpPr/>
            <p:nvPr/>
          </p:nvCxnSpPr>
          <p:spPr>
            <a:xfrm>
              <a:off x="9453711" y="6890239"/>
              <a:ext cx="292249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017770" y="6098612"/>
              <a:ext cx="3428994" cy="829945"/>
            </a:xfrm>
            <a:prstGeom prst="rect">
              <a:avLst/>
            </a:prstGeom>
            <a:noFill/>
          </p:spPr>
          <p:txBody>
            <a:bodyPr wrap="square" rtlCol="0">
              <a:spAutoFit/>
            </a:bodyPr>
            <a:lstStyle/>
            <a:p>
              <a:pPr algn="r">
                <a:lnSpc>
                  <a:spcPct val="150000"/>
                </a:lnSpc>
              </a:pPr>
              <a:r>
                <a:rPr lang="en-GB" altLang="zh-CN" sz="1600" b="1" i="0" dirty="0">
                  <a:solidFill>
                    <a:schemeClr val="bg1"/>
                  </a:solidFill>
                  <a:latin typeface="Times New Roman" panose="02020503050405090304" charset="0"/>
                  <a:ea typeface="思源黑体" panose="020B0400000000000000" charset="-122"/>
                </a:rPr>
                <a:t>University of </a:t>
              </a:r>
              <a:endParaRPr lang="en-GB" altLang="zh-CN" sz="1600" b="1" i="0" dirty="0">
                <a:solidFill>
                  <a:schemeClr val="bg1"/>
                </a:solidFill>
                <a:latin typeface="Times New Roman" panose="02020503050405090304" charset="0"/>
                <a:ea typeface="思源黑体" panose="020B0400000000000000" charset="-122"/>
              </a:endParaRPr>
            </a:p>
            <a:p>
              <a:pPr algn="r">
                <a:lnSpc>
                  <a:spcPct val="150000"/>
                </a:lnSpc>
              </a:pPr>
              <a:r>
                <a:rPr lang="en-GB" altLang="zh-CN" sz="1600" b="1" i="0" dirty="0">
                  <a:solidFill>
                    <a:schemeClr val="bg1"/>
                  </a:solidFill>
                  <a:latin typeface="Times New Roman" panose="02020503050405090304" charset="0"/>
                  <a:ea typeface="思源黑体" panose="020B0400000000000000" charset="-122"/>
                </a:rPr>
                <a:t>Chinese Academy of Sciences</a:t>
              </a:r>
              <a:endParaRPr lang="zh-CN" altLang="en-US" sz="1795" b="1" spc="53" dirty="0">
                <a:solidFill>
                  <a:schemeClr val="bg1"/>
                </a:solidFill>
                <a:latin typeface="Times New Roman" panose="02020503050405090304" charset="0"/>
                <a:ea typeface="思源黑体" panose="020B0400000000000000" charset="-122"/>
                <a:cs typeface="+mn-ea"/>
                <a:sym typeface="+mn-lt"/>
              </a:endParaRPr>
            </a:p>
          </p:txBody>
        </p:sp>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0" y="410474"/>
            <a:ext cx="2697427" cy="5691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11" grpId="0" bldLvl="0" animBg="1"/>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40000"/>
                    </a14:imgEffect>
                    <a14:imgEffect>
                      <a14:sharpenSoften amount="100000"/>
                    </a14:imgEffect>
                  </a14:imgLayer>
                </a14:imgProps>
              </a:ext>
              <a:ext uri="{28A0092B-C50C-407E-A947-70E740481C1C}">
                <a14:useLocalDpi xmlns:a14="http://schemas.microsoft.com/office/drawing/2010/main" val="0"/>
              </a:ext>
            </a:extLst>
          </a:blip>
          <a:srcRect t="58140" b="4363"/>
          <a:stretch>
            <a:fillRect/>
          </a:stretch>
        </p:blipFill>
        <p:spPr>
          <a:xfrm>
            <a:off x="353" y="0"/>
            <a:ext cx="12852000" cy="7229250"/>
          </a:xfrm>
          <a:prstGeom prst="rect">
            <a:avLst/>
          </a:prstGeom>
        </p:spPr>
      </p:pic>
      <p:sp>
        <p:nvSpPr>
          <p:cNvPr id="8" name="矩形 7"/>
          <p:cNvSpPr/>
          <p:nvPr/>
        </p:nvSpPr>
        <p:spPr>
          <a:xfrm>
            <a:off x="-51345" y="-15925"/>
            <a:ext cx="12875088"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grpSp>
        <p:nvGrpSpPr>
          <p:cNvPr id="7" name="组合 6"/>
          <p:cNvGrpSpPr/>
          <p:nvPr>
            <p:custDataLst>
              <p:tags r:id="rId3"/>
            </p:custDataLst>
          </p:nvPr>
        </p:nvGrpSpPr>
        <p:grpSpPr>
          <a:xfrm>
            <a:off x="2701290" y="2032000"/>
            <a:ext cx="7515225" cy="3908425"/>
            <a:chOff x="331615" y="1755361"/>
            <a:chExt cx="5774176" cy="3908408"/>
          </a:xfrm>
        </p:grpSpPr>
        <p:sp>
          <p:nvSpPr>
            <p:cNvPr id="25" name="文本框 24"/>
            <p:cNvSpPr txBox="1"/>
            <p:nvPr>
              <p:custDataLst>
                <p:tags r:id="rId4"/>
              </p:custDataLst>
            </p:nvPr>
          </p:nvSpPr>
          <p:spPr>
            <a:xfrm>
              <a:off x="331615" y="1755361"/>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1.</a:t>
              </a:r>
              <a:endParaRPr lang="zh-CN" altLang="en-US" sz="2740" dirty="0">
                <a:solidFill>
                  <a:schemeClr val="bg1"/>
                </a:solidFill>
                <a:latin typeface="Times New Roman" panose="02020503050405090304" charset="0"/>
                <a:ea typeface="思源黑体" panose="020B0400000000000000" charset="-122"/>
                <a:cs typeface="+mn-ea"/>
                <a:sym typeface="+mn-lt"/>
              </a:endParaRPr>
            </a:p>
          </p:txBody>
        </p:sp>
        <p:sp>
          <p:nvSpPr>
            <p:cNvPr id="22" name="文本框 21"/>
            <p:cNvSpPr txBox="1"/>
            <p:nvPr>
              <p:custDataLst>
                <p:tags r:id="rId5"/>
              </p:custDataLst>
            </p:nvPr>
          </p:nvSpPr>
          <p:spPr>
            <a:xfrm>
              <a:off x="952678" y="1763475"/>
              <a:ext cx="5153113" cy="506728"/>
            </a:xfrm>
            <a:prstGeom prst="rect">
              <a:avLst/>
            </a:prstGeom>
            <a:noFill/>
          </p:spPr>
          <p:txBody>
            <a:bodyPr wrap="square" rtlCol="0">
              <a:spAutoFit/>
            </a:bodyPr>
            <a:lstStyle/>
            <a:p>
              <a:r>
                <a:rPr lang="zh-CN" altLang="en-US" sz="2700" spc="-209" dirty="0">
                  <a:solidFill>
                    <a:schemeClr val="bg1"/>
                  </a:solidFill>
                  <a:uFillTx/>
                  <a:latin typeface="Times New Roman" panose="02020503050405090304" charset="0"/>
                  <a:ea typeface="黑体" panose="02010609060101010101" charset="-122"/>
                  <a:cs typeface="+mn-ea"/>
                  <a:sym typeface="+mn-lt"/>
                </a:rPr>
                <a:t>引言：基因组大数据的机遇与</a:t>
              </a:r>
              <a:r>
                <a:rPr lang="en-US" altLang="zh-CN" sz="2700" spc="-209" dirty="0">
                  <a:solidFill>
                    <a:schemeClr val="bg1"/>
                  </a:solidFill>
                  <a:uFillTx/>
                  <a:latin typeface="Times New Roman" panose="02020503050405090304" charset="0"/>
                  <a:ea typeface="黑体" panose="02010609060101010101" charset="-122"/>
                  <a:cs typeface="+mn-ea"/>
                  <a:sym typeface="+mn-lt"/>
                </a:rPr>
                <a:t> AI </a:t>
              </a:r>
              <a:r>
                <a:rPr lang="zh-CN" altLang="en-US" sz="2700" spc="-209" dirty="0">
                  <a:solidFill>
                    <a:schemeClr val="bg1"/>
                  </a:solidFill>
                  <a:uFillTx/>
                  <a:latin typeface="Times New Roman" panose="02020503050405090304" charset="0"/>
                  <a:ea typeface="黑体" panose="02010609060101010101" charset="-122"/>
                  <a:cs typeface="+mn-ea"/>
                  <a:sym typeface="+mn-lt"/>
                </a:rPr>
                <a:t>大模型</a:t>
              </a:r>
              <a:endParaRPr lang="zh-CN" altLang="en-US" sz="2700" spc="-209" dirty="0">
                <a:solidFill>
                  <a:schemeClr val="bg1"/>
                </a:solidFill>
                <a:uFillTx/>
                <a:latin typeface="Times New Roman" panose="02020503050405090304" charset="0"/>
                <a:ea typeface="黑体" panose="02010609060101010101" charset="-122"/>
                <a:cs typeface="+mn-ea"/>
                <a:sym typeface="+mn-lt"/>
              </a:endParaRPr>
            </a:p>
          </p:txBody>
        </p:sp>
        <p:sp>
          <p:nvSpPr>
            <p:cNvPr id="44" name="文本框 43"/>
            <p:cNvSpPr txBox="1"/>
            <p:nvPr>
              <p:custDataLst>
                <p:tags r:id="rId6"/>
              </p:custDataLst>
            </p:nvPr>
          </p:nvSpPr>
          <p:spPr>
            <a:xfrm>
              <a:off x="331615" y="2886549"/>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2.</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45" name="文本框 44"/>
            <p:cNvSpPr txBox="1"/>
            <p:nvPr>
              <p:custDataLst>
                <p:tags r:id="rId7"/>
              </p:custDataLst>
            </p:nvPr>
          </p:nvSpPr>
          <p:spPr>
            <a:xfrm>
              <a:off x="952678" y="2894663"/>
              <a:ext cx="5153113" cy="506728"/>
            </a:xfrm>
            <a:prstGeom prst="rect">
              <a:avLst/>
            </a:prstGeom>
            <a:noFill/>
          </p:spPr>
          <p:txBody>
            <a:bodyPr wrap="square" rtlCol="0">
              <a:spAutoFit/>
            </a:bodyPr>
            <a:lstStyle/>
            <a:p>
              <a:r>
                <a:rPr lang="zh-CN" altLang="en-US" sz="2700" spc="-209" dirty="0">
                  <a:solidFill>
                    <a:schemeClr val="bg1"/>
                  </a:solidFill>
                  <a:uFillTx/>
                  <a:latin typeface="Times New Roman" panose="02020503050405090304" charset="0"/>
                  <a:ea typeface="黑体" panose="02010609060101010101" charset="-122"/>
                  <a:cs typeface="+mn-ea"/>
                  <a:sym typeface="+mn-lt"/>
                </a:rPr>
                <a:t>研究结果：</a:t>
              </a:r>
              <a:r>
                <a:rPr lang="en-US" altLang="zh-CN" sz="2700" spc="-209" dirty="0">
                  <a:solidFill>
                    <a:schemeClr val="bg1"/>
                  </a:solidFill>
                  <a:uFillTx/>
                  <a:latin typeface="Times New Roman" panose="02020503050405090304" charset="0"/>
                  <a:ea typeface="黑体" panose="02010609060101010101" charset="-122"/>
                  <a:cs typeface="+mn-ea"/>
                  <a:sym typeface="+mn-lt"/>
                </a:rPr>
                <a:t>Nucleotide Transformer </a:t>
              </a:r>
              <a:r>
                <a:rPr lang="zh-CN" altLang="en-US" sz="2700" spc="-209" dirty="0">
                  <a:solidFill>
                    <a:schemeClr val="bg1"/>
                  </a:solidFill>
                  <a:uFillTx/>
                  <a:latin typeface="Times New Roman" panose="02020503050405090304" charset="0"/>
                  <a:ea typeface="黑体" panose="02010609060101010101" charset="-122"/>
                  <a:cs typeface="+mn-ea"/>
                  <a:sym typeface="+mn-lt"/>
                </a:rPr>
                <a:t>核心性能表现</a:t>
              </a:r>
              <a:endParaRPr lang="zh-CN" altLang="en-US" sz="2700" spc="-209" dirty="0">
                <a:solidFill>
                  <a:schemeClr val="bg1"/>
                </a:solidFill>
                <a:uFillTx/>
                <a:latin typeface="Times New Roman" panose="02020503050405090304" charset="0"/>
                <a:ea typeface="黑体" panose="02010609060101010101" charset="-122"/>
                <a:cs typeface="+mn-ea"/>
                <a:sym typeface="+mn-lt"/>
              </a:endParaRPr>
            </a:p>
          </p:txBody>
        </p:sp>
        <p:sp>
          <p:nvSpPr>
            <p:cNvPr id="48" name="文本框 47"/>
            <p:cNvSpPr txBox="1"/>
            <p:nvPr>
              <p:custDataLst>
                <p:tags r:id="rId8"/>
              </p:custDataLst>
            </p:nvPr>
          </p:nvSpPr>
          <p:spPr>
            <a:xfrm>
              <a:off x="331615" y="4017737"/>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3.</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49" name="文本框 48"/>
            <p:cNvSpPr txBox="1"/>
            <p:nvPr>
              <p:custDataLst>
                <p:tags r:id="rId9"/>
              </p:custDataLst>
            </p:nvPr>
          </p:nvSpPr>
          <p:spPr>
            <a:xfrm>
              <a:off x="952678" y="4025852"/>
              <a:ext cx="5153113" cy="506728"/>
            </a:xfrm>
            <a:prstGeom prst="rect">
              <a:avLst/>
            </a:prstGeom>
            <a:noFill/>
          </p:spPr>
          <p:txBody>
            <a:bodyPr wrap="square" rtlCol="0">
              <a:spAutoFit/>
            </a:bodyPr>
            <a:lstStyle/>
            <a:p>
              <a:r>
                <a:rPr lang="zh-CN" altLang="en-US" sz="2700" spc="-209" dirty="0">
                  <a:solidFill>
                    <a:schemeClr val="bg1"/>
                  </a:solidFill>
                  <a:uFillTx/>
                  <a:latin typeface="Times New Roman" panose="02020503050405090304" charset="0"/>
                  <a:ea typeface="黑体" panose="02010609060101010101" charset="-122"/>
                  <a:cs typeface="+mn-ea"/>
                  <a:sym typeface="+mn-lt"/>
                </a:rPr>
                <a:t>讨论：数据多样性与模型规模法则的启示</a:t>
              </a:r>
              <a:endParaRPr lang="zh-CN" altLang="en-US" sz="2700" spc="-209" dirty="0">
                <a:solidFill>
                  <a:schemeClr val="bg1"/>
                </a:solidFill>
                <a:uFillTx/>
                <a:latin typeface="Times New Roman" panose="02020503050405090304" charset="0"/>
                <a:ea typeface="黑体" panose="02010609060101010101" charset="-122"/>
                <a:cs typeface="+mn-ea"/>
                <a:sym typeface="+mn-lt"/>
              </a:endParaRPr>
            </a:p>
          </p:txBody>
        </p:sp>
        <p:sp>
          <p:nvSpPr>
            <p:cNvPr id="52" name="文本框 51"/>
            <p:cNvSpPr txBox="1"/>
            <p:nvPr>
              <p:custDataLst>
                <p:tags r:id="rId10"/>
              </p:custDataLst>
            </p:nvPr>
          </p:nvSpPr>
          <p:spPr>
            <a:xfrm>
              <a:off x="331615" y="5148927"/>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4.</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53" name="文本框 52"/>
            <p:cNvSpPr txBox="1"/>
            <p:nvPr>
              <p:custDataLst>
                <p:tags r:id="rId11"/>
              </p:custDataLst>
            </p:nvPr>
          </p:nvSpPr>
          <p:spPr>
            <a:xfrm>
              <a:off x="952678" y="5157041"/>
              <a:ext cx="5153113" cy="506728"/>
            </a:xfrm>
            <a:prstGeom prst="rect">
              <a:avLst/>
            </a:prstGeom>
            <a:noFill/>
          </p:spPr>
          <p:txBody>
            <a:bodyPr wrap="square" rtlCol="0">
              <a:spAutoFit/>
            </a:bodyPr>
            <a:lstStyle/>
            <a:p>
              <a:r>
                <a:rPr lang="zh-CN" altLang="en-US" sz="2700" spc="-209" dirty="0">
                  <a:solidFill>
                    <a:schemeClr val="bg1"/>
                  </a:solidFill>
                  <a:uFillTx/>
                  <a:latin typeface="Times New Roman" panose="02020503050405090304" charset="0"/>
                  <a:ea typeface="黑体" panose="02010609060101010101" charset="-122"/>
                  <a:cs typeface="+mn-ea"/>
                  <a:sym typeface="+mn-lt"/>
                </a:rPr>
                <a:t>研究方法：底层大数据构建与模型架构</a:t>
              </a:r>
              <a:endParaRPr lang="zh-CN" altLang="en-US" sz="2700" spc="-209" dirty="0">
                <a:solidFill>
                  <a:schemeClr val="bg1"/>
                </a:solidFill>
                <a:uFillTx/>
                <a:latin typeface="Times New Roman" panose="02020503050405090304" charset="0"/>
                <a:ea typeface="黑体" panose="02010609060101010101" charset="-122"/>
                <a:cs typeface="+mn-ea"/>
                <a:sym typeface="+mn-lt"/>
              </a:endParaRPr>
            </a:p>
          </p:txBody>
        </p:sp>
      </p:grpSp>
      <p:sp>
        <p:nvSpPr>
          <p:cNvPr id="38" name="TextBox 4"/>
          <p:cNvSpPr txBox="1"/>
          <p:nvPr/>
        </p:nvSpPr>
        <p:spPr>
          <a:xfrm>
            <a:off x="353" y="0"/>
            <a:ext cx="478433" cy="119841"/>
          </a:xfrm>
          <a:prstGeom prst="rect">
            <a:avLst/>
          </a:prstGeom>
          <a:noFill/>
        </p:spPr>
        <p:txBody>
          <a:bodyPr wrap="square" rtlCol="0">
            <a:spAutoFit/>
          </a:bodyPr>
          <a:lstStyle/>
          <a:p>
            <a:pPr>
              <a:lnSpc>
                <a:spcPct val="200000"/>
              </a:lnSpc>
            </a:pPr>
            <a:r>
              <a:rPr lang="zh-CN" altLang="en-US" sz="105" dirty="0">
                <a:solidFill>
                  <a:schemeClr val="tx1">
                    <a:alpha val="0"/>
                  </a:schemeClr>
                </a:solidFill>
                <a:cs typeface="+mn-ea"/>
                <a:sym typeface="+mn-lt"/>
              </a:rPr>
              <a:t>行业</a:t>
            </a:r>
            <a:r>
              <a:rPr lang="en-US" altLang="zh-CN" sz="105" dirty="0">
                <a:solidFill>
                  <a:schemeClr val="tx1">
                    <a:alpha val="0"/>
                  </a:schemeClr>
                </a:solidFill>
                <a:cs typeface="+mn-ea"/>
                <a:sym typeface="+mn-lt"/>
              </a:rPr>
              <a:t>PPT</a:t>
            </a:r>
            <a:r>
              <a:rPr lang="zh-CN" altLang="en-US" sz="105" dirty="0">
                <a:solidFill>
                  <a:schemeClr val="tx1">
                    <a:alpha val="0"/>
                  </a:schemeClr>
                </a:solidFill>
                <a:cs typeface="+mn-ea"/>
                <a:sym typeface="+mn-lt"/>
              </a:rPr>
              <a:t>模板</a:t>
            </a:r>
            <a:r>
              <a:rPr lang="en-US" altLang="zh-CN" sz="105" dirty="0">
                <a:solidFill>
                  <a:schemeClr val="tx1">
                    <a:alpha val="0"/>
                  </a:schemeClr>
                </a:solidFill>
                <a:cs typeface="+mn-ea"/>
                <a:sym typeface="+mn-lt"/>
              </a:rPr>
              <a:t>http://www.1ppt.com/hangye/</a:t>
            </a:r>
            <a:endParaRPr lang="en-US" altLang="zh-CN" sz="105" dirty="0">
              <a:solidFill>
                <a:schemeClr val="tx1">
                  <a:alpha val="0"/>
                </a:schemeClr>
              </a:solidFill>
              <a:cs typeface="+mn-ea"/>
              <a:sym typeface="+mn-lt"/>
            </a:endParaRPr>
          </a:p>
        </p:txBody>
      </p:sp>
      <p:pic>
        <p:nvPicPr>
          <p:cNvPr id="2" name="图片 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9720" y="753634"/>
            <a:ext cx="2697427" cy="5691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0"/>
            <a:ext cx="12858044" cy="7232650"/>
          </a:xfrm>
          <a:prstGeom prst="rect">
            <a:avLst/>
          </a:prstGeom>
        </p:spPr>
      </p:pic>
      <p:sp>
        <p:nvSpPr>
          <p:cNvPr id="6" name="矩形 5"/>
          <p:cNvSpPr/>
          <p:nvPr/>
        </p:nvSpPr>
        <p:spPr>
          <a:xfrm>
            <a:off x="-1948" y="-15925"/>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030345" y="955675"/>
            <a:ext cx="4798060" cy="4798060"/>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20" name="文本框 19"/>
            <p:cNvSpPr txBox="1"/>
            <p:nvPr/>
          </p:nvSpPr>
          <p:spPr>
            <a:xfrm>
              <a:off x="4170422" y="2020329"/>
              <a:ext cx="3844925" cy="650533"/>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1</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19" name="文本框 18"/>
            <p:cNvSpPr txBox="1"/>
            <p:nvPr/>
          </p:nvSpPr>
          <p:spPr>
            <a:xfrm>
              <a:off x="4170661" y="2905519"/>
              <a:ext cx="3844925" cy="598382"/>
            </a:xfrm>
            <a:prstGeom prst="rect">
              <a:avLst/>
            </a:prstGeom>
            <a:noFill/>
            <a:ln w="9525">
              <a:noFill/>
            </a:ln>
          </p:spPr>
          <p:txBody>
            <a:bodyPr wrap="square">
              <a:spAutoFit/>
            </a:bodyPr>
            <a:lstStyle/>
            <a:p>
              <a:pPr marL="419100" indent="-419100" algn="ctr"/>
              <a:r>
                <a:rPr lang="zh-CN" altLang="en-US" sz="4000" spc="-209" dirty="0">
                  <a:solidFill>
                    <a:schemeClr val="bg1"/>
                  </a:solidFill>
                  <a:uFillTx/>
                  <a:latin typeface="黑体" panose="02010609060101010101" charset="-122"/>
                  <a:ea typeface="黑体" panose="02010609060101010101" charset="-122"/>
                  <a:cs typeface="+mn-ea"/>
                  <a:sym typeface="+mn-lt"/>
                </a:rPr>
                <a:t>引言</a:t>
              </a:r>
              <a:endParaRPr lang="zh-CN" altLang="en-US" sz="4000" b="1" dirty="0">
                <a:solidFill>
                  <a:schemeClr val="bg1"/>
                </a:solidFill>
                <a:latin typeface="黑体" panose="02010609060101010101" charset="-122"/>
                <a:ea typeface="黑体" panose="02010609060101010101"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chemeClr val="bg1"/>
                </a:solidFill>
                <a:latin typeface="黑体" panose="02010609060101010101" charset="-122"/>
                <a:ea typeface="黑体" panose="02010609060101010101" charset="-122"/>
                <a:cs typeface="+mn-ea"/>
                <a:sym typeface="+mn-lt"/>
              </a:rPr>
              <a:t>引</a:t>
            </a:r>
            <a:r>
              <a:rPr lang="en-US" altLang="zh-CN" sz="1600" b="1" spc="-211" dirty="0">
                <a:solidFill>
                  <a:schemeClr val="bg1"/>
                </a:solidFill>
                <a:latin typeface="黑体" panose="02010609060101010101" charset="-122"/>
                <a:ea typeface="黑体" panose="02010609060101010101" charset="-122"/>
                <a:cs typeface="+mn-ea"/>
                <a:sym typeface="+mn-lt"/>
              </a:rPr>
              <a:t>    </a:t>
            </a:r>
            <a:r>
              <a:rPr lang="zh-CN" altLang="en-US" sz="1600" b="1" spc="-211" dirty="0">
                <a:solidFill>
                  <a:schemeClr val="bg1"/>
                </a:solidFill>
                <a:latin typeface="黑体" panose="02010609060101010101" charset="-122"/>
                <a:ea typeface="黑体" panose="02010609060101010101" charset="-122"/>
                <a:cs typeface="+mn-ea"/>
                <a:sym typeface="+mn-lt"/>
              </a:rPr>
              <a:t>言</a:t>
            </a:r>
            <a:endParaRPr lang="zh-CN" altLang="en-US" sz="1600" b="1" spc="-211" dirty="0">
              <a:solidFill>
                <a:schemeClr val="bg1"/>
              </a:solidFill>
              <a:latin typeface="黑体" panose="02010609060101010101" charset="-122"/>
              <a:ea typeface="黑体" panose="02010609060101010101" charset="-122"/>
              <a:cs typeface="+mn-ea"/>
              <a:sym typeface="+mn-lt"/>
            </a:endParaRPr>
          </a:p>
        </p:txBody>
      </p:sp>
      <p:sp>
        <p:nvSpPr>
          <p:cNvPr id="2" name="矩形 1"/>
          <p:cNvSpPr/>
          <p:nvPr/>
        </p:nvSpPr>
        <p:spPr>
          <a:xfrm>
            <a:off x="6100485"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 name="矩形 2"/>
          <p:cNvSpPr/>
          <p:nvPr/>
        </p:nvSpPr>
        <p:spPr>
          <a:xfrm>
            <a:off x="8349041"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416812" y="228271"/>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研</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究</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结</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果</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讨</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研</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究</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方</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法</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1" name="文本框 40"/>
          <p:cNvSpPr txBox="1"/>
          <p:nvPr/>
        </p:nvSpPr>
        <p:spPr>
          <a:xfrm>
            <a:off x="524510" y="1167765"/>
            <a:ext cx="430720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基因组学大数据的机遇与挑战</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596900" y="2104390"/>
            <a:ext cx="8301355" cy="4121150"/>
          </a:xfrm>
          <a:prstGeom prst="rect">
            <a:avLst/>
          </a:prstGeom>
          <a:noFill/>
        </p:spPr>
        <p:txBody>
          <a:bodyPr wrap="square" rtlCol="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背景</a:t>
            </a:r>
            <a:r>
              <a:rPr lang="zh-CN" altLang="en-US" sz="1800" spc="40" dirty="0">
                <a:solidFill>
                  <a:srgbClr val="314371"/>
                </a:solidFill>
                <a:uFillTx/>
                <a:latin typeface="Times New Roman" panose="02020503050405090304" charset="0"/>
                <a:ea typeface="黑体" panose="02010609060101010101" charset="-122"/>
                <a:cs typeface="+mn-ea"/>
                <a:sym typeface="+mn-lt"/>
              </a:rPr>
              <a:t>：</a:t>
            </a:r>
            <a:r>
              <a:rPr lang="en-US" altLang="zh-CN" sz="1800" spc="40" dirty="0">
                <a:solidFill>
                  <a:srgbClr val="314371"/>
                </a:solidFill>
                <a:uFillTx/>
                <a:latin typeface="Times New Roman" panose="02020503050405090304" charset="0"/>
                <a:ea typeface="黑体" panose="02010609060101010101" charset="-122"/>
                <a:cs typeface="+mn-ea"/>
                <a:sym typeface="+mn-lt"/>
              </a:rPr>
              <a:t>DNA </a:t>
            </a:r>
            <a:r>
              <a:rPr lang="zh-CN" altLang="en-US" sz="1800" spc="40" dirty="0">
                <a:solidFill>
                  <a:srgbClr val="314371"/>
                </a:solidFill>
                <a:uFillTx/>
                <a:latin typeface="Times New Roman" panose="02020503050405090304" charset="0"/>
                <a:ea typeface="黑体" panose="02010609060101010101" charset="-122"/>
                <a:cs typeface="+mn-ea"/>
                <a:sym typeface="+mn-lt"/>
              </a:rPr>
              <a:t>序列中编码的</a:t>
            </a:r>
            <a:r>
              <a:rPr lang="zh-CN" altLang="en-US" sz="1800" spc="40" dirty="0">
                <a:solidFill>
                  <a:srgbClr val="314371"/>
                </a:solidFill>
                <a:uFillTx/>
                <a:latin typeface="Times New Roman" panose="02020503050405090304" charset="0"/>
                <a:ea typeface="黑体" panose="02010609060101010101" charset="-122"/>
                <a:cs typeface="+mn-ea"/>
                <a:sym typeface="+mn-lt"/>
              </a:rPr>
              <a:t>依赖关系</a:t>
            </a:r>
            <a:r>
              <a:rPr lang="zh-CN" altLang="en-US" sz="1800" spc="40" dirty="0">
                <a:solidFill>
                  <a:srgbClr val="314371"/>
                </a:solidFill>
                <a:uFillTx/>
                <a:latin typeface="Times New Roman" panose="02020503050405090304" charset="0"/>
                <a:ea typeface="黑体" panose="02010609060101010101" charset="-122"/>
                <a:cs typeface="+mn-ea"/>
                <a:sym typeface="+mn-lt"/>
              </a:rPr>
              <a:t>模式对于理解基因组过程起着基础性作用</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大数据的涌现</a:t>
            </a:r>
            <a:r>
              <a:rPr lang="zh-CN" altLang="en-US" sz="1800" spc="40" dirty="0">
                <a:solidFill>
                  <a:srgbClr val="314371"/>
                </a:solidFill>
                <a:uFillTx/>
                <a:latin typeface="Times New Roman" panose="02020503050405090304" charset="0"/>
                <a:ea typeface="黑体" panose="02010609060101010101" charset="-122"/>
                <a:cs typeface="+mn-ea"/>
                <a:sym typeface="+mn-lt"/>
              </a:rPr>
              <a:t>：现代基因组学产生了海量的无标签测序数据，如涵盖物种进化与人类群体的变异数据</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技术瓶颈</a:t>
            </a:r>
            <a:r>
              <a:rPr lang="zh-CN" altLang="en-US" sz="1800" spc="40" dirty="0">
                <a:solidFill>
                  <a:srgbClr val="314371"/>
                </a:solidFill>
                <a:uFillTx/>
                <a:latin typeface="Times New Roman" panose="02020503050405090304" charset="0"/>
                <a:ea typeface="黑体" panose="02010609060101010101" charset="-122"/>
                <a:cs typeface="+mn-ea"/>
                <a:sym typeface="+mn-lt"/>
              </a:rPr>
              <a:t>：面对极其庞大的数据量，传统的分析手段面临瓶颈，迫切需要强大的深度学习方法来从中提取准确的生物学信号</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en-US" altLang="zh-CN" sz="1800" b="1" spc="40" dirty="0">
                <a:solidFill>
                  <a:srgbClr val="314371"/>
                </a:solidFill>
                <a:uFillTx/>
                <a:latin typeface="Times New Roman" panose="02020503050405090304" charset="0"/>
                <a:ea typeface="黑体" panose="02010609060101010101" charset="-122"/>
                <a:cs typeface="+mn-ea"/>
                <a:sym typeface="+mn-lt"/>
              </a:rPr>
              <a:t>AI </a:t>
            </a:r>
            <a:r>
              <a:rPr lang="zh-CN" altLang="en-US" sz="1800" b="1" spc="40" dirty="0">
                <a:solidFill>
                  <a:srgbClr val="314371"/>
                </a:solidFill>
                <a:uFillTx/>
                <a:latin typeface="Times New Roman" panose="02020503050405090304" charset="0"/>
                <a:ea typeface="黑体" panose="02010609060101010101" charset="-122"/>
                <a:cs typeface="+mn-ea"/>
                <a:sym typeface="+mn-lt"/>
              </a:rPr>
              <a:t>迁移</a:t>
            </a:r>
            <a:r>
              <a:rPr lang="zh-CN" altLang="en-US" sz="1800" spc="40" dirty="0">
                <a:solidFill>
                  <a:srgbClr val="314371"/>
                </a:solidFill>
                <a:uFillTx/>
                <a:latin typeface="Times New Roman" panose="02020503050405090304" charset="0"/>
                <a:ea typeface="黑体" panose="02010609060101010101" charset="-122"/>
                <a:cs typeface="+mn-ea"/>
                <a:sym typeface="+mn-lt"/>
              </a:rPr>
              <a:t>：自然语言处理领域的基础模型（如</a:t>
            </a:r>
            <a:r>
              <a:rPr lang="en-US" altLang="zh-CN" sz="1800" spc="40" dirty="0">
                <a:solidFill>
                  <a:srgbClr val="314371"/>
                </a:solidFill>
                <a:uFillTx/>
                <a:latin typeface="Times New Roman" panose="02020503050405090304" charset="0"/>
                <a:ea typeface="黑体" panose="02010609060101010101" charset="-122"/>
                <a:cs typeface="+mn-ea"/>
                <a:sym typeface="+mn-lt"/>
              </a:rPr>
              <a:t> BERT </a:t>
            </a:r>
            <a:r>
              <a:rPr lang="zh-CN" altLang="en-US" sz="1800" spc="40" dirty="0">
                <a:solidFill>
                  <a:srgbClr val="314371"/>
                </a:solidFill>
                <a:uFillTx/>
                <a:latin typeface="Times New Roman" panose="02020503050405090304" charset="0"/>
                <a:ea typeface="黑体" panose="02010609060101010101" charset="-122"/>
                <a:cs typeface="+mn-ea"/>
                <a:sym typeface="+mn-lt"/>
              </a:rPr>
              <a:t>和</a:t>
            </a:r>
            <a:r>
              <a:rPr lang="en-US" altLang="zh-CN" sz="1800" spc="40" dirty="0">
                <a:solidFill>
                  <a:srgbClr val="314371"/>
                </a:solidFill>
                <a:uFillTx/>
                <a:latin typeface="Times New Roman" panose="02020503050405090304" charset="0"/>
                <a:ea typeface="黑体" panose="02010609060101010101" charset="-122"/>
                <a:cs typeface="+mn-ea"/>
                <a:sym typeface="+mn-lt"/>
              </a:rPr>
              <a:t> GPT</a:t>
            </a:r>
            <a:r>
              <a:rPr lang="zh-CN" altLang="en-US" sz="1800" spc="40" dirty="0">
                <a:solidFill>
                  <a:srgbClr val="314371"/>
                </a:solidFill>
                <a:uFillTx/>
                <a:latin typeface="Times New Roman" panose="02020503050405090304" charset="0"/>
                <a:ea typeface="黑体" panose="02010609060101010101" charset="-122"/>
                <a:cs typeface="+mn-ea"/>
                <a:sym typeface="+mn-lt"/>
              </a:rPr>
              <a:t>）证明了无监督学习在海量无标签数据上的威力，这为基因组学提供了破局思路</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8" name="图片 7" descr="Gemini_Generated_Image_d6w99id6w99id6w9"/>
          <p:cNvPicPr>
            <a:picLocks noChangeAspect="1"/>
          </p:cNvPicPr>
          <p:nvPr/>
        </p:nvPicPr>
        <p:blipFill>
          <a:blip r:embed="rId2"/>
          <a:srcRect r="1725"/>
          <a:stretch>
            <a:fillRect/>
          </a:stretch>
        </p:blipFill>
        <p:spPr>
          <a:xfrm>
            <a:off x="8898255" y="1240155"/>
            <a:ext cx="3291840" cy="52901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41"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96265" y="3400425"/>
            <a:ext cx="6438265" cy="3701415"/>
          </a:xfrm>
          <a:prstGeom prst="rect">
            <a:avLst/>
          </a:prstGeom>
        </p:spPr>
      </p:pic>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chemeClr val="bg1"/>
                </a:solidFill>
                <a:latin typeface="黑体" panose="02010609060101010101" charset="-122"/>
                <a:ea typeface="黑体" panose="02010609060101010101" charset="-122"/>
                <a:cs typeface="+mn-ea"/>
                <a:sym typeface="+mn-lt"/>
              </a:rPr>
              <a:t>引</a:t>
            </a:r>
            <a:r>
              <a:rPr lang="en-US" altLang="zh-CN" sz="1600" b="1" spc="-211" dirty="0">
                <a:solidFill>
                  <a:schemeClr val="bg1"/>
                </a:solidFill>
                <a:latin typeface="黑体" panose="02010609060101010101" charset="-122"/>
                <a:ea typeface="黑体" panose="02010609060101010101" charset="-122"/>
                <a:cs typeface="+mn-ea"/>
                <a:sym typeface="+mn-lt"/>
              </a:rPr>
              <a:t>    </a:t>
            </a:r>
            <a:r>
              <a:rPr lang="zh-CN" altLang="en-US" sz="1600" b="1" spc="-211" dirty="0">
                <a:solidFill>
                  <a:schemeClr val="bg1"/>
                </a:solidFill>
                <a:latin typeface="黑体" panose="02010609060101010101" charset="-122"/>
                <a:ea typeface="黑体" panose="02010609060101010101" charset="-122"/>
                <a:cs typeface="+mn-ea"/>
                <a:sym typeface="+mn-lt"/>
              </a:rPr>
              <a:t>言</a:t>
            </a:r>
            <a:endParaRPr lang="zh-CN" altLang="en-US" sz="1600" b="1" spc="-211" dirty="0">
              <a:solidFill>
                <a:schemeClr val="bg1"/>
              </a:solidFill>
              <a:latin typeface="黑体" panose="02010609060101010101" charset="-122"/>
              <a:ea typeface="黑体" panose="02010609060101010101" charset="-122"/>
              <a:cs typeface="+mn-ea"/>
              <a:sym typeface="+mn-lt"/>
            </a:endParaRPr>
          </a:p>
        </p:txBody>
      </p:sp>
      <p:sp>
        <p:nvSpPr>
          <p:cNvPr id="2" name="矩形 1"/>
          <p:cNvSpPr/>
          <p:nvPr/>
        </p:nvSpPr>
        <p:spPr>
          <a:xfrm>
            <a:off x="6100485"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 name="矩形 2"/>
          <p:cNvSpPr/>
          <p:nvPr/>
        </p:nvSpPr>
        <p:spPr>
          <a:xfrm>
            <a:off x="8349041"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416812" y="228271"/>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研</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究</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结</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果</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讨</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mn-ea"/>
                <a:sym typeface="+mn-lt"/>
              </a:rPr>
              <a:t>研</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究</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方</a:t>
            </a:r>
            <a:r>
              <a:rPr lang="en-US" altLang="zh-CN" sz="1685" b="1" dirty="0">
                <a:solidFill>
                  <a:schemeClr val="bg1">
                    <a:lumMod val="50000"/>
                  </a:schemeClr>
                </a:solidFill>
                <a:latin typeface="黑体" panose="02010609060101010101" charset="-122"/>
                <a:ea typeface="黑体" panose="02010609060101010101" charset="-122"/>
                <a:cs typeface="+mn-ea"/>
                <a:sym typeface="+mn-lt"/>
              </a:rPr>
              <a:t> </a:t>
            </a:r>
            <a:r>
              <a:rPr lang="zh-CN" altLang="en-US" sz="1685" b="1" dirty="0">
                <a:solidFill>
                  <a:schemeClr val="bg1">
                    <a:lumMod val="50000"/>
                  </a:schemeClr>
                </a:solidFill>
                <a:latin typeface="黑体" panose="02010609060101010101" charset="-122"/>
                <a:ea typeface="黑体" panose="02010609060101010101" charset="-122"/>
                <a:cs typeface="+mn-ea"/>
                <a:sym typeface="+mn-lt"/>
              </a:rPr>
              <a:t>法</a:t>
            </a:r>
            <a:endParaRPr lang="zh-CN" altLang="en-US" sz="1685" b="1" dirty="0">
              <a:solidFill>
                <a:schemeClr val="bg1">
                  <a:lumMod val="50000"/>
                </a:schemeClr>
              </a:solidFill>
              <a:latin typeface="黑体" panose="02010609060101010101" charset="-122"/>
              <a:ea typeface="黑体" panose="02010609060101010101" charset="-122"/>
              <a:cs typeface="+mn-ea"/>
              <a:sym typeface="+mn-lt"/>
            </a:endParaRPr>
          </a:p>
        </p:txBody>
      </p:sp>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1" name="文本框 40"/>
          <p:cNvSpPr txBox="1"/>
          <p:nvPr/>
        </p:nvSpPr>
        <p:spPr>
          <a:xfrm>
            <a:off x="524510" y="1167765"/>
            <a:ext cx="4746625" cy="491490"/>
          </a:xfrm>
          <a:prstGeom prst="rect">
            <a:avLst/>
          </a:prstGeom>
          <a:noFill/>
        </p:spPr>
        <p:txBody>
          <a:bodyPr wrap="square" rtlCol="0">
            <a:spAutoFit/>
          </a:bodyPr>
          <a:lstStyle/>
          <a:p>
            <a:pPr algn="l"/>
            <a:r>
              <a:rPr lang="en-US" altLang="zh-CN" sz="2600" b="1" spc="-150" dirty="0">
                <a:solidFill>
                  <a:srgbClr val="314371"/>
                </a:solidFill>
                <a:uFillTx/>
                <a:latin typeface="Times New Roman" panose="02020503050405090304" charset="0"/>
                <a:ea typeface="黑体" panose="02010609060101010101" charset="-122"/>
                <a:cs typeface="+mn-ea"/>
                <a:sym typeface="+mn-lt"/>
              </a:rPr>
              <a:t>Nucleotide Transformer (NT) </a:t>
            </a:r>
            <a:r>
              <a:rPr lang="zh-CN" altLang="en-US" sz="2600" b="1" spc="-150" dirty="0">
                <a:solidFill>
                  <a:srgbClr val="314371"/>
                </a:solidFill>
                <a:uFillTx/>
                <a:latin typeface="Times New Roman" panose="02020503050405090304" charset="0"/>
                <a:ea typeface="黑体" panose="02010609060101010101" charset="-122"/>
                <a:cs typeface="+mn-ea"/>
                <a:sym typeface="+mn-lt"/>
              </a:rPr>
              <a:t>简介</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524510" y="1528445"/>
            <a:ext cx="11144885" cy="178879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模型构建</a:t>
            </a:r>
            <a:r>
              <a:rPr lang="zh-CN" altLang="en-US" sz="1800" spc="40" dirty="0">
                <a:solidFill>
                  <a:srgbClr val="314371"/>
                </a:solidFill>
                <a:uFillTx/>
                <a:latin typeface="Times New Roman" panose="02020503050405090304" charset="0"/>
                <a:ea typeface="黑体" panose="02010609060101010101" charset="-122"/>
                <a:cs typeface="+mn-ea"/>
                <a:sym typeface="+mn-lt"/>
              </a:rPr>
              <a:t>：研究团队开发了名为</a:t>
            </a:r>
            <a:r>
              <a:rPr lang="en-US" altLang="zh-CN" sz="1800" spc="40" dirty="0">
                <a:solidFill>
                  <a:srgbClr val="314371"/>
                </a:solidFill>
                <a:uFillTx/>
                <a:latin typeface="Times New Roman" panose="02020503050405090304" charset="0"/>
                <a:ea typeface="黑体" panose="02010609060101010101" charset="-122"/>
                <a:cs typeface="+mn-ea"/>
                <a:sym typeface="+mn-lt"/>
              </a:rPr>
              <a:t> Nucleotide Transformer </a:t>
            </a:r>
            <a:r>
              <a:rPr lang="zh-CN" altLang="en-US" sz="1800" spc="40" dirty="0">
                <a:solidFill>
                  <a:srgbClr val="314371"/>
                </a:solidFill>
                <a:uFillTx/>
                <a:latin typeface="Times New Roman" panose="02020503050405090304" charset="0"/>
                <a:ea typeface="黑体" panose="02010609060101010101" charset="-122"/>
                <a:cs typeface="+mn-ea"/>
                <a:sym typeface="+mn-lt"/>
              </a:rPr>
              <a:t>的</a:t>
            </a:r>
            <a:r>
              <a:rPr lang="en-US" altLang="zh-CN" sz="1800" spc="40" dirty="0">
                <a:solidFill>
                  <a:srgbClr val="314371"/>
                </a:solidFill>
                <a:uFillTx/>
                <a:latin typeface="Times New Roman" panose="02020503050405090304" charset="0"/>
                <a:ea typeface="黑体" panose="02010609060101010101" charset="-122"/>
                <a:cs typeface="+mn-ea"/>
                <a:sym typeface="+mn-lt"/>
              </a:rPr>
              <a:t> DNA </a:t>
            </a:r>
            <a:r>
              <a:rPr lang="zh-CN" altLang="en-US" sz="1800" spc="40" dirty="0">
                <a:solidFill>
                  <a:srgbClr val="314371"/>
                </a:solidFill>
                <a:uFillTx/>
                <a:latin typeface="Times New Roman" panose="02020503050405090304" charset="0"/>
                <a:ea typeface="黑体" panose="02010609060101010101" charset="-122"/>
                <a:cs typeface="+mn-ea"/>
                <a:sym typeface="+mn-lt"/>
              </a:rPr>
              <a:t>语言基础模型</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模型规模</a:t>
            </a:r>
            <a:r>
              <a:rPr lang="zh-CN" altLang="en-US" sz="1800" spc="40" dirty="0">
                <a:solidFill>
                  <a:srgbClr val="314371"/>
                </a:solidFill>
                <a:uFillTx/>
                <a:latin typeface="Times New Roman" panose="02020503050405090304" charset="0"/>
                <a:ea typeface="黑体" panose="02010609060101010101" charset="-122"/>
                <a:cs typeface="+mn-ea"/>
                <a:sym typeface="+mn-lt"/>
              </a:rPr>
              <a:t>：为探究规模法则，团队构建了</a:t>
            </a:r>
            <a:r>
              <a:rPr lang="en-US" altLang="zh-CN" sz="1800" spc="40" dirty="0">
                <a:solidFill>
                  <a:srgbClr val="314371"/>
                </a:solidFill>
                <a:uFillTx/>
                <a:latin typeface="Times New Roman" panose="02020503050405090304" charset="0"/>
                <a:ea typeface="黑体" panose="02010609060101010101" charset="-122"/>
                <a:cs typeface="+mn-ea"/>
                <a:sym typeface="+mn-lt"/>
              </a:rPr>
              <a:t> 4 </a:t>
            </a:r>
            <a:r>
              <a:rPr lang="zh-CN" altLang="en-US" sz="1800" spc="40" dirty="0">
                <a:solidFill>
                  <a:srgbClr val="314371"/>
                </a:solidFill>
                <a:uFillTx/>
                <a:latin typeface="Times New Roman" panose="02020503050405090304" charset="0"/>
                <a:ea typeface="黑体" panose="02010609060101010101" charset="-122"/>
                <a:cs typeface="+mn-ea"/>
                <a:sym typeface="+mn-lt"/>
              </a:rPr>
              <a:t>个不同大小的模型，参数量从</a:t>
            </a:r>
            <a:r>
              <a:rPr lang="en-US" altLang="zh-CN" sz="1800" spc="40" dirty="0">
                <a:solidFill>
                  <a:srgbClr val="314371"/>
                </a:solidFill>
                <a:uFillTx/>
                <a:latin typeface="Times New Roman" panose="02020503050405090304" charset="0"/>
                <a:ea typeface="黑体" panose="02010609060101010101" charset="-122"/>
                <a:cs typeface="+mn-ea"/>
                <a:sym typeface="+mn-lt"/>
              </a:rPr>
              <a:t> 5000 </a:t>
            </a:r>
            <a:r>
              <a:rPr lang="zh-CN" altLang="en-US" sz="1800" spc="40" dirty="0">
                <a:solidFill>
                  <a:srgbClr val="314371"/>
                </a:solidFill>
                <a:uFillTx/>
                <a:latin typeface="Times New Roman" panose="02020503050405090304" charset="0"/>
                <a:ea typeface="黑体" panose="02010609060101010101" charset="-122"/>
                <a:cs typeface="+mn-ea"/>
                <a:sym typeface="+mn-lt"/>
              </a:rPr>
              <a:t>万到</a:t>
            </a:r>
            <a:r>
              <a:rPr lang="en-US" altLang="zh-CN" sz="1800" spc="40" dirty="0">
                <a:solidFill>
                  <a:srgbClr val="314371"/>
                </a:solidFill>
                <a:uFillTx/>
                <a:latin typeface="Times New Roman" panose="02020503050405090304" charset="0"/>
                <a:ea typeface="黑体" panose="02010609060101010101" charset="-122"/>
                <a:cs typeface="+mn-ea"/>
                <a:sym typeface="+mn-lt"/>
              </a:rPr>
              <a:t> 25 </a:t>
            </a:r>
            <a:r>
              <a:rPr lang="zh-CN" altLang="en-US" sz="1800" spc="40" dirty="0">
                <a:solidFill>
                  <a:srgbClr val="314371"/>
                </a:solidFill>
                <a:uFillTx/>
                <a:latin typeface="Times New Roman" panose="02020503050405090304" charset="0"/>
                <a:ea typeface="黑体" panose="02010609060101010101" charset="-122"/>
                <a:cs typeface="+mn-ea"/>
                <a:sym typeface="+mn-lt"/>
              </a:rPr>
              <a:t>亿不等</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大数据输入</a:t>
            </a:r>
            <a:r>
              <a:rPr lang="zh-CN" altLang="en-US" sz="1800" spc="40" dirty="0">
                <a:solidFill>
                  <a:srgbClr val="314371"/>
                </a:solidFill>
                <a:uFillTx/>
                <a:latin typeface="Times New Roman" panose="02020503050405090304" charset="0"/>
                <a:ea typeface="黑体" panose="02010609060101010101" charset="-122"/>
                <a:cs typeface="+mn-ea"/>
                <a:sym typeface="+mn-lt"/>
              </a:rPr>
              <a:t>：预训练使用了三类极其庞大的基因组数据集</a:t>
            </a:r>
            <a:endParaRPr lang="en-US" altLang="zh-CN" sz="1800" spc="40" dirty="0">
              <a:solidFill>
                <a:srgbClr val="314371"/>
              </a:solidFill>
              <a:uFillTx/>
              <a:latin typeface="Times New Roman" panose="02020503050405090304" charset="0"/>
              <a:ea typeface="黑体" panose="02010609060101010101" charset="-122"/>
              <a:cs typeface="+mn-ea"/>
              <a:sym typeface="+mn-lt"/>
            </a:endParaRPr>
          </a:p>
        </p:txBody>
      </p:sp>
      <p:sp>
        <p:nvSpPr>
          <p:cNvPr id="8" name="文本框 7"/>
          <p:cNvSpPr txBox="1"/>
          <p:nvPr/>
        </p:nvSpPr>
        <p:spPr>
          <a:xfrm>
            <a:off x="7725410" y="4109720"/>
            <a:ext cx="4734560" cy="1931670"/>
          </a:xfrm>
          <a:prstGeom prst="rect">
            <a:avLst/>
          </a:prstGeom>
          <a:noFill/>
        </p:spPr>
        <p:txBody>
          <a:bodyPr wrap="square" rtlCol="0" anchor="t" anchorCtr="0">
            <a:noAutofit/>
          </a:bodyPr>
          <a:lstStyle/>
          <a:p>
            <a:pPr marL="285750" indent="-285750" algn="l" eaLnBrk="1" latinLnBrk="0" hangingPunct="1">
              <a:lnSpc>
                <a:spcPct val="200000"/>
              </a:lnSpc>
              <a:buFont typeface="Wingdings" panose="05000000000000000000" charset="0"/>
              <a:buChar char="ü"/>
            </a:pPr>
            <a:r>
              <a:rPr lang="zh-CN" altLang="en-US" sz="1800" spc="40" dirty="0">
                <a:solidFill>
                  <a:srgbClr val="314371"/>
                </a:solidFill>
                <a:uFillTx/>
                <a:latin typeface="Times New Roman" panose="02020503050405090304" charset="0"/>
                <a:ea typeface="黑体" panose="02010609060101010101" charset="-122"/>
                <a:cs typeface="+mn-ea"/>
                <a:sym typeface="+mn-lt"/>
              </a:rPr>
              <a:t>人类参考基因组</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ü"/>
            </a:pPr>
            <a:r>
              <a:rPr lang="en-US" altLang="zh-CN" sz="1800" spc="40" dirty="0">
                <a:solidFill>
                  <a:srgbClr val="314371"/>
                </a:solidFill>
                <a:uFillTx/>
                <a:latin typeface="Times New Roman" panose="02020503050405090304" charset="0"/>
                <a:ea typeface="黑体" panose="02010609060101010101" charset="-122"/>
                <a:cs typeface="+mn-ea"/>
                <a:sym typeface="+mn-lt"/>
              </a:rPr>
              <a:t>3202 </a:t>
            </a:r>
            <a:r>
              <a:rPr lang="zh-CN" altLang="en-US" sz="1800" spc="40" dirty="0">
                <a:solidFill>
                  <a:srgbClr val="314371"/>
                </a:solidFill>
                <a:uFillTx/>
                <a:latin typeface="Times New Roman" panose="02020503050405090304" charset="0"/>
                <a:ea typeface="黑体" panose="02010609060101010101" charset="-122"/>
                <a:cs typeface="+mn-ea"/>
                <a:sym typeface="+mn-lt"/>
              </a:rPr>
              <a:t>个不同人类个体的测序数据</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ü"/>
            </a:pPr>
            <a:r>
              <a:rPr lang="zh-CN" altLang="en-US" sz="1800" spc="40" dirty="0">
                <a:solidFill>
                  <a:srgbClr val="314371"/>
                </a:solidFill>
                <a:uFillTx/>
                <a:latin typeface="Times New Roman" panose="02020503050405090304" charset="0"/>
                <a:ea typeface="黑体" panose="02010609060101010101" charset="-122"/>
                <a:cs typeface="+mn-ea"/>
                <a:sym typeface="+mn-lt"/>
              </a:rPr>
              <a:t>来自</a:t>
            </a:r>
            <a:r>
              <a:rPr lang="en-US" altLang="zh-CN" sz="1800" spc="40" dirty="0">
                <a:solidFill>
                  <a:srgbClr val="314371"/>
                </a:solidFill>
                <a:uFillTx/>
                <a:latin typeface="Times New Roman" panose="02020503050405090304" charset="0"/>
                <a:ea typeface="黑体" panose="02010609060101010101" charset="-122"/>
                <a:cs typeface="+mn-ea"/>
                <a:sym typeface="+mn-lt"/>
              </a:rPr>
              <a:t> 850 </a:t>
            </a:r>
            <a:r>
              <a:rPr lang="zh-CN" altLang="en-US" sz="1800" spc="40" dirty="0">
                <a:solidFill>
                  <a:srgbClr val="314371"/>
                </a:solidFill>
                <a:uFillTx/>
                <a:latin typeface="Times New Roman" panose="02020503050405090304" charset="0"/>
                <a:ea typeface="黑体" panose="02010609060101010101" charset="-122"/>
                <a:cs typeface="+mn-ea"/>
                <a:sym typeface="+mn-lt"/>
              </a:rPr>
              <a:t>个不同物种的多样化基因组序列</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sp>
        <p:nvSpPr>
          <p:cNvPr id="12" name="矩形 11"/>
          <p:cNvSpPr/>
          <p:nvPr/>
        </p:nvSpPr>
        <p:spPr>
          <a:xfrm>
            <a:off x="7653020" y="4145915"/>
            <a:ext cx="4897120" cy="1804035"/>
          </a:xfrm>
          <a:prstGeom prst="rect">
            <a:avLst/>
          </a:prstGeom>
          <a:noFill/>
          <a:ln w="25400" cap="rnd" cmpd="sng">
            <a:solidFill>
              <a:srgbClr val="8F1A12"/>
            </a:solidFill>
            <a:prstDash val="solid"/>
            <a:roun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4" name="肘形连接符 13"/>
          <p:cNvCxnSpPr>
            <a:endCxn id="12" idx="0"/>
          </p:cNvCxnSpPr>
          <p:nvPr/>
        </p:nvCxnSpPr>
        <p:spPr>
          <a:xfrm>
            <a:off x="6861175" y="3040380"/>
            <a:ext cx="3240405" cy="1105535"/>
          </a:xfrm>
          <a:prstGeom prst="bentConnector2">
            <a:avLst/>
          </a:prstGeom>
          <a:ln w="25400">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41"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15006"/>
            <a:ext cx="12858044" cy="7202638"/>
          </a:xfrm>
          <a:prstGeom prst="rect">
            <a:avLst/>
          </a:prstGeom>
        </p:spPr>
      </p:pic>
      <p:sp>
        <p:nvSpPr>
          <p:cNvPr id="6" name="矩形 5"/>
          <p:cNvSpPr/>
          <p:nvPr/>
        </p:nvSpPr>
        <p:spPr>
          <a:xfrm>
            <a:off x="1290" y="-15006"/>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396525" y="1585158"/>
            <a:ext cx="4062334" cy="4062334"/>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20" name="文本框 19"/>
            <p:cNvSpPr txBox="1"/>
            <p:nvPr/>
          </p:nvSpPr>
          <p:spPr>
            <a:xfrm>
              <a:off x="4170422" y="2020329"/>
              <a:ext cx="3844925" cy="768350"/>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2</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19" name="文本框 18"/>
            <p:cNvSpPr txBox="1"/>
            <p:nvPr/>
          </p:nvSpPr>
          <p:spPr>
            <a:xfrm>
              <a:off x="4170661" y="2905519"/>
              <a:ext cx="3844925" cy="706755"/>
            </a:xfrm>
            <a:prstGeom prst="rect">
              <a:avLst/>
            </a:prstGeom>
            <a:noFill/>
            <a:ln w="9525">
              <a:noFill/>
            </a:ln>
          </p:spPr>
          <p:txBody>
            <a:bodyPr wrap="square">
              <a:spAutoFit/>
            </a:bodyPr>
            <a:lstStyle/>
            <a:p>
              <a:pPr marL="419100" indent="-419100" algn="ctr"/>
              <a:r>
                <a:rPr lang="zh-CN" altLang="en-US" sz="4000" b="1" dirty="0">
                  <a:solidFill>
                    <a:schemeClr val="bg1"/>
                  </a:solidFill>
                  <a:latin typeface="黑体" panose="02010609060101010101" charset="-122"/>
                  <a:ea typeface="黑体" panose="02010609060101010101" charset="-122"/>
                  <a:cs typeface="等线 Light" panose="02010600030101010101" charset="-122"/>
                </a:rPr>
                <a:t>研究结果</a:t>
              </a:r>
              <a:endParaRPr lang="zh-CN" altLang="en-US" sz="4000" b="1" dirty="0">
                <a:solidFill>
                  <a:schemeClr val="bg1"/>
                </a:solidFill>
                <a:latin typeface="黑体" panose="02010609060101010101" charset="-122"/>
                <a:ea typeface="黑体" panose="02010609060101010101"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4977130"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结果一：应对多种基因组解析任务</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524510" y="1816735"/>
            <a:ext cx="11144885" cy="3048000"/>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基准测试</a:t>
            </a:r>
            <a:r>
              <a:rPr lang="zh-CN" altLang="en-US" sz="1800" spc="40" dirty="0">
                <a:solidFill>
                  <a:srgbClr val="314371"/>
                </a:solidFill>
                <a:uFillTx/>
                <a:latin typeface="Times New Roman" panose="02020503050405090304" charset="0"/>
                <a:ea typeface="黑体" panose="02010609060101010101" charset="-122"/>
                <a:cs typeface="+mn-ea"/>
                <a:sym typeface="+mn-lt"/>
              </a:rPr>
              <a:t>：研究策划了</a:t>
            </a:r>
            <a:r>
              <a:rPr lang="en-US" altLang="zh-CN" sz="1800" spc="40" dirty="0">
                <a:solidFill>
                  <a:srgbClr val="314371"/>
                </a:solidFill>
                <a:uFillTx/>
                <a:latin typeface="Times New Roman" panose="02020503050405090304" charset="0"/>
                <a:ea typeface="黑体" panose="02010609060101010101" charset="-122"/>
                <a:cs typeface="+mn-ea"/>
                <a:sym typeface="+mn-lt"/>
              </a:rPr>
              <a:t> 18 </a:t>
            </a:r>
            <a:r>
              <a:rPr lang="zh-CN" altLang="en-US" sz="1800" spc="40" dirty="0">
                <a:solidFill>
                  <a:srgbClr val="314371"/>
                </a:solidFill>
                <a:uFillTx/>
                <a:latin typeface="Times New Roman" panose="02020503050405090304" charset="0"/>
                <a:ea typeface="黑体" panose="02010609060101010101" charset="-122"/>
                <a:cs typeface="+mn-ea"/>
                <a:sym typeface="+mn-lt"/>
              </a:rPr>
              <a:t>个多样化的基因组下游预测任务，涵盖剪接位点预测、启动子识别、增强子活性和组蛋白修饰等</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参数高效微调</a:t>
            </a:r>
            <a:r>
              <a:rPr lang="zh-CN" altLang="en-US" sz="1800" spc="40" dirty="0">
                <a:solidFill>
                  <a:srgbClr val="314371"/>
                </a:solidFill>
                <a:uFillTx/>
                <a:latin typeface="Times New Roman" panose="02020503050405090304" charset="0"/>
                <a:ea typeface="黑体" panose="02010609060101010101" charset="-122"/>
                <a:cs typeface="+mn-ea"/>
                <a:sym typeface="+mn-lt"/>
              </a:rPr>
              <a:t>：过去大模型微调成本极高，该研究采用了一种名为</a:t>
            </a:r>
            <a:r>
              <a:rPr lang="en-US" altLang="zh-CN" sz="1800" spc="40" dirty="0">
                <a:solidFill>
                  <a:srgbClr val="314371"/>
                </a:solidFill>
                <a:uFillTx/>
                <a:latin typeface="Times New Roman" panose="02020503050405090304" charset="0"/>
                <a:ea typeface="黑体" panose="02010609060101010101" charset="-122"/>
                <a:cs typeface="+mn-ea"/>
                <a:sym typeface="+mn-lt"/>
              </a:rPr>
              <a:t> IA3 </a:t>
            </a:r>
            <a:r>
              <a:rPr lang="zh-CN" altLang="en-US" sz="1800" spc="40" dirty="0">
                <a:solidFill>
                  <a:srgbClr val="314371"/>
                </a:solidFill>
                <a:uFillTx/>
                <a:latin typeface="Times New Roman" panose="02020503050405090304" charset="0"/>
                <a:ea typeface="黑体" panose="02010609060101010101" charset="-122"/>
                <a:cs typeface="+mn-ea"/>
                <a:sym typeface="+mn-lt"/>
              </a:rPr>
              <a:t>的技术</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成本优势</a:t>
            </a:r>
            <a:r>
              <a:rPr lang="zh-CN" altLang="en-US" sz="1800" spc="40" dirty="0">
                <a:solidFill>
                  <a:srgbClr val="314371"/>
                </a:solidFill>
                <a:uFillTx/>
                <a:latin typeface="Times New Roman" panose="02020503050405090304" charset="0"/>
                <a:ea typeface="黑体" panose="02010609060101010101" charset="-122"/>
                <a:cs typeface="+mn-ea"/>
                <a:sym typeface="+mn-lt"/>
              </a:rPr>
              <a:t>：在微调时冻结主体架构，只需训练</a:t>
            </a:r>
            <a:r>
              <a:rPr lang="en-US" altLang="zh-CN" sz="1800" spc="40" dirty="0">
                <a:solidFill>
                  <a:srgbClr val="314371"/>
                </a:solidFill>
                <a:uFillTx/>
                <a:latin typeface="Times New Roman" panose="02020503050405090304" charset="0"/>
                <a:ea typeface="黑体" panose="02010609060101010101" charset="-122"/>
                <a:cs typeface="+mn-ea"/>
                <a:sym typeface="+mn-lt"/>
              </a:rPr>
              <a:t> 0.1% </a:t>
            </a:r>
            <a:r>
              <a:rPr lang="zh-CN" altLang="en-US" sz="1800" spc="40" dirty="0">
                <a:solidFill>
                  <a:srgbClr val="314371"/>
                </a:solidFill>
                <a:uFillTx/>
                <a:latin typeface="Times New Roman" panose="02020503050405090304" charset="0"/>
                <a:ea typeface="黑体" panose="02010609060101010101" charset="-122"/>
                <a:cs typeface="+mn-ea"/>
                <a:sym typeface="+mn-lt"/>
              </a:rPr>
              <a:t>的额外参数，使得</a:t>
            </a:r>
            <a:r>
              <a:rPr lang="en-US" altLang="zh-CN" sz="1800" spc="40" dirty="0">
                <a:solidFill>
                  <a:srgbClr val="314371"/>
                </a:solidFill>
                <a:uFillTx/>
                <a:latin typeface="Times New Roman" panose="02020503050405090304" charset="0"/>
                <a:ea typeface="黑体" panose="02010609060101010101" charset="-122"/>
                <a:cs typeface="+mn-ea"/>
                <a:sym typeface="+mn-lt"/>
              </a:rPr>
              <a:t> 25 </a:t>
            </a:r>
            <a:r>
              <a:rPr lang="zh-CN" altLang="en-US" sz="1800" spc="40" dirty="0">
                <a:solidFill>
                  <a:srgbClr val="314371"/>
                </a:solidFill>
                <a:uFillTx/>
                <a:latin typeface="Times New Roman" panose="02020503050405090304" charset="0"/>
                <a:ea typeface="黑体" panose="02010609060101010101" charset="-122"/>
                <a:cs typeface="+mn-ea"/>
                <a:sym typeface="+mn-lt"/>
              </a:rPr>
              <a:t>亿参数的大模型也能在单张</a:t>
            </a:r>
            <a:r>
              <a:rPr lang="en-US" altLang="zh-CN" sz="1800" spc="40" dirty="0">
                <a:solidFill>
                  <a:srgbClr val="314371"/>
                </a:solidFill>
                <a:uFillTx/>
                <a:latin typeface="Times New Roman" panose="02020503050405090304" charset="0"/>
                <a:ea typeface="黑体" panose="02010609060101010101" charset="-122"/>
                <a:cs typeface="+mn-ea"/>
                <a:sym typeface="+mn-lt"/>
              </a:rPr>
              <a:t> GPU </a:t>
            </a:r>
            <a:r>
              <a:rPr lang="zh-CN" altLang="en-US" sz="1800" spc="40" dirty="0">
                <a:solidFill>
                  <a:srgbClr val="314371"/>
                </a:solidFill>
                <a:uFillTx/>
                <a:latin typeface="Times New Roman" panose="02020503050405090304" charset="0"/>
                <a:ea typeface="黑体" panose="02010609060101010101" charset="-122"/>
                <a:cs typeface="+mn-ea"/>
                <a:sym typeface="+mn-lt"/>
              </a:rPr>
              <a:t>上于</a:t>
            </a:r>
            <a:r>
              <a:rPr lang="en-US" altLang="zh-CN" sz="1800" spc="40" dirty="0">
                <a:solidFill>
                  <a:srgbClr val="314371"/>
                </a:solidFill>
                <a:uFillTx/>
                <a:latin typeface="Times New Roman" panose="02020503050405090304" charset="0"/>
                <a:ea typeface="黑体" panose="02010609060101010101" charset="-122"/>
                <a:cs typeface="+mn-ea"/>
                <a:sym typeface="+mn-lt"/>
              </a:rPr>
              <a:t> 15 </a:t>
            </a:r>
            <a:r>
              <a:rPr lang="zh-CN" altLang="en-US" sz="1800" spc="40" dirty="0">
                <a:solidFill>
                  <a:srgbClr val="314371"/>
                </a:solidFill>
                <a:uFillTx/>
                <a:latin typeface="Times New Roman" panose="02020503050405090304" charset="0"/>
                <a:ea typeface="黑体" panose="02010609060101010101" charset="-122"/>
                <a:cs typeface="+mn-ea"/>
                <a:sym typeface="+mn-lt"/>
              </a:rPr>
              <a:t>分钟内完成微调，存储需求降低了</a:t>
            </a:r>
            <a:r>
              <a:rPr lang="en-US" altLang="zh-CN" sz="1800" spc="40" dirty="0">
                <a:solidFill>
                  <a:srgbClr val="314371"/>
                </a:solidFill>
                <a:uFillTx/>
                <a:latin typeface="Times New Roman" panose="02020503050405090304" charset="0"/>
                <a:ea typeface="黑体" panose="02010609060101010101" charset="-122"/>
                <a:cs typeface="+mn-ea"/>
                <a:sym typeface="+mn-lt"/>
              </a:rPr>
              <a:t> 1000 </a:t>
            </a:r>
            <a:r>
              <a:rPr lang="zh-CN" altLang="en-US" sz="1800" spc="40" dirty="0">
                <a:solidFill>
                  <a:srgbClr val="314371"/>
                </a:solidFill>
                <a:uFillTx/>
                <a:latin typeface="Times New Roman" panose="02020503050405090304" charset="0"/>
                <a:ea typeface="黑体" panose="02010609060101010101" charset="-122"/>
                <a:cs typeface="+mn-ea"/>
                <a:sym typeface="+mn-lt"/>
              </a:rPr>
              <a:t>倍</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a:off x="4088130" y="5200650"/>
            <a:ext cx="4598035" cy="1204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89216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结果</a:t>
            </a:r>
            <a:r>
              <a:rPr lang="zh-CN" altLang="en-US" sz="2600" b="1" spc="-150" dirty="0">
                <a:solidFill>
                  <a:srgbClr val="314371"/>
                </a:solidFill>
                <a:latin typeface="黑体" panose="02010609060101010101" charset="-122"/>
                <a:ea typeface="黑体" panose="02010609060101010101" charset="-122"/>
                <a:cs typeface="+mn-ea"/>
                <a:sym typeface="+mn-lt"/>
              </a:rPr>
              <a:t>一：性能匹敌并超越传统强监督模型</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418465" y="1991995"/>
            <a:ext cx="5939155" cy="414591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对比基线</a:t>
            </a:r>
            <a:r>
              <a:rPr lang="zh-CN" altLang="en-US" sz="1800" spc="40" dirty="0">
                <a:solidFill>
                  <a:srgbClr val="314371"/>
                </a:solidFill>
                <a:uFillTx/>
                <a:latin typeface="Times New Roman" panose="02020503050405090304" charset="0"/>
                <a:ea typeface="黑体" panose="02010609060101010101" charset="-122"/>
                <a:cs typeface="+mn-ea"/>
                <a:sym typeface="+mn-lt"/>
              </a:rPr>
              <a:t>：与在基因组学中广泛使用的强监督卷积神经网络（如</a:t>
            </a:r>
            <a:r>
              <a:rPr lang="en-US" altLang="zh-CN" sz="1800" spc="40" dirty="0">
                <a:solidFill>
                  <a:srgbClr val="314371"/>
                </a:solidFill>
                <a:uFillTx/>
                <a:latin typeface="Times New Roman" panose="02020503050405090304" charset="0"/>
                <a:ea typeface="黑体" panose="02010609060101010101" charset="-122"/>
                <a:cs typeface="+mn-ea"/>
                <a:sym typeface="+mn-lt"/>
              </a:rPr>
              <a:t> BPNet</a:t>
            </a:r>
            <a:r>
              <a:rPr lang="zh-CN" altLang="en-US" sz="1800" spc="40" dirty="0">
                <a:solidFill>
                  <a:srgbClr val="314371"/>
                </a:solidFill>
                <a:uFillTx/>
                <a:latin typeface="Times New Roman" panose="02020503050405090304" charset="0"/>
                <a:ea typeface="黑体" panose="02010609060101010101" charset="-122"/>
                <a:cs typeface="+mn-ea"/>
                <a:sym typeface="+mn-lt"/>
              </a:rPr>
              <a:t>，最高达</a:t>
            </a:r>
            <a:r>
              <a:rPr lang="en-US" altLang="zh-CN" sz="1800" spc="40" dirty="0">
                <a:solidFill>
                  <a:srgbClr val="314371"/>
                </a:solidFill>
                <a:uFillTx/>
                <a:latin typeface="Times New Roman" panose="02020503050405090304" charset="0"/>
                <a:ea typeface="黑体" panose="02010609060101010101" charset="-122"/>
                <a:cs typeface="+mn-ea"/>
                <a:sym typeface="+mn-lt"/>
              </a:rPr>
              <a:t> 2800 </a:t>
            </a:r>
            <a:r>
              <a:rPr lang="zh-CN" altLang="en-US" sz="1800" spc="40" dirty="0">
                <a:solidFill>
                  <a:srgbClr val="314371"/>
                </a:solidFill>
                <a:uFillTx/>
                <a:latin typeface="Times New Roman" panose="02020503050405090304" charset="0"/>
                <a:ea typeface="黑体" panose="02010609060101010101" charset="-122"/>
                <a:cs typeface="+mn-ea"/>
                <a:sym typeface="+mn-lt"/>
              </a:rPr>
              <a:t>万参数）进行比对</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压倒性优势</a:t>
            </a:r>
            <a:r>
              <a:rPr lang="zh-CN" altLang="en-US" sz="1800" spc="40" dirty="0">
                <a:solidFill>
                  <a:srgbClr val="314371"/>
                </a:solidFill>
                <a:uFillTx/>
                <a:latin typeface="Times New Roman" panose="02020503050405090304" charset="0"/>
                <a:ea typeface="黑体" panose="02010609060101010101" charset="-122"/>
                <a:cs typeface="+mn-ea"/>
                <a:sym typeface="+mn-lt"/>
              </a:rPr>
              <a:t>：微调后的</a:t>
            </a:r>
            <a:r>
              <a:rPr lang="en-US" altLang="zh-CN" sz="1800" spc="40" dirty="0">
                <a:solidFill>
                  <a:srgbClr val="314371"/>
                </a:solidFill>
                <a:uFillTx/>
                <a:latin typeface="Times New Roman" panose="02020503050405090304" charset="0"/>
                <a:ea typeface="黑体" panose="02010609060101010101" charset="-122"/>
                <a:cs typeface="+mn-ea"/>
                <a:sym typeface="+mn-lt"/>
              </a:rPr>
              <a:t> NT </a:t>
            </a:r>
            <a:r>
              <a:rPr lang="zh-CN" altLang="en-US" sz="1800" spc="40" dirty="0">
                <a:solidFill>
                  <a:srgbClr val="314371"/>
                </a:solidFill>
                <a:uFillTx/>
                <a:latin typeface="Times New Roman" panose="02020503050405090304" charset="0"/>
                <a:ea typeface="黑体" panose="02010609060101010101" charset="-122"/>
                <a:cs typeface="+mn-ea"/>
                <a:sym typeface="+mn-lt"/>
              </a:rPr>
              <a:t>模型在</a:t>
            </a:r>
            <a:r>
              <a:rPr lang="en-US" altLang="zh-CN" sz="1800" spc="40" dirty="0">
                <a:solidFill>
                  <a:srgbClr val="314371"/>
                </a:solidFill>
                <a:uFillTx/>
                <a:latin typeface="Times New Roman" panose="02020503050405090304" charset="0"/>
                <a:ea typeface="黑体" panose="02010609060101010101" charset="-122"/>
                <a:cs typeface="+mn-ea"/>
                <a:sym typeface="+mn-lt"/>
              </a:rPr>
              <a:t> 18 </a:t>
            </a:r>
            <a:r>
              <a:rPr lang="zh-CN" altLang="en-US" sz="1800" spc="40" dirty="0">
                <a:solidFill>
                  <a:srgbClr val="314371"/>
                </a:solidFill>
                <a:uFillTx/>
                <a:latin typeface="Times New Roman" panose="02020503050405090304" charset="0"/>
                <a:ea typeface="黑体" panose="02010609060101010101" charset="-122"/>
                <a:cs typeface="+mn-ea"/>
                <a:sym typeface="+mn-lt"/>
              </a:rPr>
              <a:t>项任务中有</a:t>
            </a:r>
            <a:r>
              <a:rPr lang="en-US" altLang="zh-CN" sz="1800" spc="40" dirty="0">
                <a:solidFill>
                  <a:srgbClr val="314371"/>
                </a:solidFill>
                <a:uFillTx/>
                <a:latin typeface="Times New Roman" panose="02020503050405090304" charset="0"/>
                <a:ea typeface="黑体" panose="02010609060101010101" charset="-122"/>
                <a:cs typeface="+mn-ea"/>
                <a:sym typeface="+mn-lt"/>
              </a:rPr>
              <a:t> 12 </a:t>
            </a:r>
            <a:r>
              <a:rPr lang="zh-CN" altLang="en-US" sz="1800" spc="40" dirty="0">
                <a:solidFill>
                  <a:srgbClr val="314371"/>
                </a:solidFill>
                <a:uFillTx/>
                <a:latin typeface="Times New Roman" panose="02020503050405090304" charset="0"/>
                <a:ea typeface="黑体" panose="02010609060101010101" charset="-122"/>
                <a:cs typeface="+mn-ea"/>
                <a:sym typeface="+mn-lt"/>
              </a:rPr>
              <a:t>项超越了传统强监督基线，另有</a:t>
            </a:r>
            <a:r>
              <a:rPr lang="en-US" altLang="zh-CN" sz="1800" spc="40" dirty="0">
                <a:solidFill>
                  <a:srgbClr val="314371"/>
                </a:solidFill>
                <a:uFillTx/>
                <a:latin typeface="Times New Roman" panose="02020503050405090304" charset="0"/>
                <a:ea typeface="黑体" panose="02010609060101010101" charset="-122"/>
                <a:cs typeface="+mn-ea"/>
                <a:sym typeface="+mn-lt"/>
              </a:rPr>
              <a:t> 6 </a:t>
            </a:r>
            <a:r>
              <a:rPr lang="zh-CN" altLang="en-US" sz="1800" spc="40" dirty="0">
                <a:solidFill>
                  <a:srgbClr val="314371"/>
                </a:solidFill>
                <a:uFillTx/>
                <a:latin typeface="Times New Roman" panose="02020503050405090304" charset="0"/>
                <a:ea typeface="黑体" panose="02010609060101010101" charset="-122"/>
                <a:cs typeface="+mn-ea"/>
                <a:sym typeface="+mn-lt"/>
              </a:rPr>
              <a:t>项持平</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特定任务突破</a:t>
            </a:r>
            <a:r>
              <a:rPr lang="zh-CN" altLang="en-US" sz="1800" spc="40" dirty="0">
                <a:solidFill>
                  <a:srgbClr val="314371"/>
                </a:solidFill>
                <a:uFillTx/>
                <a:latin typeface="Times New Roman" panose="02020503050405090304" charset="0"/>
                <a:ea typeface="黑体" panose="02010609060101010101" charset="-122"/>
                <a:cs typeface="+mn-ea"/>
                <a:sym typeface="+mn-lt"/>
              </a:rPr>
              <a:t>：在剪接位点预测任务中，仅处理</a:t>
            </a:r>
            <a:r>
              <a:rPr lang="en-US" altLang="zh-CN" sz="1800" spc="40" dirty="0">
                <a:solidFill>
                  <a:srgbClr val="314371"/>
                </a:solidFill>
                <a:uFillTx/>
                <a:latin typeface="Times New Roman" panose="02020503050405090304" charset="0"/>
                <a:ea typeface="黑体" panose="02010609060101010101" charset="-122"/>
                <a:cs typeface="+mn-ea"/>
                <a:sym typeface="+mn-lt"/>
              </a:rPr>
              <a:t> 6KB </a:t>
            </a:r>
            <a:r>
              <a:rPr lang="zh-CN" altLang="en-US" sz="1800" spc="40" dirty="0">
                <a:solidFill>
                  <a:srgbClr val="314371"/>
                </a:solidFill>
                <a:uFillTx/>
                <a:latin typeface="Times New Roman" panose="02020503050405090304" charset="0"/>
                <a:ea typeface="黑体" panose="02010609060101010101" charset="-122"/>
                <a:cs typeface="+mn-ea"/>
                <a:sym typeface="+mn-lt"/>
              </a:rPr>
              <a:t>长度的</a:t>
            </a:r>
            <a:r>
              <a:rPr lang="en-US" altLang="zh-CN" sz="1800" spc="40" dirty="0">
                <a:solidFill>
                  <a:srgbClr val="314371"/>
                </a:solidFill>
                <a:uFillTx/>
                <a:latin typeface="Times New Roman" panose="02020503050405090304" charset="0"/>
                <a:ea typeface="黑体" panose="02010609060101010101" charset="-122"/>
                <a:cs typeface="+mn-ea"/>
                <a:sym typeface="+mn-lt"/>
              </a:rPr>
              <a:t> NT </a:t>
            </a:r>
            <a:r>
              <a:rPr lang="zh-CN" altLang="en-US" sz="1800" spc="40" dirty="0">
                <a:solidFill>
                  <a:srgbClr val="314371"/>
                </a:solidFill>
                <a:uFillTx/>
                <a:latin typeface="Times New Roman" panose="02020503050405090304" charset="0"/>
                <a:ea typeface="黑体" panose="02010609060101010101" charset="-122"/>
                <a:cs typeface="+mn-ea"/>
                <a:sym typeface="+mn-lt"/>
              </a:rPr>
              <a:t>模型，匹敌甚至超越了输入长度达</a:t>
            </a:r>
            <a:r>
              <a:rPr lang="en-US" altLang="zh-CN" sz="1800" spc="40" dirty="0">
                <a:solidFill>
                  <a:srgbClr val="314371"/>
                </a:solidFill>
                <a:uFillTx/>
                <a:latin typeface="Times New Roman" panose="02020503050405090304" charset="0"/>
                <a:ea typeface="黑体" panose="02010609060101010101" charset="-122"/>
                <a:cs typeface="+mn-ea"/>
                <a:sym typeface="+mn-lt"/>
              </a:rPr>
              <a:t> 15KB </a:t>
            </a:r>
            <a:r>
              <a:rPr lang="zh-CN" altLang="en-US" sz="1800" spc="40" dirty="0">
                <a:solidFill>
                  <a:srgbClr val="314371"/>
                </a:solidFill>
                <a:uFillTx/>
                <a:latin typeface="Times New Roman" panose="02020503050405090304" charset="0"/>
                <a:ea typeface="黑体" panose="02010609060101010101" charset="-122"/>
                <a:cs typeface="+mn-ea"/>
                <a:sym typeface="+mn-lt"/>
              </a:rPr>
              <a:t>的行业标杆</a:t>
            </a:r>
            <a:r>
              <a:rPr lang="en-US" altLang="zh-CN" sz="1800" spc="40" dirty="0">
                <a:solidFill>
                  <a:srgbClr val="314371"/>
                </a:solidFill>
                <a:uFillTx/>
                <a:latin typeface="Times New Roman" panose="02020503050405090304" charset="0"/>
                <a:ea typeface="黑体" panose="02010609060101010101" charset="-122"/>
                <a:cs typeface="+mn-ea"/>
                <a:sym typeface="+mn-lt"/>
              </a:rPr>
              <a:t> SpliceAI </a:t>
            </a:r>
            <a:r>
              <a:rPr lang="zh-CN" altLang="en-US" sz="1800" spc="40" dirty="0">
                <a:solidFill>
                  <a:srgbClr val="314371"/>
                </a:solidFill>
                <a:uFillTx/>
                <a:latin typeface="Times New Roman" panose="02020503050405090304" charset="0"/>
                <a:ea typeface="黑体" panose="02010609060101010101" charset="-122"/>
                <a:cs typeface="+mn-ea"/>
                <a:sym typeface="+mn-lt"/>
              </a:rPr>
              <a:t>模型</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4" name="图片 3"/>
          <p:cNvPicPr>
            <a:picLocks noChangeAspect="1"/>
          </p:cNvPicPr>
          <p:nvPr/>
        </p:nvPicPr>
        <p:blipFill>
          <a:blip r:embed="rId2"/>
          <a:srcRect l="-880"/>
          <a:stretch>
            <a:fillRect/>
          </a:stretch>
        </p:blipFill>
        <p:spPr>
          <a:xfrm>
            <a:off x="6573520" y="4048760"/>
            <a:ext cx="4745990" cy="2791460"/>
          </a:xfrm>
          <a:prstGeom prst="rect">
            <a:avLst/>
          </a:prstGeom>
        </p:spPr>
      </p:pic>
      <p:pic>
        <p:nvPicPr>
          <p:cNvPr id="8" name="图片 7"/>
          <p:cNvPicPr>
            <a:picLocks noChangeAspect="1"/>
          </p:cNvPicPr>
          <p:nvPr/>
        </p:nvPicPr>
        <p:blipFill>
          <a:blip r:embed="rId3"/>
          <a:stretch>
            <a:fillRect/>
          </a:stretch>
        </p:blipFill>
        <p:spPr>
          <a:xfrm>
            <a:off x="6789420" y="1240155"/>
            <a:ext cx="5152390" cy="26022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23176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结果</a:t>
            </a:r>
            <a:r>
              <a:rPr lang="zh-CN" altLang="en-US" sz="2600" b="1" spc="-150" dirty="0">
                <a:solidFill>
                  <a:srgbClr val="314371"/>
                </a:solidFill>
                <a:latin typeface="黑体" panose="02010609060101010101" charset="-122"/>
                <a:ea typeface="黑体" panose="02010609060101010101" charset="-122"/>
                <a:cs typeface="+mn-ea"/>
                <a:sym typeface="+mn-lt"/>
              </a:rPr>
              <a:t>二：基因组学基础模型横向对比</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596900" y="1816735"/>
            <a:ext cx="5939155" cy="457390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同类</a:t>
            </a:r>
            <a:r>
              <a:rPr lang="en-US" altLang="zh-CN" sz="1800" b="1" spc="40" dirty="0">
                <a:solidFill>
                  <a:srgbClr val="314371"/>
                </a:solidFill>
                <a:uFillTx/>
                <a:latin typeface="Times New Roman" panose="02020503050405090304" charset="0"/>
                <a:ea typeface="黑体" panose="02010609060101010101" charset="-122"/>
                <a:cs typeface="+mn-ea"/>
                <a:sym typeface="+mn-lt"/>
              </a:rPr>
              <a:t> AI </a:t>
            </a:r>
            <a:r>
              <a:rPr lang="zh-CN" altLang="en-US" sz="1800" b="1" spc="40" dirty="0">
                <a:solidFill>
                  <a:srgbClr val="314371"/>
                </a:solidFill>
                <a:uFillTx/>
                <a:latin typeface="Times New Roman" panose="02020503050405090304" charset="0"/>
                <a:ea typeface="黑体" panose="02010609060101010101" charset="-122"/>
                <a:cs typeface="+mn-ea"/>
                <a:sym typeface="+mn-lt"/>
              </a:rPr>
              <a:t>竞品对比</a:t>
            </a:r>
            <a:r>
              <a:rPr lang="zh-CN" altLang="en-US" sz="1800" spc="40" dirty="0">
                <a:solidFill>
                  <a:srgbClr val="314371"/>
                </a:solidFill>
                <a:uFillTx/>
                <a:latin typeface="Times New Roman" panose="02020503050405090304" charset="0"/>
                <a:ea typeface="黑体" panose="02010609060101010101" charset="-122"/>
                <a:cs typeface="+mn-ea"/>
                <a:sym typeface="+mn-lt"/>
              </a:rPr>
              <a:t>：将</a:t>
            </a:r>
            <a:r>
              <a:rPr lang="en-US" altLang="zh-CN" sz="1800" spc="40" dirty="0">
                <a:solidFill>
                  <a:srgbClr val="314371"/>
                </a:solidFill>
                <a:uFillTx/>
                <a:latin typeface="Times New Roman" panose="02020503050405090304" charset="0"/>
                <a:ea typeface="黑体" panose="02010609060101010101" charset="-122"/>
                <a:cs typeface="+mn-ea"/>
                <a:sym typeface="+mn-lt"/>
              </a:rPr>
              <a:t> NT </a:t>
            </a:r>
            <a:r>
              <a:rPr lang="zh-CN" altLang="en-US" sz="1800" spc="40" dirty="0">
                <a:solidFill>
                  <a:srgbClr val="314371"/>
                </a:solidFill>
                <a:uFillTx/>
                <a:latin typeface="Times New Roman" panose="02020503050405090304" charset="0"/>
                <a:ea typeface="黑体" panose="02010609060101010101" charset="-122"/>
                <a:cs typeface="+mn-ea"/>
                <a:sym typeface="+mn-lt"/>
              </a:rPr>
              <a:t>模型与现有的主流</a:t>
            </a:r>
            <a:r>
              <a:rPr lang="en-US" altLang="zh-CN" sz="1800" spc="40" dirty="0">
                <a:solidFill>
                  <a:srgbClr val="314371"/>
                </a:solidFill>
                <a:uFillTx/>
                <a:latin typeface="Times New Roman" panose="02020503050405090304" charset="0"/>
                <a:ea typeface="黑体" panose="02010609060101010101" charset="-122"/>
                <a:cs typeface="+mn-ea"/>
                <a:sym typeface="+mn-lt"/>
              </a:rPr>
              <a:t> DNA </a:t>
            </a:r>
            <a:r>
              <a:rPr lang="zh-CN" altLang="en-US" sz="1800" spc="40" dirty="0">
                <a:solidFill>
                  <a:srgbClr val="314371"/>
                </a:solidFill>
                <a:uFillTx/>
                <a:latin typeface="Times New Roman" panose="02020503050405090304" charset="0"/>
                <a:ea typeface="黑体" panose="02010609060101010101" charset="-122"/>
                <a:cs typeface="+mn-ea"/>
                <a:sym typeface="+mn-lt"/>
              </a:rPr>
              <a:t>基础模型</a:t>
            </a:r>
            <a:r>
              <a:rPr lang="en-US" altLang="zh-CN" sz="1800" spc="40" dirty="0">
                <a:solidFill>
                  <a:srgbClr val="314371"/>
                </a:solidFill>
                <a:uFillTx/>
                <a:latin typeface="Times New Roman" panose="02020503050405090304" charset="0"/>
                <a:ea typeface="黑体" panose="02010609060101010101" charset="-122"/>
                <a:cs typeface="+mn-ea"/>
                <a:sym typeface="+mn-lt"/>
              </a:rPr>
              <a:t> </a:t>
            </a:r>
            <a:r>
              <a:rPr lang="en-US" altLang="zh-CN" sz="1800" spc="40" dirty="0">
                <a:solidFill>
                  <a:srgbClr val="314371"/>
                </a:solidFill>
                <a:uFillTx/>
                <a:latin typeface="Times New Roman" panose="02020503050405090304" charset="0"/>
                <a:ea typeface="黑体" panose="02010609060101010101" charset="-122"/>
                <a:cs typeface="+mn-ea"/>
                <a:sym typeface="+mn-lt"/>
              </a:rPr>
              <a:t>DNABERT-2</a:t>
            </a:r>
            <a:r>
              <a:rPr lang="zh-CN" altLang="en-US" sz="1800" spc="40" dirty="0">
                <a:solidFill>
                  <a:srgbClr val="314371"/>
                </a:solidFill>
                <a:uFillTx/>
                <a:latin typeface="Times New Roman" panose="02020503050405090304" charset="0"/>
                <a:ea typeface="黑体" panose="02010609060101010101" charset="-122"/>
                <a:cs typeface="+mn-ea"/>
                <a:sym typeface="+mn-lt"/>
              </a:rPr>
              <a:t>、</a:t>
            </a:r>
            <a:r>
              <a:rPr lang="en-US" altLang="zh-CN" sz="1800" spc="40" dirty="0">
                <a:solidFill>
                  <a:srgbClr val="314371"/>
                </a:solidFill>
                <a:uFillTx/>
                <a:latin typeface="Times New Roman" panose="02020503050405090304" charset="0"/>
                <a:ea typeface="黑体" panose="02010609060101010101" charset="-122"/>
                <a:cs typeface="+mn-ea"/>
                <a:sym typeface="+mn-lt"/>
              </a:rPr>
              <a:t>HyenaDNA</a:t>
            </a:r>
            <a:r>
              <a:rPr lang="zh-CN" altLang="en-US" sz="1800" spc="40" dirty="0">
                <a:solidFill>
                  <a:srgbClr val="314371"/>
                </a:solidFill>
                <a:uFillTx/>
                <a:latin typeface="Times New Roman" panose="02020503050405090304" charset="0"/>
                <a:ea typeface="黑体" panose="02010609060101010101" charset="-122"/>
                <a:cs typeface="+mn-ea"/>
                <a:sym typeface="+mn-lt"/>
              </a:rPr>
              <a:t>、</a:t>
            </a:r>
            <a:r>
              <a:rPr lang="en-US" altLang="zh-CN" sz="1800" spc="40" dirty="0">
                <a:solidFill>
                  <a:srgbClr val="314371"/>
                </a:solidFill>
                <a:uFillTx/>
                <a:latin typeface="Times New Roman" panose="02020503050405090304" charset="0"/>
                <a:ea typeface="黑体" panose="02010609060101010101" charset="-122"/>
                <a:cs typeface="+mn-ea"/>
                <a:sym typeface="+mn-lt"/>
              </a:rPr>
              <a:t>Enformer </a:t>
            </a:r>
            <a:r>
              <a:rPr lang="zh-CN" altLang="en-US" sz="1800" spc="40" dirty="0">
                <a:solidFill>
                  <a:srgbClr val="314371"/>
                </a:solidFill>
                <a:uFillTx/>
                <a:latin typeface="Times New Roman" panose="02020503050405090304" charset="0"/>
                <a:ea typeface="黑体" panose="02010609060101010101" charset="-122"/>
                <a:cs typeface="+mn-ea"/>
                <a:sym typeface="+mn-lt"/>
              </a:rPr>
              <a:t>进行了系统性平行评估</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最优表现</a:t>
            </a:r>
            <a:r>
              <a:rPr lang="zh-CN" altLang="en-US" sz="1800" spc="40" dirty="0">
                <a:solidFill>
                  <a:srgbClr val="314371"/>
                </a:solidFill>
                <a:uFillTx/>
                <a:latin typeface="Times New Roman" panose="02020503050405090304" charset="0"/>
                <a:ea typeface="黑体" panose="02010609060101010101" charset="-122"/>
                <a:cs typeface="+mn-ea"/>
                <a:sym typeface="+mn-lt"/>
              </a:rPr>
              <a:t>：在所有测试模型中，参数量为</a:t>
            </a:r>
            <a:r>
              <a:rPr lang="en-US" altLang="zh-CN" sz="1800" spc="40" dirty="0">
                <a:solidFill>
                  <a:srgbClr val="314371"/>
                </a:solidFill>
                <a:uFillTx/>
                <a:latin typeface="Times New Roman" panose="02020503050405090304" charset="0"/>
                <a:ea typeface="黑体" panose="02010609060101010101" charset="-122"/>
                <a:cs typeface="+mn-ea"/>
                <a:sym typeface="+mn-lt"/>
              </a:rPr>
              <a:t> 2.5B </a:t>
            </a:r>
            <a:r>
              <a:rPr lang="zh-CN" altLang="en-US" sz="1800" spc="40" dirty="0">
                <a:solidFill>
                  <a:srgbClr val="314371"/>
                </a:solidFill>
                <a:uFillTx/>
                <a:latin typeface="Times New Roman" panose="02020503050405090304" charset="0"/>
                <a:ea typeface="黑体" panose="02010609060101010101" charset="-122"/>
                <a:cs typeface="+mn-ea"/>
                <a:sym typeface="+mn-lt"/>
              </a:rPr>
              <a:t>的多物种</a:t>
            </a:r>
            <a:r>
              <a:rPr lang="en-US" altLang="zh-CN" sz="1800" spc="40" dirty="0">
                <a:solidFill>
                  <a:srgbClr val="314371"/>
                </a:solidFill>
                <a:uFillTx/>
                <a:latin typeface="Times New Roman" panose="02020503050405090304" charset="0"/>
                <a:ea typeface="黑体" panose="02010609060101010101" charset="-122"/>
                <a:cs typeface="+mn-ea"/>
                <a:sym typeface="+mn-lt"/>
              </a:rPr>
              <a:t> NT </a:t>
            </a:r>
            <a:r>
              <a:rPr lang="zh-CN" altLang="en-US" sz="1800" spc="40" dirty="0">
                <a:solidFill>
                  <a:srgbClr val="314371"/>
                </a:solidFill>
                <a:uFillTx/>
                <a:latin typeface="Times New Roman" panose="02020503050405090304" charset="0"/>
                <a:ea typeface="黑体" panose="02010609060101010101" charset="-122"/>
                <a:cs typeface="+mn-ea"/>
                <a:sym typeface="+mn-lt"/>
              </a:rPr>
              <a:t>模型</a:t>
            </a:r>
            <a:r>
              <a:rPr lang="en-US" altLang="zh-CN" sz="1800" spc="40" dirty="0">
                <a:solidFill>
                  <a:srgbClr val="314371"/>
                </a:solidFill>
                <a:uFillTx/>
                <a:latin typeface="Times New Roman" panose="02020503050405090304" charset="0"/>
                <a:ea typeface="黑体" panose="02010609060101010101" charset="-122"/>
                <a:cs typeface="+mn-ea"/>
                <a:sym typeface="+mn-lt"/>
              </a:rPr>
              <a:t> </a:t>
            </a:r>
            <a:r>
              <a:rPr lang="en-US" altLang="zh-CN" sz="1800" spc="40" dirty="0">
                <a:solidFill>
                  <a:srgbClr val="314371"/>
                </a:solidFill>
                <a:uFillTx/>
                <a:latin typeface="Times New Roman" panose="02020503050405090304" charset="0"/>
                <a:ea typeface="黑体" panose="02010609060101010101" charset="-122"/>
                <a:cs typeface="+mn-ea"/>
                <a:sym typeface="+mn-lt"/>
              </a:rPr>
              <a:t>Multispecies 2.5B </a:t>
            </a:r>
            <a:r>
              <a:rPr lang="zh-CN" altLang="en-US" sz="1800" spc="40" dirty="0">
                <a:solidFill>
                  <a:srgbClr val="314371"/>
                </a:solidFill>
                <a:uFillTx/>
                <a:latin typeface="Times New Roman" panose="02020503050405090304" charset="0"/>
                <a:ea typeface="黑体" panose="02010609060101010101" charset="-122"/>
                <a:cs typeface="+mn-ea"/>
                <a:sym typeface="+mn-lt"/>
              </a:rPr>
              <a:t>取得了</a:t>
            </a:r>
            <a:r>
              <a:rPr lang="en-US" altLang="zh-CN" sz="1800" spc="40" dirty="0">
                <a:solidFill>
                  <a:srgbClr val="314371"/>
                </a:solidFill>
                <a:uFillTx/>
                <a:latin typeface="Times New Roman" panose="02020503050405090304" charset="0"/>
                <a:ea typeface="黑体" panose="02010609060101010101" charset="-122"/>
                <a:cs typeface="+mn-ea"/>
                <a:sym typeface="+mn-lt"/>
              </a:rPr>
              <a:t> </a:t>
            </a:r>
            <a:r>
              <a:rPr lang="en-US" altLang="zh-CN" sz="1800" spc="40" dirty="0">
                <a:solidFill>
                  <a:srgbClr val="314371"/>
                </a:solidFill>
                <a:uFillTx/>
                <a:latin typeface="Times New Roman" panose="02020503050405090304" charset="0"/>
                <a:ea typeface="黑体" panose="02010609060101010101" charset="-122"/>
                <a:cs typeface="+mn-ea"/>
                <a:sym typeface="+mn-lt"/>
              </a:rPr>
              <a:t>MCC </a:t>
            </a:r>
            <a:r>
              <a:rPr lang="zh-CN" altLang="en-US" sz="1800" spc="40" dirty="0">
                <a:solidFill>
                  <a:srgbClr val="314371"/>
                </a:solidFill>
                <a:uFillTx/>
                <a:latin typeface="Times New Roman" panose="02020503050405090304" charset="0"/>
                <a:ea typeface="黑体" panose="02010609060101010101" charset="-122"/>
                <a:cs typeface="+mn-ea"/>
                <a:sym typeface="+mn-lt"/>
              </a:rPr>
              <a:t>指标</a:t>
            </a:r>
            <a:r>
              <a:rPr lang="zh-CN" altLang="en-US" sz="1800" spc="40" dirty="0">
                <a:solidFill>
                  <a:srgbClr val="314371"/>
                </a:solidFill>
                <a:uFillTx/>
                <a:latin typeface="Times New Roman" panose="02020503050405090304" charset="0"/>
                <a:ea typeface="黑体" panose="02010609060101010101" charset="-122"/>
                <a:cs typeface="+mn-ea"/>
                <a:sym typeface="+mn-lt"/>
              </a:rPr>
              <a:t>最高的整体分类性能表现</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开源贡献</a:t>
            </a:r>
            <a:r>
              <a:rPr lang="zh-CN" altLang="en-US" sz="1800" spc="40" dirty="0">
                <a:solidFill>
                  <a:srgbClr val="314371"/>
                </a:solidFill>
                <a:uFillTx/>
                <a:latin typeface="Times New Roman" panose="02020503050405090304" charset="0"/>
                <a:ea typeface="黑体" panose="02010609060101010101" charset="-122"/>
                <a:cs typeface="+mn-ea"/>
                <a:sym typeface="+mn-lt"/>
              </a:rPr>
              <a:t>：建立了一个互动的排行榜，为未来基因组基础模型的开发提供了标准化参考</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rot="5400000">
            <a:off x="6615430" y="1485900"/>
            <a:ext cx="5442585" cy="50952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9442450" y="3651885"/>
            <a:ext cx="2499995" cy="2559685"/>
          </a:xfrm>
          <a:prstGeom prst="roundRect">
            <a:avLst/>
          </a:prstGeom>
          <a:solidFill>
            <a:schemeClr val="bg2">
              <a:lumMod val="75000"/>
            </a:schemeClr>
          </a:solidFill>
          <a:effectLst>
            <a:outerShdw blurRad="50800" dist="38100" algn="l" rotWithShape="0">
              <a:prstClr val="black">
                <a:alpha val="40000"/>
              </a:prstClr>
            </a:outerShdw>
          </a:effectLst>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23176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结果</a:t>
            </a:r>
            <a:r>
              <a:rPr lang="zh-CN" altLang="en-US" sz="2600" b="1" spc="-150" dirty="0">
                <a:solidFill>
                  <a:srgbClr val="314371"/>
                </a:solidFill>
                <a:latin typeface="黑体" panose="02010609060101010101" charset="-122"/>
                <a:ea typeface="黑体" panose="02010609060101010101" charset="-122"/>
                <a:cs typeface="+mn-ea"/>
                <a:sym typeface="+mn-lt"/>
              </a:rPr>
              <a:t>二：跨物种大数据的核心优势</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6" name="文本框 5"/>
          <p:cNvSpPr txBox="1"/>
          <p:nvPr/>
        </p:nvSpPr>
        <p:spPr>
          <a:xfrm>
            <a:off x="596900" y="1672590"/>
            <a:ext cx="11503025" cy="1886585"/>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人类数据</a:t>
            </a:r>
            <a:r>
              <a:rPr lang="en-US" altLang="zh-CN" sz="1800" b="1" spc="40" dirty="0">
                <a:solidFill>
                  <a:srgbClr val="314371"/>
                </a:solidFill>
                <a:uFillTx/>
                <a:latin typeface="Times New Roman" panose="02020503050405090304" charset="0"/>
                <a:ea typeface="黑体" panose="02010609060101010101" charset="-122"/>
                <a:cs typeface="+mn-ea"/>
                <a:sym typeface="+mn-lt"/>
              </a:rPr>
              <a:t> vs. </a:t>
            </a:r>
            <a:r>
              <a:rPr lang="zh-CN" altLang="en-US" sz="1800" b="1" spc="40" dirty="0">
                <a:solidFill>
                  <a:srgbClr val="314371"/>
                </a:solidFill>
                <a:uFillTx/>
                <a:latin typeface="Times New Roman" panose="02020503050405090304" charset="0"/>
                <a:ea typeface="黑体" panose="02010609060101010101" charset="-122"/>
                <a:cs typeface="+mn-ea"/>
                <a:sym typeface="+mn-lt"/>
              </a:rPr>
              <a:t>多物种数据</a:t>
            </a:r>
            <a:r>
              <a:rPr lang="zh-CN" altLang="en-US" sz="1800" spc="40" dirty="0">
                <a:solidFill>
                  <a:srgbClr val="314371"/>
                </a:solidFill>
                <a:uFillTx/>
                <a:latin typeface="Times New Roman" panose="02020503050405090304" charset="0"/>
                <a:ea typeface="黑体" panose="02010609060101010101" charset="-122"/>
                <a:cs typeface="+mn-ea"/>
                <a:sym typeface="+mn-lt"/>
              </a:rPr>
              <a:t>：在多项基于人类生物学实验的下游任务中，使用跨物种数据训练的</a:t>
            </a:r>
            <a:r>
              <a:rPr lang="en-US" altLang="zh-CN" sz="1800" spc="40" dirty="0">
                <a:solidFill>
                  <a:srgbClr val="314371"/>
                </a:solidFill>
                <a:uFillTx/>
                <a:latin typeface="Times New Roman" panose="02020503050405090304" charset="0"/>
                <a:ea typeface="黑体" panose="02010609060101010101" charset="-122"/>
                <a:cs typeface="+mn-ea"/>
                <a:sym typeface="+mn-lt"/>
              </a:rPr>
              <a:t> AI</a:t>
            </a:r>
            <a:r>
              <a:rPr lang="zh-CN" altLang="en-US" sz="1800" spc="40" dirty="0">
                <a:solidFill>
                  <a:srgbClr val="314371"/>
                </a:solidFill>
                <a:uFillTx/>
                <a:latin typeface="Times New Roman" panose="02020503050405090304" charset="0"/>
                <a:ea typeface="黑体" panose="02010609060101010101" charset="-122"/>
                <a:cs typeface="+mn-ea"/>
                <a:sym typeface="+mn-lt"/>
              </a:rPr>
              <a:t>，打败了仅使用人类群体基因组训练的</a:t>
            </a:r>
            <a:r>
              <a:rPr lang="en-US" altLang="zh-CN" sz="1800" spc="40" dirty="0">
                <a:solidFill>
                  <a:srgbClr val="314371"/>
                </a:solidFill>
                <a:uFillTx/>
                <a:latin typeface="Times New Roman" panose="02020503050405090304" charset="0"/>
                <a:ea typeface="黑体" panose="02010609060101010101" charset="-122"/>
                <a:cs typeface="+mn-ea"/>
                <a:sym typeface="+mn-lt"/>
              </a:rPr>
              <a:t> AI</a:t>
            </a:r>
            <a:endParaRPr lang="en-US" altLang="zh-CN"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案例证明</a:t>
            </a:r>
            <a:r>
              <a:rPr lang="zh-CN" altLang="en-US" sz="1800" spc="40" dirty="0">
                <a:solidFill>
                  <a:srgbClr val="314371"/>
                </a:solidFill>
                <a:uFillTx/>
                <a:latin typeface="Times New Roman" panose="02020503050405090304" charset="0"/>
                <a:ea typeface="黑体" panose="02010609060101010101" charset="-122"/>
                <a:cs typeface="+mn-ea"/>
                <a:sym typeface="+mn-lt"/>
              </a:rPr>
              <a:t>：竞品</a:t>
            </a:r>
            <a:r>
              <a:rPr lang="en-US" altLang="zh-CN" sz="1800" spc="40" dirty="0">
                <a:solidFill>
                  <a:srgbClr val="314371"/>
                </a:solidFill>
                <a:uFillTx/>
                <a:latin typeface="Times New Roman" panose="02020503050405090304" charset="0"/>
                <a:ea typeface="黑体" panose="02010609060101010101" charset="-122"/>
                <a:cs typeface="+mn-ea"/>
                <a:sym typeface="+mn-lt"/>
              </a:rPr>
              <a:t> HyenaDNA </a:t>
            </a:r>
            <a:r>
              <a:rPr lang="zh-CN" altLang="en-US" sz="1800" spc="40" dirty="0">
                <a:solidFill>
                  <a:srgbClr val="314371"/>
                </a:solidFill>
                <a:uFillTx/>
                <a:latin typeface="Times New Roman" panose="02020503050405090304" charset="0"/>
                <a:ea typeface="黑体" panose="02010609060101010101" charset="-122"/>
                <a:cs typeface="+mn-ea"/>
                <a:sym typeface="+mn-lt"/>
              </a:rPr>
              <a:t>仅使用人类参考基因组进行预训练，而多物种</a:t>
            </a:r>
            <a:r>
              <a:rPr lang="en-US" altLang="zh-CN" sz="1800" spc="40" dirty="0">
                <a:solidFill>
                  <a:srgbClr val="314371"/>
                </a:solidFill>
                <a:uFillTx/>
                <a:latin typeface="Times New Roman" panose="02020503050405090304" charset="0"/>
                <a:ea typeface="黑体" panose="02010609060101010101" charset="-122"/>
                <a:cs typeface="+mn-ea"/>
                <a:sym typeface="+mn-lt"/>
              </a:rPr>
              <a:t> NT </a:t>
            </a:r>
            <a:r>
              <a:rPr lang="zh-CN" altLang="en-US" sz="1800" spc="40" dirty="0">
                <a:solidFill>
                  <a:srgbClr val="314371"/>
                </a:solidFill>
                <a:uFillTx/>
                <a:latin typeface="Times New Roman" panose="02020503050405090304" charset="0"/>
                <a:ea typeface="黑体" panose="02010609060101010101" charset="-122"/>
                <a:cs typeface="+mn-ea"/>
                <a:sym typeface="+mn-lt"/>
              </a:rPr>
              <a:t>模型在全部</a:t>
            </a:r>
            <a:r>
              <a:rPr lang="en-US" altLang="zh-CN" sz="1800" spc="40" dirty="0">
                <a:solidFill>
                  <a:srgbClr val="314371"/>
                </a:solidFill>
                <a:uFillTx/>
                <a:latin typeface="Times New Roman" panose="02020503050405090304" charset="0"/>
                <a:ea typeface="黑体" panose="02010609060101010101" charset="-122"/>
                <a:cs typeface="+mn-ea"/>
                <a:sym typeface="+mn-lt"/>
              </a:rPr>
              <a:t> 18 </a:t>
            </a:r>
            <a:r>
              <a:rPr lang="zh-CN" altLang="en-US" sz="1800" spc="40" dirty="0">
                <a:solidFill>
                  <a:srgbClr val="314371"/>
                </a:solidFill>
                <a:uFillTx/>
                <a:latin typeface="Times New Roman" panose="02020503050405090304" charset="0"/>
                <a:ea typeface="黑体" panose="02010609060101010101" charset="-122"/>
                <a:cs typeface="+mn-ea"/>
                <a:sym typeface="+mn-lt"/>
              </a:rPr>
              <a:t>个任务中均匹配或击败了它</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4" name="图片 3"/>
          <p:cNvPicPr>
            <a:picLocks noChangeAspect="1"/>
          </p:cNvPicPr>
          <p:nvPr/>
        </p:nvPicPr>
        <p:blipFill>
          <a:blip r:embed="rId2"/>
          <a:stretch>
            <a:fillRect/>
          </a:stretch>
        </p:blipFill>
        <p:spPr>
          <a:xfrm>
            <a:off x="524510" y="3572510"/>
            <a:ext cx="8756650" cy="3577590"/>
          </a:xfrm>
          <a:prstGeom prst="rect">
            <a:avLst/>
          </a:prstGeom>
        </p:spPr>
      </p:pic>
      <p:sp>
        <p:nvSpPr>
          <p:cNvPr id="8" name="文本框 7"/>
          <p:cNvSpPr txBox="1"/>
          <p:nvPr/>
        </p:nvSpPr>
        <p:spPr>
          <a:xfrm>
            <a:off x="9669780" y="3572510"/>
            <a:ext cx="2086610" cy="2651760"/>
          </a:xfrm>
          <a:prstGeom prst="rect">
            <a:avLst/>
          </a:prstGeom>
          <a:noFill/>
        </p:spPr>
        <p:txBody>
          <a:bodyPr wrap="square" rtlCol="0" anchor="ctr" anchorCtr="0">
            <a:noAutofit/>
          </a:bodyPr>
          <a:lstStyle/>
          <a:p>
            <a:pPr marL="0" indent="0" algn="l" eaLnBrk="1" latinLnBrk="0" hangingPunct="1">
              <a:lnSpc>
                <a:spcPct val="150000"/>
              </a:lnSpc>
              <a:buFont typeface="Wingdings" panose="05000000000000000000" charset="0"/>
              <a:buNone/>
            </a:pPr>
            <a:r>
              <a:rPr lang="zh-CN" altLang="en-US" sz="1800" b="1" spc="40" dirty="0">
                <a:solidFill>
                  <a:schemeClr val="bg1"/>
                </a:solidFill>
                <a:uFillTx/>
                <a:latin typeface="Times New Roman" panose="02020503050405090304" charset="0"/>
                <a:ea typeface="黑体" panose="02010609060101010101" charset="-122"/>
                <a:cs typeface="+mn-ea"/>
                <a:sym typeface="+mn-lt"/>
              </a:rPr>
              <a:t>结论</a:t>
            </a:r>
            <a:r>
              <a:rPr lang="zh-CN" altLang="en-US" sz="1800" spc="40" dirty="0">
                <a:solidFill>
                  <a:schemeClr val="bg1"/>
                </a:solidFill>
                <a:uFillTx/>
                <a:latin typeface="Times New Roman" panose="02020503050405090304" charset="0"/>
                <a:ea typeface="黑体" panose="02010609060101010101" charset="-122"/>
                <a:cs typeface="+mn-ea"/>
                <a:sym typeface="+mn-lt"/>
              </a:rPr>
              <a:t>：在算力受限时，增加数据的物种多样性比单纯增加模型参数能带来更好的泛化能力</a:t>
            </a:r>
            <a:endParaRPr lang="zh-CN" altLang="en-US" sz="1800" spc="40" dirty="0">
              <a:solidFill>
                <a:schemeClr val="bg1"/>
              </a:solidFill>
              <a:uFillTx/>
              <a:latin typeface="Times New Roman" panose="02020503050405090304" charset="0"/>
              <a:ea typeface="黑体" panose="02010609060101010101"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231765"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结果三：</a:t>
            </a:r>
            <a:r>
              <a:rPr lang="en-US" altLang="zh-CN" sz="2600" b="1" spc="-150" dirty="0">
                <a:solidFill>
                  <a:srgbClr val="314371"/>
                </a:solidFill>
                <a:uFillTx/>
                <a:latin typeface="Times New Roman" panose="02020503050405090304" charset="0"/>
                <a:ea typeface="黑体" panose="02010609060101010101" charset="-122"/>
                <a:cs typeface="+mn-ea"/>
                <a:sym typeface="+mn-lt"/>
              </a:rPr>
              <a:t>AI </a:t>
            </a:r>
            <a:r>
              <a:rPr lang="zh-CN" altLang="en-US" sz="2600" b="1" spc="-150" dirty="0">
                <a:solidFill>
                  <a:srgbClr val="314371"/>
                </a:solidFill>
                <a:uFillTx/>
                <a:latin typeface="Times New Roman" panose="02020503050405090304" charset="0"/>
                <a:ea typeface="黑体" panose="02010609060101010101" charset="-122"/>
                <a:cs typeface="+mn-ea"/>
                <a:sym typeface="+mn-lt"/>
              </a:rPr>
              <a:t>在无监督下的自我觉醒</a:t>
            </a:r>
            <a:endParaRPr lang="zh-CN" altLang="en-US"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1244600" y="4951730"/>
            <a:ext cx="10487660" cy="2185035"/>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特征提取可解释性</a:t>
            </a:r>
            <a:r>
              <a:rPr lang="zh-CN" altLang="en-US" sz="1800" spc="40" dirty="0">
                <a:solidFill>
                  <a:srgbClr val="314371"/>
                </a:solidFill>
                <a:uFillTx/>
                <a:latin typeface="Times New Roman" panose="02020503050405090304" charset="0"/>
                <a:ea typeface="黑体" panose="02010609060101010101" charset="-122"/>
                <a:cs typeface="+mn-ea"/>
                <a:sym typeface="+mn-lt"/>
              </a:rPr>
              <a:t>：研究分析了模型生成的嵌入向量，发现</a:t>
            </a:r>
            <a:r>
              <a:rPr lang="en-US" altLang="zh-CN" sz="1800" spc="40" dirty="0">
                <a:solidFill>
                  <a:srgbClr val="314371"/>
                </a:solidFill>
                <a:uFillTx/>
                <a:latin typeface="Times New Roman" panose="02020503050405090304" charset="0"/>
                <a:ea typeface="黑体" panose="02010609060101010101" charset="-122"/>
                <a:cs typeface="+mn-ea"/>
                <a:sym typeface="+mn-lt"/>
              </a:rPr>
              <a:t> AI </a:t>
            </a:r>
            <a:r>
              <a:rPr lang="zh-CN" altLang="en-US" sz="1800" spc="40" dirty="0">
                <a:solidFill>
                  <a:srgbClr val="314371"/>
                </a:solidFill>
                <a:uFillTx/>
                <a:latin typeface="Times New Roman" panose="02020503050405090304" charset="0"/>
                <a:ea typeface="黑体" panose="02010609060101010101" charset="-122"/>
                <a:cs typeface="+mn-ea"/>
                <a:sym typeface="+mn-lt"/>
              </a:rPr>
              <a:t>在没有人类给出标签的情况下，自动学会了区分基因序列</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自主聚类</a:t>
            </a:r>
            <a:r>
              <a:rPr lang="zh-CN" altLang="en-US" sz="1800" spc="40" dirty="0">
                <a:solidFill>
                  <a:srgbClr val="314371"/>
                </a:solidFill>
                <a:uFillTx/>
                <a:latin typeface="Times New Roman" panose="02020503050405090304" charset="0"/>
                <a:ea typeface="黑体" panose="02010609060101010101" charset="-122"/>
                <a:cs typeface="+mn-ea"/>
                <a:sym typeface="+mn-lt"/>
              </a:rPr>
              <a:t>：模型的中间层向量能清晰地在空间中将基因间区、内含子、外显子以及非翻译区</a:t>
            </a:r>
            <a:r>
              <a:rPr lang="en-US" altLang="zh-CN" sz="1800" spc="40" dirty="0">
                <a:solidFill>
                  <a:srgbClr val="314371"/>
                </a:solidFill>
                <a:uFillTx/>
                <a:latin typeface="Times New Roman" panose="02020503050405090304" charset="0"/>
                <a:ea typeface="黑体" panose="02010609060101010101" charset="-122"/>
                <a:cs typeface="+mn-ea"/>
                <a:sym typeface="+mn-lt"/>
              </a:rPr>
              <a:t> UTRs </a:t>
            </a:r>
            <a:r>
              <a:rPr lang="zh-CN" altLang="en-US" sz="1800" spc="40" dirty="0">
                <a:solidFill>
                  <a:srgbClr val="314371"/>
                </a:solidFill>
                <a:uFillTx/>
                <a:latin typeface="Times New Roman" panose="02020503050405090304" charset="0"/>
                <a:ea typeface="黑体" panose="02010609060101010101" charset="-122"/>
                <a:cs typeface="+mn-ea"/>
                <a:sym typeface="+mn-lt"/>
              </a:rPr>
              <a:t>自动分类隔离</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规模效应</a:t>
            </a:r>
            <a:r>
              <a:rPr lang="zh-CN" altLang="en-US" sz="1800" spc="40" dirty="0">
                <a:solidFill>
                  <a:srgbClr val="314371"/>
                </a:solidFill>
                <a:uFillTx/>
                <a:latin typeface="Times New Roman" panose="02020503050405090304" charset="0"/>
                <a:ea typeface="黑体" panose="02010609060101010101" charset="-122"/>
                <a:cs typeface="+mn-ea"/>
                <a:sym typeface="+mn-lt"/>
              </a:rPr>
              <a:t>：参数量越大如</a:t>
            </a:r>
            <a:r>
              <a:rPr lang="en-US" altLang="zh-CN" sz="1800" spc="40" dirty="0">
                <a:solidFill>
                  <a:srgbClr val="314371"/>
                </a:solidFill>
                <a:uFillTx/>
                <a:latin typeface="Times New Roman" panose="02020503050405090304" charset="0"/>
                <a:ea typeface="黑体" panose="02010609060101010101" charset="-122"/>
                <a:cs typeface="+mn-ea"/>
                <a:sym typeface="+mn-lt"/>
              </a:rPr>
              <a:t> 2.5B </a:t>
            </a:r>
            <a:r>
              <a:rPr lang="zh-CN" altLang="en-US" sz="1800" spc="40" dirty="0">
                <a:solidFill>
                  <a:srgbClr val="314371"/>
                </a:solidFill>
                <a:uFillTx/>
                <a:latin typeface="Times New Roman" panose="02020503050405090304" charset="0"/>
                <a:ea typeface="黑体" panose="02010609060101010101" charset="-122"/>
                <a:cs typeface="+mn-ea"/>
                <a:sym typeface="+mn-lt"/>
              </a:rPr>
              <a:t>且训练数据越丰富的模型，对这些生物元件的区分和理解能力越强</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rot="10800000">
            <a:off x="2043430" y="1744345"/>
            <a:ext cx="8771890" cy="31222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6290310"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结果三：深入解析模型的</a:t>
            </a:r>
            <a:r>
              <a:rPr lang="en-US" altLang="zh-CN" sz="2600" b="1" spc="-150" dirty="0">
                <a:solidFill>
                  <a:srgbClr val="314371"/>
                </a:solidFill>
                <a:uFillTx/>
                <a:latin typeface="Times New Roman" panose="02020503050405090304" charset="0"/>
                <a:ea typeface="黑体" panose="02010609060101010101" charset="-122"/>
                <a:cs typeface="+mn-ea"/>
                <a:sym typeface="+mn-lt"/>
              </a:rPr>
              <a:t> Attention </a:t>
            </a:r>
            <a:r>
              <a:rPr lang="zh-CN" altLang="en-US" sz="2600" b="1" spc="-150" dirty="0">
                <a:solidFill>
                  <a:srgbClr val="314371"/>
                </a:solidFill>
                <a:uFillTx/>
                <a:latin typeface="Times New Roman" panose="02020503050405090304" charset="0"/>
                <a:ea typeface="黑体" panose="02010609060101010101" charset="-122"/>
                <a:cs typeface="+mn-ea"/>
                <a:sym typeface="+mn-lt"/>
              </a:rPr>
              <a:t>机制</a:t>
            </a:r>
            <a:endParaRPr lang="zh-CN" altLang="en-US"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596900" y="1938655"/>
            <a:ext cx="4568825" cy="4433570"/>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关注关键位点</a:t>
            </a:r>
            <a:r>
              <a:rPr lang="zh-CN" altLang="en-US" sz="1800" spc="40" dirty="0">
                <a:solidFill>
                  <a:srgbClr val="314371"/>
                </a:solidFill>
                <a:uFillTx/>
                <a:latin typeface="Times New Roman" panose="02020503050405090304" charset="0"/>
                <a:ea typeface="黑体" panose="02010609060101010101" charset="-122"/>
                <a:cs typeface="+mn-ea"/>
                <a:sym typeface="+mn-lt"/>
              </a:rPr>
              <a:t>：通过提取大模型的注意力图，发现模型自发地将极高的注意力集中在了转录因子结合位点、外显子、启动子等关键元件上</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惊人的专注度</a:t>
            </a:r>
            <a:r>
              <a:rPr lang="zh-CN" altLang="en-US" sz="1800" spc="40" dirty="0">
                <a:solidFill>
                  <a:srgbClr val="314371"/>
                </a:solidFill>
                <a:uFillTx/>
                <a:latin typeface="Times New Roman" panose="02020503050405090304" charset="0"/>
                <a:ea typeface="黑体" panose="02010609060101010101" charset="-122"/>
                <a:cs typeface="+mn-ea"/>
                <a:sym typeface="+mn-lt"/>
              </a:rPr>
              <a:t>：在最大的模型中，某些网络层对增强子的注意力倾注度甚至接近了</a:t>
            </a:r>
            <a:r>
              <a:rPr lang="en-US" altLang="zh-CN" sz="1800" spc="40" dirty="0">
                <a:solidFill>
                  <a:srgbClr val="314371"/>
                </a:solidFill>
                <a:uFillTx/>
                <a:latin typeface="Times New Roman" panose="02020503050405090304" charset="0"/>
                <a:ea typeface="黑体" panose="02010609060101010101" charset="-122"/>
                <a:cs typeface="+mn-ea"/>
                <a:sym typeface="+mn-lt"/>
              </a:rPr>
              <a:t> 100%</a:t>
            </a:r>
            <a:endParaRPr lang="en-US" altLang="zh-CN"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零知识学习</a:t>
            </a:r>
            <a:r>
              <a:rPr lang="zh-CN" altLang="en-US" sz="1800" spc="40" dirty="0">
                <a:solidFill>
                  <a:srgbClr val="314371"/>
                </a:solidFill>
                <a:uFillTx/>
                <a:latin typeface="Times New Roman" panose="02020503050405090304" charset="0"/>
                <a:ea typeface="黑体" panose="02010609060101010101" charset="-122"/>
                <a:cs typeface="+mn-ea"/>
                <a:sym typeface="+mn-lt"/>
              </a:rPr>
              <a:t>：模型仅通过预测掩码碱基，就成功反向掌握了基因序列的结构规则和生物学意义</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4" name="图片 3"/>
          <p:cNvPicPr>
            <a:picLocks noChangeAspect="1"/>
          </p:cNvPicPr>
          <p:nvPr/>
        </p:nvPicPr>
        <p:blipFill>
          <a:blip r:embed="rId2"/>
          <a:stretch>
            <a:fillRect/>
          </a:stretch>
        </p:blipFill>
        <p:spPr>
          <a:xfrm>
            <a:off x="5420995" y="1938655"/>
            <a:ext cx="6645910" cy="4699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7021830"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a:t>
            </a:r>
            <a:r>
              <a:rPr lang="zh-CN" altLang="en-US" sz="2600" b="1" spc="-150" dirty="0">
                <a:solidFill>
                  <a:srgbClr val="314371"/>
                </a:solidFill>
                <a:uFillTx/>
                <a:latin typeface="Times New Roman" panose="02020503050405090304" charset="0"/>
                <a:ea typeface="黑体" panose="02010609060101010101" charset="-122"/>
                <a:cs typeface="+mn-ea"/>
                <a:sym typeface="+mn-lt"/>
              </a:rPr>
              <a:t>四：零样本预测基因突变破坏力</a:t>
            </a:r>
            <a:endParaRPr lang="zh-CN" altLang="en-US"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452755" y="1600200"/>
            <a:ext cx="11883390" cy="2157730"/>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方法</a:t>
            </a:r>
            <a:r>
              <a:rPr lang="zh-CN" altLang="en-US" sz="1800" spc="40" dirty="0">
                <a:solidFill>
                  <a:srgbClr val="314371"/>
                </a:solidFill>
                <a:uFillTx/>
                <a:latin typeface="Times New Roman" panose="02020503050405090304" charset="0"/>
                <a:ea typeface="黑体" panose="02010609060101010101" charset="-122"/>
                <a:cs typeface="+mn-ea"/>
                <a:sym typeface="+mn-lt"/>
              </a:rPr>
              <a:t>：直接利用预训练大模型的向量空间距离，来衡量输入突变序列与参考序列的区别，从而评估突变破坏力</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实验结果</a:t>
            </a:r>
            <a:r>
              <a:rPr lang="zh-CN" altLang="en-US" sz="1800" spc="40" dirty="0">
                <a:solidFill>
                  <a:srgbClr val="314371"/>
                </a:solidFill>
                <a:uFillTx/>
                <a:latin typeface="Times New Roman" panose="02020503050405090304" charset="0"/>
                <a:ea typeface="黑体" panose="02010609060101010101" charset="-122"/>
                <a:cs typeface="+mn-ea"/>
                <a:sym typeface="+mn-lt"/>
              </a:rPr>
              <a:t>：破坏力越强的突变，如导致蛋白质翻译终止的</a:t>
            </a:r>
            <a:r>
              <a:rPr lang="zh-CN" altLang="en-US" sz="1800" spc="40" dirty="0">
                <a:solidFill>
                  <a:srgbClr val="314371"/>
                </a:solidFill>
                <a:uFillTx/>
                <a:latin typeface="Times New Roman" panose="02020503050405090304" charset="0"/>
                <a:ea typeface="黑体" panose="02010609060101010101" charset="-122"/>
                <a:cs typeface="+mn-ea"/>
                <a:sym typeface="+mn-lt"/>
              </a:rPr>
              <a:t>无义突变</a:t>
            </a:r>
            <a:r>
              <a:rPr lang="zh-CN" altLang="en-US" sz="1800" spc="40" dirty="0">
                <a:solidFill>
                  <a:srgbClr val="314371"/>
                </a:solidFill>
                <a:uFillTx/>
                <a:latin typeface="Times New Roman" panose="02020503050405090304" charset="0"/>
                <a:ea typeface="黑体" panose="02010609060101010101" charset="-122"/>
                <a:cs typeface="+mn-ea"/>
                <a:sym typeface="+mn-lt"/>
              </a:rPr>
              <a:t>、改变氨基酸的</a:t>
            </a:r>
            <a:r>
              <a:rPr lang="zh-CN" altLang="en-US" sz="1800" spc="40" dirty="0">
                <a:solidFill>
                  <a:srgbClr val="314371"/>
                </a:solidFill>
                <a:uFillTx/>
                <a:latin typeface="Times New Roman" panose="02020503050405090304" charset="0"/>
                <a:ea typeface="黑体" panose="02010609060101010101" charset="-122"/>
                <a:cs typeface="+mn-ea"/>
                <a:sym typeface="+mn-lt"/>
              </a:rPr>
              <a:t>错义变异，</a:t>
            </a:r>
            <a:r>
              <a:rPr lang="zh-CN" altLang="en-US" sz="1800" spc="40" dirty="0">
                <a:solidFill>
                  <a:srgbClr val="314371"/>
                </a:solidFill>
                <a:uFillTx/>
                <a:latin typeface="Times New Roman" panose="02020503050405090304" charset="0"/>
                <a:ea typeface="黑体" panose="02010609060101010101" charset="-122"/>
                <a:cs typeface="+mn-ea"/>
                <a:sym typeface="+mn-lt"/>
              </a:rPr>
              <a:t>模型给出的相似度得分越低</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15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意义</a:t>
            </a:r>
            <a:r>
              <a:rPr lang="zh-CN" altLang="en-US" sz="1800" spc="40" dirty="0">
                <a:solidFill>
                  <a:srgbClr val="314371"/>
                </a:solidFill>
                <a:uFillTx/>
                <a:latin typeface="Times New Roman" panose="02020503050405090304" charset="0"/>
                <a:ea typeface="黑体" panose="02010609060101010101" charset="-122"/>
                <a:cs typeface="+mn-ea"/>
                <a:sym typeface="+mn-lt"/>
              </a:rPr>
              <a:t>：提供了一种完全不需要标记数据，就能在大尺度上初步筛查基因突变严重程度的新途径</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a:off x="668655" y="3904615"/>
            <a:ext cx="11588115" cy="2928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4954905"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a:t>
            </a:r>
            <a:r>
              <a:rPr lang="zh-CN" altLang="en-US" sz="2600" b="1" spc="-150" dirty="0">
                <a:solidFill>
                  <a:srgbClr val="314371"/>
                </a:solidFill>
                <a:uFillTx/>
                <a:latin typeface="Times New Roman" panose="02020503050405090304" charset="0"/>
                <a:ea typeface="黑体" panose="02010609060101010101" charset="-122"/>
                <a:cs typeface="+mn-ea"/>
                <a:sym typeface="+mn-lt"/>
              </a:rPr>
              <a:t>四：优先筛选致病与调控变异</a:t>
            </a:r>
            <a:endParaRPr lang="zh-CN" altLang="en-US"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452755" y="1737995"/>
            <a:ext cx="11883390" cy="244792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实际临床与研究应用</a:t>
            </a:r>
            <a:r>
              <a:rPr lang="zh-CN" altLang="en-US" sz="1800" spc="40" dirty="0">
                <a:solidFill>
                  <a:srgbClr val="314371"/>
                </a:solidFill>
                <a:uFillTx/>
                <a:latin typeface="Times New Roman" panose="02020503050405090304" charset="0"/>
                <a:ea typeface="黑体" panose="02010609060101010101" charset="-122"/>
                <a:cs typeface="+mn-ea"/>
                <a:sym typeface="+mn-lt"/>
              </a:rPr>
              <a:t>：模型对影响基因表达的变异</a:t>
            </a:r>
            <a:r>
              <a:rPr lang="en-US" altLang="zh-CN" sz="1800" spc="40" dirty="0">
                <a:solidFill>
                  <a:srgbClr val="314371"/>
                </a:solidFill>
                <a:uFillTx/>
                <a:latin typeface="Times New Roman" panose="02020503050405090304" charset="0"/>
                <a:ea typeface="黑体" panose="02010609060101010101" charset="-122"/>
                <a:cs typeface="+mn-ea"/>
                <a:sym typeface="+mn-lt"/>
              </a:rPr>
              <a:t> eQTLs</a:t>
            </a:r>
            <a:r>
              <a:rPr lang="zh-CN" altLang="en-US" sz="1800" spc="40" dirty="0">
                <a:solidFill>
                  <a:srgbClr val="314371"/>
                </a:solidFill>
                <a:uFillTx/>
                <a:latin typeface="Times New Roman" panose="02020503050405090304" charset="0"/>
                <a:ea typeface="黑体" panose="02010609060101010101" charset="-122"/>
                <a:cs typeface="+mn-ea"/>
                <a:sym typeface="+mn-lt"/>
              </a:rPr>
              <a:t>、影响甲基化的变异</a:t>
            </a:r>
            <a:r>
              <a:rPr lang="en-US" altLang="zh-CN" sz="1800" spc="40" dirty="0">
                <a:solidFill>
                  <a:srgbClr val="314371"/>
                </a:solidFill>
                <a:uFillTx/>
                <a:latin typeface="Times New Roman" panose="02020503050405090304" charset="0"/>
                <a:ea typeface="黑体" panose="02010609060101010101" charset="-122"/>
                <a:cs typeface="+mn-ea"/>
                <a:sym typeface="+mn-lt"/>
              </a:rPr>
              <a:t> meQTLs </a:t>
            </a:r>
            <a:r>
              <a:rPr lang="zh-CN" altLang="en-US" sz="1800" spc="40" dirty="0">
                <a:solidFill>
                  <a:srgbClr val="314371"/>
                </a:solidFill>
                <a:uFillTx/>
                <a:latin typeface="Times New Roman" panose="02020503050405090304" charset="0"/>
                <a:ea typeface="黑体" panose="02010609060101010101" charset="-122"/>
                <a:cs typeface="+mn-ea"/>
                <a:sym typeface="+mn-lt"/>
              </a:rPr>
              <a:t>以及</a:t>
            </a:r>
            <a:r>
              <a:rPr lang="en-US" altLang="zh-CN" sz="1800" spc="40" dirty="0">
                <a:solidFill>
                  <a:srgbClr val="314371"/>
                </a:solidFill>
                <a:uFillTx/>
                <a:latin typeface="Times New Roman" panose="02020503050405090304" charset="0"/>
                <a:ea typeface="黑体" panose="02010609060101010101" charset="-122"/>
                <a:cs typeface="+mn-ea"/>
                <a:sym typeface="+mn-lt"/>
              </a:rPr>
              <a:t> ClinVar </a:t>
            </a:r>
            <a:r>
              <a:rPr lang="zh-CN" altLang="en-US" sz="1800" spc="40" dirty="0">
                <a:solidFill>
                  <a:srgbClr val="314371"/>
                </a:solidFill>
                <a:uFillTx/>
                <a:latin typeface="Times New Roman" panose="02020503050405090304" charset="0"/>
                <a:ea typeface="黑体" panose="02010609060101010101" charset="-122"/>
                <a:cs typeface="+mn-ea"/>
                <a:sym typeface="+mn-lt"/>
              </a:rPr>
              <a:t>数据库中的已知致病变异进行了识别测试</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预测精度</a:t>
            </a:r>
            <a:r>
              <a:rPr lang="zh-CN" altLang="en-US" sz="1800" spc="40" dirty="0">
                <a:solidFill>
                  <a:srgbClr val="314371"/>
                </a:solidFill>
                <a:uFillTx/>
                <a:latin typeface="Times New Roman" panose="02020503050405090304" charset="0"/>
                <a:ea typeface="黑体" panose="02010609060101010101" charset="-122"/>
                <a:cs typeface="+mn-ea"/>
                <a:sym typeface="+mn-lt"/>
              </a:rPr>
              <a:t>：即使是零样本得分，其分类</a:t>
            </a:r>
            <a:r>
              <a:rPr lang="en-US" altLang="zh-CN" sz="1800" spc="40" dirty="0">
                <a:solidFill>
                  <a:srgbClr val="314371"/>
                </a:solidFill>
                <a:uFillTx/>
                <a:latin typeface="Times New Roman" panose="02020503050405090304" charset="0"/>
                <a:ea typeface="黑体" panose="02010609060101010101" charset="-122"/>
                <a:cs typeface="+mn-ea"/>
                <a:sym typeface="+mn-lt"/>
              </a:rPr>
              <a:t> AUC </a:t>
            </a:r>
            <a:r>
              <a:rPr lang="zh-CN" altLang="en-US" sz="1800" spc="40" dirty="0">
                <a:solidFill>
                  <a:srgbClr val="314371"/>
                </a:solidFill>
                <a:uFillTx/>
                <a:latin typeface="Times New Roman" panose="02020503050405090304" charset="0"/>
                <a:ea typeface="黑体" panose="02010609060101010101" charset="-122"/>
                <a:cs typeface="+mn-ea"/>
                <a:sym typeface="+mn-lt"/>
              </a:rPr>
              <a:t>也高达</a:t>
            </a:r>
            <a:r>
              <a:rPr lang="en-US" altLang="zh-CN" sz="1800" spc="40" dirty="0">
                <a:solidFill>
                  <a:srgbClr val="314371"/>
                </a:solidFill>
                <a:uFillTx/>
                <a:latin typeface="Times New Roman" panose="02020503050405090304" charset="0"/>
                <a:ea typeface="黑体" panose="02010609060101010101" charset="-122"/>
                <a:cs typeface="+mn-ea"/>
                <a:sym typeface="+mn-lt"/>
              </a:rPr>
              <a:t> 0.7~0.8</a:t>
            </a:r>
            <a:r>
              <a:rPr lang="zh-CN" altLang="en-US" sz="1800" spc="40" dirty="0">
                <a:solidFill>
                  <a:srgbClr val="314371"/>
                </a:solidFill>
                <a:uFillTx/>
                <a:latin typeface="Times New Roman" panose="02020503050405090304" charset="0"/>
                <a:ea typeface="黑体" panose="02010609060101010101" charset="-122"/>
                <a:cs typeface="+mn-ea"/>
                <a:sym typeface="+mn-lt"/>
              </a:rPr>
              <a:t>，微调后表现更加优异</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生物学洞察</a:t>
            </a:r>
            <a:r>
              <a:rPr lang="zh-CN" altLang="en-US" sz="1800" spc="40" dirty="0">
                <a:solidFill>
                  <a:srgbClr val="314371"/>
                </a:solidFill>
                <a:uFillTx/>
                <a:latin typeface="Times New Roman" panose="02020503050405090304" charset="0"/>
                <a:ea typeface="黑体" panose="02010609060101010101" charset="-122"/>
                <a:cs typeface="+mn-ea"/>
                <a:sym typeface="+mn-lt"/>
              </a:rPr>
              <a:t>：模型之所以能精准识别调控变异，是因为它在预训练中深入学习了启动子和增强子等非编码调控区的潜在规则</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4" name="图片 3"/>
          <p:cNvPicPr>
            <a:picLocks noChangeAspect="1"/>
          </p:cNvPicPr>
          <p:nvPr/>
        </p:nvPicPr>
        <p:blipFill>
          <a:blip r:embed="rId2"/>
          <a:stretch>
            <a:fillRect/>
          </a:stretch>
        </p:blipFill>
        <p:spPr>
          <a:xfrm>
            <a:off x="619760" y="4408805"/>
            <a:ext cx="11619865" cy="2600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531485"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结果五：大模型架构优化与降本</a:t>
            </a:r>
            <a:r>
              <a:rPr lang="en-US" altLang="zh-CN" sz="2600" b="1" spc="-150" dirty="0">
                <a:solidFill>
                  <a:srgbClr val="314371"/>
                </a:solidFill>
                <a:uFillTx/>
                <a:latin typeface="Times New Roman" panose="02020503050405090304" charset="0"/>
                <a:ea typeface="黑体" panose="02010609060101010101" charset="-122"/>
                <a:cs typeface="+mn-ea"/>
                <a:sym typeface="+mn-lt"/>
              </a:rPr>
              <a:t> NT-v2</a:t>
            </a:r>
            <a:endParaRPr lang="en-US" altLang="zh-CN"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741045" y="1960245"/>
            <a:ext cx="4648200" cy="423481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痛点</a:t>
            </a:r>
            <a:r>
              <a:rPr lang="zh-CN" altLang="en-US" sz="1800" spc="40" dirty="0">
                <a:solidFill>
                  <a:srgbClr val="314371"/>
                </a:solidFill>
                <a:uFillTx/>
                <a:latin typeface="Times New Roman" panose="02020503050405090304" charset="0"/>
                <a:ea typeface="黑体" panose="02010609060101010101" charset="-122"/>
                <a:cs typeface="+mn-ea"/>
                <a:sym typeface="+mn-lt"/>
              </a:rPr>
              <a:t>：</a:t>
            </a:r>
            <a:r>
              <a:rPr lang="en-US" altLang="zh-CN" sz="1800" spc="40" dirty="0">
                <a:solidFill>
                  <a:srgbClr val="314371"/>
                </a:solidFill>
                <a:uFillTx/>
                <a:latin typeface="Times New Roman" panose="02020503050405090304" charset="0"/>
                <a:ea typeface="黑体" panose="02010609060101010101" charset="-122"/>
                <a:cs typeface="+mn-ea"/>
                <a:sym typeface="+mn-lt"/>
              </a:rPr>
              <a:t>25 </a:t>
            </a:r>
            <a:r>
              <a:rPr lang="zh-CN" altLang="en-US" sz="1800" spc="40" dirty="0">
                <a:solidFill>
                  <a:srgbClr val="314371"/>
                </a:solidFill>
                <a:uFillTx/>
                <a:latin typeface="Times New Roman" panose="02020503050405090304" charset="0"/>
                <a:ea typeface="黑体" panose="02010609060101010101" charset="-122"/>
                <a:cs typeface="+mn-ea"/>
                <a:sym typeface="+mn-lt"/>
              </a:rPr>
              <a:t>亿参数的大模型推理成本高昂</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架构革新</a:t>
            </a:r>
            <a:r>
              <a:rPr lang="zh-CN" altLang="en-US" sz="1800" spc="40" dirty="0">
                <a:solidFill>
                  <a:srgbClr val="314371"/>
                </a:solidFill>
                <a:uFillTx/>
                <a:latin typeface="Times New Roman" panose="02020503050405090304" charset="0"/>
                <a:ea typeface="黑体" panose="02010609060101010101" charset="-122"/>
                <a:cs typeface="+mn-ea"/>
                <a:sym typeface="+mn-lt"/>
              </a:rPr>
              <a:t>：研究团队引入了当代</a:t>
            </a:r>
            <a:r>
              <a:rPr lang="en-US" altLang="zh-CN" sz="1800" spc="40" dirty="0">
                <a:solidFill>
                  <a:srgbClr val="314371"/>
                </a:solidFill>
                <a:uFillTx/>
                <a:latin typeface="Times New Roman" panose="02020503050405090304" charset="0"/>
                <a:ea typeface="黑体" panose="02010609060101010101" charset="-122"/>
                <a:cs typeface="+mn-ea"/>
                <a:sym typeface="+mn-lt"/>
              </a:rPr>
              <a:t> NLP </a:t>
            </a:r>
            <a:r>
              <a:rPr lang="zh-CN" altLang="en-US" sz="1800" spc="40" dirty="0">
                <a:solidFill>
                  <a:srgbClr val="314371"/>
                </a:solidFill>
                <a:uFillTx/>
                <a:latin typeface="Times New Roman" panose="02020503050405090304" charset="0"/>
                <a:ea typeface="黑体" panose="02010609060101010101" charset="-122"/>
                <a:cs typeface="+mn-ea"/>
                <a:sym typeface="+mn-lt"/>
              </a:rPr>
              <a:t>前沿架构，如旋转位置嵌入、</a:t>
            </a:r>
            <a:r>
              <a:rPr lang="en-US" altLang="zh-CN" sz="1800" spc="40" dirty="0">
                <a:solidFill>
                  <a:srgbClr val="314371"/>
                </a:solidFill>
                <a:uFillTx/>
                <a:latin typeface="Times New Roman" panose="02020503050405090304" charset="0"/>
                <a:ea typeface="黑体" panose="02010609060101010101" charset="-122"/>
                <a:cs typeface="+mn-ea"/>
                <a:sym typeface="+mn-lt"/>
              </a:rPr>
              <a:t>SwiGLU </a:t>
            </a:r>
            <a:r>
              <a:rPr lang="zh-CN" altLang="en-US" sz="1800" spc="40" dirty="0">
                <a:solidFill>
                  <a:srgbClr val="314371"/>
                </a:solidFill>
                <a:uFillTx/>
                <a:latin typeface="Times New Roman" panose="02020503050405090304" charset="0"/>
                <a:ea typeface="黑体" panose="02010609060101010101" charset="-122"/>
                <a:cs typeface="+mn-ea"/>
                <a:sym typeface="+mn-lt"/>
              </a:rPr>
              <a:t>激活函数等，推出了</a:t>
            </a:r>
            <a:r>
              <a:rPr lang="en-US" altLang="zh-CN" sz="1800" spc="40" dirty="0">
                <a:solidFill>
                  <a:srgbClr val="314371"/>
                </a:solidFill>
                <a:uFillTx/>
                <a:latin typeface="Times New Roman" panose="02020503050405090304" charset="0"/>
                <a:ea typeface="黑体" panose="02010609060101010101" charset="-122"/>
                <a:cs typeface="+mn-ea"/>
                <a:sym typeface="+mn-lt"/>
              </a:rPr>
              <a:t> NT-v2 </a:t>
            </a:r>
            <a:r>
              <a:rPr lang="zh-CN" altLang="en-US" sz="1800" spc="40" dirty="0">
                <a:solidFill>
                  <a:srgbClr val="314371"/>
                </a:solidFill>
                <a:uFillTx/>
                <a:latin typeface="Times New Roman" panose="02020503050405090304" charset="0"/>
                <a:ea typeface="黑体" panose="02010609060101010101" charset="-122"/>
                <a:cs typeface="+mn-ea"/>
                <a:sym typeface="+mn-lt"/>
              </a:rPr>
              <a:t>系列</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视野扩展</a:t>
            </a:r>
            <a:r>
              <a:rPr lang="zh-CN" altLang="en-US" sz="1800" spc="40" dirty="0">
                <a:solidFill>
                  <a:srgbClr val="314371"/>
                </a:solidFill>
                <a:uFillTx/>
                <a:latin typeface="Times New Roman" panose="02020503050405090304" charset="0"/>
                <a:ea typeface="黑体" panose="02010609060101010101" charset="-122"/>
                <a:cs typeface="+mn-ea"/>
                <a:sym typeface="+mn-lt"/>
              </a:rPr>
              <a:t>：将模型一次性能够理解的</a:t>
            </a:r>
            <a:r>
              <a:rPr lang="en-US" altLang="zh-CN" sz="1800" spc="40" dirty="0">
                <a:solidFill>
                  <a:srgbClr val="314371"/>
                </a:solidFill>
                <a:uFillTx/>
                <a:latin typeface="Times New Roman" panose="02020503050405090304" charset="0"/>
                <a:ea typeface="黑体" panose="02010609060101010101" charset="-122"/>
                <a:cs typeface="+mn-ea"/>
                <a:sym typeface="+mn-lt"/>
              </a:rPr>
              <a:t> DNA </a:t>
            </a:r>
            <a:r>
              <a:rPr lang="zh-CN" altLang="en-US" sz="1800" spc="40" dirty="0">
                <a:solidFill>
                  <a:srgbClr val="314371"/>
                </a:solidFill>
                <a:uFillTx/>
                <a:latin typeface="Times New Roman" panose="02020503050405090304" charset="0"/>
                <a:ea typeface="黑体" panose="02010609060101010101" charset="-122"/>
                <a:cs typeface="+mn-ea"/>
                <a:sym typeface="+mn-lt"/>
              </a:rPr>
              <a:t>上下文长度，从</a:t>
            </a:r>
            <a:r>
              <a:rPr lang="en-US" altLang="zh-CN" sz="1800" spc="40" dirty="0">
                <a:solidFill>
                  <a:srgbClr val="314371"/>
                </a:solidFill>
                <a:uFillTx/>
                <a:latin typeface="Times New Roman" panose="02020503050405090304" charset="0"/>
                <a:ea typeface="黑体" panose="02010609060101010101" charset="-122"/>
                <a:cs typeface="+mn-ea"/>
                <a:sym typeface="+mn-lt"/>
              </a:rPr>
              <a:t> 6KB </a:t>
            </a:r>
            <a:r>
              <a:rPr lang="zh-CN" altLang="en-US" sz="1800" spc="40" dirty="0">
                <a:solidFill>
                  <a:srgbClr val="314371"/>
                </a:solidFill>
                <a:uFillTx/>
                <a:latin typeface="Times New Roman" panose="02020503050405090304" charset="0"/>
                <a:ea typeface="黑体" panose="02010609060101010101" charset="-122"/>
                <a:cs typeface="+mn-ea"/>
                <a:sym typeface="+mn-lt"/>
              </a:rPr>
              <a:t>翻倍扩展到了</a:t>
            </a:r>
            <a:r>
              <a:rPr lang="en-US" altLang="zh-CN" sz="1800" spc="40" dirty="0">
                <a:solidFill>
                  <a:srgbClr val="314371"/>
                </a:solidFill>
                <a:uFillTx/>
                <a:latin typeface="Times New Roman" panose="02020503050405090304" charset="0"/>
                <a:ea typeface="黑体" panose="02010609060101010101" charset="-122"/>
                <a:cs typeface="+mn-ea"/>
                <a:sym typeface="+mn-lt"/>
              </a:rPr>
              <a:t> 12KB</a:t>
            </a:r>
            <a:r>
              <a:rPr lang="zh-CN" altLang="en-US" sz="1800" spc="40" dirty="0">
                <a:solidFill>
                  <a:srgbClr val="314371"/>
                </a:solidFill>
                <a:uFillTx/>
                <a:latin typeface="Times New Roman" panose="02020503050405090304" charset="0"/>
                <a:ea typeface="黑体" panose="02010609060101010101" charset="-122"/>
                <a:cs typeface="+mn-ea"/>
                <a:sym typeface="+mn-lt"/>
              </a:rPr>
              <a:t>，从而能捕捉更远距离的基因互作</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a:off x="6429375" y="1529080"/>
            <a:ext cx="4714875" cy="52152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64610" y="1905"/>
            <a:ext cx="9008745" cy="83312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210" y="0"/>
            <a:ext cx="2260600" cy="83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黑体" panose="02010609060101010101" charset="-122"/>
              <a:ea typeface="黑体" panose="02010609060101010101"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结</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讨</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研</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究</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法</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5531485" cy="491490"/>
          </a:xfrm>
          <a:prstGeom prst="rect">
            <a:avLst/>
          </a:prstGeom>
          <a:noFill/>
        </p:spPr>
        <p:txBody>
          <a:bodyPr wrap="square" rtlCol="0">
            <a:spAutoFit/>
          </a:bodyPr>
          <a:lstStyle/>
          <a:p>
            <a:pPr algn="l"/>
            <a:r>
              <a:rPr lang="zh-CN" altLang="en-US" sz="2600" b="1" spc="-150" dirty="0">
                <a:solidFill>
                  <a:srgbClr val="314371"/>
                </a:solidFill>
                <a:uFillTx/>
                <a:latin typeface="Times New Roman" panose="02020503050405090304" charset="0"/>
                <a:ea typeface="黑体" panose="02010609060101010101" charset="-122"/>
                <a:cs typeface="+mn-ea"/>
                <a:sym typeface="+mn-lt"/>
              </a:rPr>
              <a:t>结果五：用小模型超越大模型的奇迹</a:t>
            </a:r>
            <a:endParaRPr lang="zh-CN" altLang="en-US" sz="2600" b="1" spc="-150" dirty="0">
              <a:solidFill>
                <a:srgbClr val="314371"/>
              </a:solidFill>
              <a:uFillTx/>
              <a:latin typeface="Times New Roman" panose="02020503050405090304" charset="0"/>
              <a:ea typeface="黑体" panose="02010609060101010101" charset="-122"/>
              <a:cs typeface="+mn-ea"/>
              <a:sym typeface="+mn-lt"/>
            </a:endParaRPr>
          </a:p>
        </p:txBody>
      </p:sp>
      <p:sp>
        <p:nvSpPr>
          <p:cNvPr id="6" name="文本框 5"/>
          <p:cNvSpPr txBox="1"/>
          <p:nvPr/>
        </p:nvSpPr>
        <p:spPr>
          <a:xfrm>
            <a:off x="524510" y="2104390"/>
            <a:ext cx="5928995" cy="404685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算力性价比突破</a:t>
            </a:r>
            <a:r>
              <a:rPr lang="zh-CN" altLang="en-US" sz="1800" spc="40" dirty="0">
                <a:solidFill>
                  <a:srgbClr val="314371"/>
                </a:solidFill>
                <a:uFillTx/>
                <a:latin typeface="Times New Roman" panose="02020503050405090304" charset="0"/>
                <a:ea typeface="黑体" panose="02010609060101010101" charset="-122"/>
                <a:cs typeface="+mn-ea"/>
                <a:sym typeface="+mn-lt"/>
              </a:rPr>
              <a:t>：得益于架构升级和更长时间的预训练，一个仅拥有</a:t>
            </a:r>
            <a:r>
              <a:rPr lang="en-US" altLang="zh-CN" sz="1800" spc="40" dirty="0">
                <a:solidFill>
                  <a:srgbClr val="314371"/>
                </a:solidFill>
                <a:uFillTx/>
                <a:latin typeface="Times New Roman" panose="02020503050405090304" charset="0"/>
                <a:ea typeface="黑体" panose="02010609060101010101" charset="-122"/>
                <a:cs typeface="+mn-ea"/>
                <a:sym typeface="+mn-lt"/>
              </a:rPr>
              <a:t> 5000 </a:t>
            </a:r>
            <a:r>
              <a:rPr lang="zh-CN" altLang="en-US" sz="1800" spc="40" dirty="0">
                <a:solidFill>
                  <a:srgbClr val="314371"/>
                </a:solidFill>
                <a:uFillTx/>
                <a:latin typeface="Times New Roman" panose="02020503050405090304" charset="0"/>
                <a:ea typeface="黑体" panose="02010609060101010101" charset="-122"/>
                <a:cs typeface="+mn-ea"/>
                <a:sym typeface="+mn-lt"/>
              </a:rPr>
              <a:t>万参数的</a:t>
            </a:r>
            <a:r>
              <a:rPr lang="en-US" altLang="zh-CN" sz="1800" spc="40" dirty="0">
                <a:solidFill>
                  <a:srgbClr val="314371"/>
                </a:solidFill>
                <a:uFillTx/>
                <a:latin typeface="Times New Roman" panose="02020503050405090304" charset="0"/>
                <a:ea typeface="黑体" panose="02010609060101010101" charset="-122"/>
                <a:cs typeface="+mn-ea"/>
                <a:sym typeface="+mn-lt"/>
              </a:rPr>
              <a:t> NT-v2 </a:t>
            </a:r>
            <a:r>
              <a:rPr lang="zh-CN" altLang="en-US" sz="1800" spc="40" dirty="0">
                <a:solidFill>
                  <a:srgbClr val="314371"/>
                </a:solidFill>
                <a:uFillTx/>
                <a:latin typeface="Times New Roman" panose="02020503050405090304" charset="0"/>
                <a:ea typeface="黑体" panose="02010609060101010101" charset="-122"/>
                <a:cs typeface="+mn-ea"/>
                <a:sym typeface="+mn-lt"/>
              </a:rPr>
              <a:t>模型，其表现竟然比肩最初具有</a:t>
            </a:r>
            <a:r>
              <a:rPr lang="en-US" altLang="zh-CN" sz="1800" spc="40" dirty="0">
                <a:solidFill>
                  <a:srgbClr val="314371"/>
                </a:solidFill>
                <a:uFillTx/>
                <a:latin typeface="Times New Roman" panose="02020503050405090304" charset="0"/>
                <a:ea typeface="黑体" panose="02010609060101010101" charset="-122"/>
                <a:cs typeface="+mn-ea"/>
                <a:sym typeface="+mn-lt"/>
              </a:rPr>
              <a:t> 25 </a:t>
            </a:r>
            <a:r>
              <a:rPr lang="zh-CN" altLang="en-US" sz="1800" spc="40" dirty="0">
                <a:solidFill>
                  <a:srgbClr val="314371"/>
                </a:solidFill>
                <a:uFillTx/>
                <a:latin typeface="Times New Roman" panose="02020503050405090304" charset="0"/>
                <a:ea typeface="黑体" panose="02010609060101010101" charset="-122"/>
                <a:cs typeface="+mn-ea"/>
                <a:sym typeface="+mn-lt"/>
              </a:rPr>
              <a:t>亿参数的大模型</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en-US" altLang="zh-CN" sz="1800" b="1" spc="40" dirty="0">
                <a:solidFill>
                  <a:srgbClr val="314371"/>
                </a:solidFill>
                <a:uFillTx/>
                <a:latin typeface="Times New Roman" panose="02020503050405090304" charset="0"/>
                <a:ea typeface="黑体" panose="02010609060101010101" charset="-122"/>
                <a:cs typeface="+mn-ea"/>
                <a:sym typeface="+mn-lt"/>
              </a:rPr>
              <a:t>50 </a:t>
            </a:r>
            <a:r>
              <a:rPr lang="zh-CN" altLang="en-US" sz="1800" b="1" spc="40" dirty="0">
                <a:solidFill>
                  <a:srgbClr val="314371"/>
                </a:solidFill>
                <a:uFillTx/>
                <a:latin typeface="Times New Roman" panose="02020503050405090304" charset="0"/>
                <a:ea typeface="黑体" panose="02010609060101010101" charset="-122"/>
                <a:cs typeface="+mn-ea"/>
                <a:sym typeface="+mn-lt"/>
              </a:rPr>
              <a:t>倍参数缩减</a:t>
            </a:r>
            <a:r>
              <a:rPr lang="zh-CN" altLang="en-US" sz="1800" spc="40" dirty="0">
                <a:solidFill>
                  <a:srgbClr val="314371"/>
                </a:solidFill>
                <a:uFillTx/>
                <a:latin typeface="Times New Roman" panose="02020503050405090304" charset="0"/>
                <a:ea typeface="黑体" panose="02010609060101010101" charset="-122"/>
                <a:cs typeface="+mn-ea"/>
                <a:sym typeface="+mn-lt"/>
              </a:rPr>
              <a:t>：意味着模型的参数量缩小了</a:t>
            </a:r>
            <a:r>
              <a:rPr lang="en-US" altLang="zh-CN" sz="1800" spc="40" dirty="0">
                <a:solidFill>
                  <a:srgbClr val="314371"/>
                </a:solidFill>
                <a:uFillTx/>
                <a:latin typeface="Times New Roman" panose="02020503050405090304" charset="0"/>
                <a:ea typeface="黑体" panose="02010609060101010101" charset="-122"/>
                <a:cs typeface="+mn-ea"/>
                <a:sym typeface="+mn-lt"/>
              </a:rPr>
              <a:t> 50 </a:t>
            </a:r>
            <a:r>
              <a:rPr lang="zh-CN" altLang="en-US" sz="1800" spc="40" dirty="0">
                <a:solidFill>
                  <a:srgbClr val="314371"/>
                </a:solidFill>
                <a:uFillTx/>
                <a:latin typeface="Times New Roman" panose="02020503050405090304" charset="0"/>
                <a:ea typeface="黑体" panose="02010609060101010101" charset="-122"/>
                <a:cs typeface="+mn-ea"/>
                <a:sym typeface="+mn-lt"/>
              </a:rPr>
              <a:t>倍，但核心预测能力保持不降反升</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应用前景</a:t>
            </a:r>
            <a:r>
              <a:rPr lang="zh-CN" altLang="en-US" sz="1800" spc="40" dirty="0">
                <a:solidFill>
                  <a:srgbClr val="314371"/>
                </a:solidFill>
                <a:uFillTx/>
                <a:latin typeface="Times New Roman" panose="02020503050405090304" charset="0"/>
                <a:ea typeface="黑体" panose="02010609060101010101" charset="-122"/>
                <a:cs typeface="+mn-ea"/>
                <a:sym typeface="+mn-lt"/>
              </a:rPr>
              <a:t>：使得最前沿的基因组</a:t>
            </a:r>
            <a:r>
              <a:rPr lang="en-US" altLang="zh-CN" sz="1800" spc="40" dirty="0">
                <a:solidFill>
                  <a:srgbClr val="314371"/>
                </a:solidFill>
                <a:uFillTx/>
                <a:latin typeface="Times New Roman" panose="02020503050405090304" charset="0"/>
                <a:ea typeface="黑体" panose="02010609060101010101" charset="-122"/>
                <a:cs typeface="+mn-ea"/>
                <a:sym typeface="+mn-lt"/>
              </a:rPr>
              <a:t> AI </a:t>
            </a:r>
            <a:r>
              <a:rPr lang="zh-CN" altLang="en-US" sz="1800" spc="40" dirty="0">
                <a:solidFill>
                  <a:srgbClr val="314371"/>
                </a:solidFill>
                <a:uFillTx/>
                <a:latin typeface="Times New Roman" panose="02020503050405090304" charset="0"/>
                <a:ea typeface="黑体" panose="02010609060101010101" charset="-122"/>
                <a:cs typeface="+mn-ea"/>
                <a:sym typeface="+mn-lt"/>
              </a:rPr>
              <a:t>大模型可以部署在低成本的普通加速硬件上</a:t>
            </a:r>
            <a:endParaRPr lang="en-US" altLang="zh-CN" sz="1800" spc="40" dirty="0">
              <a:solidFill>
                <a:srgbClr val="314371"/>
              </a:solidFill>
              <a:uFillTx/>
              <a:latin typeface="Times New Roman" panose="02020503050405090304" charset="0"/>
              <a:ea typeface="黑体" panose="02010609060101010101" charset="-122"/>
              <a:cs typeface="+mn-ea"/>
              <a:sym typeface="+mn-lt"/>
            </a:endParaRPr>
          </a:p>
        </p:txBody>
      </p:sp>
      <p:pic>
        <p:nvPicPr>
          <p:cNvPr id="4" name="图片 3"/>
          <p:cNvPicPr>
            <a:picLocks noChangeAspect="1"/>
          </p:cNvPicPr>
          <p:nvPr/>
        </p:nvPicPr>
        <p:blipFill>
          <a:blip r:embed="rId2"/>
          <a:stretch>
            <a:fillRect/>
          </a:stretch>
        </p:blipFill>
        <p:spPr>
          <a:xfrm>
            <a:off x="6573520" y="1974215"/>
            <a:ext cx="5930265" cy="41770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0"/>
            <a:ext cx="12858044" cy="7232649"/>
          </a:xfrm>
          <a:prstGeom prst="rect">
            <a:avLst/>
          </a:prstGeom>
        </p:spPr>
      </p:pic>
      <p:sp>
        <p:nvSpPr>
          <p:cNvPr id="6" name="矩形 5"/>
          <p:cNvSpPr/>
          <p:nvPr/>
        </p:nvSpPr>
        <p:spPr>
          <a:xfrm>
            <a:off x="706" y="-13183"/>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396525" y="1585158"/>
            <a:ext cx="4062334" cy="4062334"/>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20" name="文本框 19"/>
            <p:cNvSpPr txBox="1"/>
            <p:nvPr/>
          </p:nvSpPr>
          <p:spPr>
            <a:xfrm>
              <a:off x="4170422" y="2020329"/>
              <a:ext cx="3844925" cy="768350"/>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3</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19" name="文本框 18"/>
            <p:cNvSpPr txBox="1"/>
            <p:nvPr/>
          </p:nvSpPr>
          <p:spPr>
            <a:xfrm>
              <a:off x="4170661" y="2905519"/>
              <a:ext cx="3844925" cy="706755"/>
            </a:xfrm>
            <a:prstGeom prst="rect">
              <a:avLst/>
            </a:prstGeom>
            <a:noFill/>
            <a:ln w="9525">
              <a:noFill/>
            </a:ln>
          </p:spPr>
          <p:txBody>
            <a:bodyPr wrap="square">
              <a:spAutoFit/>
            </a:bodyPr>
            <a:lstStyle/>
            <a:p>
              <a:pPr marL="419100" indent="-419100" algn="ctr"/>
              <a:r>
                <a:rPr lang="zh-CN" altLang="en-US" sz="4000" spc="-209" dirty="0">
                  <a:solidFill>
                    <a:schemeClr val="bg1"/>
                  </a:solidFill>
                  <a:uFillTx/>
                  <a:latin typeface="黑体" panose="02010609060101010101" charset="-122"/>
                  <a:ea typeface="黑体" panose="02010609060101010101" charset="-122"/>
                  <a:cs typeface="+mn-ea"/>
                  <a:sym typeface="+mn-lt"/>
                </a:rPr>
                <a:t>讨论</a:t>
              </a:r>
              <a:endParaRPr lang="zh-CN" altLang="en-US" sz="4000" b="1" dirty="0">
                <a:solidFill>
                  <a:schemeClr val="bg1"/>
                </a:solidFill>
                <a:latin typeface="黑体" panose="02010609060101010101" charset="-122"/>
                <a:ea typeface="黑体" panose="02010609060101010101"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9210" y="6985"/>
            <a:ext cx="9034145" cy="82804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8575" y="5715"/>
            <a:ext cx="2261235" cy="829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190" y="6985"/>
            <a:ext cx="2260600" cy="828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rgbClr val="7F7F7F"/>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 name="文本框 3"/>
          <p:cNvSpPr txBox="1"/>
          <p:nvPr/>
        </p:nvSpPr>
        <p:spPr>
          <a:xfrm>
            <a:off x="524510" y="1167765"/>
            <a:ext cx="343979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数据多样性与规模法则</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12" name="圆角矩形 11"/>
          <p:cNvSpPr/>
          <p:nvPr/>
        </p:nvSpPr>
        <p:spPr>
          <a:xfrm>
            <a:off x="2252980" y="2544445"/>
            <a:ext cx="2851150" cy="914400"/>
          </a:xfrm>
          <a:prstGeom prst="roundRect">
            <a:avLst/>
          </a:prstGeom>
          <a:solidFill>
            <a:schemeClr val="bg1">
              <a:lumMod val="50000"/>
            </a:schemeClr>
          </a:solidFill>
          <a:ln w="25400">
            <a:solidFill>
              <a:schemeClr val="accent5">
                <a:lumMod val="50000"/>
                <a:lumOff val="50000"/>
              </a:schemeClr>
            </a:solidFill>
            <a:headEnd type="none" w="med" len="med"/>
            <a:tailEnd type="none" w="med" len="med"/>
          </a:ln>
          <a:effectLst>
            <a:outerShdw blurRad="50800" dist="38100" dir="2700000" algn="tl" rotWithShape="0">
              <a:prstClr val="black">
                <a:alpha val="40000"/>
              </a:prstClr>
            </a:outerShdw>
          </a:effectLst>
        </p:spPr>
        <p:style>
          <a:lnRef idx="0">
            <a:srgbClr val="FFFFFF"/>
          </a:lnRef>
          <a:fillRef idx="1">
            <a:schemeClr val="accent2"/>
          </a:fillRef>
          <a:effectRef idx="1">
            <a:schemeClr val="accent2"/>
          </a:effectRef>
          <a:fontRef idx="minor">
            <a:schemeClr val="lt1"/>
          </a:fontRef>
        </p:style>
        <p:txBody>
          <a:bodyPr vert="horz" wrap="square" lIns="91440" tIns="45720" rIns="91440" bIns="45720" numCol="1" anchor="ctr" anchorCtr="0" compatLnSpc="1"/>
          <a:p>
            <a:pPr marL="0" marR="0" indent="0" algn="ctr" defTabSz="914400" rtl="0" eaLnBrk="1" fontAlgn="base" latinLnBrk="1" hangingPunct="1">
              <a:lnSpc>
                <a:spcPct val="100000"/>
              </a:lnSpc>
              <a:spcBef>
                <a:spcPct val="0"/>
              </a:spcBef>
              <a:spcAft>
                <a:spcPct val="0"/>
              </a:spcAft>
              <a:buClrTx/>
              <a:buSzTx/>
              <a:buFontTx/>
              <a:buNone/>
            </a:pPr>
            <a:r>
              <a:rPr kumimoji="1" lang="zh-CN" altLang="en-US" sz="1600" b="1" i="0" baseline="0" smtClean="0">
                <a:ln>
                  <a:noFill/>
                </a:ln>
                <a:solidFill>
                  <a:schemeClr val="bg1"/>
                </a:solidFill>
                <a:effectLst/>
                <a:uFillTx/>
                <a:latin typeface="黑体" panose="02010609060101010101" charset="-122"/>
                <a:ea typeface="黑体" panose="02010609060101010101" charset="-122"/>
              </a:rPr>
              <a:t>数据的本质</a:t>
            </a:r>
            <a:endParaRPr kumimoji="1" lang="zh-CN" altLang="en-US" sz="1600" b="1" i="0" baseline="0" smtClean="0">
              <a:ln>
                <a:noFill/>
              </a:ln>
              <a:solidFill>
                <a:schemeClr val="bg1"/>
              </a:solidFill>
              <a:effectLst/>
              <a:uFillTx/>
              <a:latin typeface="黑体" panose="02010609060101010101" charset="-122"/>
              <a:ea typeface="黑体" panose="02010609060101010101" charset="-122"/>
            </a:endParaRPr>
          </a:p>
        </p:txBody>
      </p:sp>
      <p:sp>
        <p:nvSpPr>
          <p:cNvPr id="13" name="圆角矩形 12"/>
          <p:cNvSpPr/>
          <p:nvPr/>
        </p:nvSpPr>
        <p:spPr>
          <a:xfrm>
            <a:off x="7653655" y="2472690"/>
            <a:ext cx="2878455" cy="914400"/>
          </a:xfrm>
          <a:prstGeom prst="roundRect">
            <a:avLst/>
          </a:prstGeom>
          <a:solidFill>
            <a:schemeClr val="accent2"/>
          </a:solidFill>
          <a:ln w="25400">
            <a:solidFill>
              <a:schemeClr val="tx2">
                <a:lumMod val="75000"/>
                <a:lumOff val="25000"/>
              </a:schemeClr>
            </a:solidFill>
            <a:headEnd type="none" w="med" len="med"/>
            <a:tailEnd type="none" w="med" len="med"/>
          </a:ln>
          <a:effectLst>
            <a:outerShdw blurRad="50800" dist="38100" dir="2700000" algn="tl" rotWithShape="0">
              <a:prstClr val="black">
                <a:alpha val="40000"/>
              </a:prstClr>
            </a:outerShdw>
          </a:effectLst>
        </p:spPr>
        <p:style>
          <a:lnRef idx="0">
            <a:srgbClr val="FFFFFF"/>
          </a:lnRef>
          <a:fillRef idx="1">
            <a:schemeClr val="accent2"/>
          </a:fillRef>
          <a:effectRef idx="1">
            <a:schemeClr val="accent2"/>
          </a:effectRef>
          <a:fontRef idx="minor">
            <a:schemeClr val="lt1"/>
          </a:fontRef>
        </p:style>
        <p:txBody>
          <a:bodyPr vert="horz" wrap="square" lIns="91440" tIns="45720" rIns="91440" bIns="45720" numCol="1" anchor="ctr" anchorCtr="0" compatLnSpc="1"/>
          <a:p>
            <a:pPr marL="0" marR="0" indent="0" algn="ctr" defTabSz="914400" rtl="0" eaLnBrk="1" fontAlgn="base" latinLnBrk="1" hangingPunct="1">
              <a:lnSpc>
                <a:spcPct val="100000"/>
              </a:lnSpc>
              <a:spcBef>
                <a:spcPct val="0"/>
              </a:spcBef>
              <a:spcAft>
                <a:spcPct val="0"/>
              </a:spcAft>
              <a:buClrTx/>
              <a:buSzTx/>
              <a:buFontTx/>
              <a:buNone/>
            </a:pPr>
            <a:r>
              <a:rPr kumimoji="1" lang="en-US" altLang="zh-CN" sz="1600" b="1" i="0" baseline="0" smtClean="0">
                <a:ln>
                  <a:noFill/>
                </a:ln>
                <a:solidFill>
                  <a:schemeClr val="bg1"/>
                </a:solidFill>
                <a:effectLst/>
                <a:uFillTx/>
                <a:latin typeface="Times New Roman" panose="02020503050405090304" charset="0"/>
                <a:ea typeface="黑体" panose="02010609060101010101" charset="-122"/>
                <a:cs typeface="黑体" panose="02010609060101010101" charset="-122"/>
              </a:rPr>
              <a:t>AI </a:t>
            </a:r>
            <a:r>
              <a:rPr kumimoji="1" lang="zh-CN" altLang="en-US" sz="1600" b="1" i="0" baseline="0" smtClean="0">
                <a:ln>
                  <a:noFill/>
                </a:ln>
                <a:solidFill>
                  <a:schemeClr val="bg1"/>
                </a:solidFill>
                <a:effectLst/>
                <a:uFillTx/>
                <a:latin typeface="Times New Roman" panose="02020503050405090304" charset="0"/>
                <a:ea typeface="黑体" panose="02010609060101010101" charset="-122"/>
                <a:cs typeface="黑体" panose="02010609060101010101" charset="-122"/>
              </a:rPr>
              <a:t>的规模法则</a:t>
            </a:r>
            <a:endParaRPr kumimoji="1" lang="zh-CN" altLang="en-US" sz="1600" b="1" i="0" baseline="0" smtClean="0">
              <a:ln>
                <a:noFill/>
              </a:ln>
              <a:solidFill>
                <a:schemeClr val="bg1"/>
              </a:solidFill>
              <a:effectLst/>
              <a:uFillTx/>
              <a:latin typeface="Times New Roman" panose="02020503050405090304" charset="0"/>
              <a:ea typeface="黑体" panose="02010609060101010101" charset="-122"/>
              <a:cs typeface="黑体" panose="02010609060101010101" charset="-122"/>
            </a:endParaRPr>
          </a:p>
        </p:txBody>
      </p:sp>
      <p:sp>
        <p:nvSpPr>
          <p:cNvPr id="6" name="文本框 5"/>
          <p:cNvSpPr txBox="1"/>
          <p:nvPr/>
        </p:nvSpPr>
        <p:spPr>
          <a:xfrm>
            <a:off x="735330" y="3624580"/>
            <a:ext cx="5926455" cy="2406015"/>
          </a:xfrm>
          <a:prstGeom prst="rect">
            <a:avLst/>
          </a:prstGeom>
          <a:noFill/>
        </p:spPr>
        <p:txBody>
          <a:bodyPr wrap="square" rtlCol="0" anchor="ctr" anchorCtr="0">
            <a:noAutofit/>
          </a:bodyPr>
          <a:lstStyle/>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跨物种数据</a:t>
            </a:r>
            <a:r>
              <a:rPr lang="zh-CN" altLang="en-US" sz="1800" spc="40" dirty="0">
                <a:solidFill>
                  <a:srgbClr val="314371"/>
                </a:solidFill>
                <a:uFillTx/>
                <a:latin typeface="Times New Roman" panose="02020503050405090304" charset="0"/>
                <a:ea typeface="黑体" panose="02010609060101010101" charset="-122"/>
                <a:cs typeface="+mn-ea"/>
                <a:sym typeface="+mn-lt"/>
              </a:rPr>
              <a:t>：融合了数千万年的进化保守性，使得</a:t>
            </a:r>
            <a:r>
              <a:rPr lang="en-US" altLang="zh-CN" sz="1800" spc="40" dirty="0">
                <a:solidFill>
                  <a:srgbClr val="314371"/>
                </a:solidFill>
                <a:uFillTx/>
                <a:latin typeface="Times New Roman" panose="02020503050405090304" charset="0"/>
                <a:ea typeface="黑体" panose="02010609060101010101" charset="-122"/>
                <a:cs typeface="+mn-ea"/>
                <a:sym typeface="+mn-lt"/>
              </a:rPr>
              <a:t> AI </a:t>
            </a:r>
            <a:r>
              <a:rPr lang="zh-CN" altLang="en-US" sz="1800" spc="40" dirty="0">
                <a:solidFill>
                  <a:srgbClr val="314371"/>
                </a:solidFill>
                <a:uFillTx/>
                <a:latin typeface="Times New Roman" panose="02020503050405090304" charset="0"/>
                <a:ea typeface="黑体" panose="02010609060101010101" charset="-122"/>
                <a:cs typeface="+mn-ea"/>
                <a:sym typeface="+mn-lt"/>
              </a:rPr>
              <a:t>在预测人类分子表型时表现最优</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800" b="1" spc="40" dirty="0">
                <a:solidFill>
                  <a:srgbClr val="314371"/>
                </a:solidFill>
                <a:uFillTx/>
                <a:latin typeface="Times New Roman" panose="02020503050405090304" charset="0"/>
                <a:ea typeface="黑体" panose="02010609060101010101" charset="-122"/>
                <a:cs typeface="+mn-ea"/>
                <a:sym typeface="+mn-lt"/>
              </a:rPr>
              <a:t>种内数据</a:t>
            </a:r>
            <a:r>
              <a:rPr lang="zh-CN" altLang="en-US" sz="1800" spc="40" dirty="0">
                <a:solidFill>
                  <a:srgbClr val="314371"/>
                </a:solidFill>
                <a:uFillTx/>
                <a:latin typeface="Times New Roman" panose="02020503050405090304" charset="0"/>
                <a:ea typeface="黑体" panose="02010609060101010101" charset="-122"/>
                <a:cs typeface="+mn-ea"/>
                <a:sym typeface="+mn-lt"/>
              </a:rPr>
              <a:t>：多个不同人类个体的测序，由于个体间序列共享度过高，对当前</a:t>
            </a:r>
            <a:r>
              <a:rPr lang="en-US" altLang="zh-CN" sz="1800" spc="40" dirty="0">
                <a:solidFill>
                  <a:srgbClr val="314371"/>
                </a:solidFill>
                <a:uFillTx/>
                <a:latin typeface="Times New Roman" panose="02020503050405090304" charset="0"/>
                <a:ea typeface="黑体" panose="02010609060101010101" charset="-122"/>
                <a:cs typeface="+mn-ea"/>
                <a:sym typeface="+mn-lt"/>
              </a:rPr>
              <a:t> AI </a:t>
            </a:r>
            <a:r>
              <a:rPr lang="zh-CN" altLang="en-US" sz="1800" spc="40" dirty="0">
                <a:solidFill>
                  <a:srgbClr val="314371"/>
                </a:solidFill>
                <a:uFillTx/>
                <a:latin typeface="Times New Roman" panose="02020503050405090304" charset="0"/>
                <a:ea typeface="黑体" panose="02010609060101010101" charset="-122"/>
                <a:cs typeface="+mn-ea"/>
                <a:sym typeface="+mn-lt"/>
              </a:rPr>
              <a:t>性能提升的边际效应有限</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sp>
        <p:nvSpPr>
          <p:cNvPr id="9" name="文本框 8"/>
          <p:cNvSpPr txBox="1"/>
          <p:nvPr/>
        </p:nvSpPr>
        <p:spPr>
          <a:xfrm>
            <a:off x="7149465" y="3768725"/>
            <a:ext cx="3937000" cy="1950720"/>
          </a:xfrm>
          <a:prstGeom prst="rect">
            <a:avLst/>
          </a:prstGeom>
          <a:noFill/>
        </p:spPr>
        <p:txBody>
          <a:bodyPr wrap="square" rtlCol="0" anchor="ctr" anchorCtr="0">
            <a:noAutofit/>
          </a:bodyPr>
          <a:lstStyle/>
          <a:p>
            <a:pPr marL="0" indent="0" algn="l" eaLnBrk="1" latinLnBrk="0" hangingPunct="1">
              <a:lnSpc>
                <a:spcPct val="200000"/>
              </a:lnSpc>
              <a:buFont typeface="Wingdings" panose="05000000000000000000" charset="0"/>
              <a:buNone/>
            </a:pPr>
            <a:r>
              <a:rPr lang="zh-CN" altLang="en-US" sz="1800" spc="40" dirty="0">
                <a:solidFill>
                  <a:srgbClr val="314371"/>
                </a:solidFill>
                <a:uFillTx/>
                <a:latin typeface="Times New Roman" panose="02020503050405090304" charset="0"/>
                <a:ea typeface="黑体" panose="02010609060101010101" charset="-122"/>
                <a:cs typeface="+mn-ea"/>
                <a:sym typeface="+mn-lt"/>
              </a:rPr>
              <a:t>在同等架构下，再次印证了自然语言处理领域的经验，</a:t>
            </a:r>
            <a:r>
              <a:rPr lang="en-US" altLang="zh-CN" sz="1800" spc="40" dirty="0">
                <a:solidFill>
                  <a:srgbClr val="314371"/>
                </a:solidFill>
                <a:uFillTx/>
                <a:latin typeface="Times New Roman" panose="02020503050405090304" charset="0"/>
                <a:ea typeface="黑体" panose="02010609060101010101" charset="-122"/>
                <a:cs typeface="+mn-ea"/>
                <a:sym typeface="+mn-lt"/>
              </a:rPr>
              <a:t>DNA </a:t>
            </a:r>
            <a:r>
              <a:rPr lang="zh-CN" altLang="en-US" sz="1800" spc="40" dirty="0">
                <a:solidFill>
                  <a:srgbClr val="314371"/>
                </a:solidFill>
                <a:uFillTx/>
                <a:latin typeface="Times New Roman" panose="02020503050405090304" charset="0"/>
                <a:ea typeface="黑体" panose="02010609060101010101" charset="-122"/>
                <a:cs typeface="+mn-ea"/>
                <a:sym typeface="+mn-lt"/>
              </a:rPr>
              <a:t>基础模型的参数规模越大，下游任务性能越好</a:t>
            </a:r>
            <a:endParaRPr lang="zh-CN" altLang="en-US" sz="1800" spc="40" dirty="0">
              <a:solidFill>
                <a:srgbClr val="314371"/>
              </a:solidFill>
              <a:uFillTx/>
              <a:latin typeface="Times New Roman" panose="02020503050405090304" charset="0"/>
              <a:ea typeface="黑体" panose="02010609060101010101" charset="-122"/>
              <a:cs typeface="+mn-ea"/>
              <a:sym typeface="+mn-lt"/>
            </a:endParaRPr>
          </a:p>
        </p:txBody>
      </p:sp>
      <p:sp>
        <p:nvSpPr>
          <p:cNvPr id="10" name="矩形 9"/>
          <p:cNvSpPr/>
          <p:nvPr/>
        </p:nvSpPr>
        <p:spPr>
          <a:xfrm>
            <a:off x="596900" y="2176780"/>
            <a:ext cx="6228080" cy="393382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矩形 10"/>
          <p:cNvSpPr/>
          <p:nvPr/>
        </p:nvSpPr>
        <p:spPr>
          <a:xfrm>
            <a:off x="6824980" y="2176780"/>
            <a:ext cx="5344160" cy="393382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9210" y="6985"/>
            <a:ext cx="9034145" cy="82804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8575" y="5715"/>
            <a:ext cx="2261235" cy="829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190" y="6985"/>
            <a:ext cx="2260600" cy="828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rgbClr val="7F7F7F"/>
              </a:solidFill>
              <a:latin typeface="黑体" panose="02010609060101010101" charset="-122"/>
              <a:ea typeface="黑体" panose="02010609060101010101" charset="-122"/>
              <a:cs typeface="黑体" panose="02010609060101010101" charset="-122"/>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 name="文本框 3"/>
          <p:cNvSpPr txBox="1"/>
          <p:nvPr/>
        </p:nvSpPr>
        <p:spPr>
          <a:xfrm>
            <a:off x="524510" y="1167765"/>
            <a:ext cx="368871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当前局限性与长序列挑战</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 name="文本框 6"/>
          <p:cNvSpPr txBox="1"/>
          <p:nvPr/>
        </p:nvSpPr>
        <p:spPr>
          <a:xfrm>
            <a:off x="279400" y="1816735"/>
            <a:ext cx="12304395" cy="1178560"/>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1700" b="1" spc="40" dirty="0">
                <a:solidFill>
                  <a:srgbClr val="314371"/>
                </a:solidFill>
                <a:uFillTx/>
                <a:latin typeface="Times New Roman" panose="02020503050405090304" charset="0"/>
                <a:ea typeface="黑体" panose="02010609060101010101" charset="-122"/>
                <a:cs typeface="+mn-ea"/>
                <a:sym typeface="+mn-lt"/>
              </a:rPr>
              <a:t>生物学现实</a:t>
            </a:r>
            <a:r>
              <a:rPr lang="zh-CN" altLang="en-US" sz="1700" spc="40" dirty="0">
                <a:solidFill>
                  <a:srgbClr val="314371"/>
                </a:solidFill>
                <a:uFillTx/>
                <a:latin typeface="Times New Roman" panose="02020503050405090304" charset="0"/>
                <a:ea typeface="黑体" panose="02010609060101010101" charset="-122"/>
                <a:cs typeface="+mn-ea"/>
                <a:sym typeface="+mn-lt"/>
              </a:rPr>
              <a:t>：基因表达的精准调控，往往是由距离转录起始位点极远，通常远超</a:t>
            </a:r>
            <a:r>
              <a:rPr lang="en-US" altLang="zh-CN" sz="1700" spc="40" dirty="0">
                <a:solidFill>
                  <a:srgbClr val="314371"/>
                </a:solidFill>
                <a:uFillTx/>
                <a:latin typeface="Times New Roman" panose="02020503050405090304" charset="0"/>
                <a:ea typeface="黑体" panose="02010609060101010101" charset="-122"/>
                <a:cs typeface="+mn-ea"/>
                <a:sym typeface="+mn-lt"/>
              </a:rPr>
              <a:t> 10-20 KB </a:t>
            </a:r>
            <a:r>
              <a:rPr lang="zh-CN" altLang="en-US" sz="1700" spc="40" dirty="0">
                <a:solidFill>
                  <a:srgbClr val="314371"/>
                </a:solidFill>
                <a:uFillTx/>
                <a:latin typeface="Times New Roman" panose="02020503050405090304" charset="0"/>
                <a:ea typeface="黑体" panose="02010609060101010101" charset="-122"/>
                <a:cs typeface="+mn-ea"/>
                <a:sym typeface="+mn-lt"/>
              </a:rPr>
              <a:t>以外，的远端增强子完成的</a:t>
            </a:r>
            <a:endParaRPr lang="zh-CN" altLang="en-US" sz="17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1700" b="1" spc="40" dirty="0">
                <a:solidFill>
                  <a:srgbClr val="314371"/>
                </a:solidFill>
                <a:uFillTx/>
                <a:latin typeface="Times New Roman" panose="02020503050405090304" charset="0"/>
                <a:ea typeface="黑体" panose="02010609060101010101" charset="-122"/>
                <a:cs typeface="+mn-ea"/>
                <a:sym typeface="+mn-lt"/>
              </a:rPr>
              <a:t>算力墙限制</a:t>
            </a:r>
            <a:r>
              <a:rPr lang="zh-CN" altLang="en-US" sz="1700" spc="40" dirty="0">
                <a:solidFill>
                  <a:srgbClr val="314371"/>
                </a:solidFill>
                <a:uFillTx/>
                <a:latin typeface="Times New Roman" panose="02020503050405090304" charset="0"/>
                <a:ea typeface="黑体" panose="02010609060101010101" charset="-122"/>
                <a:cs typeface="+mn-ea"/>
                <a:sym typeface="+mn-lt"/>
              </a:rPr>
              <a:t>：</a:t>
            </a:r>
            <a:r>
              <a:rPr lang="en-US" altLang="zh-CN" sz="1700" spc="40" dirty="0">
                <a:solidFill>
                  <a:srgbClr val="314371"/>
                </a:solidFill>
                <a:uFillTx/>
                <a:latin typeface="Times New Roman" panose="02020503050405090304" charset="0"/>
                <a:ea typeface="黑体" panose="02010609060101010101" charset="-122"/>
                <a:cs typeface="+mn-ea"/>
                <a:sym typeface="+mn-lt"/>
              </a:rPr>
              <a:t>Transformer </a:t>
            </a:r>
            <a:r>
              <a:rPr lang="zh-CN" altLang="en-US" sz="1700" spc="40" dirty="0">
                <a:solidFill>
                  <a:srgbClr val="314371"/>
                </a:solidFill>
                <a:uFillTx/>
                <a:latin typeface="Times New Roman" panose="02020503050405090304" charset="0"/>
                <a:ea typeface="黑体" panose="02010609060101010101" charset="-122"/>
                <a:cs typeface="+mn-ea"/>
                <a:sym typeface="+mn-lt"/>
              </a:rPr>
              <a:t>架构中由于</a:t>
            </a:r>
            <a:r>
              <a:rPr lang="en-US" altLang="zh-CN" sz="1700" spc="40" dirty="0">
                <a:solidFill>
                  <a:srgbClr val="314371"/>
                </a:solidFill>
                <a:uFillTx/>
                <a:latin typeface="Times New Roman" panose="02020503050405090304" charset="0"/>
                <a:ea typeface="黑体" panose="02010609060101010101" charset="-122"/>
                <a:cs typeface="+mn-ea"/>
                <a:sym typeface="+mn-lt"/>
              </a:rPr>
              <a:t> Attention </a:t>
            </a:r>
            <a:r>
              <a:rPr lang="zh-CN" altLang="en-US" sz="1700" spc="40" dirty="0">
                <a:solidFill>
                  <a:srgbClr val="314371"/>
                </a:solidFill>
                <a:uFillTx/>
                <a:latin typeface="Times New Roman" panose="02020503050405090304" charset="0"/>
                <a:ea typeface="黑体" panose="02010609060101010101" charset="-122"/>
                <a:cs typeface="+mn-ea"/>
                <a:sym typeface="+mn-lt"/>
              </a:rPr>
              <a:t>的计算量随序列长度呈平方级增长，目前难以处理诸如几十万</a:t>
            </a:r>
            <a:r>
              <a:rPr lang="en-US" altLang="zh-CN" sz="1700" spc="40" dirty="0">
                <a:solidFill>
                  <a:srgbClr val="314371"/>
                </a:solidFill>
                <a:uFillTx/>
                <a:latin typeface="Times New Roman" panose="02020503050405090304" charset="0"/>
                <a:ea typeface="黑体" panose="02010609060101010101" charset="-122"/>
                <a:cs typeface="+mn-ea"/>
                <a:sym typeface="+mn-lt"/>
              </a:rPr>
              <a:t> bp </a:t>
            </a:r>
            <a:r>
              <a:rPr lang="zh-CN" altLang="en-US" sz="1700" spc="40" dirty="0">
                <a:solidFill>
                  <a:srgbClr val="314371"/>
                </a:solidFill>
                <a:uFillTx/>
                <a:latin typeface="Times New Roman" panose="02020503050405090304" charset="0"/>
                <a:ea typeface="黑体" panose="02010609060101010101" charset="-122"/>
                <a:cs typeface="+mn-ea"/>
                <a:sym typeface="+mn-lt"/>
              </a:rPr>
              <a:t>的长序列</a:t>
            </a:r>
            <a:endParaRPr lang="zh-CN" altLang="en-US" sz="1700" spc="40" dirty="0">
              <a:solidFill>
                <a:srgbClr val="314371"/>
              </a:solidFill>
              <a:uFillTx/>
              <a:latin typeface="Times New Roman" panose="02020503050405090304" charset="0"/>
              <a:ea typeface="黑体" panose="02010609060101010101" charset="-122"/>
              <a:cs typeface="+mn-ea"/>
              <a:sym typeface="+mn-lt"/>
            </a:endParaRPr>
          </a:p>
        </p:txBody>
      </p:sp>
      <p:pic>
        <p:nvPicPr>
          <p:cNvPr id="8" name="图片 7" descr="Gemini_Generated_Image_1i8lp41i8lp41i8l"/>
          <p:cNvPicPr>
            <a:picLocks noChangeAspect="1"/>
          </p:cNvPicPr>
          <p:nvPr/>
        </p:nvPicPr>
        <p:blipFill>
          <a:blip r:embed="rId2"/>
          <a:stretch>
            <a:fillRect/>
          </a:stretch>
        </p:blipFill>
        <p:spPr>
          <a:xfrm>
            <a:off x="381000" y="3223260"/>
            <a:ext cx="8523605" cy="3604895"/>
          </a:xfrm>
          <a:prstGeom prst="rect">
            <a:avLst/>
          </a:prstGeom>
        </p:spPr>
      </p:pic>
      <p:sp>
        <p:nvSpPr>
          <p:cNvPr id="15" name="圆角矩形 14"/>
          <p:cNvSpPr/>
          <p:nvPr/>
        </p:nvSpPr>
        <p:spPr>
          <a:xfrm>
            <a:off x="9165590" y="3472815"/>
            <a:ext cx="3247390" cy="3086100"/>
          </a:xfrm>
          <a:prstGeom prst="roundRect">
            <a:avLst/>
          </a:prstGeom>
          <a:solidFill>
            <a:schemeClr val="bg1">
              <a:lumMod val="50000"/>
            </a:schemeClr>
          </a:solidFill>
          <a:ln w="25400">
            <a:solidFill>
              <a:srgbClr val="FEFEFE"/>
            </a:solidFill>
            <a:headEnd type="none" w="med" len="med"/>
            <a:tailEnd type="none" w="med" len="med"/>
          </a:ln>
          <a:effectLst>
            <a:outerShdw blurRad="50800" dist="38100" dir="2700000" algn="tl" rotWithShape="0">
              <a:prstClr val="black">
                <a:alpha val="40000"/>
              </a:prstClr>
            </a:outerShdw>
          </a:effectLst>
        </p:spPr>
        <p:style>
          <a:lnRef idx="0">
            <a:srgbClr val="FFFFFF"/>
          </a:lnRef>
          <a:fillRef idx="1">
            <a:schemeClr val="accent2"/>
          </a:fillRef>
          <a:effectRef idx="1">
            <a:schemeClr val="accent2"/>
          </a:effectRef>
          <a:fontRef idx="minor">
            <a:schemeClr val="lt1"/>
          </a:fontRef>
        </p:style>
        <p:txBody>
          <a:bodyPr vert="horz" wrap="square" lIns="91440" tIns="45720" rIns="91440" bIns="45720" numCol="1" anchor="ctr" anchorCtr="0" compatLnSpc="1"/>
          <a:p>
            <a:pPr marL="0" marR="0" indent="0" algn="ctr" defTabSz="914400" rtl="0" eaLnBrk="1" fontAlgn="base" latinLnBrk="1" hangingPunct="1">
              <a:lnSpc>
                <a:spcPct val="100000"/>
              </a:lnSpc>
              <a:spcBef>
                <a:spcPct val="0"/>
              </a:spcBef>
              <a:spcAft>
                <a:spcPct val="0"/>
              </a:spcAft>
              <a:buClrTx/>
              <a:buSzTx/>
              <a:buFontTx/>
              <a:buNone/>
            </a:pPr>
            <a:r>
              <a:rPr kumimoji="1" lang="zh-CN" altLang="en-US" sz="1600" b="1" i="0" baseline="0" smtClean="0">
                <a:ln>
                  <a:noFill/>
                </a:ln>
                <a:solidFill>
                  <a:schemeClr val="bg1"/>
                </a:solidFill>
                <a:effectLst/>
                <a:uFillTx/>
                <a:latin typeface="黑体" panose="02010609060101010101" charset="-122"/>
                <a:ea typeface="黑体" panose="02010609060101010101" charset="-122"/>
              </a:rPr>
              <a:t>未来方向</a:t>
            </a:r>
            <a:endParaRPr kumimoji="1" lang="zh-CN" altLang="en-US" sz="1600" b="1" i="0" baseline="0" smtClean="0">
              <a:ln>
                <a:noFill/>
              </a:ln>
              <a:solidFill>
                <a:schemeClr val="bg1"/>
              </a:solidFill>
              <a:effectLst/>
              <a:uFillTx/>
              <a:latin typeface="黑体" panose="02010609060101010101" charset="-122"/>
              <a:ea typeface="黑体" panose="02010609060101010101" charset="-122"/>
            </a:endParaRPr>
          </a:p>
          <a:p>
            <a:pPr marL="0" marR="0" indent="0" algn="ctr" defTabSz="914400" rtl="0" eaLnBrk="1" fontAlgn="base" latinLnBrk="1" hangingPunct="1">
              <a:lnSpc>
                <a:spcPct val="100000"/>
              </a:lnSpc>
              <a:spcBef>
                <a:spcPct val="0"/>
              </a:spcBef>
              <a:spcAft>
                <a:spcPct val="0"/>
              </a:spcAft>
              <a:buClrTx/>
              <a:buSzTx/>
              <a:buFontTx/>
              <a:buNone/>
            </a:pPr>
            <a:endParaRPr kumimoji="1" lang="zh-CN" altLang="en-US" sz="1600" b="1" i="0" baseline="0" smtClean="0">
              <a:ln>
                <a:noFill/>
              </a:ln>
              <a:solidFill>
                <a:schemeClr val="bg1"/>
              </a:solidFill>
              <a:effectLst/>
              <a:uFillTx/>
              <a:latin typeface="黑体" panose="02010609060101010101" charset="-122"/>
              <a:ea typeface="黑体" panose="02010609060101010101" charset="-122"/>
            </a:endParaRPr>
          </a:p>
          <a:p>
            <a:pPr marL="0" marR="0" indent="0" algn="l" defTabSz="914400" rtl="0" eaLnBrk="1" latinLnBrk="1" hangingPunct="1">
              <a:lnSpc>
                <a:spcPct val="150000"/>
              </a:lnSpc>
              <a:spcBef>
                <a:spcPct val="0"/>
              </a:spcBef>
              <a:spcAft>
                <a:spcPct val="0"/>
              </a:spcAft>
              <a:buClrTx/>
              <a:buSzTx/>
              <a:buFontTx/>
              <a:buNone/>
            </a:pPr>
            <a:r>
              <a:rPr kumimoji="1" lang="zh-CN" altLang="en-US" sz="1600" i="0" baseline="0" smtClean="0">
                <a:ln>
                  <a:noFill/>
                </a:ln>
                <a:solidFill>
                  <a:schemeClr val="bg1"/>
                </a:solidFill>
                <a:effectLst/>
                <a:uFillTx/>
                <a:latin typeface="Times New Roman" panose="02020503050405090304" charset="0"/>
                <a:ea typeface="黑体" panose="02010609060101010101" charset="-122"/>
              </a:rPr>
              <a:t>业界虽然有尝试扩张到百万</a:t>
            </a:r>
            <a:r>
              <a:rPr kumimoji="1" lang="en-US" altLang="zh-CN" sz="1600" i="0" baseline="0" smtClean="0">
                <a:ln>
                  <a:noFill/>
                </a:ln>
                <a:solidFill>
                  <a:schemeClr val="bg1"/>
                </a:solidFill>
                <a:effectLst/>
                <a:uFillTx/>
                <a:latin typeface="Times New Roman" panose="02020503050405090304" charset="0"/>
                <a:ea typeface="黑体" panose="02010609060101010101" charset="-122"/>
              </a:rPr>
              <a:t> bp</a:t>
            </a:r>
            <a:r>
              <a:rPr kumimoji="1" lang="zh-CN" altLang="en-US" sz="1600" i="0" baseline="0" smtClean="0">
                <a:ln>
                  <a:noFill/>
                </a:ln>
                <a:solidFill>
                  <a:schemeClr val="bg1"/>
                </a:solidFill>
                <a:effectLst/>
                <a:uFillTx/>
                <a:latin typeface="Times New Roman" panose="02020503050405090304" charset="0"/>
                <a:ea typeface="黑体" panose="02010609060101010101" charset="-122"/>
              </a:rPr>
              <a:t>，如</a:t>
            </a:r>
            <a:r>
              <a:rPr kumimoji="1" lang="en-US" altLang="zh-CN" sz="1600" i="0" baseline="0" smtClean="0">
                <a:ln>
                  <a:noFill/>
                </a:ln>
                <a:solidFill>
                  <a:schemeClr val="bg1"/>
                </a:solidFill>
                <a:effectLst/>
                <a:uFillTx/>
                <a:latin typeface="Times New Roman" panose="02020503050405090304" charset="0"/>
                <a:ea typeface="黑体" panose="02010609060101010101" charset="-122"/>
              </a:rPr>
              <a:t> HyenaDNA</a:t>
            </a:r>
            <a:r>
              <a:rPr kumimoji="1" lang="zh-CN" altLang="en-US" sz="1600" i="0" baseline="0" smtClean="0">
                <a:ln>
                  <a:noFill/>
                </a:ln>
                <a:solidFill>
                  <a:schemeClr val="bg1"/>
                </a:solidFill>
                <a:effectLst/>
                <a:uFillTx/>
                <a:latin typeface="Times New Roman" panose="02020503050405090304" charset="0"/>
                <a:ea typeface="黑体" panose="02010609060101010101" charset="-122"/>
              </a:rPr>
              <a:t>，但在短序列精度上妥协太大，开发出兼顾超长序列输入与极高精度的架构，是基因大数据</a:t>
            </a:r>
            <a:r>
              <a:rPr kumimoji="1" lang="en-US" altLang="zh-CN" sz="1600" i="0" baseline="0" smtClean="0">
                <a:ln>
                  <a:noFill/>
                </a:ln>
                <a:solidFill>
                  <a:schemeClr val="bg1"/>
                </a:solidFill>
                <a:effectLst/>
                <a:uFillTx/>
                <a:latin typeface="Times New Roman" panose="02020503050405090304" charset="0"/>
                <a:ea typeface="黑体" panose="02010609060101010101" charset="-122"/>
              </a:rPr>
              <a:t> AI </a:t>
            </a:r>
            <a:r>
              <a:rPr kumimoji="1" lang="zh-CN" altLang="en-US" sz="1600" i="0" baseline="0" smtClean="0">
                <a:ln>
                  <a:noFill/>
                </a:ln>
                <a:solidFill>
                  <a:schemeClr val="bg1"/>
                </a:solidFill>
                <a:effectLst/>
                <a:uFillTx/>
                <a:latin typeface="Times New Roman" panose="02020503050405090304" charset="0"/>
                <a:ea typeface="黑体" panose="02010609060101010101" charset="-122"/>
              </a:rPr>
              <a:t>的核心挑战</a:t>
            </a:r>
            <a:endParaRPr kumimoji="1" lang="zh-CN" altLang="en-US" sz="1600" i="0" baseline="0" smtClean="0">
              <a:ln>
                <a:noFill/>
              </a:ln>
              <a:solidFill>
                <a:schemeClr val="bg1"/>
              </a:solidFill>
              <a:effectLst/>
              <a:uFillTx/>
              <a:latin typeface="Times New Roman" panose="02020503050405090304" charset="0"/>
              <a:ea typeface="黑体" panose="02010609060101010101" charset="-122"/>
            </a:endParaRPr>
          </a:p>
        </p:txBody>
      </p:sp>
      <p:pic>
        <p:nvPicPr>
          <p:cNvPr id="16" name="图片 15"/>
          <p:cNvPicPr>
            <a:picLocks noChangeAspect="1"/>
          </p:cNvPicPr>
          <p:nvPr/>
        </p:nvPicPr>
        <p:blipFill>
          <a:blip r:embed="rId3"/>
          <a:stretch>
            <a:fillRect/>
          </a:stretch>
        </p:blipFill>
        <p:spPr>
          <a:xfrm>
            <a:off x="8445500" y="6393180"/>
            <a:ext cx="349250" cy="2876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3763"/>
            <a:ext cx="12858044" cy="7225123"/>
          </a:xfrm>
          <a:prstGeom prst="rect">
            <a:avLst/>
          </a:prstGeom>
        </p:spPr>
      </p:pic>
      <p:sp>
        <p:nvSpPr>
          <p:cNvPr id="6" name="矩形 5"/>
          <p:cNvSpPr/>
          <p:nvPr/>
        </p:nvSpPr>
        <p:spPr>
          <a:xfrm>
            <a:off x="11432" y="-3764"/>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3978910" y="746125"/>
            <a:ext cx="4900930" cy="4900930"/>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20" name="文本框 19"/>
            <p:cNvSpPr txBox="1"/>
            <p:nvPr/>
          </p:nvSpPr>
          <p:spPr>
            <a:xfrm>
              <a:off x="4170422" y="2020329"/>
              <a:ext cx="3844925" cy="636878"/>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4</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19" name="文本框 18"/>
            <p:cNvSpPr txBox="1"/>
            <p:nvPr/>
          </p:nvSpPr>
          <p:spPr>
            <a:xfrm>
              <a:off x="4170661" y="2905519"/>
              <a:ext cx="3844925" cy="585822"/>
            </a:xfrm>
            <a:prstGeom prst="rect">
              <a:avLst/>
            </a:prstGeom>
            <a:noFill/>
            <a:ln w="9525">
              <a:noFill/>
            </a:ln>
          </p:spPr>
          <p:txBody>
            <a:bodyPr wrap="square">
              <a:spAutoFit/>
            </a:bodyPr>
            <a:lstStyle/>
            <a:p>
              <a:pPr marL="419100" indent="-419100" algn="ct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研究</a:t>
              </a: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方法</a:t>
              </a:r>
              <a:endParaRPr lang="zh-CN" altLang="en-US" sz="4000" b="1" dirty="0">
                <a:solidFill>
                  <a:schemeClr val="bg1"/>
                </a:solidFill>
                <a:latin typeface="Times New Roman" panose="02020503050405090304" charset="0"/>
                <a:ea typeface="思源黑体" panose="020B0400000000000000"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766185" y="3810"/>
            <a:ext cx="9107170" cy="82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778250" y="34290"/>
            <a:ext cx="2321560" cy="791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8980" y="8890"/>
            <a:ext cx="2260600" cy="81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79" name="文本框 78"/>
          <p:cNvSpPr txBox="1"/>
          <p:nvPr/>
        </p:nvSpPr>
        <p:spPr>
          <a:xfrm>
            <a:off x="524510" y="1167765"/>
            <a:ext cx="371157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基因组大数据的基石构建</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 name="文本框 6"/>
          <p:cNvSpPr txBox="1"/>
          <p:nvPr/>
        </p:nvSpPr>
        <p:spPr>
          <a:xfrm>
            <a:off x="1532890" y="2104390"/>
            <a:ext cx="9809480" cy="3878580"/>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zh-CN" altLang="en-US" sz="2000" b="1" spc="40" dirty="0">
                <a:solidFill>
                  <a:srgbClr val="314371"/>
                </a:solidFill>
                <a:uFillTx/>
                <a:latin typeface="Times New Roman" panose="02020503050405090304" charset="0"/>
                <a:ea typeface="黑体" panose="02010609060101010101" charset="-122"/>
                <a:cs typeface="+mn-ea"/>
                <a:sym typeface="+mn-lt"/>
              </a:rPr>
              <a:t>人类参考基因组</a:t>
            </a:r>
            <a:r>
              <a:rPr lang="zh-CN" altLang="en-US" sz="2000" spc="40" dirty="0">
                <a:solidFill>
                  <a:srgbClr val="314371"/>
                </a:solidFill>
                <a:uFillTx/>
                <a:latin typeface="Times New Roman" panose="02020503050405090304" charset="0"/>
                <a:ea typeface="黑体" panose="02010609060101010101" charset="-122"/>
                <a:cs typeface="+mn-ea"/>
                <a:sym typeface="+mn-lt"/>
              </a:rPr>
              <a:t>：</a:t>
            </a:r>
            <a:r>
              <a:rPr lang="en-US" altLang="zh-CN" sz="2000" spc="40" dirty="0">
                <a:solidFill>
                  <a:srgbClr val="314371"/>
                </a:solidFill>
                <a:uFillTx/>
                <a:latin typeface="Times New Roman" panose="02020503050405090304" charset="0"/>
                <a:ea typeface="黑体" panose="02010609060101010101" charset="-122"/>
                <a:cs typeface="+mn-ea"/>
                <a:sym typeface="+mn-lt"/>
              </a:rPr>
              <a:t>GRCh38 </a:t>
            </a:r>
            <a:r>
              <a:rPr lang="zh-CN" altLang="en-US" sz="2000" spc="40" dirty="0">
                <a:solidFill>
                  <a:srgbClr val="314371"/>
                </a:solidFill>
                <a:uFillTx/>
                <a:latin typeface="Times New Roman" panose="02020503050405090304" charset="0"/>
                <a:ea typeface="黑体" panose="02010609060101010101" charset="-122"/>
                <a:cs typeface="+mn-ea"/>
                <a:sym typeface="+mn-lt"/>
              </a:rPr>
              <a:t>版本，包含约</a:t>
            </a:r>
            <a:r>
              <a:rPr lang="en-US" altLang="zh-CN" sz="2000" spc="40" dirty="0">
                <a:solidFill>
                  <a:srgbClr val="314371"/>
                </a:solidFill>
                <a:uFillTx/>
                <a:latin typeface="Times New Roman" panose="02020503050405090304" charset="0"/>
                <a:ea typeface="黑体" panose="02010609060101010101" charset="-122"/>
                <a:cs typeface="+mn-ea"/>
                <a:sym typeface="+mn-lt"/>
              </a:rPr>
              <a:t> 32 </a:t>
            </a:r>
            <a:r>
              <a:rPr lang="zh-CN" altLang="en-US" sz="2000" spc="40" dirty="0">
                <a:solidFill>
                  <a:srgbClr val="314371"/>
                </a:solidFill>
                <a:uFillTx/>
                <a:latin typeface="Times New Roman" panose="02020503050405090304" charset="0"/>
                <a:ea typeface="黑体" panose="02010609060101010101" charset="-122"/>
                <a:cs typeface="+mn-ea"/>
                <a:sym typeface="+mn-lt"/>
              </a:rPr>
              <a:t>亿个核苷酸</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en-US" altLang="zh-CN" sz="2000" b="1" spc="40" dirty="0">
                <a:solidFill>
                  <a:srgbClr val="314371"/>
                </a:solidFill>
                <a:uFillTx/>
                <a:latin typeface="Times New Roman" panose="02020503050405090304" charset="0"/>
                <a:ea typeface="黑体" panose="02010609060101010101" charset="-122"/>
                <a:cs typeface="+mn-ea"/>
                <a:sym typeface="+mn-lt"/>
              </a:rPr>
              <a:t>1000G </a:t>
            </a:r>
            <a:r>
              <a:rPr lang="zh-CN" altLang="en-US" sz="2000" b="1" spc="40" dirty="0">
                <a:solidFill>
                  <a:srgbClr val="314371"/>
                </a:solidFill>
                <a:uFillTx/>
                <a:latin typeface="Times New Roman" panose="02020503050405090304" charset="0"/>
                <a:ea typeface="黑体" panose="02010609060101010101" charset="-122"/>
                <a:cs typeface="+mn-ea"/>
                <a:sym typeface="+mn-lt"/>
              </a:rPr>
              <a:t>群体多态性数据</a:t>
            </a:r>
            <a:r>
              <a:rPr lang="zh-CN" altLang="en-US" sz="2000" spc="40" dirty="0">
                <a:solidFill>
                  <a:srgbClr val="314371"/>
                </a:solidFill>
                <a:uFillTx/>
                <a:latin typeface="Times New Roman" panose="02020503050405090304" charset="0"/>
                <a:ea typeface="黑体" panose="02010609060101010101" charset="-122"/>
                <a:cs typeface="+mn-ea"/>
                <a:sym typeface="+mn-lt"/>
              </a:rPr>
              <a:t>：整合了</a:t>
            </a:r>
            <a:r>
              <a:rPr lang="en-US" altLang="zh-CN" sz="2000" spc="40" dirty="0">
                <a:solidFill>
                  <a:srgbClr val="314371"/>
                </a:solidFill>
                <a:uFillTx/>
                <a:latin typeface="Times New Roman" panose="02020503050405090304" charset="0"/>
                <a:ea typeface="黑体" panose="02010609060101010101" charset="-122"/>
                <a:cs typeface="+mn-ea"/>
                <a:sym typeface="+mn-lt"/>
              </a:rPr>
              <a:t> 3202 </a:t>
            </a:r>
            <a:r>
              <a:rPr lang="zh-CN" altLang="en-US" sz="2000" spc="40" dirty="0">
                <a:solidFill>
                  <a:srgbClr val="314371"/>
                </a:solidFill>
                <a:uFillTx/>
                <a:latin typeface="Times New Roman" panose="02020503050405090304" charset="0"/>
                <a:ea typeface="黑体" panose="02010609060101010101" charset="-122"/>
                <a:cs typeface="+mn-ea"/>
                <a:sym typeface="+mn-lt"/>
              </a:rPr>
              <a:t>个不同族裔人类的高深度测序基因组，包含高达</a:t>
            </a:r>
            <a:r>
              <a:rPr lang="en-US" altLang="zh-CN" sz="2000" spc="40" dirty="0">
                <a:solidFill>
                  <a:srgbClr val="314371"/>
                </a:solidFill>
                <a:uFillTx/>
                <a:latin typeface="Times New Roman" panose="02020503050405090304" charset="0"/>
                <a:ea typeface="黑体" panose="02010609060101010101" charset="-122"/>
                <a:cs typeface="+mn-ea"/>
                <a:sym typeface="+mn-lt"/>
              </a:rPr>
              <a:t> 20.5 </a:t>
            </a:r>
            <a:r>
              <a:rPr lang="zh-CN" altLang="en-US" sz="2000" spc="40" dirty="0">
                <a:solidFill>
                  <a:srgbClr val="314371"/>
                </a:solidFill>
                <a:uFillTx/>
                <a:latin typeface="Times New Roman" panose="02020503050405090304" charset="0"/>
                <a:ea typeface="黑体" panose="02010609060101010101" charset="-122"/>
                <a:cs typeface="+mn-ea"/>
                <a:sym typeface="+mn-lt"/>
              </a:rPr>
              <a:t>万亿个核苷酸，捕捉人类内部的自然变异特征</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2000" b="1" spc="40" dirty="0">
                <a:solidFill>
                  <a:srgbClr val="314371"/>
                </a:solidFill>
                <a:uFillTx/>
                <a:latin typeface="Times New Roman" panose="02020503050405090304" charset="0"/>
                <a:ea typeface="黑体" panose="02010609060101010101" charset="-122"/>
                <a:cs typeface="+mn-ea"/>
                <a:sym typeface="+mn-lt"/>
              </a:rPr>
              <a:t>多物种基因组数据库</a:t>
            </a:r>
            <a:r>
              <a:rPr lang="zh-CN" altLang="en-US" sz="2000" spc="40" dirty="0">
                <a:solidFill>
                  <a:srgbClr val="314371"/>
                </a:solidFill>
                <a:uFillTx/>
                <a:latin typeface="Times New Roman" panose="02020503050405090304" charset="0"/>
                <a:ea typeface="黑体" panose="02010609060101010101" charset="-122"/>
                <a:cs typeface="+mn-ea"/>
                <a:sym typeface="+mn-lt"/>
              </a:rPr>
              <a:t>：从</a:t>
            </a:r>
            <a:r>
              <a:rPr lang="en-US" altLang="zh-CN" sz="2000" spc="40" dirty="0">
                <a:solidFill>
                  <a:srgbClr val="314371"/>
                </a:solidFill>
                <a:uFillTx/>
                <a:latin typeface="Times New Roman" panose="02020503050405090304" charset="0"/>
                <a:ea typeface="黑体" panose="02010609060101010101" charset="-122"/>
                <a:cs typeface="+mn-ea"/>
                <a:sym typeface="+mn-lt"/>
              </a:rPr>
              <a:t> NCBI RefSeq </a:t>
            </a:r>
            <a:r>
              <a:rPr lang="zh-CN" altLang="en-US" sz="2000" spc="40" dirty="0">
                <a:solidFill>
                  <a:srgbClr val="314371"/>
                </a:solidFill>
                <a:uFillTx/>
                <a:latin typeface="Times New Roman" panose="02020503050405090304" charset="0"/>
                <a:ea typeface="黑体" panose="02010609060101010101" charset="-122"/>
                <a:cs typeface="+mn-ea"/>
                <a:sym typeface="+mn-lt"/>
              </a:rPr>
              <a:t>中挑选，涵盖古菌、真菌、哺乳动物等</a:t>
            </a:r>
            <a:r>
              <a:rPr lang="en-US" altLang="zh-CN" sz="2000" spc="40" dirty="0">
                <a:solidFill>
                  <a:srgbClr val="314371"/>
                </a:solidFill>
                <a:uFillTx/>
                <a:latin typeface="Times New Roman" panose="02020503050405090304" charset="0"/>
                <a:ea typeface="黑体" panose="02010609060101010101" charset="-122"/>
                <a:cs typeface="+mn-ea"/>
                <a:sym typeface="+mn-lt"/>
              </a:rPr>
              <a:t> 850 </a:t>
            </a:r>
            <a:r>
              <a:rPr lang="zh-CN" altLang="en-US" sz="2000" spc="40" dirty="0">
                <a:solidFill>
                  <a:srgbClr val="314371"/>
                </a:solidFill>
                <a:uFillTx/>
                <a:latin typeface="Times New Roman" panose="02020503050405090304" charset="0"/>
                <a:ea typeface="黑体" panose="02010609060101010101" charset="-122"/>
                <a:cs typeface="+mn-ea"/>
                <a:sym typeface="+mn-lt"/>
              </a:rPr>
              <a:t>个代表性物种，共计</a:t>
            </a:r>
            <a:r>
              <a:rPr lang="en-US" altLang="zh-CN" sz="2000" spc="40" dirty="0">
                <a:solidFill>
                  <a:srgbClr val="314371"/>
                </a:solidFill>
                <a:uFillTx/>
                <a:latin typeface="Times New Roman" panose="02020503050405090304" charset="0"/>
                <a:ea typeface="黑体" panose="02010609060101010101" charset="-122"/>
                <a:cs typeface="+mn-ea"/>
                <a:sym typeface="+mn-lt"/>
              </a:rPr>
              <a:t> 1740 </a:t>
            </a:r>
            <a:r>
              <a:rPr lang="zh-CN" altLang="en-US" sz="2000" spc="40" dirty="0">
                <a:solidFill>
                  <a:srgbClr val="314371"/>
                </a:solidFill>
                <a:uFillTx/>
                <a:latin typeface="Times New Roman" panose="02020503050405090304" charset="0"/>
                <a:ea typeface="黑体" panose="02010609060101010101" charset="-122"/>
                <a:cs typeface="+mn-ea"/>
                <a:sym typeface="+mn-lt"/>
              </a:rPr>
              <a:t>亿个核苷酸</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2000" b="1" spc="40" dirty="0">
                <a:solidFill>
                  <a:srgbClr val="314371"/>
                </a:solidFill>
                <a:uFillTx/>
                <a:latin typeface="Times New Roman" panose="02020503050405090304" charset="0"/>
                <a:ea typeface="黑体" panose="02010609060101010101" charset="-122"/>
                <a:cs typeface="+mn-ea"/>
                <a:sym typeface="+mn-lt"/>
              </a:rPr>
              <a:t>数据预处理</a:t>
            </a:r>
            <a:r>
              <a:rPr lang="zh-CN" altLang="en-US" sz="2000" spc="40" dirty="0">
                <a:solidFill>
                  <a:srgbClr val="314371"/>
                </a:solidFill>
                <a:uFillTx/>
                <a:latin typeface="Times New Roman" panose="02020503050405090304" charset="0"/>
                <a:ea typeface="黑体" panose="02010609060101010101" charset="-122"/>
                <a:cs typeface="+mn-ea"/>
                <a:sym typeface="+mn-lt"/>
              </a:rPr>
              <a:t>：对海量</a:t>
            </a:r>
            <a:r>
              <a:rPr lang="en-US" altLang="zh-CN" sz="2000" spc="40" dirty="0">
                <a:solidFill>
                  <a:srgbClr val="314371"/>
                </a:solidFill>
                <a:uFillTx/>
                <a:latin typeface="Times New Roman" panose="02020503050405090304" charset="0"/>
                <a:ea typeface="黑体" panose="02010609060101010101" charset="-122"/>
                <a:cs typeface="+mn-ea"/>
                <a:sym typeface="+mn-lt"/>
              </a:rPr>
              <a:t> DNA </a:t>
            </a:r>
            <a:r>
              <a:rPr lang="zh-CN" altLang="en-US" sz="2000" spc="40" dirty="0">
                <a:solidFill>
                  <a:srgbClr val="314371"/>
                </a:solidFill>
                <a:uFillTx/>
                <a:latin typeface="Times New Roman" panose="02020503050405090304" charset="0"/>
                <a:ea typeface="黑体" panose="02010609060101010101" charset="-122"/>
                <a:cs typeface="+mn-ea"/>
                <a:sym typeface="+mn-lt"/>
              </a:rPr>
              <a:t>序列执行清洗、组装，按特定步长切分为训练区块</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7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766185" y="3810"/>
            <a:ext cx="9107170" cy="82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778250" y="34290"/>
            <a:ext cx="2321560" cy="791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8980" y="8890"/>
            <a:ext cx="2260600" cy="81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79" name="文本框 78"/>
          <p:cNvSpPr txBox="1"/>
          <p:nvPr/>
        </p:nvSpPr>
        <p:spPr>
          <a:xfrm>
            <a:off x="524510" y="1167765"/>
            <a:ext cx="2797810"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大模型分词与架构</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 name="文本框 6"/>
          <p:cNvSpPr txBox="1"/>
          <p:nvPr/>
        </p:nvSpPr>
        <p:spPr>
          <a:xfrm>
            <a:off x="339725" y="2320290"/>
            <a:ext cx="12163425" cy="2882265"/>
          </a:xfrm>
          <a:prstGeom prst="rect">
            <a:avLst/>
          </a:prstGeom>
          <a:noFill/>
        </p:spPr>
        <p:txBody>
          <a:bodyPr wrap="square" rtlCol="0" anchor="ctr" anchorCtr="0">
            <a:noAutofit/>
          </a:bodyPr>
          <a:lstStyle/>
          <a:p>
            <a:pPr marL="285750" indent="-285750" algn="l" eaLnBrk="1" latinLnBrk="0" hangingPunct="1">
              <a:lnSpc>
                <a:spcPct val="150000"/>
              </a:lnSpc>
              <a:buFont typeface="Wingdings" panose="05000000000000000000" charset="0"/>
              <a:buChar char="Ø"/>
            </a:pPr>
            <a:r>
              <a:rPr lang="en-US" altLang="zh-CN" sz="2000" b="1" spc="40" dirty="0">
                <a:solidFill>
                  <a:srgbClr val="314371"/>
                </a:solidFill>
                <a:uFillTx/>
                <a:latin typeface="Times New Roman" panose="02020503050405090304" charset="0"/>
                <a:ea typeface="黑体" panose="02010609060101010101" charset="-122"/>
                <a:cs typeface="+mn-ea"/>
                <a:sym typeface="+mn-lt"/>
              </a:rPr>
              <a:t>NLP </a:t>
            </a:r>
            <a:r>
              <a:rPr lang="zh-CN" altLang="en-US" sz="2000" b="1" spc="40" dirty="0">
                <a:solidFill>
                  <a:srgbClr val="314371"/>
                </a:solidFill>
                <a:uFillTx/>
                <a:latin typeface="Times New Roman" panose="02020503050405090304" charset="0"/>
                <a:ea typeface="黑体" panose="02010609060101010101" charset="-122"/>
                <a:cs typeface="+mn-ea"/>
                <a:sym typeface="+mn-lt"/>
              </a:rPr>
              <a:t>与生物学的结合</a:t>
            </a:r>
            <a:r>
              <a:rPr lang="zh-CN" altLang="en-US" sz="2000" spc="40" dirty="0">
                <a:solidFill>
                  <a:srgbClr val="314371"/>
                </a:solidFill>
                <a:uFillTx/>
                <a:latin typeface="Times New Roman" panose="02020503050405090304" charset="0"/>
                <a:ea typeface="黑体" panose="02010609060101010101" charset="-122"/>
                <a:cs typeface="+mn-ea"/>
                <a:sym typeface="+mn-lt"/>
              </a:rPr>
              <a:t>：采用类似</a:t>
            </a:r>
            <a:r>
              <a:rPr lang="en-US" altLang="zh-CN" sz="2000" spc="40" dirty="0">
                <a:solidFill>
                  <a:srgbClr val="314371"/>
                </a:solidFill>
                <a:uFillTx/>
                <a:latin typeface="Times New Roman" panose="02020503050405090304" charset="0"/>
                <a:ea typeface="黑体" panose="02010609060101010101" charset="-122"/>
                <a:cs typeface="+mn-ea"/>
                <a:sym typeface="+mn-lt"/>
              </a:rPr>
              <a:t> BERT </a:t>
            </a:r>
            <a:r>
              <a:rPr lang="zh-CN" altLang="en-US" sz="2000" spc="40" dirty="0">
                <a:solidFill>
                  <a:srgbClr val="314371"/>
                </a:solidFill>
                <a:uFillTx/>
                <a:latin typeface="Times New Roman" panose="02020503050405090304" charset="0"/>
                <a:ea typeface="黑体" panose="02010609060101010101" charset="-122"/>
                <a:cs typeface="+mn-ea"/>
                <a:sym typeface="+mn-lt"/>
              </a:rPr>
              <a:t>的</a:t>
            </a:r>
            <a:r>
              <a:rPr lang="en-US" altLang="zh-CN" sz="2000" spc="40" dirty="0">
                <a:solidFill>
                  <a:srgbClr val="314371"/>
                </a:solidFill>
                <a:uFillTx/>
                <a:latin typeface="Times New Roman" panose="02020503050405090304" charset="0"/>
                <a:ea typeface="黑体" panose="02010609060101010101" charset="-122"/>
                <a:cs typeface="+mn-ea"/>
                <a:sym typeface="+mn-lt"/>
              </a:rPr>
              <a:t> </a:t>
            </a:r>
            <a:r>
              <a:rPr lang="en-US" altLang="zh-CN" sz="2000" spc="40" dirty="0">
                <a:solidFill>
                  <a:srgbClr val="314371"/>
                </a:solidFill>
                <a:uFillTx/>
                <a:latin typeface="Times New Roman" panose="02020503050405090304" charset="0"/>
                <a:ea typeface="黑体" panose="02010609060101010101" charset="-122"/>
                <a:cs typeface="+mn-ea"/>
                <a:sym typeface="+mn-lt"/>
              </a:rPr>
              <a:t>Encoder-</a:t>
            </a:r>
            <a:r>
              <a:rPr lang="en-US" altLang="zh-CN" sz="2000" spc="40" dirty="0">
                <a:solidFill>
                  <a:srgbClr val="314371"/>
                </a:solidFill>
                <a:uFillTx/>
                <a:latin typeface="Times New Roman" panose="02020503050405090304" charset="0"/>
                <a:ea typeface="黑体" panose="02010609060101010101" charset="-122"/>
                <a:cs typeface="+mn-ea"/>
                <a:sym typeface="+mn-lt"/>
              </a:rPr>
              <a:t>only </a:t>
            </a:r>
            <a:r>
              <a:rPr lang="zh-CN" altLang="en-US" sz="2000" spc="40" dirty="0">
                <a:solidFill>
                  <a:srgbClr val="314371"/>
                </a:solidFill>
                <a:uFillTx/>
                <a:latin typeface="Times New Roman" panose="02020503050405090304" charset="0"/>
                <a:ea typeface="黑体" panose="02010609060101010101" charset="-122"/>
                <a:cs typeface="+mn-ea"/>
                <a:sym typeface="+mn-lt"/>
              </a:rPr>
              <a:t>结构</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en-US" altLang="zh-CN" sz="2000" b="1" spc="40" dirty="0">
                <a:solidFill>
                  <a:srgbClr val="314371"/>
                </a:solidFill>
                <a:uFillTx/>
                <a:latin typeface="Times New Roman" panose="02020503050405090304" charset="0"/>
                <a:ea typeface="黑体" panose="02010609060101010101" charset="-122"/>
                <a:cs typeface="+mn-ea"/>
                <a:sym typeface="+mn-lt"/>
              </a:rPr>
              <a:t>6-mers </a:t>
            </a:r>
            <a:r>
              <a:rPr lang="zh-CN" altLang="en-US" sz="2000" b="1" spc="40" dirty="0">
                <a:solidFill>
                  <a:srgbClr val="314371"/>
                </a:solidFill>
                <a:uFillTx/>
                <a:latin typeface="Times New Roman" panose="02020503050405090304" charset="0"/>
                <a:ea typeface="黑体" panose="02010609060101010101" charset="-122"/>
                <a:cs typeface="+mn-ea"/>
                <a:sym typeface="+mn-lt"/>
              </a:rPr>
              <a:t>分词法</a:t>
            </a:r>
            <a:r>
              <a:rPr lang="zh-CN" altLang="en-US" sz="2000" spc="40" dirty="0">
                <a:solidFill>
                  <a:srgbClr val="314371"/>
                </a:solidFill>
                <a:uFillTx/>
                <a:latin typeface="Times New Roman" panose="02020503050405090304" charset="0"/>
                <a:ea typeface="黑体" panose="02010609060101010101" charset="-122"/>
                <a:cs typeface="+mn-ea"/>
                <a:sym typeface="+mn-lt"/>
              </a:rPr>
              <a:t>：将连续的</a:t>
            </a:r>
            <a:r>
              <a:rPr lang="en-US" altLang="zh-CN" sz="2000" spc="40" dirty="0">
                <a:solidFill>
                  <a:srgbClr val="314371"/>
                </a:solidFill>
                <a:uFillTx/>
                <a:latin typeface="Times New Roman" panose="02020503050405090304" charset="0"/>
                <a:ea typeface="黑体" panose="02010609060101010101" charset="-122"/>
                <a:cs typeface="+mn-ea"/>
                <a:sym typeface="+mn-lt"/>
              </a:rPr>
              <a:t> DNA </a:t>
            </a:r>
            <a:r>
              <a:rPr lang="zh-CN" altLang="en-US" sz="2000" spc="40" dirty="0">
                <a:solidFill>
                  <a:srgbClr val="314371"/>
                </a:solidFill>
                <a:uFillTx/>
                <a:latin typeface="Times New Roman" panose="02020503050405090304" charset="0"/>
                <a:ea typeface="黑体" panose="02010609060101010101" charset="-122"/>
                <a:cs typeface="+mn-ea"/>
                <a:sym typeface="+mn-lt"/>
              </a:rPr>
              <a:t>序列切分为</a:t>
            </a:r>
            <a:r>
              <a:rPr lang="en-US" altLang="zh-CN" sz="2000" spc="40" dirty="0">
                <a:solidFill>
                  <a:srgbClr val="314371"/>
                </a:solidFill>
                <a:uFillTx/>
                <a:latin typeface="Times New Roman" panose="02020503050405090304" charset="0"/>
                <a:ea typeface="黑体" panose="02010609060101010101" charset="-122"/>
                <a:cs typeface="+mn-ea"/>
                <a:sym typeface="+mn-lt"/>
              </a:rPr>
              <a:t> 6 </a:t>
            </a:r>
            <a:r>
              <a:rPr lang="zh-CN" altLang="en-US" sz="2000" spc="40" dirty="0">
                <a:solidFill>
                  <a:srgbClr val="314371"/>
                </a:solidFill>
                <a:uFillTx/>
                <a:latin typeface="Times New Roman" panose="02020503050405090304" charset="0"/>
                <a:ea typeface="黑体" panose="02010609060101010101" charset="-122"/>
                <a:cs typeface="+mn-ea"/>
                <a:sym typeface="+mn-lt"/>
              </a:rPr>
              <a:t>个一组的碱基组合，例如</a:t>
            </a:r>
            <a:r>
              <a:rPr lang="en-US" altLang="zh-CN" sz="2000" spc="40" dirty="0">
                <a:solidFill>
                  <a:srgbClr val="314371"/>
                </a:solidFill>
                <a:uFillTx/>
                <a:latin typeface="Times New Roman" panose="02020503050405090304" charset="0"/>
                <a:ea typeface="黑体" panose="02010609060101010101" charset="-122"/>
                <a:cs typeface="+mn-ea"/>
                <a:sym typeface="+mn-lt"/>
              </a:rPr>
              <a:t> </a:t>
            </a:r>
            <a:r>
              <a:rPr lang="en-US" altLang="zh-CN" sz="2000" spc="40" dirty="0">
                <a:solidFill>
                  <a:srgbClr val="314371"/>
                </a:solidFill>
                <a:uFillTx/>
                <a:latin typeface="Times New Roman" panose="02020503050405090304" charset="0"/>
                <a:ea typeface="黑体" panose="02010609060101010101" charset="-122"/>
                <a:cs typeface="+mn-ea"/>
                <a:sym typeface="+mn-lt"/>
              </a:rPr>
              <a:t>ATCGGA </a:t>
            </a:r>
            <a:r>
              <a:rPr lang="zh-CN" altLang="en-US" sz="2000" spc="40" dirty="0">
                <a:solidFill>
                  <a:srgbClr val="314371"/>
                </a:solidFill>
                <a:uFillTx/>
                <a:latin typeface="Times New Roman" panose="02020503050405090304" charset="0"/>
                <a:ea typeface="黑体" panose="02010609060101010101" charset="-122"/>
                <a:cs typeface="+mn-ea"/>
                <a:sym typeface="+mn-lt"/>
              </a:rPr>
              <a:t>作为一个词，构建了包含约</a:t>
            </a:r>
            <a:r>
              <a:rPr lang="en-US" altLang="zh-CN" sz="2000" spc="40" dirty="0">
                <a:solidFill>
                  <a:srgbClr val="314371"/>
                </a:solidFill>
                <a:uFillTx/>
                <a:latin typeface="Times New Roman" panose="02020503050405090304" charset="0"/>
                <a:ea typeface="黑体" panose="02010609060101010101" charset="-122"/>
                <a:cs typeface="+mn-ea"/>
                <a:sym typeface="+mn-lt"/>
              </a:rPr>
              <a:t> 4104 </a:t>
            </a:r>
            <a:r>
              <a:rPr lang="zh-CN" altLang="en-US" sz="2000" spc="40" dirty="0">
                <a:solidFill>
                  <a:srgbClr val="314371"/>
                </a:solidFill>
                <a:uFillTx/>
                <a:latin typeface="Times New Roman" panose="02020503050405090304" charset="0"/>
                <a:ea typeface="黑体" panose="02010609060101010101" charset="-122"/>
                <a:cs typeface="+mn-ea"/>
                <a:sym typeface="+mn-lt"/>
              </a:rPr>
              <a:t>个词汇的</a:t>
            </a:r>
            <a:r>
              <a:rPr lang="en-US" altLang="zh-CN" sz="2000" spc="40" dirty="0">
                <a:solidFill>
                  <a:srgbClr val="314371"/>
                </a:solidFill>
                <a:uFillTx/>
                <a:latin typeface="Times New Roman" panose="02020503050405090304" charset="0"/>
                <a:ea typeface="黑体" panose="02010609060101010101" charset="-122"/>
                <a:cs typeface="+mn-ea"/>
                <a:sym typeface="+mn-lt"/>
              </a:rPr>
              <a:t> DNA </a:t>
            </a:r>
            <a:r>
              <a:rPr lang="zh-CN" altLang="en-US" sz="2000" spc="40" dirty="0">
                <a:solidFill>
                  <a:srgbClr val="314371"/>
                </a:solidFill>
                <a:uFillTx/>
                <a:latin typeface="Times New Roman" panose="02020503050405090304" charset="0"/>
                <a:ea typeface="黑体" panose="02010609060101010101" charset="-122"/>
                <a:cs typeface="+mn-ea"/>
                <a:sym typeface="+mn-lt"/>
              </a:rPr>
              <a:t>字典</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a:p>
            <a:pPr marL="285750" indent="-285750" algn="l" eaLnBrk="1" latinLnBrk="0" hangingPunct="1">
              <a:lnSpc>
                <a:spcPct val="200000"/>
              </a:lnSpc>
              <a:buFont typeface="Wingdings" panose="05000000000000000000" charset="0"/>
              <a:buChar char="Ø"/>
            </a:pPr>
            <a:r>
              <a:rPr lang="zh-CN" altLang="en-US" sz="2000" b="1" spc="40" dirty="0">
                <a:solidFill>
                  <a:srgbClr val="314371"/>
                </a:solidFill>
                <a:uFillTx/>
                <a:latin typeface="Times New Roman" panose="02020503050405090304" charset="0"/>
                <a:ea typeface="黑体" panose="02010609060101010101" charset="-122"/>
                <a:cs typeface="+mn-ea"/>
                <a:sym typeface="+mn-lt"/>
              </a:rPr>
              <a:t>掩码学习</a:t>
            </a:r>
            <a:r>
              <a:rPr lang="zh-CN" altLang="en-US" sz="2000" spc="40" dirty="0">
                <a:solidFill>
                  <a:srgbClr val="314371"/>
                </a:solidFill>
                <a:uFillTx/>
                <a:latin typeface="Times New Roman" panose="02020503050405090304" charset="0"/>
                <a:ea typeface="黑体" panose="02010609060101010101" charset="-122"/>
                <a:cs typeface="+mn-ea"/>
                <a:sym typeface="+mn-lt"/>
              </a:rPr>
              <a:t>：训练中随机遮蔽序列中</a:t>
            </a:r>
            <a:r>
              <a:rPr lang="en-US" altLang="zh-CN" sz="2000" spc="40" dirty="0">
                <a:solidFill>
                  <a:srgbClr val="314371"/>
                </a:solidFill>
                <a:uFillTx/>
                <a:latin typeface="Times New Roman" panose="02020503050405090304" charset="0"/>
                <a:ea typeface="黑体" panose="02010609060101010101" charset="-122"/>
                <a:cs typeface="+mn-ea"/>
                <a:sym typeface="+mn-lt"/>
              </a:rPr>
              <a:t> 15% </a:t>
            </a:r>
            <a:r>
              <a:rPr lang="zh-CN" altLang="en-US" sz="2000" spc="40" dirty="0">
                <a:solidFill>
                  <a:srgbClr val="314371"/>
                </a:solidFill>
                <a:uFillTx/>
                <a:latin typeface="Times New Roman" panose="02020503050405090304" charset="0"/>
                <a:ea typeface="黑体" panose="02010609060101010101" charset="-122"/>
                <a:cs typeface="+mn-ea"/>
                <a:sym typeface="+mn-lt"/>
              </a:rPr>
              <a:t>的词汇，强迫</a:t>
            </a:r>
            <a:r>
              <a:rPr lang="en-US" altLang="zh-CN" sz="2000" spc="40" dirty="0">
                <a:solidFill>
                  <a:srgbClr val="314371"/>
                </a:solidFill>
                <a:uFillTx/>
                <a:latin typeface="Times New Roman" panose="02020503050405090304" charset="0"/>
                <a:ea typeface="黑体" panose="02010609060101010101" charset="-122"/>
                <a:cs typeface="+mn-ea"/>
                <a:sym typeface="+mn-lt"/>
              </a:rPr>
              <a:t> AI </a:t>
            </a:r>
            <a:r>
              <a:rPr lang="zh-CN" altLang="en-US" sz="2000" spc="40" dirty="0">
                <a:solidFill>
                  <a:srgbClr val="314371"/>
                </a:solidFill>
                <a:uFillTx/>
                <a:latin typeface="Times New Roman" panose="02020503050405090304" charset="0"/>
                <a:ea typeface="黑体" panose="02010609060101010101" charset="-122"/>
                <a:cs typeface="+mn-ea"/>
                <a:sym typeface="+mn-lt"/>
              </a:rPr>
              <a:t>去预测这些空缺，以此实现无监督特征学习</a:t>
            </a:r>
            <a:endParaRPr lang="zh-CN" altLang="en-US" sz="2000" spc="40" dirty="0">
              <a:solidFill>
                <a:srgbClr val="314371"/>
              </a:solidFill>
              <a:uFillTx/>
              <a:latin typeface="Times New Roman" panose="02020503050405090304" charset="0"/>
              <a:ea typeface="黑体" panose="02010609060101010101"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7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766185" y="3810"/>
            <a:ext cx="9107170" cy="82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778250" y="34290"/>
            <a:ext cx="2321560" cy="791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8980" y="8890"/>
            <a:ext cx="2260600" cy="81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grpSp>
        <p:nvGrpSpPr>
          <p:cNvPr id="53" name="组合 52"/>
          <p:cNvGrpSpPr/>
          <p:nvPr/>
        </p:nvGrpSpPr>
        <p:grpSpPr>
          <a:xfrm>
            <a:off x="1516550" y="2000914"/>
            <a:ext cx="2016432" cy="2016432"/>
            <a:chOff x="6270911" y="4724409"/>
            <a:chExt cx="2016432" cy="2016432"/>
          </a:xfrm>
        </p:grpSpPr>
        <p:sp>
          <p:nvSpPr>
            <p:cNvPr id="55" name="椭圆 54"/>
            <p:cNvSpPr/>
            <p:nvPr/>
          </p:nvSpPr>
          <p:spPr>
            <a:xfrm>
              <a:off x="6360123" y="4813621"/>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nvGrpSpPr>
            <p:cNvPr id="56" name="组合 55"/>
            <p:cNvGrpSpPr/>
            <p:nvPr/>
          </p:nvGrpSpPr>
          <p:grpSpPr>
            <a:xfrm>
              <a:off x="6959359" y="5277163"/>
              <a:ext cx="639536" cy="929804"/>
              <a:chOff x="3738563" y="1588"/>
              <a:chExt cx="4714875" cy="6854825"/>
            </a:xfrm>
            <a:solidFill>
              <a:schemeClr val="bg1"/>
            </a:solidFill>
          </p:grpSpPr>
          <p:sp>
            <p:nvSpPr>
              <p:cNvPr id="57" name="Freeform 14"/>
              <p:cNvSpPr>
                <a:spLocks noEditPoints="1"/>
              </p:cNvSpPr>
              <p:nvPr/>
            </p:nvSpPr>
            <p:spPr bwMode="auto">
              <a:xfrm>
                <a:off x="3738563" y="1588"/>
                <a:ext cx="4714875" cy="6854825"/>
              </a:xfrm>
              <a:custGeom>
                <a:avLst/>
                <a:gdLst>
                  <a:gd name="T0" fmla="*/ 1126 w 2253"/>
                  <a:gd name="T1" fmla="*/ 0 h 3277"/>
                  <a:gd name="T2" fmla="*/ 0 w 2253"/>
                  <a:gd name="T3" fmla="*/ 1126 h 3277"/>
                  <a:gd name="T4" fmla="*/ 512 w 2253"/>
                  <a:gd name="T5" fmla="*/ 2360 h 3277"/>
                  <a:gd name="T6" fmla="*/ 1126 w 2253"/>
                  <a:gd name="T7" fmla="*/ 3277 h 3277"/>
                  <a:gd name="T8" fmla="*/ 1741 w 2253"/>
                  <a:gd name="T9" fmla="*/ 2363 h 3277"/>
                  <a:gd name="T10" fmla="*/ 2253 w 2253"/>
                  <a:gd name="T11" fmla="*/ 1126 h 3277"/>
                  <a:gd name="T12" fmla="*/ 1126 w 2253"/>
                  <a:gd name="T13" fmla="*/ 0 h 3277"/>
                  <a:gd name="T14" fmla="*/ 1392 w 2253"/>
                  <a:gd name="T15" fmla="*/ 2783 h 3277"/>
                  <a:gd name="T16" fmla="*/ 880 w 2253"/>
                  <a:gd name="T17" fmla="*/ 2847 h 3277"/>
                  <a:gd name="T18" fmla="*/ 818 w 2253"/>
                  <a:gd name="T19" fmla="*/ 2653 h 3277"/>
                  <a:gd name="T20" fmla="*/ 1452 w 2253"/>
                  <a:gd name="T21" fmla="*/ 2574 h 3277"/>
                  <a:gd name="T22" fmla="*/ 1434 w 2253"/>
                  <a:gd name="T23" fmla="*/ 2662 h 3277"/>
                  <a:gd name="T24" fmla="*/ 1392 w 2253"/>
                  <a:gd name="T25" fmla="*/ 2783 h 3277"/>
                  <a:gd name="T26" fmla="*/ 793 w 2253"/>
                  <a:gd name="T27" fmla="*/ 2551 h 3277"/>
                  <a:gd name="T28" fmla="*/ 729 w 2253"/>
                  <a:gd name="T29" fmla="*/ 2355 h 3277"/>
                  <a:gd name="T30" fmla="*/ 1525 w 2253"/>
                  <a:gd name="T31" fmla="*/ 2355 h 3277"/>
                  <a:gd name="T32" fmla="*/ 1489 w 2253"/>
                  <a:gd name="T33" fmla="*/ 2464 h 3277"/>
                  <a:gd name="T34" fmla="*/ 793 w 2253"/>
                  <a:gd name="T35" fmla="*/ 2551 h 3277"/>
                  <a:gd name="T36" fmla="*/ 1126 w 2253"/>
                  <a:gd name="T37" fmla="*/ 3072 h 3277"/>
                  <a:gd name="T38" fmla="*/ 922 w 2253"/>
                  <a:gd name="T39" fmla="*/ 2944 h 3277"/>
                  <a:gd name="T40" fmla="*/ 1356 w 2253"/>
                  <a:gd name="T41" fmla="*/ 2890 h 3277"/>
                  <a:gd name="T42" fmla="*/ 1126 w 2253"/>
                  <a:gd name="T43" fmla="*/ 3072 h 3277"/>
                  <a:gd name="T44" fmla="*/ 1605 w 2253"/>
                  <a:gd name="T45" fmla="*/ 2150 h 3277"/>
                  <a:gd name="T46" fmla="*/ 649 w 2253"/>
                  <a:gd name="T47" fmla="*/ 2150 h 3277"/>
                  <a:gd name="T48" fmla="*/ 476 w 2253"/>
                  <a:gd name="T49" fmla="*/ 1821 h 3277"/>
                  <a:gd name="T50" fmla="*/ 205 w 2253"/>
                  <a:gd name="T51" fmla="*/ 1126 h 3277"/>
                  <a:gd name="T52" fmla="*/ 1126 w 2253"/>
                  <a:gd name="T53" fmla="*/ 205 h 3277"/>
                  <a:gd name="T54" fmla="*/ 2048 w 2253"/>
                  <a:gd name="T55" fmla="*/ 1126 h 3277"/>
                  <a:gd name="T56" fmla="*/ 1776 w 2253"/>
                  <a:gd name="T57" fmla="*/ 1822 h 3277"/>
                  <a:gd name="T58" fmla="*/ 1605 w 2253"/>
                  <a:gd name="T59" fmla="*/ 2150 h 3277"/>
                  <a:gd name="T60" fmla="*/ 1605 w 2253"/>
                  <a:gd name="T61" fmla="*/ 2150 h 3277"/>
                  <a:gd name="T62" fmla="*/ 1605 w 2253"/>
                  <a:gd name="T63" fmla="*/ 2150 h 3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53" h="3277">
                    <a:moveTo>
                      <a:pt x="1126" y="0"/>
                    </a:moveTo>
                    <a:cubicBezTo>
                      <a:pt x="504" y="0"/>
                      <a:pt x="0" y="504"/>
                      <a:pt x="0" y="1126"/>
                    </a:cubicBezTo>
                    <a:cubicBezTo>
                      <a:pt x="0" y="1536"/>
                      <a:pt x="378" y="1976"/>
                      <a:pt x="512" y="2360"/>
                    </a:cubicBezTo>
                    <a:cubicBezTo>
                      <a:pt x="717" y="2934"/>
                      <a:pt x="697" y="3277"/>
                      <a:pt x="1126" y="3277"/>
                    </a:cubicBezTo>
                    <a:cubicBezTo>
                      <a:pt x="1555" y="3277"/>
                      <a:pt x="1536" y="2936"/>
                      <a:pt x="1741" y="2363"/>
                    </a:cubicBezTo>
                    <a:cubicBezTo>
                      <a:pt x="1876" y="1978"/>
                      <a:pt x="2253" y="1536"/>
                      <a:pt x="2253" y="1126"/>
                    </a:cubicBezTo>
                    <a:cubicBezTo>
                      <a:pt x="2253" y="504"/>
                      <a:pt x="1749" y="0"/>
                      <a:pt x="1126" y="0"/>
                    </a:cubicBezTo>
                    <a:close/>
                    <a:moveTo>
                      <a:pt x="1392" y="2783"/>
                    </a:moveTo>
                    <a:cubicBezTo>
                      <a:pt x="880" y="2847"/>
                      <a:pt x="880" y="2847"/>
                      <a:pt x="880" y="2847"/>
                    </a:cubicBezTo>
                    <a:cubicBezTo>
                      <a:pt x="861" y="2794"/>
                      <a:pt x="842" y="2733"/>
                      <a:pt x="818" y="2653"/>
                    </a:cubicBezTo>
                    <a:cubicBezTo>
                      <a:pt x="1452" y="2574"/>
                      <a:pt x="1452" y="2574"/>
                      <a:pt x="1452" y="2574"/>
                    </a:cubicBezTo>
                    <a:cubicBezTo>
                      <a:pt x="1434" y="2662"/>
                      <a:pt x="1434" y="2662"/>
                      <a:pt x="1434" y="2662"/>
                    </a:cubicBezTo>
                    <a:cubicBezTo>
                      <a:pt x="1415" y="2706"/>
                      <a:pt x="1403" y="2746"/>
                      <a:pt x="1392" y="2783"/>
                    </a:cubicBezTo>
                    <a:close/>
                    <a:moveTo>
                      <a:pt x="793" y="2551"/>
                    </a:moveTo>
                    <a:cubicBezTo>
                      <a:pt x="773" y="2489"/>
                      <a:pt x="752" y="2423"/>
                      <a:pt x="729" y="2355"/>
                    </a:cubicBezTo>
                    <a:cubicBezTo>
                      <a:pt x="1525" y="2355"/>
                      <a:pt x="1525" y="2355"/>
                      <a:pt x="1525" y="2355"/>
                    </a:cubicBezTo>
                    <a:cubicBezTo>
                      <a:pt x="1512" y="2392"/>
                      <a:pt x="1499" y="2429"/>
                      <a:pt x="1489" y="2464"/>
                    </a:cubicBezTo>
                    <a:lnTo>
                      <a:pt x="793" y="2551"/>
                    </a:lnTo>
                    <a:close/>
                    <a:moveTo>
                      <a:pt x="1126" y="3072"/>
                    </a:moveTo>
                    <a:cubicBezTo>
                      <a:pt x="1035" y="3089"/>
                      <a:pt x="946" y="3033"/>
                      <a:pt x="922" y="2944"/>
                    </a:cubicBezTo>
                    <a:cubicBezTo>
                      <a:pt x="1356" y="2890"/>
                      <a:pt x="1356" y="2890"/>
                      <a:pt x="1356" y="2890"/>
                    </a:cubicBezTo>
                    <a:cubicBezTo>
                      <a:pt x="1293" y="3059"/>
                      <a:pt x="1247" y="3072"/>
                      <a:pt x="1126" y="3072"/>
                    </a:cubicBezTo>
                    <a:close/>
                    <a:moveTo>
                      <a:pt x="1605" y="2150"/>
                    </a:moveTo>
                    <a:cubicBezTo>
                      <a:pt x="649" y="2150"/>
                      <a:pt x="649" y="2150"/>
                      <a:pt x="649" y="2150"/>
                    </a:cubicBezTo>
                    <a:cubicBezTo>
                      <a:pt x="598" y="2040"/>
                      <a:pt x="537" y="1929"/>
                      <a:pt x="476" y="1821"/>
                    </a:cubicBezTo>
                    <a:cubicBezTo>
                      <a:pt x="343" y="1582"/>
                      <a:pt x="205" y="1331"/>
                      <a:pt x="205" y="1126"/>
                    </a:cubicBezTo>
                    <a:cubicBezTo>
                      <a:pt x="205" y="617"/>
                      <a:pt x="617" y="205"/>
                      <a:pt x="1126" y="205"/>
                    </a:cubicBezTo>
                    <a:cubicBezTo>
                      <a:pt x="1635" y="205"/>
                      <a:pt x="2048" y="617"/>
                      <a:pt x="2048" y="1126"/>
                    </a:cubicBezTo>
                    <a:cubicBezTo>
                      <a:pt x="2048" y="1331"/>
                      <a:pt x="1910" y="1582"/>
                      <a:pt x="1776" y="1822"/>
                    </a:cubicBezTo>
                    <a:cubicBezTo>
                      <a:pt x="1716" y="1930"/>
                      <a:pt x="1656" y="2041"/>
                      <a:pt x="1605" y="2150"/>
                    </a:cubicBezTo>
                    <a:close/>
                    <a:moveTo>
                      <a:pt x="1605" y="2150"/>
                    </a:moveTo>
                    <a:cubicBezTo>
                      <a:pt x="1605" y="2150"/>
                      <a:pt x="1605" y="2150"/>
                      <a:pt x="1605" y="215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58" name="Freeform 15"/>
              <p:cNvSpPr>
                <a:spLocks noEditPoints="1"/>
              </p:cNvSpPr>
              <p:nvPr/>
            </p:nvSpPr>
            <p:spPr bwMode="auto">
              <a:xfrm>
                <a:off x="4810126" y="1073150"/>
                <a:ext cx="1393825" cy="1392238"/>
              </a:xfrm>
              <a:custGeom>
                <a:avLst/>
                <a:gdLst>
                  <a:gd name="T0" fmla="*/ 614 w 666"/>
                  <a:gd name="T1" fmla="*/ 0 h 666"/>
                  <a:gd name="T2" fmla="*/ 0 w 666"/>
                  <a:gd name="T3" fmla="*/ 614 h 666"/>
                  <a:gd name="T4" fmla="*/ 51 w 666"/>
                  <a:gd name="T5" fmla="*/ 666 h 666"/>
                  <a:gd name="T6" fmla="*/ 102 w 666"/>
                  <a:gd name="T7" fmla="*/ 614 h 666"/>
                  <a:gd name="T8" fmla="*/ 614 w 666"/>
                  <a:gd name="T9" fmla="*/ 102 h 666"/>
                  <a:gd name="T10" fmla="*/ 666 w 666"/>
                  <a:gd name="T11" fmla="*/ 51 h 666"/>
                  <a:gd name="T12" fmla="*/ 614 w 666"/>
                  <a:gd name="T13" fmla="*/ 0 h 666"/>
                  <a:gd name="T14" fmla="*/ 614 w 666"/>
                  <a:gd name="T15" fmla="*/ 0 h 666"/>
                  <a:gd name="T16" fmla="*/ 614 w 666"/>
                  <a:gd name="T17" fmla="*/ 0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6" h="666">
                    <a:moveTo>
                      <a:pt x="614" y="0"/>
                    </a:moveTo>
                    <a:cubicBezTo>
                      <a:pt x="275" y="0"/>
                      <a:pt x="0" y="275"/>
                      <a:pt x="0" y="614"/>
                    </a:cubicBezTo>
                    <a:cubicBezTo>
                      <a:pt x="0" y="643"/>
                      <a:pt x="23" y="666"/>
                      <a:pt x="51" y="666"/>
                    </a:cubicBezTo>
                    <a:cubicBezTo>
                      <a:pt x="79" y="666"/>
                      <a:pt x="102" y="643"/>
                      <a:pt x="102" y="614"/>
                    </a:cubicBezTo>
                    <a:cubicBezTo>
                      <a:pt x="102" y="332"/>
                      <a:pt x="332" y="102"/>
                      <a:pt x="614" y="102"/>
                    </a:cubicBezTo>
                    <a:cubicBezTo>
                      <a:pt x="643" y="102"/>
                      <a:pt x="666" y="79"/>
                      <a:pt x="666" y="51"/>
                    </a:cubicBezTo>
                    <a:cubicBezTo>
                      <a:pt x="666" y="23"/>
                      <a:pt x="643" y="0"/>
                      <a:pt x="614" y="0"/>
                    </a:cubicBezTo>
                    <a:close/>
                    <a:moveTo>
                      <a:pt x="614" y="0"/>
                    </a:moveTo>
                    <a:cubicBezTo>
                      <a:pt x="614" y="0"/>
                      <a:pt x="614" y="0"/>
                      <a:pt x="61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grpSp>
        <p:sp>
          <p:nvSpPr>
            <p:cNvPr id="59" name="椭圆 58"/>
            <p:cNvSpPr/>
            <p:nvPr/>
          </p:nvSpPr>
          <p:spPr>
            <a:xfrm>
              <a:off x="6270911" y="4724409"/>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grpSp>
        <p:nvGrpSpPr>
          <p:cNvPr id="60" name="组合 59"/>
          <p:cNvGrpSpPr/>
          <p:nvPr/>
        </p:nvGrpSpPr>
        <p:grpSpPr>
          <a:xfrm>
            <a:off x="5536403" y="2000914"/>
            <a:ext cx="2016432" cy="2016432"/>
            <a:chOff x="1439019" y="4724409"/>
            <a:chExt cx="2016432" cy="2016432"/>
          </a:xfrm>
        </p:grpSpPr>
        <p:sp>
          <p:nvSpPr>
            <p:cNvPr id="61" name="椭圆 60"/>
            <p:cNvSpPr/>
            <p:nvPr/>
          </p:nvSpPr>
          <p:spPr>
            <a:xfrm>
              <a:off x="1528231" y="4813621"/>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nvGrpSpPr>
            <p:cNvPr id="62" name="组合 61"/>
            <p:cNvGrpSpPr/>
            <p:nvPr/>
          </p:nvGrpSpPr>
          <p:grpSpPr>
            <a:xfrm>
              <a:off x="2009067" y="5294255"/>
              <a:ext cx="876336" cy="876740"/>
              <a:chOff x="2667000" y="0"/>
              <a:chExt cx="6853238" cy="6856413"/>
            </a:xfrm>
            <a:solidFill>
              <a:schemeClr val="bg1"/>
            </a:solidFill>
          </p:grpSpPr>
          <p:sp>
            <p:nvSpPr>
              <p:cNvPr id="63" name="Freeform 19"/>
              <p:cNvSpPr>
                <a:spLocks noEditPoints="1"/>
              </p:cNvSpPr>
              <p:nvPr/>
            </p:nvSpPr>
            <p:spPr bwMode="auto">
              <a:xfrm>
                <a:off x="2667000" y="0"/>
                <a:ext cx="6853238" cy="6856413"/>
              </a:xfrm>
              <a:custGeom>
                <a:avLst/>
                <a:gdLst>
                  <a:gd name="T0" fmla="*/ 2795 w 3280"/>
                  <a:gd name="T1" fmla="*/ 1236 h 3281"/>
                  <a:gd name="T2" fmla="*/ 2918 w 3280"/>
                  <a:gd name="T3" fmla="*/ 839 h 3281"/>
                  <a:gd name="T4" fmla="*/ 2695 w 3280"/>
                  <a:gd name="T5" fmla="*/ 383 h 3281"/>
                  <a:gd name="T6" fmla="*/ 2172 w 3280"/>
                  <a:gd name="T7" fmla="*/ 535 h 3281"/>
                  <a:gd name="T8" fmla="*/ 1978 w 3280"/>
                  <a:gd name="T9" fmla="*/ 167 h 3281"/>
                  <a:gd name="T10" fmla="*/ 1499 w 3280"/>
                  <a:gd name="T11" fmla="*/ 2 h 3281"/>
                  <a:gd name="T12" fmla="*/ 1232 w 3280"/>
                  <a:gd name="T13" fmla="*/ 480 h 3281"/>
                  <a:gd name="T14" fmla="*/ 838 w 3280"/>
                  <a:gd name="T15" fmla="*/ 358 h 3281"/>
                  <a:gd name="T16" fmla="*/ 383 w 3280"/>
                  <a:gd name="T17" fmla="*/ 580 h 3281"/>
                  <a:gd name="T18" fmla="*/ 535 w 3280"/>
                  <a:gd name="T19" fmla="*/ 1104 h 3281"/>
                  <a:gd name="T20" fmla="*/ 167 w 3280"/>
                  <a:gd name="T21" fmla="*/ 1298 h 3281"/>
                  <a:gd name="T22" fmla="*/ 2 w 3280"/>
                  <a:gd name="T23" fmla="*/ 1780 h 3281"/>
                  <a:gd name="T24" fmla="*/ 480 w 3280"/>
                  <a:gd name="T25" fmla="*/ 2047 h 3281"/>
                  <a:gd name="T26" fmla="*/ 358 w 3280"/>
                  <a:gd name="T27" fmla="*/ 2444 h 3281"/>
                  <a:gd name="T28" fmla="*/ 579 w 3280"/>
                  <a:gd name="T29" fmla="*/ 2898 h 3281"/>
                  <a:gd name="T30" fmla="*/ 1102 w 3280"/>
                  <a:gd name="T31" fmla="*/ 2745 h 3281"/>
                  <a:gd name="T32" fmla="*/ 1297 w 3280"/>
                  <a:gd name="T33" fmla="*/ 3114 h 3281"/>
                  <a:gd name="T34" fmla="*/ 1779 w 3280"/>
                  <a:gd name="T35" fmla="*/ 3279 h 3281"/>
                  <a:gd name="T36" fmla="*/ 2047 w 3280"/>
                  <a:gd name="T37" fmla="*/ 2801 h 3281"/>
                  <a:gd name="T38" fmla="*/ 2444 w 3280"/>
                  <a:gd name="T39" fmla="*/ 2923 h 3281"/>
                  <a:gd name="T40" fmla="*/ 2898 w 3280"/>
                  <a:gd name="T41" fmla="*/ 2702 h 3281"/>
                  <a:gd name="T42" fmla="*/ 2745 w 3280"/>
                  <a:gd name="T43" fmla="*/ 2178 h 3281"/>
                  <a:gd name="T44" fmla="*/ 3113 w 3280"/>
                  <a:gd name="T45" fmla="*/ 1984 h 3281"/>
                  <a:gd name="T46" fmla="*/ 3278 w 3280"/>
                  <a:gd name="T47" fmla="*/ 1499 h 3281"/>
                  <a:gd name="T48" fmla="*/ 2755 w 3280"/>
                  <a:gd name="T49" fmla="*/ 1842 h 3281"/>
                  <a:gd name="T50" fmla="*/ 2557 w 3280"/>
                  <a:gd name="T51" fmla="*/ 2082 h 3281"/>
                  <a:gd name="T52" fmla="*/ 2748 w 3280"/>
                  <a:gd name="T53" fmla="*/ 2552 h 3281"/>
                  <a:gd name="T54" fmla="*/ 2287 w 3280"/>
                  <a:gd name="T55" fmla="*/ 2571 h 3281"/>
                  <a:gd name="T56" fmla="*/ 1972 w 3280"/>
                  <a:gd name="T57" fmla="*/ 2602 h 3281"/>
                  <a:gd name="T58" fmla="*/ 1777 w 3280"/>
                  <a:gd name="T59" fmla="*/ 3068 h 3281"/>
                  <a:gd name="T60" fmla="*/ 1434 w 3280"/>
                  <a:gd name="T61" fmla="*/ 2755 h 3281"/>
                  <a:gd name="T62" fmla="*/ 1193 w 3280"/>
                  <a:gd name="T63" fmla="*/ 2557 h 3281"/>
                  <a:gd name="T64" fmla="*/ 723 w 3280"/>
                  <a:gd name="T65" fmla="*/ 2750 h 3281"/>
                  <a:gd name="T66" fmla="*/ 706 w 3280"/>
                  <a:gd name="T67" fmla="*/ 2286 h 3281"/>
                  <a:gd name="T68" fmla="*/ 674 w 3280"/>
                  <a:gd name="T69" fmla="*/ 1971 h 3281"/>
                  <a:gd name="T70" fmla="*/ 207 w 3280"/>
                  <a:gd name="T71" fmla="*/ 1777 h 3281"/>
                  <a:gd name="T72" fmla="*/ 521 w 3280"/>
                  <a:gd name="T73" fmla="*/ 1434 h 3281"/>
                  <a:gd name="T74" fmla="*/ 718 w 3280"/>
                  <a:gd name="T75" fmla="*/ 1193 h 3281"/>
                  <a:gd name="T76" fmla="*/ 528 w 3280"/>
                  <a:gd name="T77" fmla="*/ 724 h 3281"/>
                  <a:gd name="T78" fmla="*/ 990 w 3280"/>
                  <a:gd name="T79" fmla="*/ 706 h 3281"/>
                  <a:gd name="T80" fmla="*/ 1304 w 3280"/>
                  <a:gd name="T81" fmla="*/ 674 h 3281"/>
                  <a:gd name="T82" fmla="*/ 1499 w 3280"/>
                  <a:gd name="T83" fmla="*/ 207 h 3281"/>
                  <a:gd name="T84" fmla="*/ 1842 w 3280"/>
                  <a:gd name="T85" fmla="*/ 521 h 3281"/>
                  <a:gd name="T86" fmla="*/ 2082 w 3280"/>
                  <a:gd name="T87" fmla="*/ 718 h 3281"/>
                  <a:gd name="T88" fmla="*/ 2552 w 3280"/>
                  <a:gd name="T89" fmla="*/ 526 h 3281"/>
                  <a:gd name="T90" fmla="*/ 2571 w 3280"/>
                  <a:gd name="T91" fmla="*/ 988 h 3281"/>
                  <a:gd name="T92" fmla="*/ 2602 w 3280"/>
                  <a:gd name="T93" fmla="*/ 1303 h 3281"/>
                  <a:gd name="T94" fmla="*/ 3068 w 3280"/>
                  <a:gd name="T95" fmla="*/ 1498 h 3281"/>
                  <a:gd name="T96" fmla="*/ 2755 w 3280"/>
                  <a:gd name="T97" fmla="*/ 1842 h 3281"/>
                  <a:gd name="T98" fmla="*/ 2755 w 3280"/>
                  <a:gd name="T99" fmla="*/ 1842 h 3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80" h="3281">
                    <a:moveTo>
                      <a:pt x="3108" y="1299"/>
                    </a:moveTo>
                    <a:cubicBezTo>
                      <a:pt x="2795" y="1236"/>
                      <a:pt x="2795" y="1236"/>
                      <a:pt x="2795" y="1236"/>
                    </a:cubicBezTo>
                    <a:cubicBezTo>
                      <a:pt x="2780" y="1191"/>
                      <a:pt x="2761" y="1147"/>
                      <a:pt x="2740" y="1105"/>
                    </a:cubicBezTo>
                    <a:cubicBezTo>
                      <a:pt x="2918" y="839"/>
                      <a:pt x="2918" y="839"/>
                      <a:pt x="2918" y="839"/>
                    </a:cubicBezTo>
                    <a:cubicBezTo>
                      <a:pt x="2972" y="758"/>
                      <a:pt x="2961" y="650"/>
                      <a:pt x="2893" y="581"/>
                    </a:cubicBezTo>
                    <a:cubicBezTo>
                      <a:pt x="2695" y="383"/>
                      <a:pt x="2695" y="383"/>
                      <a:pt x="2695" y="383"/>
                    </a:cubicBezTo>
                    <a:cubicBezTo>
                      <a:pt x="2627" y="315"/>
                      <a:pt x="2519" y="304"/>
                      <a:pt x="2438" y="358"/>
                    </a:cubicBezTo>
                    <a:cubicBezTo>
                      <a:pt x="2172" y="535"/>
                      <a:pt x="2172" y="535"/>
                      <a:pt x="2172" y="535"/>
                    </a:cubicBezTo>
                    <a:cubicBezTo>
                      <a:pt x="2129" y="515"/>
                      <a:pt x="2085" y="496"/>
                      <a:pt x="2040" y="480"/>
                    </a:cubicBezTo>
                    <a:cubicBezTo>
                      <a:pt x="1978" y="167"/>
                      <a:pt x="1978" y="167"/>
                      <a:pt x="1978" y="167"/>
                    </a:cubicBezTo>
                    <a:cubicBezTo>
                      <a:pt x="1959" y="70"/>
                      <a:pt x="1873" y="0"/>
                      <a:pt x="1774" y="2"/>
                    </a:cubicBezTo>
                    <a:cubicBezTo>
                      <a:pt x="1499" y="2"/>
                      <a:pt x="1499" y="2"/>
                      <a:pt x="1499" y="2"/>
                    </a:cubicBezTo>
                    <a:cubicBezTo>
                      <a:pt x="1400" y="0"/>
                      <a:pt x="1314" y="70"/>
                      <a:pt x="1295" y="167"/>
                    </a:cubicBezTo>
                    <a:cubicBezTo>
                      <a:pt x="1232" y="480"/>
                      <a:pt x="1232" y="480"/>
                      <a:pt x="1232" y="480"/>
                    </a:cubicBezTo>
                    <a:cubicBezTo>
                      <a:pt x="1187" y="496"/>
                      <a:pt x="1143" y="515"/>
                      <a:pt x="1100" y="535"/>
                    </a:cubicBezTo>
                    <a:cubicBezTo>
                      <a:pt x="838" y="358"/>
                      <a:pt x="838" y="358"/>
                      <a:pt x="838" y="358"/>
                    </a:cubicBezTo>
                    <a:cubicBezTo>
                      <a:pt x="757" y="304"/>
                      <a:pt x="649" y="315"/>
                      <a:pt x="580" y="383"/>
                    </a:cubicBezTo>
                    <a:cubicBezTo>
                      <a:pt x="383" y="580"/>
                      <a:pt x="383" y="580"/>
                      <a:pt x="383" y="580"/>
                    </a:cubicBezTo>
                    <a:cubicBezTo>
                      <a:pt x="314" y="649"/>
                      <a:pt x="304" y="757"/>
                      <a:pt x="358" y="838"/>
                    </a:cubicBezTo>
                    <a:cubicBezTo>
                      <a:pt x="535" y="1104"/>
                      <a:pt x="535" y="1104"/>
                      <a:pt x="535" y="1104"/>
                    </a:cubicBezTo>
                    <a:cubicBezTo>
                      <a:pt x="514" y="1146"/>
                      <a:pt x="496" y="1190"/>
                      <a:pt x="480" y="1235"/>
                    </a:cubicBezTo>
                    <a:cubicBezTo>
                      <a:pt x="167" y="1298"/>
                      <a:pt x="167" y="1298"/>
                      <a:pt x="167" y="1298"/>
                    </a:cubicBezTo>
                    <a:cubicBezTo>
                      <a:pt x="69" y="1317"/>
                      <a:pt x="0" y="1403"/>
                      <a:pt x="2" y="1502"/>
                    </a:cubicBezTo>
                    <a:cubicBezTo>
                      <a:pt x="2" y="1780"/>
                      <a:pt x="2" y="1780"/>
                      <a:pt x="2" y="1780"/>
                    </a:cubicBezTo>
                    <a:cubicBezTo>
                      <a:pt x="0" y="1879"/>
                      <a:pt x="69" y="1965"/>
                      <a:pt x="167" y="1984"/>
                    </a:cubicBezTo>
                    <a:cubicBezTo>
                      <a:pt x="480" y="2047"/>
                      <a:pt x="480" y="2047"/>
                      <a:pt x="480" y="2047"/>
                    </a:cubicBezTo>
                    <a:cubicBezTo>
                      <a:pt x="496" y="2092"/>
                      <a:pt x="514" y="2136"/>
                      <a:pt x="535" y="2178"/>
                    </a:cubicBezTo>
                    <a:cubicBezTo>
                      <a:pt x="358" y="2444"/>
                      <a:pt x="358" y="2444"/>
                      <a:pt x="358" y="2444"/>
                    </a:cubicBezTo>
                    <a:cubicBezTo>
                      <a:pt x="304" y="2525"/>
                      <a:pt x="314" y="2633"/>
                      <a:pt x="383" y="2702"/>
                    </a:cubicBezTo>
                    <a:cubicBezTo>
                      <a:pt x="579" y="2898"/>
                      <a:pt x="579" y="2898"/>
                      <a:pt x="579" y="2898"/>
                    </a:cubicBezTo>
                    <a:cubicBezTo>
                      <a:pt x="648" y="2966"/>
                      <a:pt x="756" y="2977"/>
                      <a:pt x="837" y="2923"/>
                    </a:cubicBezTo>
                    <a:cubicBezTo>
                      <a:pt x="1102" y="2745"/>
                      <a:pt x="1102" y="2745"/>
                      <a:pt x="1102" y="2745"/>
                    </a:cubicBezTo>
                    <a:cubicBezTo>
                      <a:pt x="1145" y="2766"/>
                      <a:pt x="1189" y="2785"/>
                      <a:pt x="1234" y="2801"/>
                    </a:cubicBezTo>
                    <a:cubicBezTo>
                      <a:pt x="1297" y="3114"/>
                      <a:pt x="1297" y="3114"/>
                      <a:pt x="1297" y="3114"/>
                    </a:cubicBezTo>
                    <a:cubicBezTo>
                      <a:pt x="1316" y="3211"/>
                      <a:pt x="1402" y="3281"/>
                      <a:pt x="1501" y="3279"/>
                    </a:cubicBezTo>
                    <a:cubicBezTo>
                      <a:pt x="1779" y="3279"/>
                      <a:pt x="1779" y="3279"/>
                      <a:pt x="1779" y="3279"/>
                    </a:cubicBezTo>
                    <a:cubicBezTo>
                      <a:pt x="1878" y="3281"/>
                      <a:pt x="1964" y="3211"/>
                      <a:pt x="1983" y="3114"/>
                    </a:cubicBezTo>
                    <a:cubicBezTo>
                      <a:pt x="2047" y="2801"/>
                      <a:pt x="2047" y="2801"/>
                      <a:pt x="2047" y="2801"/>
                    </a:cubicBezTo>
                    <a:cubicBezTo>
                      <a:pt x="2092" y="2785"/>
                      <a:pt x="2136" y="2766"/>
                      <a:pt x="2178" y="2745"/>
                    </a:cubicBezTo>
                    <a:cubicBezTo>
                      <a:pt x="2444" y="2923"/>
                      <a:pt x="2444" y="2923"/>
                      <a:pt x="2444" y="2923"/>
                    </a:cubicBezTo>
                    <a:cubicBezTo>
                      <a:pt x="2525" y="2977"/>
                      <a:pt x="2633" y="2966"/>
                      <a:pt x="2701" y="2898"/>
                    </a:cubicBezTo>
                    <a:cubicBezTo>
                      <a:pt x="2898" y="2702"/>
                      <a:pt x="2898" y="2702"/>
                      <a:pt x="2898" y="2702"/>
                    </a:cubicBezTo>
                    <a:cubicBezTo>
                      <a:pt x="2966" y="2633"/>
                      <a:pt x="2977" y="2525"/>
                      <a:pt x="2923" y="2444"/>
                    </a:cubicBezTo>
                    <a:cubicBezTo>
                      <a:pt x="2745" y="2178"/>
                      <a:pt x="2745" y="2178"/>
                      <a:pt x="2745" y="2178"/>
                    </a:cubicBezTo>
                    <a:cubicBezTo>
                      <a:pt x="2766" y="2136"/>
                      <a:pt x="2785" y="2092"/>
                      <a:pt x="2801" y="2047"/>
                    </a:cubicBezTo>
                    <a:cubicBezTo>
                      <a:pt x="3113" y="1984"/>
                      <a:pt x="3113" y="1984"/>
                      <a:pt x="3113" y="1984"/>
                    </a:cubicBezTo>
                    <a:cubicBezTo>
                      <a:pt x="3210" y="1965"/>
                      <a:pt x="3280" y="1879"/>
                      <a:pt x="3278" y="1780"/>
                    </a:cubicBezTo>
                    <a:cubicBezTo>
                      <a:pt x="3278" y="1499"/>
                      <a:pt x="3278" y="1499"/>
                      <a:pt x="3278" y="1499"/>
                    </a:cubicBezTo>
                    <a:cubicBezTo>
                      <a:pt x="3277" y="1400"/>
                      <a:pt x="3206" y="1316"/>
                      <a:pt x="3108" y="1299"/>
                    </a:cubicBezTo>
                    <a:close/>
                    <a:moveTo>
                      <a:pt x="2755" y="1842"/>
                    </a:moveTo>
                    <a:cubicBezTo>
                      <a:pt x="2684" y="1856"/>
                      <a:pt x="2625" y="1907"/>
                      <a:pt x="2601" y="1975"/>
                    </a:cubicBezTo>
                    <a:cubicBezTo>
                      <a:pt x="2589" y="2012"/>
                      <a:pt x="2574" y="2047"/>
                      <a:pt x="2557" y="2082"/>
                    </a:cubicBezTo>
                    <a:cubicBezTo>
                      <a:pt x="2525" y="2148"/>
                      <a:pt x="2530" y="2226"/>
                      <a:pt x="2571" y="2287"/>
                    </a:cubicBezTo>
                    <a:cubicBezTo>
                      <a:pt x="2748" y="2552"/>
                      <a:pt x="2748" y="2552"/>
                      <a:pt x="2748" y="2552"/>
                    </a:cubicBezTo>
                    <a:cubicBezTo>
                      <a:pt x="2552" y="2749"/>
                      <a:pt x="2552" y="2749"/>
                      <a:pt x="2552" y="2749"/>
                    </a:cubicBezTo>
                    <a:cubicBezTo>
                      <a:pt x="2287" y="2571"/>
                      <a:pt x="2287" y="2571"/>
                      <a:pt x="2287" y="2571"/>
                    </a:cubicBezTo>
                    <a:cubicBezTo>
                      <a:pt x="2226" y="2530"/>
                      <a:pt x="2148" y="2524"/>
                      <a:pt x="2082" y="2556"/>
                    </a:cubicBezTo>
                    <a:cubicBezTo>
                      <a:pt x="2046" y="2574"/>
                      <a:pt x="2010" y="2589"/>
                      <a:pt x="1972" y="2602"/>
                    </a:cubicBezTo>
                    <a:cubicBezTo>
                      <a:pt x="1904" y="2626"/>
                      <a:pt x="1853" y="2685"/>
                      <a:pt x="1839" y="2756"/>
                    </a:cubicBezTo>
                    <a:cubicBezTo>
                      <a:pt x="1777" y="3068"/>
                      <a:pt x="1777" y="3068"/>
                      <a:pt x="1777" y="3068"/>
                    </a:cubicBezTo>
                    <a:cubicBezTo>
                      <a:pt x="1499" y="3068"/>
                      <a:pt x="1499" y="3068"/>
                      <a:pt x="1499" y="3068"/>
                    </a:cubicBezTo>
                    <a:cubicBezTo>
                      <a:pt x="1434" y="2755"/>
                      <a:pt x="1434" y="2755"/>
                      <a:pt x="1434" y="2755"/>
                    </a:cubicBezTo>
                    <a:cubicBezTo>
                      <a:pt x="1419" y="2684"/>
                      <a:pt x="1369" y="2625"/>
                      <a:pt x="1301" y="2601"/>
                    </a:cubicBezTo>
                    <a:cubicBezTo>
                      <a:pt x="1264" y="2589"/>
                      <a:pt x="1228" y="2574"/>
                      <a:pt x="1193" y="2557"/>
                    </a:cubicBezTo>
                    <a:cubicBezTo>
                      <a:pt x="1128" y="2525"/>
                      <a:pt x="1050" y="2531"/>
                      <a:pt x="989" y="2572"/>
                    </a:cubicBezTo>
                    <a:cubicBezTo>
                      <a:pt x="723" y="2750"/>
                      <a:pt x="723" y="2750"/>
                      <a:pt x="723" y="2750"/>
                    </a:cubicBezTo>
                    <a:cubicBezTo>
                      <a:pt x="528" y="2551"/>
                      <a:pt x="528" y="2551"/>
                      <a:pt x="528" y="2551"/>
                    </a:cubicBezTo>
                    <a:cubicBezTo>
                      <a:pt x="706" y="2286"/>
                      <a:pt x="706" y="2286"/>
                      <a:pt x="706" y="2286"/>
                    </a:cubicBezTo>
                    <a:cubicBezTo>
                      <a:pt x="747" y="2225"/>
                      <a:pt x="753" y="2147"/>
                      <a:pt x="720" y="2081"/>
                    </a:cubicBezTo>
                    <a:cubicBezTo>
                      <a:pt x="703" y="2045"/>
                      <a:pt x="688" y="2009"/>
                      <a:pt x="674" y="1971"/>
                    </a:cubicBezTo>
                    <a:cubicBezTo>
                      <a:pt x="649" y="1904"/>
                      <a:pt x="591" y="1856"/>
                      <a:pt x="521" y="1842"/>
                    </a:cubicBezTo>
                    <a:cubicBezTo>
                      <a:pt x="207" y="1777"/>
                      <a:pt x="207" y="1777"/>
                      <a:pt x="207" y="1777"/>
                    </a:cubicBezTo>
                    <a:cubicBezTo>
                      <a:pt x="207" y="1499"/>
                      <a:pt x="207" y="1499"/>
                      <a:pt x="207" y="1499"/>
                    </a:cubicBezTo>
                    <a:cubicBezTo>
                      <a:pt x="521" y="1434"/>
                      <a:pt x="521" y="1434"/>
                      <a:pt x="521" y="1434"/>
                    </a:cubicBezTo>
                    <a:cubicBezTo>
                      <a:pt x="592" y="1420"/>
                      <a:pt x="650" y="1369"/>
                      <a:pt x="674" y="1301"/>
                    </a:cubicBezTo>
                    <a:cubicBezTo>
                      <a:pt x="687" y="1264"/>
                      <a:pt x="702" y="1228"/>
                      <a:pt x="718" y="1193"/>
                    </a:cubicBezTo>
                    <a:cubicBezTo>
                      <a:pt x="750" y="1128"/>
                      <a:pt x="745" y="1050"/>
                      <a:pt x="704" y="989"/>
                    </a:cubicBezTo>
                    <a:cubicBezTo>
                      <a:pt x="528" y="724"/>
                      <a:pt x="528" y="724"/>
                      <a:pt x="528" y="724"/>
                    </a:cubicBezTo>
                    <a:cubicBezTo>
                      <a:pt x="724" y="528"/>
                      <a:pt x="724" y="528"/>
                      <a:pt x="724" y="528"/>
                    </a:cubicBezTo>
                    <a:cubicBezTo>
                      <a:pt x="990" y="706"/>
                      <a:pt x="990" y="706"/>
                      <a:pt x="990" y="706"/>
                    </a:cubicBezTo>
                    <a:cubicBezTo>
                      <a:pt x="1051" y="747"/>
                      <a:pt x="1129" y="753"/>
                      <a:pt x="1194" y="720"/>
                    </a:cubicBezTo>
                    <a:cubicBezTo>
                      <a:pt x="1230" y="703"/>
                      <a:pt x="1266" y="688"/>
                      <a:pt x="1304" y="674"/>
                    </a:cubicBezTo>
                    <a:cubicBezTo>
                      <a:pt x="1371" y="650"/>
                      <a:pt x="1420" y="591"/>
                      <a:pt x="1434" y="521"/>
                    </a:cubicBezTo>
                    <a:cubicBezTo>
                      <a:pt x="1499" y="207"/>
                      <a:pt x="1499" y="207"/>
                      <a:pt x="1499" y="207"/>
                    </a:cubicBezTo>
                    <a:cubicBezTo>
                      <a:pt x="1777" y="207"/>
                      <a:pt x="1777" y="207"/>
                      <a:pt x="1777" y="207"/>
                    </a:cubicBezTo>
                    <a:cubicBezTo>
                      <a:pt x="1842" y="521"/>
                      <a:pt x="1842" y="521"/>
                      <a:pt x="1842" y="521"/>
                    </a:cubicBezTo>
                    <a:cubicBezTo>
                      <a:pt x="1856" y="592"/>
                      <a:pt x="1907" y="650"/>
                      <a:pt x="1975" y="674"/>
                    </a:cubicBezTo>
                    <a:cubicBezTo>
                      <a:pt x="2012" y="687"/>
                      <a:pt x="2047" y="702"/>
                      <a:pt x="2082" y="718"/>
                    </a:cubicBezTo>
                    <a:cubicBezTo>
                      <a:pt x="2148" y="751"/>
                      <a:pt x="2226" y="745"/>
                      <a:pt x="2287" y="704"/>
                    </a:cubicBezTo>
                    <a:cubicBezTo>
                      <a:pt x="2552" y="526"/>
                      <a:pt x="2552" y="526"/>
                      <a:pt x="2552" y="526"/>
                    </a:cubicBezTo>
                    <a:cubicBezTo>
                      <a:pt x="2748" y="722"/>
                      <a:pt x="2748" y="722"/>
                      <a:pt x="2748" y="722"/>
                    </a:cubicBezTo>
                    <a:cubicBezTo>
                      <a:pt x="2571" y="988"/>
                      <a:pt x="2571" y="988"/>
                      <a:pt x="2571" y="988"/>
                    </a:cubicBezTo>
                    <a:cubicBezTo>
                      <a:pt x="2530" y="1049"/>
                      <a:pt x="2524" y="1127"/>
                      <a:pt x="2556" y="1192"/>
                    </a:cubicBezTo>
                    <a:cubicBezTo>
                      <a:pt x="2574" y="1228"/>
                      <a:pt x="2589" y="1265"/>
                      <a:pt x="2602" y="1303"/>
                    </a:cubicBezTo>
                    <a:cubicBezTo>
                      <a:pt x="2626" y="1371"/>
                      <a:pt x="2685" y="1422"/>
                      <a:pt x="2756" y="1436"/>
                    </a:cubicBezTo>
                    <a:cubicBezTo>
                      <a:pt x="3068" y="1498"/>
                      <a:pt x="3068" y="1498"/>
                      <a:pt x="3068" y="1498"/>
                    </a:cubicBezTo>
                    <a:cubicBezTo>
                      <a:pt x="3068" y="1776"/>
                      <a:pt x="3068" y="1776"/>
                      <a:pt x="3068" y="1776"/>
                    </a:cubicBezTo>
                    <a:lnTo>
                      <a:pt x="2755" y="1842"/>
                    </a:lnTo>
                    <a:close/>
                    <a:moveTo>
                      <a:pt x="2755" y="1842"/>
                    </a:moveTo>
                    <a:cubicBezTo>
                      <a:pt x="2755" y="1842"/>
                      <a:pt x="2755" y="1842"/>
                      <a:pt x="2755" y="18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64" name="Freeform 20"/>
              <p:cNvSpPr>
                <a:spLocks noEditPoints="1"/>
              </p:cNvSpPr>
              <p:nvPr/>
            </p:nvSpPr>
            <p:spPr bwMode="auto">
              <a:xfrm>
                <a:off x="4595813" y="1928813"/>
                <a:ext cx="2987675" cy="2987675"/>
              </a:xfrm>
              <a:custGeom>
                <a:avLst/>
                <a:gdLst>
                  <a:gd name="T0" fmla="*/ 715 w 1430"/>
                  <a:gd name="T1" fmla="*/ 0 h 1430"/>
                  <a:gd name="T2" fmla="*/ 0 w 1430"/>
                  <a:gd name="T3" fmla="*/ 715 h 1430"/>
                  <a:gd name="T4" fmla="*/ 715 w 1430"/>
                  <a:gd name="T5" fmla="*/ 1430 h 1430"/>
                  <a:gd name="T6" fmla="*/ 1430 w 1430"/>
                  <a:gd name="T7" fmla="*/ 715 h 1430"/>
                  <a:gd name="T8" fmla="*/ 1221 w 1430"/>
                  <a:gd name="T9" fmla="*/ 209 h 1430"/>
                  <a:gd name="T10" fmla="*/ 715 w 1430"/>
                  <a:gd name="T11" fmla="*/ 0 h 1430"/>
                  <a:gd name="T12" fmla="*/ 715 w 1430"/>
                  <a:gd name="T13" fmla="*/ 1341 h 1430"/>
                  <a:gd name="T14" fmla="*/ 89 w 1430"/>
                  <a:gd name="T15" fmla="*/ 715 h 1430"/>
                  <a:gd name="T16" fmla="*/ 715 w 1430"/>
                  <a:gd name="T17" fmla="*/ 89 h 1430"/>
                  <a:gd name="T18" fmla="*/ 1341 w 1430"/>
                  <a:gd name="T19" fmla="*/ 715 h 1430"/>
                  <a:gd name="T20" fmla="*/ 715 w 1430"/>
                  <a:gd name="T21" fmla="*/ 1341 h 1430"/>
                  <a:gd name="T22" fmla="*/ 715 w 1430"/>
                  <a:gd name="T23" fmla="*/ 1341 h 1430"/>
                  <a:gd name="T24" fmla="*/ 715 w 1430"/>
                  <a:gd name="T25" fmla="*/ 1341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30" h="1430">
                    <a:moveTo>
                      <a:pt x="715" y="0"/>
                    </a:moveTo>
                    <a:cubicBezTo>
                      <a:pt x="320" y="0"/>
                      <a:pt x="0" y="320"/>
                      <a:pt x="0" y="715"/>
                    </a:cubicBezTo>
                    <a:cubicBezTo>
                      <a:pt x="0" y="1110"/>
                      <a:pt x="320" y="1430"/>
                      <a:pt x="715" y="1430"/>
                    </a:cubicBezTo>
                    <a:cubicBezTo>
                      <a:pt x="1110" y="1430"/>
                      <a:pt x="1430" y="1110"/>
                      <a:pt x="1430" y="715"/>
                    </a:cubicBezTo>
                    <a:cubicBezTo>
                      <a:pt x="1430" y="525"/>
                      <a:pt x="1355" y="343"/>
                      <a:pt x="1221" y="209"/>
                    </a:cubicBezTo>
                    <a:cubicBezTo>
                      <a:pt x="1086" y="75"/>
                      <a:pt x="905" y="0"/>
                      <a:pt x="715" y="0"/>
                    </a:cubicBezTo>
                    <a:close/>
                    <a:moveTo>
                      <a:pt x="715" y="1341"/>
                    </a:moveTo>
                    <a:cubicBezTo>
                      <a:pt x="369" y="1341"/>
                      <a:pt x="89" y="1061"/>
                      <a:pt x="89" y="715"/>
                    </a:cubicBezTo>
                    <a:cubicBezTo>
                      <a:pt x="89" y="369"/>
                      <a:pt x="369" y="89"/>
                      <a:pt x="715" y="89"/>
                    </a:cubicBezTo>
                    <a:cubicBezTo>
                      <a:pt x="1061" y="89"/>
                      <a:pt x="1341" y="369"/>
                      <a:pt x="1341" y="715"/>
                    </a:cubicBezTo>
                    <a:cubicBezTo>
                      <a:pt x="1341" y="1061"/>
                      <a:pt x="1061" y="1341"/>
                      <a:pt x="715" y="1341"/>
                    </a:cubicBezTo>
                    <a:close/>
                    <a:moveTo>
                      <a:pt x="715" y="1341"/>
                    </a:moveTo>
                    <a:cubicBezTo>
                      <a:pt x="715" y="1341"/>
                      <a:pt x="715" y="1341"/>
                      <a:pt x="715" y="13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65" name="Freeform 21"/>
              <p:cNvSpPr>
                <a:spLocks noEditPoints="1"/>
              </p:cNvSpPr>
              <p:nvPr/>
            </p:nvSpPr>
            <p:spPr bwMode="auto">
              <a:xfrm>
                <a:off x="5235575" y="2568575"/>
                <a:ext cx="1708150" cy="1709738"/>
              </a:xfrm>
              <a:custGeom>
                <a:avLst/>
                <a:gdLst>
                  <a:gd name="T0" fmla="*/ 409 w 818"/>
                  <a:gd name="T1" fmla="*/ 0 h 818"/>
                  <a:gd name="T2" fmla="*/ 0 w 818"/>
                  <a:gd name="T3" fmla="*/ 409 h 818"/>
                  <a:gd name="T4" fmla="*/ 409 w 818"/>
                  <a:gd name="T5" fmla="*/ 818 h 818"/>
                  <a:gd name="T6" fmla="*/ 818 w 818"/>
                  <a:gd name="T7" fmla="*/ 409 h 818"/>
                  <a:gd name="T8" fmla="*/ 698 w 818"/>
                  <a:gd name="T9" fmla="*/ 120 h 818"/>
                  <a:gd name="T10" fmla="*/ 409 w 818"/>
                  <a:gd name="T11" fmla="*/ 0 h 818"/>
                  <a:gd name="T12" fmla="*/ 409 w 818"/>
                  <a:gd name="T13" fmla="*/ 715 h 818"/>
                  <a:gd name="T14" fmla="*/ 102 w 818"/>
                  <a:gd name="T15" fmla="*/ 409 h 818"/>
                  <a:gd name="T16" fmla="*/ 409 w 818"/>
                  <a:gd name="T17" fmla="*/ 102 h 818"/>
                  <a:gd name="T18" fmla="*/ 715 w 818"/>
                  <a:gd name="T19" fmla="*/ 409 h 818"/>
                  <a:gd name="T20" fmla="*/ 626 w 818"/>
                  <a:gd name="T21" fmla="*/ 626 h 818"/>
                  <a:gd name="T22" fmla="*/ 409 w 818"/>
                  <a:gd name="T23" fmla="*/ 715 h 818"/>
                  <a:gd name="T24" fmla="*/ 409 w 818"/>
                  <a:gd name="T25" fmla="*/ 715 h 818"/>
                  <a:gd name="T26" fmla="*/ 409 w 818"/>
                  <a:gd name="T27" fmla="*/ 715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8" h="818">
                    <a:moveTo>
                      <a:pt x="409" y="0"/>
                    </a:moveTo>
                    <a:cubicBezTo>
                      <a:pt x="183" y="0"/>
                      <a:pt x="0" y="183"/>
                      <a:pt x="0" y="409"/>
                    </a:cubicBezTo>
                    <a:cubicBezTo>
                      <a:pt x="0" y="635"/>
                      <a:pt x="183" y="818"/>
                      <a:pt x="409" y="818"/>
                    </a:cubicBezTo>
                    <a:cubicBezTo>
                      <a:pt x="635" y="818"/>
                      <a:pt x="818" y="635"/>
                      <a:pt x="818" y="409"/>
                    </a:cubicBezTo>
                    <a:cubicBezTo>
                      <a:pt x="818" y="301"/>
                      <a:pt x="774" y="197"/>
                      <a:pt x="698" y="120"/>
                    </a:cubicBezTo>
                    <a:cubicBezTo>
                      <a:pt x="621" y="43"/>
                      <a:pt x="517" y="0"/>
                      <a:pt x="409" y="0"/>
                    </a:cubicBezTo>
                    <a:close/>
                    <a:moveTo>
                      <a:pt x="409" y="715"/>
                    </a:moveTo>
                    <a:cubicBezTo>
                      <a:pt x="240" y="715"/>
                      <a:pt x="102" y="578"/>
                      <a:pt x="102" y="409"/>
                    </a:cubicBezTo>
                    <a:cubicBezTo>
                      <a:pt x="102" y="240"/>
                      <a:pt x="240" y="102"/>
                      <a:pt x="409" y="102"/>
                    </a:cubicBezTo>
                    <a:cubicBezTo>
                      <a:pt x="578" y="102"/>
                      <a:pt x="715" y="240"/>
                      <a:pt x="715" y="409"/>
                    </a:cubicBezTo>
                    <a:cubicBezTo>
                      <a:pt x="715" y="490"/>
                      <a:pt x="683" y="568"/>
                      <a:pt x="626" y="626"/>
                    </a:cubicBezTo>
                    <a:cubicBezTo>
                      <a:pt x="568" y="683"/>
                      <a:pt x="490" y="715"/>
                      <a:pt x="409" y="715"/>
                    </a:cubicBezTo>
                    <a:close/>
                    <a:moveTo>
                      <a:pt x="409" y="715"/>
                    </a:moveTo>
                    <a:cubicBezTo>
                      <a:pt x="409" y="715"/>
                      <a:pt x="409" y="715"/>
                      <a:pt x="409" y="7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grpSp>
        <p:sp>
          <p:nvSpPr>
            <p:cNvPr id="66" name="椭圆 65"/>
            <p:cNvSpPr/>
            <p:nvPr/>
          </p:nvSpPr>
          <p:spPr>
            <a:xfrm>
              <a:off x="1439019" y="4724409"/>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grpSp>
        <p:nvGrpSpPr>
          <p:cNvPr id="67" name="组合 66"/>
          <p:cNvGrpSpPr/>
          <p:nvPr/>
        </p:nvGrpSpPr>
        <p:grpSpPr>
          <a:xfrm>
            <a:off x="9556256" y="2000914"/>
            <a:ext cx="2016432" cy="2016432"/>
            <a:chOff x="1439019" y="2809213"/>
            <a:chExt cx="2016432" cy="2016432"/>
          </a:xfrm>
        </p:grpSpPr>
        <p:sp>
          <p:nvSpPr>
            <p:cNvPr id="68" name="椭圆 67"/>
            <p:cNvSpPr/>
            <p:nvPr/>
          </p:nvSpPr>
          <p:spPr>
            <a:xfrm>
              <a:off x="1528231" y="2898425"/>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nvGrpSpPr>
            <p:cNvPr id="69" name="组合 68"/>
            <p:cNvGrpSpPr/>
            <p:nvPr/>
          </p:nvGrpSpPr>
          <p:grpSpPr>
            <a:xfrm flipH="1">
              <a:off x="2011642" y="3450879"/>
              <a:ext cx="871186" cy="815944"/>
              <a:chOff x="2433638" y="3175"/>
              <a:chExt cx="7310438" cy="6846888"/>
            </a:xfrm>
            <a:solidFill>
              <a:schemeClr val="bg1"/>
            </a:solidFill>
          </p:grpSpPr>
          <p:sp>
            <p:nvSpPr>
              <p:cNvPr id="70" name="Freeform 30"/>
              <p:cNvSpPr>
                <a:spLocks noEditPoints="1"/>
              </p:cNvSpPr>
              <p:nvPr/>
            </p:nvSpPr>
            <p:spPr bwMode="auto">
              <a:xfrm>
                <a:off x="3328988" y="915988"/>
                <a:ext cx="5502275" cy="3675063"/>
              </a:xfrm>
              <a:custGeom>
                <a:avLst/>
                <a:gdLst>
                  <a:gd name="T0" fmla="*/ 1927 w 2012"/>
                  <a:gd name="T1" fmla="*/ 0 h 1344"/>
                  <a:gd name="T2" fmla="*/ 85 w 2012"/>
                  <a:gd name="T3" fmla="*/ 0 h 1344"/>
                  <a:gd name="T4" fmla="*/ 0 w 2012"/>
                  <a:gd name="T5" fmla="*/ 86 h 1344"/>
                  <a:gd name="T6" fmla="*/ 0 w 2012"/>
                  <a:gd name="T7" fmla="*/ 1259 h 1344"/>
                  <a:gd name="T8" fmla="*/ 85 w 2012"/>
                  <a:gd name="T9" fmla="*/ 1344 h 1344"/>
                  <a:gd name="T10" fmla="*/ 1927 w 2012"/>
                  <a:gd name="T11" fmla="*/ 1344 h 1344"/>
                  <a:gd name="T12" fmla="*/ 2012 w 2012"/>
                  <a:gd name="T13" fmla="*/ 1259 h 1344"/>
                  <a:gd name="T14" fmla="*/ 2012 w 2012"/>
                  <a:gd name="T15" fmla="*/ 79 h 1344"/>
                  <a:gd name="T16" fmla="*/ 1927 w 2012"/>
                  <a:gd name="T17" fmla="*/ 0 h 1344"/>
                  <a:gd name="T18" fmla="*/ 1927 w 2012"/>
                  <a:gd name="T19" fmla="*/ 1252 h 1344"/>
                  <a:gd name="T20" fmla="*/ 92 w 2012"/>
                  <a:gd name="T21" fmla="*/ 1252 h 1344"/>
                  <a:gd name="T22" fmla="*/ 92 w 2012"/>
                  <a:gd name="T23" fmla="*/ 79 h 1344"/>
                  <a:gd name="T24" fmla="*/ 1934 w 2012"/>
                  <a:gd name="T25" fmla="*/ 79 h 1344"/>
                  <a:gd name="T26" fmla="*/ 1934 w 2012"/>
                  <a:gd name="T27" fmla="*/ 1252 h 1344"/>
                  <a:gd name="T28" fmla="*/ 1927 w 2012"/>
                  <a:gd name="T29" fmla="*/ 1252 h 1344"/>
                  <a:gd name="T30" fmla="*/ 1927 w 2012"/>
                  <a:gd name="T31" fmla="*/ 1252 h 1344"/>
                  <a:gd name="T32" fmla="*/ 1927 w 2012"/>
                  <a:gd name="T33" fmla="*/ 1252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12" h="1344">
                    <a:moveTo>
                      <a:pt x="1927" y="0"/>
                    </a:moveTo>
                    <a:cubicBezTo>
                      <a:pt x="85" y="0"/>
                      <a:pt x="85" y="0"/>
                      <a:pt x="85" y="0"/>
                    </a:cubicBezTo>
                    <a:cubicBezTo>
                      <a:pt x="40" y="0"/>
                      <a:pt x="0" y="40"/>
                      <a:pt x="0" y="86"/>
                    </a:cubicBezTo>
                    <a:cubicBezTo>
                      <a:pt x="0" y="1259"/>
                      <a:pt x="0" y="1259"/>
                      <a:pt x="0" y="1259"/>
                    </a:cubicBezTo>
                    <a:cubicBezTo>
                      <a:pt x="0" y="1305"/>
                      <a:pt x="40" y="1344"/>
                      <a:pt x="85" y="1344"/>
                    </a:cubicBezTo>
                    <a:cubicBezTo>
                      <a:pt x="1927" y="1344"/>
                      <a:pt x="1927" y="1344"/>
                      <a:pt x="1927" y="1344"/>
                    </a:cubicBezTo>
                    <a:cubicBezTo>
                      <a:pt x="1973" y="1344"/>
                      <a:pt x="2012" y="1305"/>
                      <a:pt x="2012" y="1259"/>
                    </a:cubicBezTo>
                    <a:cubicBezTo>
                      <a:pt x="2012" y="79"/>
                      <a:pt x="2012" y="79"/>
                      <a:pt x="2012" y="79"/>
                    </a:cubicBezTo>
                    <a:cubicBezTo>
                      <a:pt x="2012" y="33"/>
                      <a:pt x="1979" y="0"/>
                      <a:pt x="1927" y="0"/>
                    </a:cubicBezTo>
                    <a:close/>
                    <a:moveTo>
                      <a:pt x="1927" y="1252"/>
                    </a:moveTo>
                    <a:cubicBezTo>
                      <a:pt x="92" y="1252"/>
                      <a:pt x="92" y="1252"/>
                      <a:pt x="92" y="1252"/>
                    </a:cubicBezTo>
                    <a:cubicBezTo>
                      <a:pt x="92" y="79"/>
                      <a:pt x="92" y="79"/>
                      <a:pt x="92" y="79"/>
                    </a:cubicBezTo>
                    <a:cubicBezTo>
                      <a:pt x="1934" y="79"/>
                      <a:pt x="1934" y="79"/>
                      <a:pt x="1934" y="79"/>
                    </a:cubicBezTo>
                    <a:cubicBezTo>
                      <a:pt x="1934" y="1252"/>
                      <a:pt x="1934" y="1252"/>
                      <a:pt x="1934" y="1252"/>
                    </a:cubicBezTo>
                    <a:lnTo>
                      <a:pt x="1927" y="1252"/>
                    </a:lnTo>
                    <a:close/>
                    <a:moveTo>
                      <a:pt x="1927" y="1252"/>
                    </a:moveTo>
                    <a:cubicBezTo>
                      <a:pt x="1927" y="1252"/>
                      <a:pt x="1927" y="1252"/>
                      <a:pt x="1927" y="125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71" name="Freeform 31"/>
              <p:cNvSpPr>
                <a:spLocks noEditPoints="1"/>
              </p:cNvSpPr>
              <p:nvPr/>
            </p:nvSpPr>
            <p:spPr bwMode="auto">
              <a:xfrm>
                <a:off x="2433638" y="3175"/>
                <a:ext cx="7310438" cy="6846888"/>
              </a:xfrm>
              <a:custGeom>
                <a:avLst/>
                <a:gdLst>
                  <a:gd name="T0" fmla="*/ 2424 w 2673"/>
                  <a:gd name="T1" fmla="*/ 0 h 2504"/>
                  <a:gd name="T2" fmla="*/ 249 w 2673"/>
                  <a:gd name="T3" fmla="*/ 0 h 2504"/>
                  <a:gd name="T4" fmla="*/ 0 w 2673"/>
                  <a:gd name="T5" fmla="*/ 249 h 2504"/>
                  <a:gd name="T6" fmla="*/ 0 w 2673"/>
                  <a:gd name="T7" fmla="*/ 1920 h 2504"/>
                  <a:gd name="T8" fmla="*/ 249 w 2673"/>
                  <a:gd name="T9" fmla="*/ 2169 h 2504"/>
                  <a:gd name="T10" fmla="*/ 1087 w 2673"/>
                  <a:gd name="T11" fmla="*/ 2169 h 2504"/>
                  <a:gd name="T12" fmla="*/ 1087 w 2673"/>
                  <a:gd name="T13" fmla="*/ 2274 h 2504"/>
                  <a:gd name="T14" fmla="*/ 563 w 2673"/>
                  <a:gd name="T15" fmla="*/ 2340 h 2504"/>
                  <a:gd name="T16" fmla="*/ 498 w 2673"/>
                  <a:gd name="T17" fmla="*/ 2418 h 2504"/>
                  <a:gd name="T18" fmla="*/ 583 w 2673"/>
                  <a:gd name="T19" fmla="*/ 2504 h 2504"/>
                  <a:gd name="T20" fmla="*/ 2090 w 2673"/>
                  <a:gd name="T21" fmla="*/ 2504 h 2504"/>
                  <a:gd name="T22" fmla="*/ 2175 w 2673"/>
                  <a:gd name="T23" fmla="*/ 2418 h 2504"/>
                  <a:gd name="T24" fmla="*/ 2110 w 2673"/>
                  <a:gd name="T25" fmla="*/ 2340 h 2504"/>
                  <a:gd name="T26" fmla="*/ 1585 w 2673"/>
                  <a:gd name="T27" fmla="*/ 2274 h 2504"/>
                  <a:gd name="T28" fmla="*/ 1585 w 2673"/>
                  <a:gd name="T29" fmla="*/ 2169 h 2504"/>
                  <a:gd name="T30" fmla="*/ 2424 w 2673"/>
                  <a:gd name="T31" fmla="*/ 2169 h 2504"/>
                  <a:gd name="T32" fmla="*/ 2673 w 2673"/>
                  <a:gd name="T33" fmla="*/ 1920 h 2504"/>
                  <a:gd name="T34" fmla="*/ 2673 w 2673"/>
                  <a:gd name="T35" fmla="*/ 249 h 2504"/>
                  <a:gd name="T36" fmla="*/ 2424 w 2673"/>
                  <a:gd name="T37" fmla="*/ 0 h 2504"/>
                  <a:gd name="T38" fmla="*/ 2510 w 2673"/>
                  <a:gd name="T39" fmla="*/ 1920 h 2504"/>
                  <a:gd name="T40" fmla="*/ 2424 w 2673"/>
                  <a:gd name="T41" fmla="*/ 2006 h 2504"/>
                  <a:gd name="T42" fmla="*/ 249 w 2673"/>
                  <a:gd name="T43" fmla="*/ 2006 h 2504"/>
                  <a:gd name="T44" fmla="*/ 163 w 2673"/>
                  <a:gd name="T45" fmla="*/ 1920 h 2504"/>
                  <a:gd name="T46" fmla="*/ 163 w 2673"/>
                  <a:gd name="T47" fmla="*/ 249 h 2504"/>
                  <a:gd name="T48" fmla="*/ 249 w 2673"/>
                  <a:gd name="T49" fmla="*/ 164 h 2504"/>
                  <a:gd name="T50" fmla="*/ 2424 w 2673"/>
                  <a:gd name="T51" fmla="*/ 164 h 2504"/>
                  <a:gd name="T52" fmla="*/ 2510 w 2673"/>
                  <a:gd name="T53" fmla="*/ 249 h 2504"/>
                  <a:gd name="T54" fmla="*/ 2510 w 2673"/>
                  <a:gd name="T55" fmla="*/ 1920 h 2504"/>
                  <a:gd name="T56" fmla="*/ 2510 w 2673"/>
                  <a:gd name="T57" fmla="*/ 1920 h 2504"/>
                  <a:gd name="T58" fmla="*/ 2510 w 2673"/>
                  <a:gd name="T59" fmla="*/ 192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73" h="2504">
                    <a:moveTo>
                      <a:pt x="2424" y="0"/>
                    </a:moveTo>
                    <a:cubicBezTo>
                      <a:pt x="249" y="0"/>
                      <a:pt x="249" y="0"/>
                      <a:pt x="249" y="0"/>
                    </a:cubicBezTo>
                    <a:cubicBezTo>
                      <a:pt x="111" y="0"/>
                      <a:pt x="0" y="112"/>
                      <a:pt x="0" y="249"/>
                    </a:cubicBezTo>
                    <a:cubicBezTo>
                      <a:pt x="0" y="1920"/>
                      <a:pt x="0" y="1920"/>
                      <a:pt x="0" y="1920"/>
                    </a:cubicBezTo>
                    <a:cubicBezTo>
                      <a:pt x="0" y="2058"/>
                      <a:pt x="111" y="2169"/>
                      <a:pt x="249" y="2169"/>
                    </a:cubicBezTo>
                    <a:cubicBezTo>
                      <a:pt x="1087" y="2169"/>
                      <a:pt x="1087" y="2169"/>
                      <a:pt x="1087" y="2169"/>
                    </a:cubicBezTo>
                    <a:cubicBezTo>
                      <a:pt x="1087" y="2274"/>
                      <a:pt x="1087" y="2274"/>
                      <a:pt x="1087" y="2274"/>
                    </a:cubicBezTo>
                    <a:cubicBezTo>
                      <a:pt x="563" y="2340"/>
                      <a:pt x="563" y="2340"/>
                      <a:pt x="563" y="2340"/>
                    </a:cubicBezTo>
                    <a:cubicBezTo>
                      <a:pt x="524" y="2346"/>
                      <a:pt x="498" y="2386"/>
                      <a:pt x="498" y="2418"/>
                    </a:cubicBezTo>
                    <a:cubicBezTo>
                      <a:pt x="498" y="2464"/>
                      <a:pt x="537" y="2504"/>
                      <a:pt x="583" y="2504"/>
                    </a:cubicBezTo>
                    <a:cubicBezTo>
                      <a:pt x="2090" y="2504"/>
                      <a:pt x="2090" y="2504"/>
                      <a:pt x="2090" y="2504"/>
                    </a:cubicBezTo>
                    <a:cubicBezTo>
                      <a:pt x="2136" y="2504"/>
                      <a:pt x="2175" y="2464"/>
                      <a:pt x="2175" y="2418"/>
                    </a:cubicBezTo>
                    <a:cubicBezTo>
                      <a:pt x="2175" y="2379"/>
                      <a:pt x="2149" y="2346"/>
                      <a:pt x="2110" y="2340"/>
                    </a:cubicBezTo>
                    <a:cubicBezTo>
                      <a:pt x="1585" y="2274"/>
                      <a:pt x="1585" y="2274"/>
                      <a:pt x="1585" y="2274"/>
                    </a:cubicBezTo>
                    <a:cubicBezTo>
                      <a:pt x="1585" y="2169"/>
                      <a:pt x="1585" y="2169"/>
                      <a:pt x="1585" y="2169"/>
                    </a:cubicBezTo>
                    <a:cubicBezTo>
                      <a:pt x="2424" y="2169"/>
                      <a:pt x="2424" y="2169"/>
                      <a:pt x="2424" y="2169"/>
                    </a:cubicBezTo>
                    <a:cubicBezTo>
                      <a:pt x="2562" y="2169"/>
                      <a:pt x="2673" y="2058"/>
                      <a:pt x="2673" y="1920"/>
                    </a:cubicBezTo>
                    <a:cubicBezTo>
                      <a:pt x="2673" y="249"/>
                      <a:pt x="2673" y="249"/>
                      <a:pt x="2673" y="249"/>
                    </a:cubicBezTo>
                    <a:cubicBezTo>
                      <a:pt x="2673" y="112"/>
                      <a:pt x="2562" y="0"/>
                      <a:pt x="2424" y="0"/>
                    </a:cubicBezTo>
                    <a:close/>
                    <a:moveTo>
                      <a:pt x="2510" y="1920"/>
                    </a:moveTo>
                    <a:cubicBezTo>
                      <a:pt x="2510" y="1966"/>
                      <a:pt x="2470" y="2006"/>
                      <a:pt x="2424" y="2006"/>
                    </a:cubicBezTo>
                    <a:cubicBezTo>
                      <a:pt x="249" y="2006"/>
                      <a:pt x="249" y="2006"/>
                      <a:pt x="249" y="2006"/>
                    </a:cubicBezTo>
                    <a:cubicBezTo>
                      <a:pt x="203" y="2006"/>
                      <a:pt x="163" y="1966"/>
                      <a:pt x="163" y="1920"/>
                    </a:cubicBezTo>
                    <a:cubicBezTo>
                      <a:pt x="163" y="249"/>
                      <a:pt x="163" y="249"/>
                      <a:pt x="163" y="249"/>
                    </a:cubicBezTo>
                    <a:cubicBezTo>
                      <a:pt x="163" y="203"/>
                      <a:pt x="203" y="164"/>
                      <a:pt x="249" y="164"/>
                    </a:cubicBezTo>
                    <a:cubicBezTo>
                      <a:pt x="2424" y="164"/>
                      <a:pt x="2424" y="164"/>
                      <a:pt x="2424" y="164"/>
                    </a:cubicBezTo>
                    <a:cubicBezTo>
                      <a:pt x="2470" y="164"/>
                      <a:pt x="2510" y="203"/>
                      <a:pt x="2510" y="249"/>
                    </a:cubicBezTo>
                    <a:lnTo>
                      <a:pt x="2510" y="1920"/>
                    </a:lnTo>
                    <a:close/>
                    <a:moveTo>
                      <a:pt x="2510" y="1920"/>
                    </a:moveTo>
                    <a:cubicBezTo>
                      <a:pt x="2510" y="1920"/>
                      <a:pt x="2510" y="1920"/>
                      <a:pt x="2510" y="19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grpSp>
        <p:sp>
          <p:nvSpPr>
            <p:cNvPr id="72" name="椭圆 71"/>
            <p:cNvSpPr/>
            <p:nvPr/>
          </p:nvSpPr>
          <p:spPr>
            <a:xfrm>
              <a:off x="1439019" y="2809213"/>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sp>
        <p:nvSpPr>
          <p:cNvPr id="73" name="文本框 72"/>
          <p:cNvSpPr txBox="1"/>
          <p:nvPr/>
        </p:nvSpPr>
        <p:spPr>
          <a:xfrm>
            <a:off x="1244800" y="4282166"/>
            <a:ext cx="2559932" cy="491490"/>
          </a:xfrm>
          <a:prstGeom prst="rect">
            <a:avLst/>
          </a:prstGeom>
          <a:noFill/>
        </p:spPr>
        <p:txBody>
          <a:bodyPr wrap="square" rtlCol="0">
            <a:spAutoFit/>
          </a:bodyPr>
          <a:lstStyle/>
          <a:p>
            <a:pPr algn="ctr"/>
            <a:r>
              <a:rPr lang="zh-CN" altLang="en-US" sz="2600" b="1" spc="-150" dirty="0">
                <a:solidFill>
                  <a:srgbClr val="314371"/>
                </a:solidFill>
                <a:latin typeface="黑体" panose="02010609060101010101" charset="-122"/>
                <a:ea typeface="黑体" panose="02010609060101010101" charset="-122"/>
                <a:cs typeface="+mn-ea"/>
                <a:sym typeface="+mn-lt"/>
              </a:rPr>
              <a:t>底层算力支持</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4" name="文本框 73"/>
          <p:cNvSpPr txBox="1"/>
          <p:nvPr/>
        </p:nvSpPr>
        <p:spPr>
          <a:xfrm>
            <a:off x="5264145" y="4282166"/>
            <a:ext cx="2559932" cy="491490"/>
          </a:xfrm>
          <a:prstGeom prst="rect">
            <a:avLst/>
          </a:prstGeom>
          <a:noFill/>
        </p:spPr>
        <p:txBody>
          <a:bodyPr wrap="square" rtlCol="0">
            <a:spAutoFit/>
          </a:bodyPr>
          <a:lstStyle/>
          <a:p>
            <a:pPr algn="ctr"/>
            <a:r>
              <a:rPr lang="zh-CN" altLang="en-US" sz="2600" b="1" spc="-150" dirty="0">
                <a:solidFill>
                  <a:srgbClr val="314371"/>
                </a:solidFill>
                <a:latin typeface="黑体" panose="02010609060101010101" charset="-122"/>
                <a:ea typeface="黑体" panose="02010609060101010101" charset="-122"/>
                <a:cs typeface="+mn-ea"/>
                <a:sym typeface="+mn-lt"/>
              </a:rPr>
              <a:t>训练成本</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5" name="文本框 74"/>
          <p:cNvSpPr txBox="1"/>
          <p:nvPr/>
        </p:nvSpPr>
        <p:spPr>
          <a:xfrm>
            <a:off x="9283490" y="4282166"/>
            <a:ext cx="2559932" cy="491490"/>
          </a:xfrm>
          <a:prstGeom prst="rect">
            <a:avLst/>
          </a:prstGeom>
          <a:noFill/>
        </p:spPr>
        <p:txBody>
          <a:bodyPr wrap="square" rtlCol="0">
            <a:spAutoFit/>
          </a:bodyPr>
          <a:lstStyle/>
          <a:p>
            <a:pPr algn="ctr"/>
            <a:r>
              <a:rPr lang="zh-CN" altLang="en-US" sz="2600" b="1" spc="-150" dirty="0">
                <a:solidFill>
                  <a:srgbClr val="314371"/>
                </a:solidFill>
                <a:latin typeface="黑体" panose="02010609060101010101" charset="-122"/>
                <a:ea typeface="黑体" panose="02010609060101010101" charset="-122"/>
                <a:cs typeface="+mn-ea"/>
                <a:sym typeface="+mn-lt"/>
              </a:rPr>
              <a:t>工程与开源</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76" name="文本框 75"/>
          <p:cNvSpPr txBox="1"/>
          <p:nvPr/>
        </p:nvSpPr>
        <p:spPr>
          <a:xfrm>
            <a:off x="1015365" y="4925060"/>
            <a:ext cx="3018155" cy="1198880"/>
          </a:xfrm>
          <a:prstGeom prst="rect">
            <a:avLst/>
          </a:prstGeom>
          <a:noFill/>
        </p:spPr>
        <p:txBody>
          <a:bodyPr wrap="square" rtlCol="0">
            <a:spAutoFit/>
          </a:bodyPr>
          <a:lstStyle/>
          <a:p>
            <a:pPr algn="ctr">
              <a:lnSpc>
                <a:spcPct val="150000"/>
              </a:lnSpc>
            </a:pP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最高调用了由</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 16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个节点、</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128</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张英伟达</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 A100 GPU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组成的超级计算集群</a:t>
            </a:r>
            <a:endPar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endParaRPr>
          </a:p>
        </p:txBody>
      </p:sp>
      <p:sp>
        <p:nvSpPr>
          <p:cNvPr id="79" name="文本框 78"/>
          <p:cNvSpPr txBox="1"/>
          <p:nvPr/>
        </p:nvSpPr>
        <p:spPr>
          <a:xfrm>
            <a:off x="524510" y="1167765"/>
            <a:ext cx="308546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算力集群与工程实现</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sp>
        <p:nvSpPr>
          <p:cNvPr id="4" name="文本框 3"/>
          <p:cNvSpPr txBox="1"/>
          <p:nvPr/>
        </p:nvSpPr>
        <p:spPr>
          <a:xfrm>
            <a:off x="5096510" y="4925060"/>
            <a:ext cx="3018155" cy="829945"/>
          </a:xfrm>
          <a:prstGeom prst="rect">
            <a:avLst/>
          </a:prstGeom>
          <a:noFill/>
        </p:spPr>
        <p:txBody>
          <a:bodyPr wrap="square" rtlCol="0">
            <a:spAutoFit/>
          </a:bodyPr>
          <a:lstStyle/>
          <a:p>
            <a:pPr algn="ctr">
              <a:lnSpc>
                <a:spcPct val="150000"/>
              </a:lnSpc>
            </a:pP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2.5B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级别的大模型需要整个超算集群全天候运行长达</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 28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天</a:t>
            </a:r>
            <a:endPar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endParaRPr>
          </a:p>
        </p:txBody>
      </p:sp>
      <p:sp>
        <p:nvSpPr>
          <p:cNvPr id="6" name="文本框 5"/>
          <p:cNvSpPr txBox="1"/>
          <p:nvPr/>
        </p:nvSpPr>
        <p:spPr>
          <a:xfrm>
            <a:off x="9021445" y="4925060"/>
            <a:ext cx="3018155" cy="1938020"/>
          </a:xfrm>
          <a:prstGeom prst="rect">
            <a:avLst/>
          </a:prstGeom>
          <a:noFill/>
        </p:spPr>
        <p:txBody>
          <a:bodyPr wrap="square" rtlCol="0">
            <a:spAutoFit/>
          </a:bodyPr>
          <a:lstStyle/>
          <a:p>
            <a:pPr algn="ctr">
              <a:lnSpc>
                <a:spcPct val="150000"/>
              </a:lnSpc>
            </a:pP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开发了基于分布式架构的高效训练管道（基于</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 Jax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和</a:t>
            </a:r>
            <a:r>
              <a:rPr lang="en-US" altLang="zh-CN" sz="1600" spc="40" dirty="0">
                <a:solidFill>
                  <a:srgbClr val="314371"/>
                </a:solidFill>
                <a:uFillTx/>
                <a:latin typeface="Times New Roman" panose="02020503050405090304" charset="0"/>
                <a:ea typeface="黑体" panose="02010609060101010101" charset="-122"/>
                <a:cs typeface="黑体" panose="02010609060101010101" charset="-122"/>
                <a:sym typeface="+mn-lt"/>
              </a:rPr>
              <a:t> NCCL </a:t>
            </a:r>
            <a:r>
              <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rPr>
              <a:t>协议），同时模型权重和微调代码均已开源，便利了全球计算生物学研究</a:t>
            </a:r>
            <a:endParaRPr lang="zh-CN" altLang="en-US" sz="1600" spc="40" dirty="0">
              <a:solidFill>
                <a:srgbClr val="314371"/>
              </a:solidFill>
              <a:uFillTx/>
              <a:latin typeface="Times New Roman" panose="02020503050405090304" charset="0"/>
              <a:ea typeface="黑体" panose="02010609060101010101" charset="-122"/>
              <a:cs typeface="黑体" panose="02010609060101010101"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73" grpId="0"/>
      <p:bldP spid="74" grpId="0"/>
      <p:bldP spid="75" grpId="0"/>
      <p:bldP spid="76" grpId="0"/>
      <p:bldP spid="7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766185" y="3810"/>
            <a:ext cx="9107170" cy="82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778250" y="34290"/>
            <a:ext cx="2321560" cy="791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黑体" panose="02010609060101010101" charset="-122"/>
                <a:ea typeface="黑体" panose="02010609060101010101" charset="-122"/>
                <a:cs typeface="+mn-ea"/>
                <a:sym typeface="+mn-lt"/>
              </a:rPr>
              <a:t>引</a:t>
            </a:r>
            <a:r>
              <a:rPr lang="en-US" altLang="zh-CN" sz="1600" b="1" spc="-211" dirty="0">
                <a:solidFill>
                  <a:srgbClr val="7F7F7F"/>
                </a:solidFill>
                <a:latin typeface="黑体" panose="02010609060101010101" charset="-122"/>
                <a:ea typeface="黑体" panose="02010609060101010101" charset="-122"/>
                <a:cs typeface="+mn-ea"/>
                <a:sym typeface="+mn-lt"/>
              </a:rPr>
              <a:t>    </a:t>
            </a:r>
            <a:r>
              <a:rPr lang="zh-CN" altLang="en-US" sz="1600" b="1" spc="-211" dirty="0">
                <a:solidFill>
                  <a:srgbClr val="7F7F7F"/>
                </a:solidFill>
                <a:latin typeface="黑体" panose="02010609060101010101" charset="-122"/>
                <a:ea typeface="黑体" panose="02010609060101010101" charset="-122"/>
                <a:cs typeface="+mn-ea"/>
                <a:sym typeface="+mn-lt"/>
              </a:rPr>
              <a:t>言</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8980" y="8890"/>
            <a:ext cx="2260600" cy="816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讨</a:t>
            </a:r>
            <a:r>
              <a:rPr lang="en-US" altLang="zh-CN"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rPr>
              <a:t>论</a:t>
            </a:r>
            <a:endParaRPr lang="zh-CN" altLang="en-US" sz="1685" b="1" dirty="0">
              <a:solidFill>
                <a:schemeClr val="bg1">
                  <a:lumMod val="50000"/>
                </a:schemeClr>
              </a:solidFill>
              <a:latin typeface="黑体" panose="02010609060101010101" charset="-122"/>
              <a:ea typeface="黑体" panose="02010609060101010101" charset="-122"/>
              <a:cs typeface="黑体" panose="02010609060101010101" charset="-122"/>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研</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究</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结</a:t>
            </a:r>
            <a:r>
              <a:rPr lang="en-US" altLang="zh-CN" sz="1685" b="1" dirty="0">
                <a:solidFill>
                  <a:srgbClr val="7F7F7F"/>
                </a:solidFill>
                <a:latin typeface="黑体" panose="02010609060101010101" charset="-122"/>
                <a:ea typeface="黑体" panose="02010609060101010101" charset="-122"/>
                <a:cs typeface="黑体" panose="02010609060101010101" charset="-122"/>
                <a:sym typeface="+mn-lt"/>
              </a:rPr>
              <a:t> </a:t>
            </a:r>
            <a:r>
              <a:rPr lang="zh-CN" altLang="en-US" sz="1685" b="1" dirty="0">
                <a:solidFill>
                  <a:srgbClr val="7F7F7F"/>
                </a:solidFill>
                <a:latin typeface="黑体" panose="02010609060101010101" charset="-122"/>
                <a:ea typeface="黑体" panose="02010609060101010101" charset="-122"/>
                <a:cs typeface="黑体" panose="02010609060101010101" charset="-122"/>
                <a:sym typeface="+mn-lt"/>
              </a:rPr>
              <a:t>果</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研</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究</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方</a:t>
            </a:r>
            <a:r>
              <a:rPr lang="en-US" altLang="zh-CN" sz="1685" b="1" dirty="0">
                <a:solidFill>
                  <a:schemeClr val="bg1"/>
                </a:solidFill>
                <a:latin typeface="黑体" panose="02010609060101010101" charset="-122"/>
                <a:ea typeface="黑体" panose="02010609060101010101" charset="-122"/>
                <a:cs typeface="黑体" panose="02010609060101010101" charset="-122"/>
                <a:sym typeface="+mn-lt"/>
              </a:rPr>
              <a:t> </a:t>
            </a:r>
            <a:r>
              <a:rPr lang="zh-CN" altLang="en-US" sz="1685" b="1" dirty="0">
                <a:solidFill>
                  <a:schemeClr val="bg1"/>
                </a:solidFill>
                <a:latin typeface="黑体" panose="02010609060101010101" charset="-122"/>
                <a:ea typeface="黑体" panose="02010609060101010101" charset="-122"/>
                <a:cs typeface="黑体" panose="02010609060101010101" charset="-122"/>
                <a:sym typeface="+mn-lt"/>
              </a:rPr>
              <a:t>法</a:t>
            </a:r>
            <a:endParaRPr lang="zh-CN" altLang="en-US" sz="1685" b="1" dirty="0">
              <a:solidFill>
                <a:schemeClr val="bg1"/>
              </a:solidFill>
              <a:latin typeface="黑体" panose="02010609060101010101" charset="-122"/>
              <a:ea typeface="黑体" panose="02010609060101010101" charset="-122"/>
              <a:cs typeface="黑体" panose="02010609060101010101" charset="-122"/>
              <a:sym typeface="+mn-lt"/>
            </a:endParaRPr>
          </a:p>
        </p:txBody>
      </p:sp>
      <p:sp>
        <p:nvSpPr>
          <p:cNvPr id="76" name="文本框 75"/>
          <p:cNvSpPr txBox="1"/>
          <p:nvPr/>
        </p:nvSpPr>
        <p:spPr>
          <a:xfrm>
            <a:off x="596900" y="2305685"/>
            <a:ext cx="5270500" cy="3611880"/>
          </a:xfrm>
          <a:prstGeom prst="rect">
            <a:avLst/>
          </a:prstGeom>
          <a:noFill/>
        </p:spPr>
        <p:txBody>
          <a:bodyPr wrap="square" rtlCol="0">
            <a:noAutofit/>
          </a:bodyPr>
          <a:lstStyle/>
          <a:p>
            <a:pPr algn="l">
              <a:lnSpc>
                <a:spcPct val="150000"/>
              </a:lnSpc>
            </a:pPr>
            <a:r>
              <a:rPr lang="en-US" altLang="zh-CN" sz="2400" b="1" spc="40" dirty="0">
                <a:solidFill>
                  <a:srgbClr val="314371"/>
                </a:solidFill>
                <a:uFillTx/>
                <a:latin typeface="Times New Roman" panose="02020503050405090304" charset="0"/>
                <a:ea typeface="黑体" panose="02010609060101010101" charset="-122"/>
                <a:cs typeface="黑体" panose="02010609060101010101" charset="-122"/>
                <a:sym typeface="+mn-lt"/>
              </a:rPr>
              <a:t>Nucleotide Transformer </a:t>
            </a:r>
            <a:r>
              <a:rPr lang="zh-CN" altLang="en-US" sz="2400" b="1" spc="40" dirty="0">
                <a:solidFill>
                  <a:srgbClr val="314371"/>
                </a:solidFill>
                <a:uFillTx/>
                <a:latin typeface="Times New Roman" panose="02020503050405090304" charset="0"/>
                <a:ea typeface="黑体" panose="02010609060101010101" charset="-122"/>
                <a:cs typeface="黑体" panose="02010609060101010101" charset="-122"/>
                <a:sym typeface="+mn-lt"/>
              </a:rPr>
              <a:t>证明了</a:t>
            </a:r>
            <a:r>
              <a:rPr lang="zh-CN" altLang="en-US" sz="2400" spc="40" dirty="0">
                <a:solidFill>
                  <a:srgbClr val="314371"/>
                </a:solidFill>
                <a:uFillTx/>
                <a:latin typeface="Times New Roman" panose="02020503050405090304" charset="0"/>
                <a:ea typeface="黑体" panose="02010609060101010101" charset="-122"/>
                <a:cs typeface="黑体" panose="02010609060101010101" charset="-122"/>
                <a:sym typeface="+mn-lt"/>
              </a:rPr>
              <a:t>：借助海量跨物种</a:t>
            </a:r>
            <a:r>
              <a:rPr lang="en-US" altLang="zh-CN" sz="2400" spc="40" dirty="0">
                <a:solidFill>
                  <a:srgbClr val="314371"/>
                </a:solidFill>
                <a:uFillTx/>
                <a:latin typeface="Times New Roman" panose="02020503050405090304" charset="0"/>
                <a:ea typeface="黑体" panose="02010609060101010101" charset="-122"/>
                <a:cs typeface="黑体" panose="02010609060101010101" charset="-122"/>
                <a:sym typeface="+mn-lt"/>
              </a:rPr>
              <a:t> DNA </a:t>
            </a:r>
            <a:r>
              <a:rPr lang="zh-CN" altLang="en-US" sz="2400" spc="40" dirty="0">
                <a:solidFill>
                  <a:srgbClr val="314371"/>
                </a:solidFill>
                <a:uFillTx/>
                <a:latin typeface="Times New Roman" panose="02020503050405090304" charset="0"/>
                <a:ea typeface="黑体" panose="02010609060101010101" charset="-122"/>
                <a:cs typeface="黑体" panose="02010609060101010101" charset="-122"/>
                <a:sym typeface="+mn-lt"/>
              </a:rPr>
              <a:t>大数据，无监督大语言模型不仅能读懂复杂的基因调控密码，还能以极低的微调成本横扫各类基因组预测任务，为解析生命大数据开辟了通用新范式</a:t>
            </a:r>
            <a:endParaRPr lang="zh-CN" altLang="en-US" sz="2400" spc="40" dirty="0">
              <a:solidFill>
                <a:srgbClr val="314371"/>
              </a:solidFill>
              <a:uFillTx/>
              <a:latin typeface="Times New Roman" panose="02020503050405090304" charset="0"/>
              <a:ea typeface="黑体" panose="02010609060101010101" charset="-122"/>
              <a:cs typeface="黑体" panose="02010609060101010101" charset="-122"/>
              <a:sym typeface="+mn-lt"/>
            </a:endParaRPr>
          </a:p>
        </p:txBody>
      </p:sp>
      <p:sp>
        <p:nvSpPr>
          <p:cNvPr id="79" name="文本框 78"/>
          <p:cNvSpPr txBox="1"/>
          <p:nvPr/>
        </p:nvSpPr>
        <p:spPr>
          <a:xfrm>
            <a:off x="524510" y="1167765"/>
            <a:ext cx="3085465" cy="491490"/>
          </a:xfrm>
          <a:prstGeom prst="rect">
            <a:avLst/>
          </a:prstGeom>
          <a:noFill/>
        </p:spPr>
        <p:txBody>
          <a:bodyPr wrap="square" rtlCol="0">
            <a:spAutoFit/>
          </a:bodyPr>
          <a:lstStyle/>
          <a:p>
            <a:pPr algn="l"/>
            <a:r>
              <a:rPr lang="zh-CN" altLang="en-US" sz="2600" b="1" spc="-150" dirty="0">
                <a:solidFill>
                  <a:srgbClr val="314371"/>
                </a:solidFill>
                <a:latin typeface="黑体" panose="02010609060101010101" charset="-122"/>
                <a:ea typeface="黑体" panose="02010609060101010101" charset="-122"/>
                <a:cs typeface="+mn-ea"/>
                <a:sym typeface="+mn-lt"/>
              </a:rPr>
              <a:t>总结</a:t>
            </a:r>
            <a:endParaRPr lang="zh-CN" altLang="en-US" sz="2600" b="1" spc="-150" dirty="0">
              <a:solidFill>
                <a:srgbClr val="314371"/>
              </a:solidFill>
              <a:latin typeface="黑体" panose="02010609060101010101" charset="-122"/>
              <a:ea typeface="黑体" panose="02010609060101010101" charset="-122"/>
              <a:cs typeface="+mn-ea"/>
              <a:sym typeface="+mn-lt"/>
            </a:endParaRPr>
          </a:p>
        </p:txBody>
      </p:sp>
      <p:pic>
        <p:nvPicPr>
          <p:cNvPr id="7" name="图片 6"/>
          <p:cNvPicPr>
            <a:picLocks noChangeAspect="1"/>
          </p:cNvPicPr>
          <p:nvPr/>
        </p:nvPicPr>
        <p:blipFill>
          <a:blip r:embed="rId2"/>
          <a:stretch>
            <a:fillRect/>
          </a:stretch>
        </p:blipFill>
        <p:spPr>
          <a:xfrm>
            <a:off x="5925185" y="1816735"/>
            <a:ext cx="6431915" cy="4590415"/>
          </a:xfrm>
          <a:prstGeom prst="rect">
            <a:avLst/>
          </a:prstGeom>
        </p:spPr>
      </p:pic>
      <p:pic>
        <p:nvPicPr>
          <p:cNvPr id="8" name="图片 7"/>
          <p:cNvPicPr>
            <a:picLocks noChangeAspect="1"/>
          </p:cNvPicPr>
          <p:nvPr/>
        </p:nvPicPr>
        <p:blipFill>
          <a:blip r:embed="rId3"/>
          <a:stretch>
            <a:fillRect/>
          </a:stretch>
        </p:blipFill>
        <p:spPr>
          <a:xfrm>
            <a:off x="5821045" y="1798955"/>
            <a:ext cx="866775" cy="409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76" grpId="0"/>
      <p:bldP spid="7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t="7647" b="7647"/>
          <a:stretch>
            <a:fillRect/>
          </a:stretch>
        </p:blipFill>
        <p:spPr>
          <a:xfrm>
            <a:off x="353" y="0"/>
            <a:ext cx="12858044" cy="7232650"/>
          </a:xfrm>
          <a:prstGeom prst="rect">
            <a:avLst/>
          </a:prstGeom>
        </p:spPr>
      </p:pic>
      <p:sp>
        <p:nvSpPr>
          <p:cNvPr id="6" name="矩形 5"/>
          <p:cNvSpPr/>
          <p:nvPr/>
        </p:nvSpPr>
        <p:spPr>
          <a:xfrm>
            <a:off x="706" y="0"/>
            <a:ext cx="12858044" cy="7232650"/>
          </a:xfrm>
          <a:prstGeom prst="rect">
            <a:avLst/>
          </a:prstGeom>
          <a:gradFill flip="none" rotWithShape="1">
            <a:gsLst>
              <a:gs pos="5000">
                <a:srgbClr val="314371">
                  <a:lumMod val="43000"/>
                </a:srgbClr>
              </a:gs>
              <a:gs pos="40000">
                <a:srgbClr val="314371">
                  <a:alpha val="88000"/>
                </a:srgbClr>
              </a:gs>
              <a:gs pos="66000">
                <a:schemeClr val="accent5">
                  <a:alpha val="41000"/>
                  <a:lumMod val="94000"/>
                  <a:lumOff val="6000"/>
                </a:schemeClr>
              </a:gs>
              <a:gs pos="100000">
                <a:schemeClr val="accent5">
                  <a:lumMod val="10000"/>
                  <a:lumOff val="90000"/>
                  <a:alpha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9" name="文本框 8"/>
          <p:cNvSpPr txBox="1"/>
          <p:nvPr/>
        </p:nvSpPr>
        <p:spPr>
          <a:xfrm>
            <a:off x="308695" y="1960423"/>
            <a:ext cx="8917062" cy="1568450"/>
          </a:xfrm>
          <a:prstGeom prst="rect">
            <a:avLst/>
          </a:prstGeom>
          <a:noFill/>
        </p:spPr>
        <p:txBody>
          <a:bodyPr wrap="square" rtlCol="0">
            <a:spAutoFit/>
          </a:bodyPr>
          <a:lstStyle/>
          <a:p>
            <a:r>
              <a:rPr lang="zh-CN" altLang="en-US" sz="4800" dirty="0">
                <a:solidFill>
                  <a:schemeClr val="bg1"/>
                </a:solidFill>
                <a:uFillTx/>
                <a:latin typeface="Times New Roman" panose="02020503050405090304" charset="0"/>
                <a:ea typeface="黑体" panose="02010609060101010101" charset="-122"/>
                <a:cs typeface="+mn-ea"/>
                <a:sym typeface="+mn-lt"/>
              </a:rPr>
              <a:t>核苷酸</a:t>
            </a:r>
            <a:r>
              <a:rPr lang="en-US" altLang="zh-CN" sz="4800" dirty="0">
                <a:solidFill>
                  <a:schemeClr val="bg1"/>
                </a:solidFill>
                <a:uFillTx/>
                <a:latin typeface="Times New Roman" panose="02020503050405090304" charset="0"/>
                <a:ea typeface="黑体" panose="02010609060101010101" charset="-122"/>
                <a:cs typeface="+mn-ea"/>
                <a:sym typeface="+mn-lt"/>
              </a:rPr>
              <a:t> Transformer</a:t>
            </a:r>
            <a:r>
              <a:rPr lang="zh-CN" altLang="en-US" sz="4800" dirty="0">
                <a:solidFill>
                  <a:schemeClr val="bg1"/>
                </a:solidFill>
                <a:uFillTx/>
                <a:latin typeface="Times New Roman" panose="02020503050405090304" charset="0"/>
                <a:ea typeface="黑体" panose="02010609060101010101" charset="-122"/>
                <a:cs typeface="+mn-ea"/>
                <a:sym typeface="+mn-lt"/>
              </a:rPr>
              <a:t>：构建并评估人类基因组学的稳健基础模型</a:t>
            </a:r>
            <a:endParaRPr lang="zh-CN" altLang="en-US" sz="4800" dirty="0">
              <a:solidFill>
                <a:schemeClr val="bg1"/>
              </a:solidFill>
              <a:latin typeface="黑体" panose="02010609060101010101" charset="-122"/>
              <a:ea typeface="黑体" panose="02010609060101010101" charset="-122"/>
              <a:cs typeface="+mn-ea"/>
              <a:sym typeface="+mn-lt"/>
            </a:endParaRPr>
          </a:p>
        </p:txBody>
      </p:sp>
      <p:sp>
        <p:nvSpPr>
          <p:cNvPr id="10" name="文本框 9"/>
          <p:cNvSpPr txBox="1"/>
          <p:nvPr/>
        </p:nvSpPr>
        <p:spPr>
          <a:xfrm>
            <a:off x="455144" y="3758409"/>
            <a:ext cx="6258044" cy="350520"/>
          </a:xfrm>
          <a:prstGeom prst="rect">
            <a:avLst/>
          </a:prstGeom>
          <a:noFill/>
        </p:spPr>
        <p:txBody>
          <a:bodyPr wrap="square" rtlCol="0">
            <a:spAutoFit/>
          </a:bodyPr>
          <a:lstStyle/>
          <a:p>
            <a:pPr algn="dist"/>
            <a:r>
              <a:rPr lang="en-US" altLang="zh-CN" sz="1685" dirty="0">
                <a:solidFill>
                  <a:schemeClr val="bg1"/>
                </a:solidFill>
                <a:latin typeface="Times New Roman" panose="02020503050405090304" charset="0"/>
                <a:ea typeface="思源黑体" panose="020B0400000000000000" charset="-122"/>
                <a:cs typeface="+mn-ea"/>
                <a:sym typeface="+mn-lt"/>
              </a:rPr>
              <a:t>THANK</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YOU</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FOR</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LISTENING</a:t>
            </a:r>
            <a:endParaRPr lang="zh-CN" altLang="en-US" sz="1685" dirty="0">
              <a:solidFill>
                <a:schemeClr val="bg1"/>
              </a:solidFill>
              <a:latin typeface="Times New Roman" panose="02020503050405090304" charset="0"/>
              <a:ea typeface="思源黑体" panose="020B0400000000000000" charset="-122"/>
              <a:cs typeface="+mn-ea"/>
              <a:sym typeface="+mn-lt"/>
            </a:endParaRPr>
          </a:p>
        </p:txBody>
      </p:sp>
      <p:sp>
        <p:nvSpPr>
          <p:cNvPr id="11" name="矩形 10"/>
          <p:cNvSpPr/>
          <p:nvPr/>
        </p:nvSpPr>
        <p:spPr>
          <a:xfrm>
            <a:off x="566118" y="4236192"/>
            <a:ext cx="417633" cy="56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476885" y="4809490"/>
            <a:ext cx="2380615" cy="368300"/>
          </a:xfrm>
          <a:prstGeom prst="rect">
            <a:avLst/>
          </a:prstGeom>
          <a:noFill/>
        </p:spPr>
        <p:txBody>
          <a:bodyPr wrap="square" rtlCol="0">
            <a:spAutoFit/>
          </a:bodyPr>
          <a:lstStyle/>
          <a:p>
            <a:r>
              <a:rPr lang="zh-CN" altLang="en-US" sz="1795" dirty="0">
                <a:solidFill>
                  <a:schemeClr val="bg1"/>
                </a:solidFill>
                <a:latin typeface="黑体" panose="02010609060101010101" charset="-122"/>
                <a:ea typeface="黑体" panose="02010609060101010101" charset="-122"/>
                <a:cs typeface="+mn-ea"/>
                <a:sym typeface="+mn-lt"/>
              </a:rPr>
              <a:t>汇报人：</a:t>
            </a:r>
            <a:r>
              <a:rPr lang="en-US" altLang="zh-CN" sz="1795" dirty="0">
                <a:solidFill>
                  <a:schemeClr val="bg1"/>
                </a:solidFill>
                <a:latin typeface="黑体" panose="02010609060101010101" charset="-122"/>
                <a:ea typeface="黑体" panose="02010609060101010101" charset="-122"/>
                <a:cs typeface="+mn-ea"/>
                <a:sym typeface="+mn-lt"/>
              </a:rPr>
              <a:t>Illusion</a:t>
            </a:r>
            <a:r>
              <a:rPr lang="en-US" altLang="zh-CN" sz="1795" dirty="0">
                <a:solidFill>
                  <a:schemeClr val="bg1"/>
                </a:solidFill>
                <a:latin typeface="黑体" panose="02010609060101010101" charset="-122"/>
                <a:ea typeface="黑体" panose="02010609060101010101" charset="-122"/>
                <a:cs typeface="+mn-ea"/>
                <a:sym typeface="+mn-lt"/>
              </a:rPr>
              <a:t>na</a:t>
            </a:r>
            <a:endParaRPr lang="en-US" altLang="zh-CN" sz="1795" dirty="0">
              <a:solidFill>
                <a:schemeClr val="bg1"/>
              </a:solidFill>
              <a:latin typeface="黑体" panose="02010609060101010101" charset="-122"/>
              <a:ea typeface="黑体" panose="02010609060101010101" charset="-122"/>
              <a:cs typeface="+mn-ea"/>
              <a:sym typeface="+mn-lt"/>
            </a:endParaRPr>
          </a:p>
        </p:txBody>
      </p:sp>
      <p:grpSp>
        <p:nvGrpSpPr>
          <p:cNvPr id="8" name="组合 7"/>
          <p:cNvGrpSpPr/>
          <p:nvPr/>
        </p:nvGrpSpPr>
        <p:grpSpPr>
          <a:xfrm>
            <a:off x="9017770" y="6098612"/>
            <a:ext cx="3428994" cy="829945"/>
            <a:chOff x="9017770" y="6098612"/>
            <a:chExt cx="3428994" cy="829945"/>
          </a:xfrm>
        </p:grpSpPr>
        <p:cxnSp>
          <p:nvCxnSpPr>
            <p:cNvPr id="39" name="直接连接符 38"/>
            <p:cNvCxnSpPr/>
            <p:nvPr/>
          </p:nvCxnSpPr>
          <p:spPr>
            <a:xfrm>
              <a:off x="9453711" y="6890239"/>
              <a:ext cx="292249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017770" y="6098612"/>
              <a:ext cx="3428994" cy="829945"/>
            </a:xfrm>
            <a:prstGeom prst="rect">
              <a:avLst/>
            </a:prstGeom>
            <a:noFill/>
          </p:spPr>
          <p:txBody>
            <a:bodyPr wrap="square" rtlCol="0">
              <a:spAutoFit/>
            </a:bodyPr>
            <a:lstStyle/>
            <a:p>
              <a:pPr algn="r">
                <a:lnSpc>
                  <a:spcPct val="150000"/>
                </a:lnSpc>
              </a:pPr>
              <a:r>
                <a:rPr lang="en-GB" altLang="zh-CN" sz="1600" b="1" dirty="0">
                  <a:solidFill>
                    <a:schemeClr val="bg1"/>
                  </a:solidFill>
                  <a:latin typeface="Times New Roman" panose="02020503050405090304" charset="0"/>
                  <a:ea typeface="思源黑体" panose="020B0400000000000000" charset="-122"/>
                </a:rPr>
                <a:t>University of </a:t>
              </a:r>
              <a:endParaRPr lang="en-GB" altLang="zh-CN" sz="1600" b="1" dirty="0">
                <a:solidFill>
                  <a:schemeClr val="bg1"/>
                </a:solidFill>
                <a:latin typeface="Times New Roman" panose="02020503050405090304" charset="0"/>
                <a:ea typeface="思源黑体" panose="020B0400000000000000" charset="-122"/>
              </a:endParaRPr>
            </a:p>
            <a:p>
              <a:pPr algn="r">
                <a:lnSpc>
                  <a:spcPct val="150000"/>
                </a:lnSpc>
              </a:pPr>
              <a:r>
                <a:rPr lang="en-GB" altLang="zh-CN" sz="1600" b="1" dirty="0">
                  <a:solidFill>
                    <a:schemeClr val="bg1"/>
                  </a:solidFill>
                  <a:latin typeface="Times New Roman" panose="02020503050405090304" charset="0"/>
                  <a:ea typeface="思源黑体" panose="020B0400000000000000" charset="-122"/>
                </a:rPr>
                <a:t>Chinese Academy of Sciences</a:t>
              </a:r>
              <a:endParaRPr lang="zh-CN" altLang="en-US" sz="1795" b="1" spc="53" dirty="0">
                <a:solidFill>
                  <a:schemeClr val="bg1"/>
                </a:solidFill>
                <a:latin typeface="Times New Roman" panose="02020503050405090304" charset="0"/>
                <a:ea typeface="思源黑体" panose="020B0400000000000000" charset="-122"/>
                <a:cs typeface="+mn-ea"/>
                <a:sym typeface="+mn-lt"/>
              </a:endParaRPr>
            </a:p>
          </p:txBody>
        </p:sp>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0" y="410474"/>
            <a:ext cx="2697427" cy="5691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bldLst>
      <p:bldP spid="9" grpId="0"/>
      <p:bldP spid="10" grpId="0"/>
      <p:bldP spid="11" grpId="0" bldLvl="0" animBg="1"/>
    </p:bldLst>
  </p:timing>
</p:sld>
</file>

<file path=ppt/tags/tag1.xml><?xml version="1.0" encoding="utf-8"?>
<p:tagLst xmlns:p="http://schemas.openxmlformats.org/presentationml/2006/main">
  <p:tag name="KSO_WM_DIAGRAM_VIRTUALLY_FRAME" val="{&quot;height&quot;:342.6498036097108,&quot;left&quot;:207,&quot;top&quot;:160,&quot;width&quot;:632.8}"/>
</p:tagLst>
</file>

<file path=ppt/tags/tag2.xml><?xml version="1.0" encoding="utf-8"?>
<p:tagLst xmlns:p="http://schemas.openxmlformats.org/presentationml/2006/main">
  <p:tag name="KSO_WM_DIAGRAM_VIRTUALLY_FRAME" val="{&quot;height&quot;:342.6498036097108,&quot;left&quot;:207,&quot;top&quot;:160,&quot;width&quot;:632.8}"/>
</p:tagLst>
</file>

<file path=ppt/tags/tag3.xml><?xml version="1.0" encoding="utf-8"?>
<p:tagLst xmlns:p="http://schemas.openxmlformats.org/presentationml/2006/main">
  <p:tag name="KSO_WM_DIAGRAM_VIRTUALLY_FRAME" val="{&quot;height&quot;:342.6498036097108,&quot;left&quot;:207,&quot;top&quot;:160,&quot;width&quot;:632.8}"/>
</p:tagLst>
</file>

<file path=ppt/tags/tag4.xml><?xml version="1.0" encoding="utf-8"?>
<p:tagLst xmlns:p="http://schemas.openxmlformats.org/presentationml/2006/main">
  <p:tag name="KSO_WM_DIAGRAM_VIRTUALLY_FRAME" val="{&quot;height&quot;:342.6498036097108,&quot;left&quot;:207,&quot;top&quot;:160,&quot;width&quot;:632.8}"/>
</p:tagLst>
</file>

<file path=ppt/tags/tag5.xml><?xml version="1.0" encoding="utf-8"?>
<p:tagLst xmlns:p="http://schemas.openxmlformats.org/presentationml/2006/main">
  <p:tag name="KSO_WM_DIAGRAM_VIRTUALLY_FRAME" val="{&quot;height&quot;:342.6498036097108,&quot;left&quot;:207,&quot;top&quot;:160,&quot;width&quot;:632.8}"/>
</p:tagLst>
</file>

<file path=ppt/tags/tag6.xml><?xml version="1.0" encoding="utf-8"?>
<p:tagLst xmlns:p="http://schemas.openxmlformats.org/presentationml/2006/main">
  <p:tag name="KSO_WM_DIAGRAM_VIRTUALLY_FRAME" val="{&quot;height&quot;:342.6498036097108,&quot;left&quot;:207,&quot;top&quot;:160,&quot;width&quot;:632.8}"/>
</p:tagLst>
</file>

<file path=ppt/tags/tag7.xml><?xml version="1.0" encoding="utf-8"?>
<p:tagLst xmlns:p="http://schemas.openxmlformats.org/presentationml/2006/main">
  <p:tag name="KSO_WM_DIAGRAM_VIRTUALLY_FRAME" val="{&quot;height&quot;:342.6498036097108,&quot;left&quot;:207,&quot;top&quot;:160,&quot;width&quot;:632.8}"/>
</p:tagLst>
</file>

<file path=ppt/tags/tag8.xml><?xml version="1.0" encoding="utf-8"?>
<p:tagLst xmlns:p="http://schemas.openxmlformats.org/presentationml/2006/main">
  <p:tag name="KSO_WM_DIAGRAM_VIRTUALLY_FRAME" val="{&quot;height&quot;:342.6498036097108,&quot;left&quot;:207,&quot;top&quot;:160,&quot;width&quot;:632.8}"/>
</p:tagLst>
</file>

<file path=ppt/tags/tag9.xml><?xml version="1.0" encoding="utf-8"?>
<p:tagLst xmlns:p="http://schemas.openxmlformats.org/presentationml/2006/main">
  <p:tag name="KSO_WM_DIAGRAM_VIRTUALLY_FRAME" val="{&quot;height&quot;:342.6498036097108,&quot;left&quot;:207,&quot;top&quot;:160,&quot;width&quot;:632.8}"/>
</p:tagLst>
</file>

<file path=ppt/tags/tag10.xml><?xml version="1.0" encoding="utf-8"?>
<p:tagLst xmlns:p="http://schemas.openxmlformats.org/presentationml/2006/main">
  <p:tag name="ISPRING_PRESENTATION_TITLE" val="bt040.pptx"/>
  <p:tag name="COMMONDATA" val="eyJoZGlkIjoiZWNmMTdiZjYwYTE0N2JiZTY2ZmQwZjRkNjc0ZWQ1ZjMifQ=="/>
</p:tagLst>
</file>

<file path=ppt/theme/theme1.xml><?xml version="1.0" encoding="utf-8"?>
<a:theme xmlns:a="http://schemas.openxmlformats.org/drawingml/2006/main" name="2023国科大融媒体编辑部出品">
  <a:themeElements>
    <a:clrScheme name="自定义 16">
      <a:dk1>
        <a:sysClr val="windowText" lastClr="000000"/>
      </a:dk1>
      <a:lt1>
        <a:sysClr val="window" lastClr="FFFFFF"/>
      </a:lt1>
      <a:dk2>
        <a:srgbClr val="323232"/>
      </a:dk2>
      <a:lt2>
        <a:srgbClr val="E3DED1"/>
      </a:lt2>
      <a:accent1>
        <a:srgbClr val="002060"/>
      </a:accent1>
      <a:accent2>
        <a:srgbClr val="C00000"/>
      </a:accent2>
      <a:accent3>
        <a:srgbClr val="002060"/>
      </a:accent3>
      <a:accent4>
        <a:srgbClr val="C00000"/>
      </a:accent4>
      <a:accent5>
        <a:srgbClr val="002060"/>
      </a:accent5>
      <a:accent6>
        <a:srgbClr val="C00000"/>
      </a:accent6>
      <a:hlink>
        <a:srgbClr val="002060"/>
      </a:hlink>
      <a:folHlink>
        <a:srgbClr val="C00000"/>
      </a:folHlink>
    </a:clrScheme>
    <a:fontScheme name="ltcuzvoa">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4486</Words>
  <Application>WPS 演示</Application>
  <PresentationFormat>自定义</PresentationFormat>
  <Paragraphs>503</Paragraphs>
  <Slides>25</Slides>
  <Notes>8</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25</vt:i4>
      </vt:variant>
    </vt:vector>
  </HeadingPairs>
  <TitlesOfParts>
    <vt:vector size="47" baseType="lpstr">
      <vt:lpstr>Arial</vt:lpstr>
      <vt:lpstr>宋体</vt:lpstr>
      <vt:lpstr>Wingdings</vt:lpstr>
      <vt:lpstr>Calibri</vt:lpstr>
      <vt:lpstr>Helvetica Neue</vt:lpstr>
      <vt:lpstr>汉仪书宋二KW</vt:lpstr>
      <vt:lpstr>微软雅黑</vt:lpstr>
      <vt:lpstr>黑体</vt:lpstr>
      <vt:lpstr>汉仪中黑KW</vt:lpstr>
      <vt:lpstr>Times New Roman</vt:lpstr>
      <vt:lpstr>思源黑体</vt:lpstr>
      <vt:lpstr>等线 Light</vt:lpstr>
      <vt:lpstr>Wingdings</vt:lpstr>
      <vt:lpstr>汉仪旗黑</vt:lpstr>
      <vt:lpstr>宋体</vt:lpstr>
      <vt:lpstr>Arial Unicode MS</vt:lpstr>
      <vt:lpstr>汉仪中等线KW</vt:lpstr>
      <vt:lpstr>微软雅黑</vt:lpstr>
      <vt:lpstr>思源黑体</vt:lpstr>
      <vt:lpstr>等线 Light</vt:lpstr>
      <vt:lpstr>黑体</vt:lpstr>
      <vt:lpstr>2023国科大融媒体编辑部出品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蓝色扁平化</dc:title>
  <dc:creator/>
  <cp:lastModifiedBy>幻象</cp:lastModifiedBy>
  <cp:revision>207</cp:revision>
  <dcterms:created xsi:type="dcterms:W3CDTF">2026-04-26T14:55:14Z</dcterms:created>
  <dcterms:modified xsi:type="dcterms:W3CDTF">2026-04-26T14:55:14Z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6975B37239B1403D95543D2AB2194B3A_12</vt:lpwstr>
  </property>
  <property fmtid="{D5CDD505-2E9C-101B-9397-08002B2CF9AE}" pid="3" name="KSOProductBuildVer">
    <vt:lpwstr>2052-12.1.24031.24031</vt:lpwstr>
  </property>
</Properties>
</file>