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58" r:id="rId4"/>
    <p:sldMasterId id="2147483660" r:id="rId5"/>
    <p:sldMasterId id="2147483664" r:id="rId6"/>
    <p:sldMasterId id="2147483667" r:id="rId7"/>
    <p:sldMasterId id="2147483675" r:id="rId8"/>
  </p:sldMasterIdLst>
  <p:notesMasterIdLst>
    <p:notesMasterId r:id="rId13"/>
  </p:notesMasterIdLst>
  <p:handoutMasterIdLst>
    <p:handoutMasterId r:id="rId33"/>
  </p:handoutMasterIdLst>
  <p:sldIdLst>
    <p:sldId id="266" r:id="rId9"/>
    <p:sldId id="264" r:id="rId10"/>
    <p:sldId id="274" r:id="rId11"/>
    <p:sldId id="16671186" r:id="rId12"/>
    <p:sldId id="16671187" r:id="rId14"/>
    <p:sldId id="16671188" r:id="rId15"/>
    <p:sldId id="16671162" r:id="rId16"/>
    <p:sldId id="275" r:id="rId17"/>
    <p:sldId id="16671185" r:id="rId18"/>
    <p:sldId id="16671183" r:id="rId19"/>
    <p:sldId id="16671184" r:id="rId20"/>
    <p:sldId id="278" r:id="rId21"/>
    <p:sldId id="16671178" r:id="rId22"/>
    <p:sldId id="16671180" r:id="rId23"/>
    <p:sldId id="16671175" r:id="rId24"/>
    <p:sldId id="279" r:id="rId25"/>
    <p:sldId id="258" r:id="rId26"/>
    <p:sldId id="16671181" r:id="rId27"/>
    <p:sldId id="265" r:id="rId28"/>
    <p:sldId id="282" r:id="rId29"/>
    <p:sldId id="16671174" r:id="rId30"/>
    <p:sldId id="16671182" r:id="rId31"/>
    <p:sldId id="263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D5484E9-E73F-4DFE-A9F1-2B0E3533C037}">
          <p14:sldIdLst>
            <p14:sldId id="266"/>
            <p14:sldId id="264"/>
            <p14:sldId id="274"/>
            <p14:sldId id="16671186"/>
            <p14:sldId id="16671187"/>
            <p14:sldId id="16671188"/>
            <p14:sldId id="16671162"/>
            <p14:sldId id="275"/>
            <p14:sldId id="16671185"/>
            <p14:sldId id="16671183"/>
            <p14:sldId id="16671184"/>
            <p14:sldId id="278"/>
            <p14:sldId id="16671178"/>
            <p14:sldId id="16671180"/>
            <p14:sldId id="16671175"/>
            <p14:sldId id="279"/>
            <p14:sldId id="258"/>
            <p14:sldId id="16671181"/>
            <p14:sldId id="265"/>
            <p14:sldId id="282"/>
            <p14:sldId id="16671174"/>
            <p14:sldId id="1667118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95" userDrawn="1">
          <p15:clr>
            <a:srgbClr val="A4A3A4"/>
          </p15:clr>
        </p15:guide>
        <p15:guide id="2" pos="3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F96"/>
    <a:srgbClr val="1D4F98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 autoAdjust="0"/>
    <p:restoredTop sz="91762" autoAdjust="0"/>
  </p:normalViewPr>
  <p:slideViewPr>
    <p:cSldViewPr snapToGrid="0" showGuides="1">
      <p:cViewPr varScale="1">
        <p:scale>
          <a:sx n="90" d="100"/>
          <a:sy n="90" d="100"/>
        </p:scale>
        <p:origin x="144" y="72"/>
      </p:cViewPr>
      <p:guideLst>
        <p:guide orient="horz" pos="2295"/>
        <p:guide pos="38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64"/>
    </p:cViewPr>
  </p:sorterViewPr>
  <p:notesViewPr>
    <p:cSldViewPr snapToGrid="0">
      <p:cViewPr varScale="1">
        <p:scale>
          <a:sx n="80" d="100"/>
          <a:sy n="80" d="100"/>
        </p:scale>
        <p:origin x="2511" y="3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B636D-B018-49AA-89B6-B207312F43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9D8FB-B22E-43A2-8C9A-B4D6D4729A0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625F4-DDF2-45FF-B519-A9B8F019BB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8C5AE-D0E9-4ED8-8C37-A10D91270A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Depression is not just a personal struggle; it's a global crisis. The WHO reports it affects over 280 million people. What's even more concerning is mild depression, a hidden epidemic that often flies under the radar, yet severely impacts lives. The economic and social toll is immense, underscoring the urgent need for better detection methods.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Depression is not just a personal struggle; it's a global crisis. The WHO reports it affects over 280 million people. What's even more concerning is mild depression, a hidden epidemic that often flies under the radar, yet severely impacts lives. The economic and social toll is immense, underscoring the urgent need for better detection methods.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Depression is not just a personal struggle; it's a global crisis. The WHO reports it affects over 280 million people. What's even more concerning is mild depression, a hidden epidemic that often flies under the radar, yet severely impacts lives. The economic and social toll is immense, underscoring the urgent need for better detection methods.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Depression is not just a personal struggle; it's a global crisis. The WHO reports it affects over 280 million people. What's even more concerning is mild depression, a hidden epidemic that often flies under the radar, yet severely impacts lives. The economic and social toll is immense, underscoring the urgent need for better detection methods.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4616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695575"/>
            <a:ext cx="10515600" cy="28971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9858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07511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69976"/>
            <a:ext cx="10515600" cy="79577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6612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72757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867025"/>
            <a:ext cx="3932237" cy="28479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549" y="1994302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3" name="图片 2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4616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695575"/>
            <a:ext cx="10515600" cy="28971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9858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07511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69976"/>
            <a:ext cx="10515600" cy="79577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6612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72757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867025"/>
            <a:ext cx="3932237" cy="28479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4616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695575"/>
            <a:ext cx="10515600" cy="28971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9858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07511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069976"/>
            <a:ext cx="10515600" cy="79577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6612" y="98742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727576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867025"/>
            <a:ext cx="3932237" cy="28479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5226EE0-E127-4A57-8A68-370AE6EA2C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A51E39F-7EA9-4245-8B02-C5D0342D762D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05" y="0"/>
            <a:ext cx="3599695" cy="107899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microsoft.com/office/2007/relationships/hdphoto" Target="../media/image5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microsoft.com/office/2007/relationships/hdphoto" Target="../media/image5.wdp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0" Type="http://schemas.openxmlformats.org/officeDocument/2006/relationships/theme" Target="../theme/theme6.xml"/><Relationship Id="rId1" Type="http://schemas.openxmlformats.org/officeDocument/2006/relationships/slideLayout" Target="../slideLayouts/slideLayout15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.png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0" Type="http://schemas.openxmlformats.org/officeDocument/2006/relationships/theme" Target="../theme/theme7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 descr="D:\51PPT模板网\51pptmoban.com\图片.jpg"/>
          <p:cNvSpPr/>
          <p:nvPr userDrawn="1"/>
        </p:nvSpPr>
        <p:spPr>
          <a:xfrm>
            <a:off x="0" y="6259580"/>
            <a:ext cx="12192000" cy="598419"/>
          </a:xfrm>
          <a:custGeom>
            <a:avLst/>
            <a:gdLst>
              <a:gd name="connsiteX0" fmla="*/ 0 w 12192000"/>
              <a:gd name="connsiteY0" fmla="*/ 0 h 1039132"/>
              <a:gd name="connsiteX1" fmla="*/ 5683251 w 12192000"/>
              <a:gd name="connsiteY1" fmla="*/ 0 h 1039132"/>
              <a:gd name="connsiteX2" fmla="*/ 6086968 w 12192000"/>
              <a:gd name="connsiteY2" fmla="*/ 267602 h 1039132"/>
              <a:gd name="connsiteX3" fmla="*/ 6096000 w 12192000"/>
              <a:gd name="connsiteY3" fmla="*/ 296697 h 1039132"/>
              <a:gd name="connsiteX4" fmla="*/ 6105031 w 12192000"/>
              <a:gd name="connsiteY4" fmla="*/ 267602 h 1039132"/>
              <a:gd name="connsiteX5" fmla="*/ 6508748 w 12192000"/>
              <a:gd name="connsiteY5" fmla="*/ 0 h 1039132"/>
              <a:gd name="connsiteX6" fmla="*/ 12192000 w 12192000"/>
              <a:gd name="connsiteY6" fmla="*/ 0 h 1039132"/>
              <a:gd name="connsiteX7" fmla="*/ 12192000 w 12192000"/>
              <a:gd name="connsiteY7" fmla="*/ 1039132 h 1039132"/>
              <a:gd name="connsiteX8" fmla="*/ 0 w 12192000"/>
              <a:gd name="connsiteY8" fmla="*/ 1039132 h 103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1039132">
                <a:moveTo>
                  <a:pt x="0" y="0"/>
                </a:moveTo>
                <a:lnTo>
                  <a:pt x="5683251" y="0"/>
                </a:lnTo>
                <a:cubicBezTo>
                  <a:pt x="5864738" y="0"/>
                  <a:pt x="6020454" y="110344"/>
                  <a:pt x="6086968" y="267602"/>
                </a:cubicBezTo>
                <a:lnTo>
                  <a:pt x="6096000" y="296697"/>
                </a:lnTo>
                <a:lnTo>
                  <a:pt x="6105031" y="267602"/>
                </a:lnTo>
                <a:cubicBezTo>
                  <a:pt x="6171546" y="110344"/>
                  <a:pt x="6327261" y="0"/>
                  <a:pt x="6508748" y="0"/>
                </a:cubicBezTo>
                <a:lnTo>
                  <a:pt x="12192000" y="0"/>
                </a:lnTo>
                <a:lnTo>
                  <a:pt x="12192000" y="1039132"/>
                </a:lnTo>
                <a:lnTo>
                  <a:pt x="0" y="1039132"/>
                </a:lnTo>
                <a:close/>
              </a:path>
            </a:pathLst>
          </a:custGeom>
          <a:solidFill>
            <a:srgbClr val="1E4F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0" y="6193741"/>
            <a:ext cx="12192000" cy="697614"/>
          </a:xfrm>
          <a:custGeom>
            <a:avLst/>
            <a:gdLst>
              <a:gd name="connsiteX0" fmla="*/ 0 w 12827000"/>
              <a:gd name="connsiteY0" fmla="*/ 0 h 1186456"/>
              <a:gd name="connsiteX1" fmla="*/ 6105291 w 12827000"/>
              <a:gd name="connsiteY1" fmla="*/ 0 h 1186456"/>
              <a:gd name="connsiteX2" fmla="*/ 6393611 w 12827000"/>
              <a:gd name="connsiteY2" fmla="*/ 153299 h 1186456"/>
              <a:gd name="connsiteX3" fmla="*/ 6413499 w 12827000"/>
              <a:gd name="connsiteY3" fmla="*/ 189944 h 1186456"/>
              <a:gd name="connsiteX4" fmla="*/ 6433391 w 12827000"/>
              <a:gd name="connsiteY4" fmla="*/ 153299 h 1186456"/>
              <a:gd name="connsiteX5" fmla="*/ 6721711 w 12827000"/>
              <a:gd name="connsiteY5" fmla="*/ 0 h 1186456"/>
              <a:gd name="connsiteX6" fmla="*/ 12827000 w 12827000"/>
              <a:gd name="connsiteY6" fmla="*/ 0 h 1186456"/>
              <a:gd name="connsiteX7" fmla="*/ 12827000 w 12827000"/>
              <a:gd name="connsiteY7" fmla="*/ 1186456 h 1186456"/>
              <a:gd name="connsiteX8" fmla="*/ 0 w 12827000"/>
              <a:gd name="connsiteY8" fmla="*/ 1186456 h 118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27000" h="1186456">
                <a:moveTo>
                  <a:pt x="0" y="0"/>
                </a:moveTo>
                <a:lnTo>
                  <a:pt x="6105291" y="0"/>
                </a:lnTo>
                <a:cubicBezTo>
                  <a:pt x="6225310" y="0"/>
                  <a:pt x="6331125" y="60810"/>
                  <a:pt x="6393611" y="153299"/>
                </a:cubicBezTo>
                <a:lnTo>
                  <a:pt x="6413499" y="189944"/>
                </a:lnTo>
                <a:lnTo>
                  <a:pt x="6433391" y="153299"/>
                </a:lnTo>
                <a:cubicBezTo>
                  <a:pt x="6495875" y="60810"/>
                  <a:pt x="6601692" y="0"/>
                  <a:pt x="6721711" y="0"/>
                </a:cubicBezTo>
                <a:lnTo>
                  <a:pt x="12827000" y="0"/>
                </a:lnTo>
                <a:lnTo>
                  <a:pt x="12827000" y="1186456"/>
                </a:lnTo>
                <a:lnTo>
                  <a:pt x="0" y="1186456"/>
                </a:lnTo>
                <a:close/>
              </a:path>
            </a:pathLst>
          </a:custGeom>
          <a:noFill/>
          <a:ln>
            <a:solidFill>
              <a:srgbClr val="1E4F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259580"/>
            <a:ext cx="7001933" cy="46857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932" y="6411392"/>
            <a:ext cx="5190067" cy="32522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3" descr="IMG_4591 (2).jpg"/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ement/>
                    </a14:imgEffect>
                  </a14:imgLayer>
                </a14:imgProps>
              </a:ext>
            </a:extLst>
          </a:blip>
          <a:srcRect t="2" r="10309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3" descr="IMG_4591 (2).jpg"/>
          <p:cNvPicPr>
            <a:picLocks noChangeAspect="1"/>
          </p:cNvPicPr>
          <p:nvPr userDrawn="1"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ement/>
                    </a14:imgEffect>
                  </a14:imgLayer>
                </a14:imgProps>
              </a:ext>
            </a:extLst>
          </a:blip>
          <a:srcRect t="2" r="10309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0" y="-20955"/>
            <a:ext cx="3870960" cy="6898005"/>
          </a:xfrm>
          <a:custGeom>
            <a:avLst/>
            <a:gdLst>
              <a:gd name="connsiteX0" fmla="*/ 0 w 5101701"/>
              <a:gd name="connsiteY0" fmla="*/ 0 h 6878896"/>
              <a:gd name="connsiteX1" fmla="*/ 3099572 w 5101701"/>
              <a:gd name="connsiteY1" fmla="*/ 0 h 6878896"/>
              <a:gd name="connsiteX2" fmla="*/ 3205616 w 5101701"/>
              <a:gd name="connsiteY2" fmla="*/ 60974 h 6878896"/>
              <a:gd name="connsiteX3" fmla="*/ 5101701 w 5101701"/>
              <a:gd name="connsiteY3" fmla="*/ 3429000 h 6878896"/>
              <a:gd name="connsiteX4" fmla="*/ 3205616 w 5101701"/>
              <a:gd name="connsiteY4" fmla="*/ 6797026 h 6878896"/>
              <a:gd name="connsiteX5" fmla="*/ 3063231 w 5101701"/>
              <a:gd name="connsiteY5" fmla="*/ 6878896 h 6878896"/>
              <a:gd name="connsiteX6" fmla="*/ 0 w 5101701"/>
              <a:gd name="connsiteY6" fmla="*/ 6878896 h 6878896"/>
              <a:gd name="connsiteX7" fmla="*/ 0 w 5101701"/>
              <a:gd name="connsiteY7" fmla="*/ 0 h 6878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01701" h="6878896">
                <a:moveTo>
                  <a:pt x="0" y="0"/>
                </a:moveTo>
                <a:lnTo>
                  <a:pt x="3099572" y="0"/>
                </a:lnTo>
                <a:lnTo>
                  <a:pt x="3205616" y="60974"/>
                </a:lnTo>
                <a:cubicBezTo>
                  <a:pt x="4342364" y="751678"/>
                  <a:pt x="5101701" y="2001663"/>
                  <a:pt x="5101701" y="3429000"/>
                </a:cubicBezTo>
                <a:cubicBezTo>
                  <a:pt x="5101701" y="4856337"/>
                  <a:pt x="4342364" y="6106321"/>
                  <a:pt x="3205616" y="6797026"/>
                </a:cubicBezTo>
                <a:lnTo>
                  <a:pt x="3063231" y="6878896"/>
                </a:lnTo>
                <a:lnTo>
                  <a:pt x="0" y="6878896"/>
                </a:lnTo>
                <a:lnTo>
                  <a:pt x="0" y="0"/>
                </a:lnTo>
                <a:close/>
              </a:path>
            </a:pathLst>
          </a:custGeom>
          <a:solidFill>
            <a:srgbClr val="1D4F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10422255" y="0"/>
            <a:ext cx="1769745" cy="1729105"/>
          </a:xfrm>
          <a:custGeom>
            <a:avLst/>
            <a:gdLst>
              <a:gd name="connsiteX0" fmla="*/ 69718 w 2359238"/>
              <a:gd name="connsiteY0" fmla="*/ 0 h 2239647"/>
              <a:gd name="connsiteX1" fmla="*/ 919065 w 2359238"/>
              <a:gd name="connsiteY1" fmla="*/ 0 h 2239647"/>
              <a:gd name="connsiteX2" fmla="*/ 903714 w 2359238"/>
              <a:gd name="connsiteY2" fmla="*/ 25268 h 2239647"/>
              <a:gd name="connsiteX3" fmla="*/ 787052 w 2359238"/>
              <a:gd name="connsiteY3" fmla="*/ 486003 h 2239647"/>
              <a:gd name="connsiteX4" fmla="*/ 1753644 w 2359238"/>
              <a:gd name="connsiteY4" fmla="*/ 1452595 h 2239647"/>
              <a:gd name="connsiteX5" fmla="*/ 2294075 w 2359238"/>
              <a:gd name="connsiteY5" fmla="*/ 1287516 h 2239647"/>
              <a:gd name="connsiteX6" fmla="*/ 2359238 w 2359238"/>
              <a:gd name="connsiteY6" fmla="*/ 1233752 h 2239647"/>
              <a:gd name="connsiteX7" fmla="*/ 2359238 w 2359238"/>
              <a:gd name="connsiteY7" fmla="*/ 2130021 h 2239647"/>
              <a:gd name="connsiteX8" fmla="*/ 2275124 w 2359238"/>
              <a:gd name="connsiteY8" fmla="*/ 2160807 h 2239647"/>
              <a:gd name="connsiteX9" fmla="*/ 1753644 w 2359238"/>
              <a:gd name="connsiteY9" fmla="*/ 2239647 h 2239647"/>
              <a:gd name="connsiteX10" fmla="*/ 0 w 2359238"/>
              <a:gd name="connsiteY10" fmla="*/ 486003 h 2239647"/>
              <a:gd name="connsiteX11" fmla="*/ 35628 w 2359238"/>
              <a:gd name="connsiteY11" fmla="*/ 132583 h 2239647"/>
              <a:gd name="connsiteX12" fmla="*/ 69718 w 2359238"/>
              <a:gd name="connsiteY12" fmla="*/ 0 h 2239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59238" h="2239647">
                <a:moveTo>
                  <a:pt x="69718" y="0"/>
                </a:moveTo>
                <a:lnTo>
                  <a:pt x="919065" y="0"/>
                </a:lnTo>
                <a:lnTo>
                  <a:pt x="903714" y="25268"/>
                </a:lnTo>
                <a:cubicBezTo>
                  <a:pt x="829314" y="162227"/>
                  <a:pt x="787052" y="319180"/>
                  <a:pt x="787052" y="486003"/>
                </a:cubicBezTo>
                <a:cubicBezTo>
                  <a:pt x="787052" y="1019837"/>
                  <a:pt x="1219810" y="1452595"/>
                  <a:pt x="1753644" y="1452595"/>
                </a:cubicBezTo>
                <a:cubicBezTo>
                  <a:pt x="1953832" y="1452595"/>
                  <a:pt x="2139806" y="1391738"/>
                  <a:pt x="2294075" y="1287516"/>
                </a:cubicBezTo>
                <a:lnTo>
                  <a:pt x="2359238" y="1233752"/>
                </a:lnTo>
                <a:lnTo>
                  <a:pt x="2359238" y="2130021"/>
                </a:lnTo>
                <a:lnTo>
                  <a:pt x="2275124" y="2160807"/>
                </a:lnTo>
                <a:cubicBezTo>
                  <a:pt x="2110389" y="2212045"/>
                  <a:pt x="1935240" y="2239647"/>
                  <a:pt x="1753644" y="2239647"/>
                </a:cubicBezTo>
                <a:cubicBezTo>
                  <a:pt x="785133" y="2239647"/>
                  <a:pt x="0" y="1454514"/>
                  <a:pt x="0" y="486003"/>
                </a:cubicBezTo>
                <a:cubicBezTo>
                  <a:pt x="0" y="364939"/>
                  <a:pt x="12268" y="246741"/>
                  <a:pt x="35628" y="132583"/>
                </a:cubicBezTo>
                <a:lnTo>
                  <a:pt x="69718" y="0"/>
                </a:lnTo>
                <a:close/>
              </a:path>
            </a:pathLst>
          </a:custGeom>
          <a:solidFill>
            <a:srgbClr val="1E4F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1" name="内容占位符 3" descr="IMG_4591 (2).jpg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Cement/>
                    </a14:imgEffect>
                  </a14:imgLayer>
                </a14:imgProps>
              </a:ext>
            </a:extLst>
          </a:blip>
          <a:srcRect l="13703" t="27905" r="49486" b="7282"/>
          <a:stretch>
            <a:fillRect/>
          </a:stretch>
        </p:blipFill>
        <p:spPr>
          <a:xfrm>
            <a:off x="939800" y="1070080"/>
            <a:ext cx="5003800" cy="4445000"/>
          </a:xfrm>
          <a:prstGeom prst="snip2DiagRect">
            <a:avLst>
              <a:gd name="adj1" fmla="val 0"/>
              <a:gd name="adj2" fmla="val 30953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 descr="D:\51PPT模板网\51pptmoban.com\图片.jpg"/>
          <p:cNvSpPr/>
          <p:nvPr userDrawn="1"/>
        </p:nvSpPr>
        <p:spPr>
          <a:xfrm>
            <a:off x="0" y="6259580"/>
            <a:ext cx="12192000" cy="598419"/>
          </a:xfrm>
          <a:custGeom>
            <a:avLst/>
            <a:gdLst>
              <a:gd name="connsiteX0" fmla="*/ 0 w 12192000"/>
              <a:gd name="connsiteY0" fmla="*/ 0 h 1039132"/>
              <a:gd name="connsiteX1" fmla="*/ 5683251 w 12192000"/>
              <a:gd name="connsiteY1" fmla="*/ 0 h 1039132"/>
              <a:gd name="connsiteX2" fmla="*/ 6086968 w 12192000"/>
              <a:gd name="connsiteY2" fmla="*/ 267602 h 1039132"/>
              <a:gd name="connsiteX3" fmla="*/ 6096000 w 12192000"/>
              <a:gd name="connsiteY3" fmla="*/ 296697 h 1039132"/>
              <a:gd name="connsiteX4" fmla="*/ 6105031 w 12192000"/>
              <a:gd name="connsiteY4" fmla="*/ 267602 h 1039132"/>
              <a:gd name="connsiteX5" fmla="*/ 6508748 w 12192000"/>
              <a:gd name="connsiteY5" fmla="*/ 0 h 1039132"/>
              <a:gd name="connsiteX6" fmla="*/ 12192000 w 12192000"/>
              <a:gd name="connsiteY6" fmla="*/ 0 h 1039132"/>
              <a:gd name="connsiteX7" fmla="*/ 12192000 w 12192000"/>
              <a:gd name="connsiteY7" fmla="*/ 1039132 h 1039132"/>
              <a:gd name="connsiteX8" fmla="*/ 0 w 12192000"/>
              <a:gd name="connsiteY8" fmla="*/ 1039132 h 103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1039132">
                <a:moveTo>
                  <a:pt x="0" y="0"/>
                </a:moveTo>
                <a:lnTo>
                  <a:pt x="5683251" y="0"/>
                </a:lnTo>
                <a:cubicBezTo>
                  <a:pt x="5864738" y="0"/>
                  <a:pt x="6020454" y="110344"/>
                  <a:pt x="6086968" y="267602"/>
                </a:cubicBezTo>
                <a:lnTo>
                  <a:pt x="6096000" y="296697"/>
                </a:lnTo>
                <a:lnTo>
                  <a:pt x="6105031" y="267602"/>
                </a:lnTo>
                <a:cubicBezTo>
                  <a:pt x="6171546" y="110344"/>
                  <a:pt x="6327261" y="0"/>
                  <a:pt x="6508748" y="0"/>
                </a:cubicBezTo>
                <a:lnTo>
                  <a:pt x="12192000" y="0"/>
                </a:lnTo>
                <a:lnTo>
                  <a:pt x="12192000" y="1039132"/>
                </a:lnTo>
                <a:lnTo>
                  <a:pt x="0" y="1039132"/>
                </a:lnTo>
                <a:close/>
              </a:path>
            </a:pathLst>
          </a:custGeom>
          <a:solidFill>
            <a:srgbClr val="1E4F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0" y="6193741"/>
            <a:ext cx="12192000" cy="697614"/>
          </a:xfrm>
          <a:custGeom>
            <a:avLst/>
            <a:gdLst>
              <a:gd name="connsiteX0" fmla="*/ 0 w 12827000"/>
              <a:gd name="connsiteY0" fmla="*/ 0 h 1186456"/>
              <a:gd name="connsiteX1" fmla="*/ 6105291 w 12827000"/>
              <a:gd name="connsiteY1" fmla="*/ 0 h 1186456"/>
              <a:gd name="connsiteX2" fmla="*/ 6393611 w 12827000"/>
              <a:gd name="connsiteY2" fmla="*/ 153299 h 1186456"/>
              <a:gd name="connsiteX3" fmla="*/ 6413499 w 12827000"/>
              <a:gd name="connsiteY3" fmla="*/ 189944 h 1186456"/>
              <a:gd name="connsiteX4" fmla="*/ 6433391 w 12827000"/>
              <a:gd name="connsiteY4" fmla="*/ 153299 h 1186456"/>
              <a:gd name="connsiteX5" fmla="*/ 6721711 w 12827000"/>
              <a:gd name="connsiteY5" fmla="*/ 0 h 1186456"/>
              <a:gd name="connsiteX6" fmla="*/ 12827000 w 12827000"/>
              <a:gd name="connsiteY6" fmla="*/ 0 h 1186456"/>
              <a:gd name="connsiteX7" fmla="*/ 12827000 w 12827000"/>
              <a:gd name="connsiteY7" fmla="*/ 1186456 h 1186456"/>
              <a:gd name="connsiteX8" fmla="*/ 0 w 12827000"/>
              <a:gd name="connsiteY8" fmla="*/ 1186456 h 118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27000" h="1186456">
                <a:moveTo>
                  <a:pt x="0" y="0"/>
                </a:moveTo>
                <a:lnTo>
                  <a:pt x="6105291" y="0"/>
                </a:lnTo>
                <a:cubicBezTo>
                  <a:pt x="6225310" y="0"/>
                  <a:pt x="6331125" y="60810"/>
                  <a:pt x="6393611" y="153299"/>
                </a:cubicBezTo>
                <a:lnTo>
                  <a:pt x="6413499" y="189944"/>
                </a:lnTo>
                <a:lnTo>
                  <a:pt x="6433391" y="153299"/>
                </a:lnTo>
                <a:cubicBezTo>
                  <a:pt x="6495875" y="60810"/>
                  <a:pt x="6601692" y="0"/>
                  <a:pt x="6721711" y="0"/>
                </a:cubicBezTo>
                <a:lnTo>
                  <a:pt x="12827000" y="0"/>
                </a:lnTo>
                <a:lnTo>
                  <a:pt x="12827000" y="1186456"/>
                </a:lnTo>
                <a:lnTo>
                  <a:pt x="0" y="1186456"/>
                </a:lnTo>
                <a:close/>
              </a:path>
            </a:pathLst>
          </a:custGeom>
          <a:noFill/>
          <a:ln>
            <a:solidFill>
              <a:srgbClr val="1E4F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259580"/>
            <a:ext cx="7001933" cy="46857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932" y="6411392"/>
            <a:ext cx="5190067" cy="32522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 descr="D:\51PPT模板网\51pptmoban.com\图片.jpg"/>
          <p:cNvSpPr/>
          <p:nvPr userDrawn="1"/>
        </p:nvSpPr>
        <p:spPr>
          <a:xfrm>
            <a:off x="0" y="6259580"/>
            <a:ext cx="12192000" cy="598419"/>
          </a:xfrm>
          <a:custGeom>
            <a:avLst/>
            <a:gdLst>
              <a:gd name="connsiteX0" fmla="*/ 0 w 12192000"/>
              <a:gd name="connsiteY0" fmla="*/ 0 h 1039132"/>
              <a:gd name="connsiteX1" fmla="*/ 5683251 w 12192000"/>
              <a:gd name="connsiteY1" fmla="*/ 0 h 1039132"/>
              <a:gd name="connsiteX2" fmla="*/ 6086968 w 12192000"/>
              <a:gd name="connsiteY2" fmla="*/ 267602 h 1039132"/>
              <a:gd name="connsiteX3" fmla="*/ 6096000 w 12192000"/>
              <a:gd name="connsiteY3" fmla="*/ 296697 h 1039132"/>
              <a:gd name="connsiteX4" fmla="*/ 6105031 w 12192000"/>
              <a:gd name="connsiteY4" fmla="*/ 267602 h 1039132"/>
              <a:gd name="connsiteX5" fmla="*/ 6508748 w 12192000"/>
              <a:gd name="connsiteY5" fmla="*/ 0 h 1039132"/>
              <a:gd name="connsiteX6" fmla="*/ 12192000 w 12192000"/>
              <a:gd name="connsiteY6" fmla="*/ 0 h 1039132"/>
              <a:gd name="connsiteX7" fmla="*/ 12192000 w 12192000"/>
              <a:gd name="connsiteY7" fmla="*/ 1039132 h 1039132"/>
              <a:gd name="connsiteX8" fmla="*/ 0 w 12192000"/>
              <a:gd name="connsiteY8" fmla="*/ 1039132 h 103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1039132">
                <a:moveTo>
                  <a:pt x="0" y="0"/>
                </a:moveTo>
                <a:lnTo>
                  <a:pt x="5683251" y="0"/>
                </a:lnTo>
                <a:cubicBezTo>
                  <a:pt x="5864738" y="0"/>
                  <a:pt x="6020454" y="110344"/>
                  <a:pt x="6086968" y="267602"/>
                </a:cubicBezTo>
                <a:lnTo>
                  <a:pt x="6096000" y="296697"/>
                </a:lnTo>
                <a:lnTo>
                  <a:pt x="6105031" y="267602"/>
                </a:lnTo>
                <a:cubicBezTo>
                  <a:pt x="6171546" y="110344"/>
                  <a:pt x="6327261" y="0"/>
                  <a:pt x="6508748" y="0"/>
                </a:cubicBezTo>
                <a:lnTo>
                  <a:pt x="12192000" y="0"/>
                </a:lnTo>
                <a:lnTo>
                  <a:pt x="12192000" y="1039132"/>
                </a:lnTo>
                <a:lnTo>
                  <a:pt x="0" y="1039132"/>
                </a:lnTo>
                <a:close/>
              </a:path>
            </a:pathLst>
          </a:custGeom>
          <a:solidFill>
            <a:srgbClr val="1E4F9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0" y="6193741"/>
            <a:ext cx="12192000" cy="697614"/>
          </a:xfrm>
          <a:custGeom>
            <a:avLst/>
            <a:gdLst>
              <a:gd name="connsiteX0" fmla="*/ 0 w 12827000"/>
              <a:gd name="connsiteY0" fmla="*/ 0 h 1186456"/>
              <a:gd name="connsiteX1" fmla="*/ 6105291 w 12827000"/>
              <a:gd name="connsiteY1" fmla="*/ 0 h 1186456"/>
              <a:gd name="connsiteX2" fmla="*/ 6393611 w 12827000"/>
              <a:gd name="connsiteY2" fmla="*/ 153299 h 1186456"/>
              <a:gd name="connsiteX3" fmla="*/ 6413499 w 12827000"/>
              <a:gd name="connsiteY3" fmla="*/ 189944 h 1186456"/>
              <a:gd name="connsiteX4" fmla="*/ 6433391 w 12827000"/>
              <a:gd name="connsiteY4" fmla="*/ 153299 h 1186456"/>
              <a:gd name="connsiteX5" fmla="*/ 6721711 w 12827000"/>
              <a:gd name="connsiteY5" fmla="*/ 0 h 1186456"/>
              <a:gd name="connsiteX6" fmla="*/ 12827000 w 12827000"/>
              <a:gd name="connsiteY6" fmla="*/ 0 h 1186456"/>
              <a:gd name="connsiteX7" fmla="*/ 12827000 w 12827000"/>
              <a:gd name="connsiteY7" fmla="*/ 1186456 h 1186456"/>
              <a:gd name="connsiteX8" fmla="*/ 0 w 12827000"/>
              <a:gd name="connsiteY8" fmla="*/ 1186456 h 118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827000" h="1186456">
                <a:moveTo>
                  <a:pt x="0" y="0"/>
                </a:moveTo>
                <a:lnTo>
                  <a:pt x="6105291" y="0"/>
                </a:lnTo>
                <a:cubicBezTo>
                  <a:pt x="6225310" y="0"/>
                  <a:pt x="6331125" y="60810"/>
                  <a:pt x="6393611" y="153299"/>
                </a:cubicBezTo>
                <a:lnTo>
                  <a:pt x="6413499" y="189944"/>
                </a:lnTo>
                <a:lnTo>
                  <a:pt x="6433391" y="153299"/>
                </a:lnTo>
                <a:cubicBezTo>
                  <a:pt x="6495875" y="60810"/>
                  <a:pt x="6601692" y="0"/>
                  <a:pt x="6721711" y="0"/>
                </a:cubicBezTo>
                <a:lnTo>
                  <a:pt x="12827000" y="0"/>
                </a:lnTo>
                <a:lnTo>
                  <a:pt x="12827000" y="1186456"/>
                </a:lnTo>
                <a:lnTo>
                  <a:pt x="0" y="1186456"/>
                </a:lnTo>
                <a:close/>
              </a:path>
            </a:pathLst>
          </a:custGeom>
          <a:noFill/>
          <a:ln>
            <a:solidFill>
              <a:srgbClr val="1E4F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259580"/>
            <a:ext cx="7001933" cy="46857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932" y="6411392"/>
            <a:ext cx="5190067" cy="32522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slideLayout" Target="../slideLayouts/slideLayout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4" Type="http://schemas.openxmlformats.org/officeDocument/2006/relationships/notesSlide" Target="../notesSlides/notesSlide3.xml"/><Relationship Id="rId23" Type="http://schemas.openxmlformats.org/officeDocument/2006/relationships/slideLayout" Target="../slideLayouts/slideLayout15.xml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image" Target="../media/image15.svg"/><Relationship Id="rId2" Type="http://schemas.openxmlformats.org/officeDocument/2006/relationships/tags" Target="../tags/tag24.xml"/><Relationship Id="rId19" Type="http://schemas.openxmlformats.org/officeDocument/2006/relationships/image" Target="../media/image14.png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1" Type="http://schemas.openxmlformats.org/officeDocument/2006/relationships/tags" Target="../tags/tag3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40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image" Target="../media/image22.png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4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40194" y="-620032"/>
            <a:ext cx="11705122" cy="8098064"/>
            <a:chOff x="602149" y="-401864"/>
            <a:chExt cx="11354770" cy="7661726"/>
          </a:xfrm>
        </p:grpSpPr>
        <p:sp>
          <p:nvSpPr>
            <p:cNvPr id="9" name="矩形 8" descr="D:\51PPT模板网\51pptmoban.com\图片.jpg"/>
            <p:cNvSpPr/>
            <p:nvPr/>
          </p:nvSpPr>
          <p:spPr>
            <a:xfrm rot="2700000">
              <a:off x="2451819" y="-401864"/>
              <a:ext cx="7661726" cy="7661726"/>
            </a:xfrm>
            <a:prstGeom prst="rect">
              <a:avLst/>
            </a:prstGeom>
            <a:noFill/>
            <a:ln w="25400"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602149" y="2705724"/>
              <a:ext cx="11354770" cy="1461570"/>
              <a:chOff x="618247" y="2705724"/>
              <a:chExt cx="11354770" cy="1461570"/>
            </a:xfrm>
          </p:grpSpPr>
          <p:sp>
            <p:nvSpPr>
              <p:cNvPr id="11" name="任意多边形: 形状 10" descr="D:\51PPT模板网\51pptmoban.com\图片.jpg"/>
              <p:cNvSpPr/>
              <p:nvPr/>
            </p:nvSpPr>
            <p:spPr>
              <a:xfrm>
                <a:off x="10997663" y="2720744"/>
                <a:ext cx="975354" cy="1446550"/>
              </a:xfrm>
              <a:custGeom>
                <a:avLst/>
                <a:gdLst>
                  <a:gd name="connsiteX0" fmla="*/ 0 w 975354"/>
                  <a:gd name="connsiteY0" fmla="*/ 0 h 1446550"/>
                  <a:gd name="connsiteX1" fmla="*/ 252079 w 975354"/>
                  <a:gd name="connsiteY1" fmla="*/ 0 h 1446550"/>
                  <a:gd name="connsiteX2" fmla="*/ 975354 w 975354"/>
                  <a:gd name="connsiteY2" fmla="*/ 723275 h 1446550"/>
                  <a:gd name="connsiteX3" fmla="*/ 252079 w 975354"/>
                  <a:gd name="connsiteY3" fmla="*/ 1446550 h 1446550"/>
                  <a:gd name="connsiteX4" fmla="*/ 0 w 975354"/>
                  <a:gd name="connsiteY4" fmla="*/ 1446550 h 1446550"/>
                  <a:gd name="connsiteX5" fmla="*/ 723275 w 975354"/>
                  <a:gd name="connsiteY5" fmla="*/ 723275 h 144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5354" h="1446550">
                    <a:moveTo>
                      <a:pt x="0" y="0"/>
                    </a:moveTo>
                    <a:lnTo>
                      <a:pt x="252079" y="0"/>
                    </a:lnTo>
                    <a:lnTo>
                      <a:pt x="975354" y="723275"/>
                    </a:lnTo>
                    <a:lnTo>
                      <a:pt x="252079" y="1446550"/>
                    </a:lnTo>
                    <a:lnTo>
                      <a:pt x="0" y="1446550"/>
                    </a:lnTo>
                    <a:lnTo>
                      <a:pt x="723275" y="723275"/>
                    </a:lnTo>
                    <a:close/>
                  </a:path>
                </a:pathLst>
              </a:custGeom>
              <a:solidFill>
                <a:srgbClr val="1E4F96"/>
              </a:solidFill>
              <a:ln>
                <a:solidFill>
                  <a:srgbClr val="1E4F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任意多边形: 形状 11"/>
              <p:cNvSpPr/>
              <p:nvPr/>
            </p:nvSpPr>
            <p:spPr>
              <a:xfrm flipH="1">
                <a:off x="618247" y="2705724"/>
                <a:ext cx="975354" cy="1446550"/>
              </a:xfrm>
              <a:custGeom>
                <a:avLst/>
                <a:gdLst>
                  <a:gd name="connsiteX0" fmla="*/ 0 w 975354"/>
                  <a:gd name="connsiteY0" fmla="*/ 0 h 1446550"/>
                  <a:gd name="connsiteX1" fmla="*/ 252079 w 975354"/>
                  <a:gd name="connsiteY1" fmla="*/ 0 h 1446550"/>
                  <a:gd name="connsiteX2" fmla="*/ 975354 w 975354"/>
                  <a:gd name="connsiteY2" fmla="*/ 723275 h 1446550"/>
                  <a:gd name="connsiteX3" fmla="*/ 252079 w 975354"/>
                  <a:gd name="connsiteY3" fmla="*/ 1446550 h 1446550"/>
                  <a:gd name="connsiteX4" fmla="*/ 0 w 975354"/>
                  <a:gd name="connsiteY4" fmla="*/ 1446550 h 1446550"/>
                  <a:gd name="connsiteX5" fmla="*/ 723275 w 975354"/>
                  <a:gd name="connsiteY5" fmla="*/ 723275 h 144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75354" h="1446550">
                    <a:moveTo>
                      <a:pt x="0" y="0"/>
                    </a:moveTo>
                    <a:lnTo>
                      <a:pt x="252079" y="0"/>
                    </a:lnTo>
                    <a:lnTo>
                      <a:pt x="975354" y="723275"/>
                    </a:lnTo>
                    <a:lnTo>
                      <a:pt x="252079" y="1446550"/>
                    </a:lnTo>
                    <a:lnTo>
                      <a:pt x="0" y="1446550"/>
                    </a:lnTo>
                    <a:lnTo>
                      <a:pt x="723275" y="723275"/>
                    </a:lnTo>
                    <a:close/>
                  </a:path>
                </a:pathLst>
              </a:custGeom>
              <a:solidFill>
                <a:srgbClr val="1E4F96"/>
              </a:solidFill>
              <a:ln>
                <a:solidFill>
                  <a:srgbClr val="1E4F9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" name="任意多边形: 形状 12"/>
          <p:cNvSpPr/>
          <p:nvPr/>
        </p:nvSpPr>
        <p:spPr>
          <a:xfrm rot="16200000" flipH="1">
            <a:off x="10342143" y="5540580"/>
            <a:ext cx="2053814" cy="581027"/>
          </a:xfrm>
          <a:custGeom>
            <a:avLst/>
            <a:gdLst>
              <a:gd name="connsiteX0" fmla="*/ 0 w 2053814"/>
              <a:gd name="connsiteY0" fmla="*/ 581027 h 581027"/>
              <a:gd name="connsiteX1" fmla="*/ 2053814 w 2053814"/>
              <a:gd name="connsiteY1" fmla="*/ 581026 h 581027"/>
              <a:gd name="connsiteX2" fmla="*/ 2053814 w 2053814"/>
              <a:gd name="connsiteY2" fmla="*/ 0 h 581027"/>
              <a:gd name="connsiteX3" fmla="*/ 615381 w 2053814"/>
              <a:gd name="connsiteY3" fmla="*/ 0 h 581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3814" h="581027">
                <a:moveTo>
                  <a:pt x="0" y="581027"/>
                </a:moveTo>
                <a:lnTo>
                  <a:pt x="2053814" y="581026"/>
                </a:lnTo>
                <a:lnTo>
                  <a:pt x="2053814" y="0"/>
                </a:lnTo>
                <a:lnTo>
                  <a:pt x="615381" y="0"/>
                </a:lnTo>
                <a:close/>
              </a:path>
            </a:pathLst>
          </a:custGeom>
          <a:noFill/>
          <a:ln>
            <a:solidFill>
              <a:srgbClr val="1E4F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 descr="D:\51PPT模板网\51pptmoban.com\图片.jpg"/>
          <p:cNvSpPr/>
          <p:nvPr/>
        </p:nvSpPr>
        <p:spPr>
          <a:xfrm rot="16200000" flipH="1">
            <a:off x="9940879" y="5916637"/>
            <a:ext cx="1301700" cy="581027"/>
          </a:xfrm>
          <a:custGeom>
            <a:avLst/>
            <a:gdLst>
              <a:gd name="connsiteX0" fmla="*/ 0 w 1301700"/>
              <a:gd name="connsiteY0" fmla="*/ 581027 h 581027"/>
              <a:gd name="connsiteX1" fmla="*/ 1301700 w 1301700"/>
              <a:gd name="connsiteY1" fmla="*/ 581027 h 581027"/>
              <a:gd name="connsiteX2" fmla="*/ 1301700 w 1301700"/>
              <a:gd name="connsiteY2" fmla="*/ 0 h 581027"/>
              <a:gd name="connsiteX3" fmla="*/ 615381 w 1301700"/>
              <a:gd name="connsiteY3" fmla="*/ 0 h 581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1700" h="581027">
                <a:moveTo>
                  <a:pt x="0" y="581027"/>
                </a:moveTo>
                <a:lnTo>
                  <a:pt x="1301700" y="581027"/>
                </a:lnTo>
                <a:lnTo>
                  <a:pt x="1301700" y="0"/>
                </a:lnTo>
                <a:lnTo>
                  <a:pt x="615381" y="0"/>
                </a:lnTo>
                <a:close/>
              </a:path>
            </a:pathLst>
          </a:custGeom>
          <a:solidFill>
            <a:srgbClr val="1E4F96"/>
          </a:solidFill>
          <a:ln>
            <a:solidFill>
              <a:srgbClr val="1E4F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 rot="16200000" flipH="1">
            <a:off x="1003934" y="360336"/>
            <a:ext cx="1301696" cy="581025"/>
          </a:xfrm>
          <a:custGeom>
            <a:avLst/>
            <a:gdLst>
              <a:gd name="connsiteX0" fmla="*/ 0 w 1301696"/>
              <a:gd name="connsiteY0" fmla="*/ 0 h 581025"/>
              <a:gd name="connsiteX1" fmla="*/ 0 w 1301696"/>
              <a:gd name="connsiteY1" fmla="*/ 581025 h 581025"/>
              <a:gd name="connsiteX2" fmla="*/ 686315 w 1301696"/>
              <a:gd name="connsiteY2" fmla="*/ 581025 h 581025"/>
              <a:gd name="connsiteX3" fmla="*/ 1301696 w 1301696"/>
              <a:gd name="connsiteY3" fmla="*/ 0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1696" h="581025">
                <a:moveTo>
                  <a:pt x="0" y="0"/>
                </a:moveTo>
                <a:lnTo>
                  <a:pt x="0" y="581025"/>
                </a:lnTo>
                <a:lnTo>
                  <a:pt x="686315" y="581025"/>
                </a:lnTo>
                <a:lnTo>
                  <a:pt x="1301696" y="0"/>
                </a:lnTo>
                <a:close/>
              </a:path>
            </a:pathLst>
          </a:custGeom>
          <a:solidFill>
            <a:srgbClr val="1E4F96"/>
          </a:solidFill>
          <a:ln>
            <a:solidFill>
              <a:srgbClr val="1E4F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任意多边形: 形状 15"/>
          <p:cNvSpPr/>
          <p:nvPr/>
        </p:nvSpPr>
        <p:spPr>
          <a:xfrm rot="16200000" flipH="1">
            <a:off x="-149443" y="731857"/>
            <a:ext cx="2053810" cy="581025"/>
          </a:xfrm>
          <a:custGeom>
            <a:avLst/>
            <a:gdLst>
              <a:gd name="connsiteX0" fmla="*/ 0 w 2053810"/>
              <a:gd name="connsiteY0" fmla="*/ 0 h 581025"/>
              <a:gd name="connsiteX1" fmla="*/ 0 w 2053810"/>
              <a:gd name="connsiteY1" fmla="*/ 581025 h 581025"/>
              <a:gd name="connsiteX2" fmla="*/ 1438429 w 2053810"/>
              <a:gd name="connsiteY2" fmla="*/ 581025 h 581025"/>
              <a:gd name="connsiteX3" fmla="*/ 2053810 w 2053810"/>
              <a:gd name="connsiteY3" fmla="*/ 0 h 581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3810" h="581025">
                <a:moveTo>
                  <a:pt x="0" y="0"/>
                </a:moveTo>
                <a:lnTo>
                  <a:pt x="0" y="581025"/>
                </a:lnTo>
                <a:lnTo>
                  <a:pt x="1438429" y="581025"/>
                </a:lnTo>
                <a:lnTo>
                  <a:pt x="2053810" y="0"/>
                </a:lnTo>
                <a:close/>
              </a:path>
            </a:pathLst>
          </a:custGeom>
          <a:noFill/>
          <a:ln>
            <a:solidFill>
              <a:srgbClr val="1E4F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0" name="图片 19" descr="文本&#10;&#10;AI 生成的内容可能不正确。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661" y="-12700"/>
            <a:ext cx="4342668" cy="1301697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973137" y="3586701"/>
            <a:ext cx="102457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1E4F96"/>
                </a:solidFill>
                <a:latin typeface="楷体" panose="02010609060101010101" charset="-122"/>
                <a:ea typeface="楷体" panose="02010609060101010101" charset="-122"/>
              </a:rPr>
              <a:t>基于脑电图与眼动追踪多模态数据检测青少年轻度抑郁症</a:t>
            </a:r>
            <a:endParaRPr lang="zh-CN" altLang="en-US" sz="2800" b="1" dirty="0">
              <a:solidFill>
                <a:srgbClr val="1E4F96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" name="矩形: 圆角 3"/>
          <p:cNvSpPr/>
          <p:nvPr/>
        </p:nvSpPr>
        <p:spPr>
          <a:xfrm>
            <a:off x="2924175" y="4297001"/>
            <a:ext cx="6343650" cy="1259299"/>
          </a:xfrm>
          <a:prstGeom prst="roundRect">
            <a:avLst>
              <a:gd name="adj" fmla="val 50000"/>
            </a:avLst>
          </a:prstGeom>
          <a:solidFill>
            <a:srgbClr val="1E4F96"/>
          </a:solidFill>
          <a:ln>
            <a:solidFill>
              <a:srgbClr val="1E4F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小组成员</a:t>
            </a:r>
            <a:r>
              <a:rPr lang="en-US" altLang="zh-CN" b="1" dirty="0">
                <a:solidFill>
                  <a:schemeClr val="bg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：</a:t>
            </a:r>
            <a:r>
              <a:rPr lang="zh-CN" altLang="en-US" b="1" dirty="0">
                <a:solidFill>
                  <a:schemeClr val="bg1"/>
                </a:solidFill>
                <a:uFillTx/>
                <a:latin typeface="Times New Roman" panose="02020603050405020304" charset="0"/>
                <a:ea typeface="楷体" panose="02010609060101010101" charset="-122"/>
                <a:sym typeface="+mn-ea"/>
              </a:rPr>
              <a:t>舒</a:t>
            </a:r>
            <a:r>
              <a:rPr lang="en-US" altLang="zh-CN" b="1" dirty="0">
                <a:solidFill>
                  <a:schemeClr val="bg1"/>
                </a:solidFill>
                <a:uFillTx/>
                <a:latin typeface="Times New Roman" panose="02020603050405020304" charset="0"/>
                <a:ea typeface="楷体" panose="02010609060101010101" charset="-122"/>
                <a:sym typeface="+mn-ea"/>
              </a:rPr>
              <a:t>XX</a:t>
            </a:r>
            <a:r>
              <a:rPr lang="zh-CN" altLang="en-US" b="1" dirty="0">
                <a:solidFill>
                  <a:schemeClr val="bg1"/>
                </a:solidFill>
                <a:uFillTx/>
                <a:latin typeface="Times New Roman" panose="02020603050405020304" charset="0"/>
                <a:ea typeface="楷体" panose="02010609060101010101" charset="-122"/>
                <a:sym typeface="+mn-ea"/>
              </a:rPr>
              <a:t>、</a:t>
            </a:r>
            <a:r>
              <a:rPr lang="zh-CN" altLang="en-US" b="1" dirty="0">
                <a:solidFill>
                  <a:schemeClr val="bg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吴</a:t>
            </a:r>
            <a:r>
              <a:rPr lang="en-US" altLang="zh-CN" b="1" dirty="0">
                <a:solidFill>
                  <a:schemeClr val="bg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XX、</a:t>
            </a:r>
            <a:r>
              <a:rPr lang="zh-CN" altLang="en-US" b="1" dirty="0">
                <a:solidFill>
                  <a:schemeClr val="bg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赵</a:t>
            </a:r>
            <a:r>
              <a:rPr lang="en-US" altLang="zh-CN" b="1" dirty="0">
                <a:solidFill>
                  <a:schemeClr val="bg1"/>
                </a:solidFill>
                <a:uFillTx/>
                <a:latin typeface="Times New Roman" panose="02020603050405020304" charset="0"/>
                <a:ea typeface="楷体" panose="02010609060101010101" charset="-122"/>
              </a:rPr>
              <a:t>XX、Illusionna</a:t>
            </a:r>
            <a:endParaRPr lang="zh-CN" altLang="en-US" dirty="0">
              <a:solidFill>
                <a:schemeClr val="bg1"/>
              </a:solidFill>
              <a:uFillTx/>
              <a:latin typeface="Times New Roman" panose="02020603050405020304" charset="0"/>
              <a:ea typeface="楷体" panose="02010609060101010101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uFillTx/>
                <a:latin typeface="Times New Roman" panose="02020603050405020304" charset="0"/>
                <a:ea typeface="楷体" panose="02010609060101010101" charset="-122"/>
                <a:cs typeface="楷体" panose="02010609060101010101" charset="-122"/>
              </a:rPr>
              <a:t>汇报时间：</a:t>
            </a:r>
            <a:r>
              <a:rPr lang="en-US" altLang="zh-CN" b="1" dirty="0">
                <a:solidFill>
                  <a:schemeClr val="bg1"/>
                </a:solidFill>
                <a:uFillTx/>
                <a:latin typeface="Times New Roman" panose="02020603050405020304" charset="0"/>
                <a:ea typeface="楷体" panose="02010609060101010101" charset="-122"/>
                <a:cs typeface="楷体" panose="02010609060101010101" charset="-122"/>
              </a:rPr>
              <a:t>2026 </a:t>
            </a:r>
            <a:r>
              <a:rPr lang="zh-CN" altLang="en-US" b="1" dirty="0">
                <a:solidFill>
                  <a:schemeClr val="bg1"/>
                </a:solidFill>
                <a:uFillTx/>
                <a:latin typeface="Times New Roman" panose="02020603050405020304" charset="0"/>
                <a:ea typeface="楷体" panose="02010609060101010101" charset="-122"/>
                <a:cs typeface="楷体" panose="02010609060101010101" charset="-122"/>
              </a:rPr>
              <a:t>年</a:t>
            </a:r>
            <a:r>
              <a:rPr lang="en-US" altLang="zh-CN" b="1" dirty="0">
                <a:solidFill>
                  <a:schemeClr val="bg1"/>
                </a:solidFill>
                <a:uFillTx/>
                <a:latin typeface="Times New Roman" panose="02020603050405020304" charset="0"/>
                <a:ea typeface="楷体" panose="02010609060101010101" charset="-122"/>
                <a:cs typeface="楷体" panose="02010609060101010101" charset="-122"/>
              </a:rPr>
              <a:t> 6 </a:t>
            </a:r>
            <a:r>
              <a:rPr lang="zh-CN" altLang="en-US" b="1" dirty="0">
                <a:solidFill>
                  <a:schemeClr val="bg1"/>
                </a:solidFill>
                <a:uFillTx/>
                <a:latin typeface="Times New Roman" panose="02020603050405020304" charset="0"/>
                <a:ea typeface="楷体" panose="02010609060101010101" charset="-122"/>
                <a:cs typeface="楷体" panose="02010609060101010101" charset="-122"/>
              </a:rPr>
              <a:t>月</a:t>
            </a:r>
            <a:endParaRPr lang="zh-CN" altLang="en-US" b="1" dirty="0">
              <a:solidFill>
                <a:schemeClr val="bg1"/>
              </a:solidFill>
              <a:uFillTx/>
              <a:latin typeface="Times New Roman" panose="02020603050405020304" charset="0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00530" y="1484630"/>
            <a:ext cx="8677275" cy="2050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3200" b="1" dirty="0">
                <a:solidFill>
                  <a:srgbClr val="1E4F96"/>
                </a:solidFill>
                <a:latin typeface="Times New Roman" panose="02020603050405020304" charset="0"/>
                <a:ea typeface="+mj-ea"/>
                <a:cs typeface="Times New Roman" panose="02020603050405020304" charset="0"/>
              </a:rPr>
              <a:t>Detection of mild depression in adolescents based on multimodal data from electroencephalogram and eye movement tracking</a:t>
            </a:r>
            <a:endParaRPr lang="en-US" altLang="zh-CN" sz="3200" b="1" dirty="0">
              <a:solidFill>
                <a:srgbClr val="1E4F96"/>
              </a:solidFill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205355" y="2347595"/>
            <a:ext cx="8413115" cy="5702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"/>
            </p:custDataLst>
          </p:nvPr>
        </p:nvSpPr>
        <p:spPr>
          <a:xfrm>
            <a:off x="3075525" y="2360215"/>
            <a:ext cx="337566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Research Progress</a:t>
            </a:r>
            <a:endParaRPr lang="en-US" altLang="zh-CN" sz="3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2205355" y="3148330"/>
            <a:ext cx="8413115" cy="5702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4"/>
            </p:custDataLst>
          </p:nvPr>
        </p:nvSpPr>
        <p:spPr>
          <a:xfrm>
            <a:off x="2205355" y="3928110"/>
            <a:ext cx="8413115" cy="5702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5"/>
            </p:custDataLst>
          </p:nvPr>
        </p:nvSpPr>
        <p:spPr>
          <a:xfrm>
            <a:off x="2205355" y="4744085"/>
            <a:ext cx="8413115" cy="5702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2205355" y="1494790"/>
            <a:ext cx="8413115" cy="5702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69839" y="305694"/>
            <a:ext cx="3487785" cy="481975"/>
            <a:chOff x="2496626" y="2183229"/>
            <a:chExt cx="3092244" cy="481975"/>
          </a:xfrm>
        </p:grpSpPr>
        <p:sp>
          <p:nvSpPr>
            <p:cNvPr id="3" name="矩形: 圆角 2"/>
            <p:cNvSpPr/>
            <p:nvPr/>
          </p:nvSpPr>
          <p:spPr>
            <a:xfrm>
              <a:off x="2795588" y="2188614"/>
              <a:ext cx="1337805" cy="456836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258534" y="2204829"/>
              <a:ext cx="1163021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楷体" panose="02010609060101010101" charset="-122"/>
                  <a:ea typeface="楷体" panose="02010609060101010101" charset="-122"/>
                </a:rPr>
                <a:t>目录</a:t>
              </a:r>
              <a:endParaRPr lang="zh-CN" altLang="en-US" sz="2400" b="1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743844" y="2183229"/>
              <a:ext cx="1389548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latin typeface="Times New Roman Regular" panose="02020503050405090304" charset="0"/>
                  <a:ea typeface="阿里巴巴普惠体 3.0 45 Light" panose="00020600040101010101" pitchFamily="18" charset="-122"/>
                  <a:cs typeface="Times New Roman Regular" panose="02020503050405090304" charset="0"/>
                </a:rPr>
                <a:t>Content</a:t>
              </a:r>
              <a:endParaRPr lang="zh-CN" altLang="en-US" sz="2400" dirty="0">
                <a:solidFill>
                  <a:schemeClr val="bg1"/>
                </a:solidFill>
                <a:latin typeface="Times New Roman Regular" panose="02020503050405090304" charset="0"/>
                <a:ea typeface="阿里巴巴普惠体 3.0 45 Light" panose="00020600040101010101" pitchFamily="18" charset="-122"/>
                <a:cs typeface="Times New Roman Regular" panose="02020503050405090304" charset="0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7"/>
            </p:custDataLst>
          </p:nvPr>
        </p:nvGrpSpPr>
        <p:grpSpPr>
          <a:xfrm>
            <a:off x="1669199" y="1367007"/>
            <a:ext cx="224130" cy="4246367"/>
            <a:chOff x="495008" y="1327055"/>
            <a:chExt cx="224130" cy="4246367"/>
          </a:xfrm>
          <a:solidFill>
            <a:srgbClr val="1E4F96"/>
          </a:solidFill>
        </p:grpSpPr>
        <p:cxnSp>
          <p:nvCxnSpPr>
            <p:cNvPr id="9" name="直接箭头连接符 8"/>
            <p:cNvCxnSpPr/>
            <p:nvPr>
              <p:custDataLst>
                <p:tags r:id="rId8"/>
              </p:custDataLst>
            </p:nvPr>
          </p:nvCxnSpPr>
          <p:spPr>
            <a:xfrm>
              <a:off x="621258" y="1327055"/>
              <a:ext cx="0" cy="4246367"/>
            </a:xfrm>
            <a:prstGeom prst="straightConnector1">
              <a:avLst/>
            </a:prstGeom>
            <a:grpFill/>
            <a:ln w="28575">
              <a:solidFill>
                <a:srgbClr val="1E4F9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椭圆 9"/>
            <p:cNvSpPr/>
            <p:nvPr>
              <p:custDataLst>
                <p:tags r:id="rId9"/>
              </p:custDataLst>
            </p:nvPr>
          </p:nvSpPr>
          <p:spPr>
            <a:xfrm>
              <a:off x="495008" y="2431964"/>
              <a:ext cx="212034" cy="212034"/>
            </a:xfrm>
            <a:prstGeom prst="ellipse">
              <a:avLst/>
            </a:prstGeom>
            <a:grp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椭圆 10"/>
            <p:cNvSpPr/>
            <p:nvPr>
              <p:custDataLst>
                <p:tags r:id="rId10"/>
              </p:custDataLst>
            </p:nvPr>
          </p:nvSpPr>
          <p:spPr>
            <a:xfrm>
              <a:off x="495008" y="3238205"/>
              <a:ext cx="212034" cy="212034"/>
            </a:xfrm>
            <a:prstGeom prst="ellipse">
              <a:avLst/>
            </a:prstGeom>
            <a:grp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椭圆 11"/>
            <p:cNvSpPr/>
            <p:nvPr>
              <p:custDataLst>
                <p:tags r:id="rId11"/>
              </p:custDataLst>
            </p:nvPr>
          </p:nvSpPr>
          <p:spPr>
            <a:xfrm>
              <a:off x="507104" y="4044446"/>
              <a:ext cx="212034" cy="212034"/>
            </a:xfrm>
            <a:prstGeom prst="ellipse">
              <a:avLst/>
            </a:prstGeom>
            <a:grp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椭圆 12"/>
            <p:cNvSpPr/>
            <p:nvPr>
              <p:custDataLst>
                <p:tags r:id="rId12"/>
              </p:custDataLst>
            </p:nvPr>
          </p:nvSpPr>
          <p:spPr>
            <a:xfrm>
              <a:off x="507104" y="4850687"/>
              <a:ext cx="212034" cy="212034"/>
            </a:xfrm>
            <a:prstGeom prst="ellipse">
              <a:avLst/>
            </a:prstGeom>
            <a:grp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椭圆 13"/>
            <p:cNvSpPr/>
            <p:nvPr>
              <p:custDataLst>
                <p:tags r:id="rId13"/>
              </p:custDataLst>
            </p:nvPr>
          </p:nvSpPr>
          <p:spPr>
            <a:xfrm>
              <a:off x="507104" y="1625723"/>
              <a:ext cx="212034" cy="212034"/>
            </a:xfrm>
            <a:prstGeom prst="ellipse">
              <a:avLst/>
            </a:prstGeom>
            <a:grp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3075525" y="1481927"/>
            <a:ext cx="397192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Research background</a:t>
            </a:r>
            <a:endParaRPr lang="zh-CN" altLang="en-US" sz="3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31" name="组合 30"/>
          <p:cNvGrpSpPr/>
          <p:nvPr>
            <p:custDataLst>
              <p:tags r:id="rId15"/>
            </p:custDataLst>
          </p:nvPr>
        </p:nvGrpSpPr>
        <p:grpSpPr>
          <a:xfrm>
            <a:off x="2490104" y="1541517"/>
            <a:ext cx="538483" cy="3747941"/>
            <a:chOff x="971222" y="1228729"/>
            <a:chExt cx="538483" cy="3747941"/>
          </a:xfrm>
        </p:grpSpPr>
        <p:sp>
          <p:nvSpPr>
            <p:cNvPr id="17" name="文本框 16"/>
            <p:cNvSpPr txBox="1"/>
            <p:nvPr>
              <p:custDataLst>
                <p:tags r:id="rId16"/>
              </p:custDataLst>
            </p:nvPr>
          </p:nvSpPr>
          <p:spPr>
            <a:xfrm>
              <a:off x="971225" y="1228729"/>
              <a:ext cx="5384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 Bold" panose="02020503050405090304" charset="0"/>
                  <a:cs typeface="Times New Roman Bold" panose="02020503050405090304" charset="0"/>
                </a:rPr>
                <a:t>01</a:t>
              </a:r>
              <a:endParaRPr lang="zh-CN" altLang="en-US" sz="28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7"/>
              </p:custDataLst>
            </p:nvPr>
          </p:nvSpPr>
          <p:spPr>
            <a:xfrm>
              <a:off x="971225" y="2034970"/>
              <a:ext cx="5384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charset="0"/>
                  <a:cs typeface="Times New Roman" panose="02020603050405020304" charset="0"/>
                </a:rPr>
                <a:t>02</a:t>
              </a:r>
              <a:endParaRPr lang="zh-CN" altLang="en-US" sz="2800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18"/>
              </p:custDataLst>
            </p:nvPr>
          </p:nvSpPr>
          <p:spPr>
            <a:xfrm>
              <a:off x="971224" y="2841211"/>
              <a:ext cx="5384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charset="0"/>
                  <a:cs typeface="Times New Roman" panose="02020603050405020304" charset="0"/>
                </a:rPr>
                <a:t>03</a:t>
              </a:r>
              <a:endParaRPr lang="zh-CN" altLang="en-US" sz="2800" b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9"/>
              </p:custDataLst>
            </p:nvPr>
          </p:nvSpPr>
          <p:spPr>
            <a:xfrm>
              <a:off x="971223" y="3647452"/>
              <a:ext cx="5384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 Bold" panose="02020503050405090304" charset="0"/>
                  <a:cs typeface="Times New Roman Bold" panose="02020503050405090304" charset="0"/>
                </a:rPr>
                <a:t>04</a:t>
              </a:r>
              <a:endParaRPr lang="zh-CN" altLang="en-US" sz="28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20"/>
              </p:custDataLst>
            </p:nvPr>
          </p:nvSpPr>
          <p:spPr>
            <a:xfrm>
              <a:off x="971222" y="4454700"/>
              <a:ext cx="538480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 Bold" panose="02020503050405090304" charset="0"/>
                  <a:cs typeface="Times New Roman Bold" panose="02020503050405090304" charset="0"/>
                </a:rPr>
                <a:t>05</a:t>
              </a:r>
              <a:endParaRPr lang="zh-CN" altLang="en-US" sz="28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</p:grpSp>
      <p:sp>
        <p:nvSpPr>
          <p:cNvPr id="26" name="文本框 25"/>
          <p:cNvSpPr txBox="1"/>
          <p:nvPr>
            <p:custDataLst>
              <p:tags r:id="rId21"/>
            </p:custDataLst>
          </p:nvPr>
        </p:nvSpPr>
        <p:spPr>
          <a:xfrm>
            <a:off x="3075525" y="3923117"/>
            <a:ext cx="4493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Analysis and Conclusion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3075525" y="4725841"/>
            <a:ext cx="45211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References and About us</a:t>
            </a:r>
            <a:endParaRPr lang="en-US" altLang="zh-CN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30" name="文本框 29"/>
          <p:cNvSpPr txBox="1"/>
          <p:nvPr>
            <p:custDataLst>
              <p:tags r:id="rId23"/>
            </p:custDataLst>
          </p:nvPr>
        </p:nvSpPr>
        <p:spPr>
          <a:xfrm>
            <a:off x="3075525" y="3160482"/>
            <a:ext cx="41789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charset="0"/>
                <a:cs typeface="Times New Roman" panose="02020603050405020304" charset="0"/>
              </a:rPr>
              <a:t>Materials and methods</a:t>
            </a:r>
            <a:endParaRPr lang="en-US" altLang="zh-CN" sz="3200" b="1" dirty="0">
              <a:latin typeface="Times New Roman" panose="02020603050405020304" charset="0"/>
              <a:ea typeface="黑体" panose="0201060906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6503669" y="2505670"/>
            <a:ext cx="3216063" cy="9220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 defTabSz="914400"/>
            <a:r>
              <a:rPr lang="en-US" altLang="zh-CN" sz="54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  <a:sym typeface="+mn-lt"/>
              </a:rPr>
              <a:t>01</a:t>
            </a:r>
            <a:endParaRPr lang="en-US" altLang="zh-CN" sz="54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3670" y="3465830"/>
            <a:ext cx="54686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36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</a:rPr>
              <a:t>Research background</a:t>
            </a:r>
            <a:endParaRPr lang="en-US" altLang="zh-CN" sz="36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14429014e0cc20aee5586edf756e1d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0100" y="2892924"/>
            <a:ext cx="4767993" cy="323041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69570" y="305425"/>
            <a:ext cx="4613556" cy="467606"/>
            <a:chOff x="2496626" y="2183229"/>
            <a:chExt cx="3092244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588" y="2188614"/>
              <a:ext cx="439439" cy="456836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480708" y="2213709"/>
              <a:ext cx="1722692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Research background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968" y="2183229"/>
              <a:ext cx="439439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charset="0"/>
                  <a:ea typeface="+mj-ea"/>
                  <a:cs typeface="Times New Roman" panose="02020603050405020304" charset="0"/>
                </a:rPr>
                <a:t>01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</a:endParaRPr>
            </a:p>
          </p:txBody>
        </p:sp>
      </p:grpSp>
      <p:sp>
        <p:nvSpPr>
          <p:cNvPr id="5" name="文本框 24"/>
          <p:cNvSpPr txBox="1"/>
          <p:nvPr/>
        </p:nvSpPr>
        <p:spPr>
          <a:xfrm>
            <a:off x="351790" y="1025625"/>
            <a:ext cx="11488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 Silent Struggle: How Do We See the Unseen? </a:t>
            </a:r>
            <a:endParaRPr lang="en-US" altLang="zh-CN" sz="2400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/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(</a:t>
            </a:r>
            <a:r>
              <a:rPr lang="zh-CN" altLang="en-US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一场无声的挣扎：我们如何看见看不见的痛苦？</a:t>
            </a: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)</a:t>
            </a:r>
            <a:endParaRPr lang="zh-CN" altLang="en-US" sz="2400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9570" y="2037715"/>
            <a:ext cx="11489055" cy="855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Depression</a:t>
            </a:r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affects hundreds of millions, yet it often remains invisible. </a:t>
            </a:r>
            <a:endParaRPr lang="en-US" altLang="zh-CN" sz="2400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ctr"/>
            <a:r>
              <a:rPr lang="en-US" altLang="zh-CN" sz="2400" dirty="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Why is it so hard to detect accurately?</a:t>
            </a:r>
            <a:endParaRPr lang="zh-CN" altLang="en-US" sz="2400" dirty="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446876" y="5805524"/>
            <a:ext cx="88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f583474aa7f2d1d9dd9ef5f444325ad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18" y="1949893"/>
            <a:ext cx="4870450" cy="33147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369570" y="305425"/>
            <a:ext cx="4613556" cy="1169253"/>
            <a:chOff x="2496626" y="2183229"/>
            <a:chExt cx="3092244" cy="1169253"/>
          </a:xfrm>
        </p:grpSpPr>
        <p:sp>
          <p:nvSpPr>
            <p:cNvPr id="6" name="矩形: 圆角 5"/>
            <p:cNvSpPr/>
            <p:nvPr/>
          </p:nvSpPr>
          <p:spPr>
            <a:xfrm>
              <a:off x="2795588" y="2188614"/>
              <a:ext cx="439439" cy="456836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7" name="任意多边形: 形状 6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480708" y="2213709"/>
              <a:ext cx="1722692" cy="11387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Research background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863968" y="2183229"/>
              <a:ext cx="439439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charset="0"/>
                  <a:ea typeface="+mj-ea"/>
                  <a:cs typeface="Times New Roman" panose="02020603050405020304" charset="0"/>
                </a:rPr>
                <a:t>01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671195" y="1155700"/>
            <a:ext cx="10658475" cy="431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b="1" dirty="0">
                <a:solidFill>
                  <a:srgbClr val="333333"/>
                </a:solidFill>
                <a:latin typeface="Times New Roman" panose="02020603050405020304" charset="0"/>
                <a:ea typeface="Noto Sans SC" panose="020B0200000000000000" charset="-122"/>
                <a:cs typeface="Times New Roman" panose="02020603050405020304" charset="0"/>
                <a:sym typeface="Noto Sans SC" panose="020B0200000000000000" charset="-122"/>
              </a:rPr>
              <a:t>The Necessity of Research on the Incidence of Adolescent Depression: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24"/>
          <p:cNvSpPr txBox="1"/>
          <p:nvPr/>
        </p:nvSpPr>
        <p:spPr>
          <a:xfrm>
            <a:off x="5285105" y="1812290"/>
            <a:ext cx="6398895" cy="3452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lnSpc>
                <a:spcPct val="92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Large Patient Base And Rising Trend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：</a:t>
            </a:r>
            <a:r>
              <a:rPr lang="en-US" altLang="zh-CN" sz="2000" dirty="0">
                <a:solidFill>
                  <a:srgbClr val="50505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Global and Chinese data indicate that the detection rate of adolescent depression </a:t>
            </a:r>
            <a:r>
              <a:rPr lang="en-US" altLang="zh-CN" sz="20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increases significantly</a:t>
            </a:r>
            <a:r>
              <a:rPr lang="en-US" altLang="zh-CN" sz="2000" dirty="0">
                <a:solidFill>
                  <a:srgbClr val="50505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 with grade level. </a:t>
            </a:r>
            <a:endParaRPr lang="en-US" sz="2000" b="1" dirty="0">
              <a:solidFill>
                <a:srgbClr val="FF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indent="-285750" algn="just">
              <a:lnSpc>
                <a:spcPct val="92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Severe Burden And Profound Harm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D</a:t>
            </a:r>
            <a:r>
              <a:rPr lang="en-US" sz="2000" dirty="0">
                <a:solidFill>
                  <a:srgbClr val="50505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epression is the leading cause of disability in adolescents, easily triggering </a:t>
            </a:r>
            <a:r>
              <a:rPr lang="en-US" sz="20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a sharp decline in academic performance and social withdrawal</a:t>
            </a:r>
            <a:r>
              <a:rPr lang="en-US" sz="2000" dirty="0">
                <a:solidFill>
                  <a:srgbClr val="50505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 even lead to self-harm and suicide. </a:t>
            </a:r>
            <a:endParaRPr lang="en-US" altLang="zh-CN" sz="2000" dirty="0">
              <a:solidFill>
                <a:srgbClr val="50505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Noto Sans SC" panose="020B0200000000000000" charset="-122"/>
            </a:endParaRPr>
          </a:p>
          <a:p>
            <a:pPr marL="285750" indent="-285750" algn="just">
              <a:lnSpc>
                <a:spcPct val="92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Large Service Gap And Low Recognition Rate: </a:t>
            </a:r>
            <a:r>
              <a:rPr lang="en-US" sz="2000" b="1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   </a:t>
            </a:r>
            <a:r>
              <a:rPr lang="en-US" sz="2000" dirty="0">
                <a:solidFill>
                  <a:srgbClr val="50505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Clinical misdiagnosis and underdiagnosis are common. Most depressed adolescents do not receive standardized intervention. </a:t>
            </a:r>
            <a:r>
              <a:rPr lang="en-US" altLang="zh-CN" sz="2000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Beyond that, depression in adolescents is </a:t>
            </a:r>
            <a:r>
              <a:rPr lang="en-US" sz="20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often overlooked</a:t>
            </a:r>
            <a:r>
              <a:rPr lang="en-US" altLang="zh-CN" sz="2000" dirty="0">
                <a:solidFill>
                  <a:srgbClr val="333333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Noto Sans SC" panose="020B0200000000000000" charset="-122"/>
              </a:rPr>
              <a:t> in comparison to adults.</a:t>
            </a:r>
            <a:endParaRPr lang="en-US" altLang="zh-CN" sz="2000" dirty="0">
              <a:solidFill>
                <a:srgbClr val="333333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Noto Sans SC" panose="020B02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446876" y="5805524"/>
            <a:ext cx="88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rcRect l="25760" r="25760"/>
          <a:stretch>
            <a:fillRect/>
          </a:stretch>
        </p:blipFill>
        <p:spPr>
          <a:xfrm>
            <a:off x="629920" y="1215390"/>
            <a:ext cx="3586480" cy="4543425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6" name="AutoShape 5"/>
          <p:cNvSpPr/>
          <p:nvPr>
            <p:custDataLst>
              <p:tags r:id="rId2"/>
            </p:custDataLst>
          </p:nvPr>
        </p:nvSpPr>
        <p:spPr>
          <a:xfrm>
            <a:off x="4953000" y="897890"/>
            <a:ext cx="6694170" cy="166751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6"/>
          <p:cNvSpPr/>
          <p:nvPr>
            <p:custDataLst>
              <p:tags r:id="rId3"/>
            </p:custDataLst>
          </p:nvPr>
        </p:nvSpPr>
        <p:spPr>
          <a:xfrm>
            <a:off x="4953000" y="1151890"/>
            <a:ext cx="76200" cy="101600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70500" y="1215390"/>
            <a:ext cx="609600" cy="609600"/>
          </a:xfrm>
          <a:prstGeom prst="rect">
            <a:avLst/>
          </a:prstGeom>
        </p:spPr>
      </p:pic>
      <p:sp>
        <p:nvSpPr>
          <p:cNvPr id="10" name="AutoShape 8"/>
          <p:cNvSpPr/>
          <p:nvPr>
            <p:custDataLst>
              <p:tags r:id="rId7"/>
            </p:custDataLst>
          </p:nvPr>
        </p:nvSpPr>
        <p:spPr>
          <a:xfrm>
            <a:off x="6096000" y="108839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D3748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Poppins"/>
              </a:rPr>
              <a:t>A Widespread Mental Health Crisis</a:t>
            </a:r>
            <a:endParaRPr lang="en-US" sz="20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1" name="AutoShape 9"/>
          <p:cNvSpPr/>
          <p:nvPr>
            <p:custDataLst>
              <p:tags r:id="rId8"/>
            </p:custDataLst>
          </p:nvPr>
        </p:nvSpPr>
        <p:spPr>
          <a:xfrm>
            <a:off x="6096000" y="153289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 dirty="0">
                <a:solidFill>
                  <a:srgbClr val="555F6E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Poppins"/>
              </a:rPr>
              <a:t>According to the WHO, </a:t>
            </a:r>
            <a:r>
              <a:rPr lang="en-US" sz="1600" b="1" i="0" u="none" strike="noStrike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Poppins"/>
              </a:rPr>
              <a:t>depression</a:t>
            </a:r>
            <a:r>
              <a:rPr lang="en-US" sz="1600" b="0" i="0" u="none" strike="noStrike" dirty="0">
                <a:solidFill>
                  <a:srgbClr val="555F6E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Poppins"/>
              </a:rPr>
              <a:t> is a leading cause of disability worldwide, affecting an estimated </a:t>
            </a:r>
            <a:r>
              <a:rPr lang="en-US" sz="1600" b="1" i="0" u="none" strike="noStrike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Poppins"/>
              </a:rPr>
              <a:t>280 million</a:t>
            </a:r>
            <a:r>
              <a:rPr lang="en-US" sz="1600" b="0" i="0" u="none" strike="noStrike" dirty="0">
                <a:solidFill>
                  <a:srgbClr val="555F6E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Poppins"/>
              </a:rPr>
              <a:t> people globally (as of 2023).</a:t>
            </a:r>
            <a:endParaRPr lang="en-US" sz="16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3" name="AutoShape 10"/>
          <p:cNvSpPr/>
          <p:nvPr>
            <p:custDataLst>
              <p:tags r:id="rId9"/>
            </p:custDataLst>
          </p:nvPr>
        </p:nvSpPr>
        <p:spPr>
          <a:xfrm>
            <a:off x="4953000" y="2675890"/>
            <a:ext cx="6694170" cy="1677670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1"/>
          <p:cNvSpPr/>
          <p:nvPr>
            <p:custDataLst>
              <p:tags r:id="rId10"/>
            </p:custDataLst>
          </p:nvPr>
        </p:nvSpPr>
        <p:spPr>
          <a:xfrm>
            <a:off x="4953000" y="2929890"/>
            <a:ext cx="76200" cy="101600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70500" y="2993390"/>
            <a:ext cx="609600" cy="609600"/>
          </a:xfrm>
          <a:prstGeom prst="rect">
            <a:avLst/>
          </a:prstGeom>
        </p:spPr>
      </p:pic>
      <p:sp>
        <p:nvSpPr>
          <p:cNvPr id="16" name="AutoShape 13"/>
          <p:cNvSpPr/>
          <p:nvPr>
            <p:custDataLst>
              <p:tags r:id="rId14"/>
            </p:custDataLst>
          </p:nvPr>
        </p:nvSpPr>
        <p:spPr>
          <a:xfrm>
            <a:off x="6096000" y="286639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2D3748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Poppins"/>
              </a:rPr>
              <a:t>Mild Depression: A Hidden Epidemic</a:t>
            </a:r>
            <a:endParaRPr lang="en-US" sz="20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8" name="AutoShape 14"/>
          <p:cNvSpPr/>
          <p:nvPr>
            <p:custDataLst>
              <p:tags r:id="rId15"/>
            </p:custDataLst>
          </p:nvPr>
        </p:nvSpPr>
        <p:spPr>
          <a:xfrm>
            <a:off x="6096000" y="331089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Poppins"/>
              </a:rPr>
              <a:t>Often undiagnosed</a:t>
            </a:r>
            <a:r>
              <a:rPr lang="en-US" sz="1600" b="0" i="0" u="none" strike="noStrike" dirty="0">
                <a:solidFill>
                  <a:srgbClr val="555F6E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Poppins"/>
              </a:rPr>
              <a:t>, mild symptoms significantly impair daily functioning and productivity, acting as a precursor to more severe depressive episodes.</a:t>
            </a:r>
            <a:endParaRPr lang="en-US" sz="16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19" name="AutoShape 15"/>
          <p:cNvSpPr/>
          <p:nvPr>
            <p:custDataLst>
              <p:tags r:id="rId16"/>
            </p:custDataLst>
          </p:nvPr>
        </p:nvSpPr>
        <p:spPr>
          <a:xfrm>
            <a:off x="4953000" y="4453890"/>
            <a:ext cx="6694170" cy="1613535"/>
          </a:xfrm>
          <a:prstGeom prst="roundRect">
            <a:avLst>
              <a:gd name="adj" fmla="val 10909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16"/>
          <p:cNvSpPr/>
          <p:nvPr>
            <p:custDataLst>
              <p:tags r:id="rId17"/>
            </p:custDataLst>
          </p:nvPr>
        </p:nvSpPr>
        <p:spPr>
          <a:xfrm>
            <a:off x="4953000" y="4644390"/>
            <a:ext cx="76200" cy="101600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270500" y="4707890"/>
            <a:ext cx="609600" cy="609600"/>
          </a:xfrm>
          <a:prstGeom prst="rect">
            <a:avLst/>
          </a:prstGeom>
        </p:spPr>
      </p:pic>
      <p:sp>
        <p:nvSpPr>
          <p:cNvPr id="22" name="AutoShape 18"/>
          <p:cNvSpPr/>
          <p:nvPr>
            <p:custDataLst>
              <p:tags r:id="rId21"/>
            </p:custDataLst>
          </p:nvPr>
        </p:nvSpPr>
        <p:spPr>
          <a:xfrm>
            <a:off x="6096000" y="4580890"/>
            <a:ext cx="6254115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dirty="0">
                <a:solidFill>
                  <a:srgbClr val="2D3748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Limitations of Traditional Diagnostic </a:t>
            </a:r>
            <a:endParaRPr lang="en-US" sz="2000" dirty="0"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23" name="AutoShape 19"/>
          <p:cNvSpPr/>
          <p:nvPr>
            <p:custDataLst>
              <p:tags r:id="rId22"/>
            </p:custDataLst>
          </p:nvPr>
        </p:nvSpPr>
        <p:spPr>
          <a:xfrm>
            <a:off x="6096000" y="4961890"/>
            <a:ext cx="5090795" cy="8820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dirty="0">
                <a:solidFill>
                  <a:srgbClr val="555F6E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Such as scale assessments and clinical interviews, rely heavily on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subjective judgment</a:t>
            </a:r>
            <a:r>
              <a:rPr lang="en-US" sz="1600" dirty="0">
                <a:solidFill>
                  <a:srgbClr val="555F6E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 and are prone to 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misdiagnosis and underdiagnosis</a:t>
            </a:r>
            <a:r>
              <a:rPr lang="en-US" sz="1600" dirty="0">
                <a:solidFill>
                  <a:srgbClr val="555F6E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.</a:t>
            </a:r>
            <a:endParaRPr lang="en-US" sz="1600" dirty="0">
              <a:solidFill>
                <a:srgbClr val="555F6E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9570" y="305425"/>
            <a:ext cx="4613556" cy="467606"/>
            <a:chOff x="2496626" y="2183229"/>
            <a:chExt cx="3092244" cy="467606"/>
          </a:xfrm>
        </p:grpSpPr>
        <p:sp>
          <p:nvSpPr>
            <p:cNvPr id="24" name="矩形: 圆角 23"/>
            <p:cNvSpPr/>
            <p:nvPr/>
          </p:nvSpPr>
          <p:spPr>
            <a:xfrm>
              <a:off x="2795588" y="2188614"/>
              <a:ext cx="439439" cy="456836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25" name="任意多边形: 形状 24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3480708" y="2213709"/>
              <a:ext cx="1722692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Research background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863968" y="2183229"/>
              <a:ext cx="439439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charset="0"/>
                  <a:ea typeface="+mj-ea"/>
                  <a:cs typeface="Times New Roman" panose="02020603050405020304" charset="0"/>
                </a:rPr>
                <a:t>01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11647170" y="5775444"/>
            <a:ext cx="88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680720" y="3594854"/>
            <a:ext cx="10892790" cy="2221230"/>
          </a:xfrm>
          <a:prstGeom prst="rect">
            <a:avLst/>
          </a:prstGeom>
          <a:solidFill>
            <a:srgbClr val="ACCBF9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3.0 45 Light"/>
              <a:cs typeface="+mn-cs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80720" y="1520776"/>
            <a:ext cx="10831830" cy="17551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Eye-Tracking Technology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眼动追踪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Non-invasive technology, reflects human cognitive and emotional processing, its features can reflect attentional biases in depressed patients. (Focuses on external cognitive behavior)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EEG (Electroencephalogram)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脑电图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rPr>
              <a:t>Non-invasive technology, records brain electrical activity, serves as a reliable neural biomarker for depression detection, with higher sampling frequency. (Focuses on internal brain neural activity)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15614" y="3582084"/>
            <a:ext cx="1041019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Our research mainly focus on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mild depression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.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Mild depression refers to a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less severe form of depression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marked by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persistent low mood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over a long period.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It mostly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occurs in adolescents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and is often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overlooked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, even though it tends to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relapse easily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and needs early detection. In this study, it is specifically defined as a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score between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32 and 38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on the DSM‑V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量表体系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)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depression scale for young people 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aged 11–17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, and it can be recognized through 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unusual brain wave (EEG) and eye movement patterns.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32884" y="977766"/>
            <a:ext cx="62691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Core Concepts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69570" y="305425"/>
            <a:ext cx="4613556" cy="467606"/>
            <a:chOff x="2496626" y="2183229"/>
            <a:chExt cx="3092244" cy="467606"/>
          </a:xfrm>
        </p:grpSpPr>
        <p:sp>
          <p:nvSpPr>
            <p:cNvPr id="6" name="矩形: 圆角 5"/>
            <p:cNvSpPr/>
            <p:nvPr/>
          </p:nvSpPr>
          <p:spPr>
            <a:xfrm>
              <a:off x="2795588" y="2188614"/>
              <a:ext cx="439439" cy="456836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7" name="任意多边形: 形状 6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480708" y="2223869"/>
              <a:ext cx="1722692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Research background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863968" y="2183229"/>
              <a:ext cx="439439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charset="0"/>
                  <a:ea typeface="+mj-ea"/>
                  <a:cs typeface="Times New Roman" panose="02020603050405020304" charset="0"/>
                </a:rPr>
                <a:t>01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charset="0"/>
                <a:ea typeface="+mj-ea"/>
                <a:cs typeface="Times New Roman" panose="02020603050405020304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1573510" y="5816084"/>
            <a:ext cx="88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6503669" y="2505670"/>
            <a:ext cx="3216063" cy="9220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 defTabSz="914400"/>
            <a:r>
              <a:rPr lang="en-US" altLang="zh-CN" sz="54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  <a:sym typeface="+mn-lt"/>
              </a:rPr>
              <a:t>02</a:t>
            </a:r>
            <a:endParaRPr lang="en-US" altLang="zh-CN" sz="54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3669" y="3465513"/>
            <a:ext cx="43698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</a:rPr>
              <a:t>Research Progress</a:t>
            </a:r>
            <a:endParaRPr lang="en-US" altLang="zh-CN" sz="36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 Bold" panose="02020503050405090304" charset="0"/>
                  <a:cs typeface="Times New Roman Bold" panose="02020503050405090304" charset="0"/>
                  <a:sym typeface="+mn-ea"/>
                </a:rPr>
                <a:t>Research Progress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02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784225" y="953135"/>
            <a:ext cx="75857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charset="0"/>
                <a:ea typeface="ui-sans-serif"/>
                <a:cs typeface="Times New Roman" panose="02020603050405020304" charset="0"/>
                <a:sym typeface="+mn-ea"/>
              </a:rPr>
              <a:t>Part 1：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Times New Roman" panose="02020603050405020304" charset="0"/>
                <a:ea typeface="ui-sans-serif"/>
                <a:cs typeface="Times New Roman" panose="02020603050405020304" charset="0"/>
                <a:sym typeface="+mn-ea"/>
              </a:rPr>
              <a:t>Eye tracking in Depression Detection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E97132">
                  <a:lumMod val="75000"/>
                </a:srgbClr>
              </a:solidFill>
              <a:effectLst/>
              <a:uLnTx/>
              <a:uFillTx/>
              <a:latin typeface="Times New Roman" panose="02020603050405020304" charset="0"/>
              <a:ea typeface="ui-sans-serif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36" name="表格 35"/>
          <p:cNvGraphicFramePr/>
          <p:nvPr>
            <p:custDataLst>
              <p:tags r:id="rId1"/>
            </p:custDataLst>
          </p:nvPr>
        </p:nvGraphicFramePr>
        <p:xfrm>
          <a:off x="589915" y="1577340"/>
          <a:ext cx="8461375" cy="4313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6515"/>
                <a:gridCol w="2280285"/>
                <a:gridCol w="2914015"/>
                <a:gridCol w="1940560"/>
              </a:tblGrid>
              <a:tr h="6781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Source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 anchor="ctr">
                    <a:solidFill>
                      <a:srgbClr val="3D6FB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Methods</a:t>
                      </a:r>
                      <a:endParaRPr lang="en-US" altLang="zh-CN" sz="1600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3D6FB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Results and conclusions</a:t>
                      </a:r>
                      <a:endParaRPr lang="en-US" altLang="zh-CN" sz="1600" b="1" kern="1200" dirty="0">
                        <a:solidFill>
                          <a:schemeClr val="bg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3D6FB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Limitations</a:t>
                      </a:r>
                      <a:endParaRPr lang="en-US" altLang="zh-CN" sz="1600" b="1" kern="1200" dirty="0">
                        <a:solidFill>
                          <a:schemeClr val="bg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3D6FB9"/>
                    </a:solidFill>
                  </a:tcPr>
                </a:tc>
              </a:tr>
              <a:tr h="12166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Alghowinem et al. (2013)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D0D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harisSIL"/>
                          <a:cs typeface="Times New Roman" panose="02020603050405020304" charset="0"/>
                        </a:rPr>
                        <a:t>First linked eye movement indicators with depression detection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Times New Roman" panose="02020603050405020304" charset="0"/>
                        <a:ea typeface="CharisSIL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D0D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harisSIL"/>
                          <a:cs typeface="Times New Roman" panose="02020603050405020304" charset="0"/>
                        </a:rPr>
                        <a:t>Eye metrics reflect depressive attentional bias, building the foundation for application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Times New Roman" panose="02020603050405020304" charset="0"/>
                        <a:ea typeface="CharisSIL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D0D5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harisSIL"/>
                          <a:cs typeface="Times New Roman" panose="02020603050405020304" charset="0"/>
                        </a:rPr>
                        <a:t>Qualitative analysis only, no deep learning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CharisSIL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D0D5EB"/>
                    </a:solidFill>
                  </a:tcPr>
                </a:tc>
              </a:tr>
              <a:tr h="1214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Stolicyn </a:t>
                      </a:r>
                      <a:r>
                        <a:rPr lang="en-US" altLang="zh-CN" sz="1600" b="1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et al. (2022)</a:t>
                      </a:r>
                      <a:endParaRPr lang="en-US" altLang="zh-CN" sz="1600" b="1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harisSIL"/>
                          <a:cs typeface="Times New Roman" panose="02020603050405020304" charset="0"/>
                        </a:rPr>
                        <a:t>Developed a depression assessment system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Times New Roman" panose="02020603050405020304" charset="0"/>
                        <a:ea typeface="CharisSIL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harisSIL"/>
                          <a:cs typeface="Times New Roman" panose="02020603050405020304" charset="0"/>
                        </a:rPr>
                        <a:t>Extracted facial and eye-tracking features, 79% accuracy via SVM (classic machine learning model)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Times New Roman" panose="02020603050405020304" charset="0"/>
                        <a:ea typeface="CharisSIL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harisSIL"/>
                          <a:cs typeface="Times New Roman" panose="02020603050405020304" charset="0"/>
                        </a:rPr>
                        <a:t>No mild depression classification, limited generalization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CharisSIL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 kern="1200" dirty="0">
                          <a:solidFill>
                            <a:schemeClr val="dk1"/>
                          </a:solidFill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Yang et al. (2022)</a:t>
                      </a:r>
                      <a:endParaRPr lang="en-US" altLang="zh-CN" sz="1600" b="1" kern="1200" dirty="0">
                        <a:solidFill>
                          <a:schemeClr val="dk1"/>
                        </a:solidFill>
                        <a:latin typeface="Times New Roman" panose="02020603050405020304" charset="0"/>
                        <a:ea typeface="+mn-ea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harisSIL"/>
                          <a:cs typeface="Times New Roman" panose="02020603050405020304" charset="0"/>
                        </a:rPr>
                        <a:t>Proposed a time-space eye pattern analysis method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CharisSIL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harisSIL"/>
                          <a:cs typeface="Times New Roman" panose="02020603050405020304" charset="0"/>
                        </a:rPr>
                        <a:t>Detected depressive visual attention patterns, 76.25% accuracy in distinguishing depressed from healthy subjects</a:t>
                      </a:r>
                      <a:endParaRPr lang="en-US" altLang="zh-CN" sz="1600">
                        <a:solidFill>
                          <a:schemeClr val="tx1"/>
                        </a:solidFill>
                        <a:latin typeface="Times New Roman" panose="02020603050405020304" charset="0"/>
                        <a:ea typeface="CharisSIL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harisSIL"/>
                          <a:cs typeface="Times New Roman" panose="02020603050405020304" charset="0"/>
                        </a:rPr>
                        <a:t>Small sample size, low sensitivity to mild depression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CharisSIL"/>
                        <a:cs typeface="Times New Roman" panose="02020603050405020304" charset="0"/>
                      </a:endParaRPr>
                    </a:p>
                  </a:txBody>
                  <a:tcPr anchor="ctr">
                    <a:solidFill>
                      <a:srgbClr val="E9EBF8"/>
                    </a:solidFill>
                  </a:tcPr>
                </a:tc>
              </a:tr>
            </a:tbl>
          </a:graphicData>
        </a:graphic>
      </p:graphicFrame>
      <p:pic>
        <p:nvPicPr>
          <p:cNvPr id="45" name="图片 44" descr="2a48b2a16e241c5d053b0dc1de3a690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2900" y="1567180"/>
            <a:ext cx="2413635" cy="43224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1646535" y="5638800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5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 Bold" panose="02020503050405090304" charset="0"/>
                  <a:cs typeface="Times New Roman Bold" panose="02020503050405090304" charset="0"/>
                </a:rPr>
                <a:t>Research Progress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02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pic>
        <p:nvPicPr>
          <p:cNvPr id="14" name="图片 13" descr="f54b2651a3def3b40800aca4c7166f2d"/>
          <p:cNvPicPr>
            <a:picLocks noChangeAspect="1"/>
          </p:cNvPicPr>
          <p:nvPr/>
        </p:nvPicPr>
        <p:blipFill>
          <a:blip r:embed="rId1"/>
          <a:srcRect r="3054"/>
          <a:stretch>
            <a:fillRect/>
          </a:stretch>
        </p:blipFill>
        <p:spPr>
          <a:xfrm>
            <a:off x="369570" y="1872615"/>
            <a:ext cx="5179695" cy="3485515"/>
          </a:xfrm>
          <a:prstGeom prst="rect">
            <a:avLst/>
          </a:prstGeom>
        </p:spPr>
      </p:pic>
      <p:sp>
        <p:nvSpPr>
          <p:cNvPr id="92" name="矩形 91"/>
          <p:cNvSpPr/>
          <p:nvPr/>
        </p:nvSpPr>
        <p:spPr>
          <a:xfrm>
            <a:off x="5765165" y="1718310"/>
            <a:ext cx="6033135" cy="140271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 cmpd="sng">
            <a:noFill/>
            <a:prstDash val="dash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 3.0 45 Light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84225" y="1044575"/>
            <a:ext cx="75857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charset="0"/>
                <a:ea typeface="ui-sans-serif"/>
                <a:cs typeface="Times New Roman" panose="02020603050405020304" charset="0"/>
                <a:sym typeface="+mn-ea"/>
              </a:rPr>
              <a:t>Part 2：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E97132">
                    <a:lumMod val="75000"/>
                  </a:srgbClr>
                </a:solidFill>
                <a:effectLst/>
                <a:uLnTx/>
                <a:uFillTx/>
                <a:latin typeface="Times New Roman" panose="02020603050405020304" charset="0"/>
                <a:ea typeface="ui-sans-serif"/>
                <a:cs typeface="Times New Roman" panose="02020603050405020304" charset="0"/>
                <a:sym typeface="+mn-ea"/>
              </a:rPr>
              <a:t>EEG Research in Depression Detection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E97132">
                  <a:lumMod val="75000"/>
                </a:srgbClr>
              </a:solidFill>
              <a:effectLst/>
              <a:uLnTx/>
              <a:uFillTx/>
              <a:latin typeface="Times New Roman" panose="02020603050405020304" charset="0"/>
              <a:ea typeface="ui-sans-serif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17870" y="1816100"/>
            <a:ext cx="6033135" cy="1123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Mahato &amp; Paul (2020) classified depressed and healthy subjects using EEG band features and SVM, achieving 88.33% accuracy. 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Limitation: Traditional machine learning, manual feature extraction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5" name="右箭头 65"/>
          <p:cNvSpPr/>
          <p:nvPr/>
        </p:nvSpPr>
        <p:spPr>
          <a:xfrm rot="5400000">
            <a:off x="7299960" y="3195320"/>
            <a:ext cx="413385" cy="453390"/>
          </a:xfrm>
          <a:prstGeom prst="rightArrow">
            <a:avLst>
              <a:gd name="adj1" fmla="val 50000"/>
              <a:gd name="adj2" fmla="val 48658"/>
            </a:avLst>
          </a:prstGeom>
          <a:gradFill>
            <a:gsLst>
              <a:gs pos="0">
                <a:srgbClr val="EFF8FC"/>
              </a:gs>
              <a:gs pos="50000">
                <a:srgbClr val="7FB4E1">
                  <a:alpha val="100000"/>
                </a:srgbClr>
              </a:gs>
              <a:gs pos="96000">
                <a:srgbClr val="0F6FC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3.0 45 Light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75270" y="3239135"/>
            <a:ext cx="1857375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Deep Learning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65165" y="3691255"/>
            <a:ext cx="6033135" cy="19608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9050" cmpd="sng">
            <a:noFill/>
            <a:prstDash val="dash"/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>
                <a:solidFill>
                  <a:schemeClr val="dk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 3.0 45 Light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58510" y="3811905"/>
            <a:ext cx="5878830" cy="169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Deep learning extracts features automatically and effectively.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2"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Yin et al. (2023) proposed a Transformer-CNN hybrid model,  which outperforms previous methods.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 startAt="2"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Tigga &amp; Garg (2023) introduced an attention-based Transformer model, achieving 98.67% accuracy in depression detection.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621366" y="5638800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6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 Bold" panose="02020503050405090304" charset="0"/>
                  <a:cs typeface="Times New Roman Bold" panose="02020503050405090304" charset="0"/>
                  <a:sym typeface="+mn-ea"/>
                </a:rPr>
                <a:t>Research Progress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02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850900" y="4975225"/>
            <a:ext cx="10490200" cy="669290"/>
            <a:chOff x="1341" y="7835"/>
            <a:chExt cx="16520" cy="1054"/>
          </a:xfrm>
        </p:grpSpPr>
        <p:sp>
          <p:nvSpPr>
            <p:cNvPr id="24" name="圆角矩形 18"/>
            <p:cNvSpPr/>
            <p:nvPr/>
          </p:nvSpPr>
          <p:spPr>
            <a:xfrm>
              <a:off x="1341" y="7835"/>
              <a:ext cx="16520" cy="1054"/>
            </a:xfrm>
            <a:prstGeom prst="roundRect">
              <a:avLst/>
            </a:prstGeom>
            <a:gradFill>
              <a:gsLst>
                <a:gs pos="0">
                  <a:srgbClr val="7FABD2"/>
                </a:gs>
                <a:gs pos="10000">
                  <a:schemeClr val="tx2">
                    <a:lumMod val="75000"/>
                    <a:lumOff val="2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506" y="7884"/>
              <a:ext cx="16191" cy="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Times New Roman" panose="02020603050405020304" charset="0"/>
                  <a:cs typeface="Times New Roman" panose="02020603050405020304" charset="0"/>
                </a:rPr>
                <a:t>Lack of efficient fusion strategies for EEG and eye-tracking in mild depression detection !</a:t>
              </a:r>
              <a:endPara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1621366" y="5638800"/>
            <a:ext cx="570634" cy="374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rPr>
              <a:t>7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50583" y="1249045"/>
            <a:ext cx="10490835" cy="3349625"/>
            <a:chOff x="1247" y="1967"/>
            <a:chExt cx="16521" cy="5275"/>
          </a:xfrm>
        </p:grpSpPr>
        <p:sp>
          <p:nvSpPr>
            <p:cNvPr id="5" name="矩形 4"/>
            <p:cNvSpPr/>
            <p:nvPr/>
          </p:nvSpPr>
          <p:spPr>
            <a:xfrm>
              <a:off x="9702" y="2964"/>
              <a:ext cx="8066" cy="3785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 cmpd="sng">
              <a:noFill/>
              <a:prstDash val="dash"/>
              <a:miter lim="800000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dk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943" y="3119"/>
              <a:ext cx="7486" cy="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marR="0" lvl="0" indent="-342900" algn="just" defTabSz="914400" rtl="0" eaLnBrk="1" fontAlgn="auto" latinLnBrk="0" hangingPunct="1">
                <a:lnSpc>
                  <a:spcPct val="16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+mj-ea"/>
                <a:buAutoNum type="circleNumDbPlain" startAt="4"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Ding et al. (2019) classified </a:t>
              </a: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major</a:t>
              </a: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depressive disorder via EEG, eye-tracking and skin electrical signals, with 79.63% classification accuracy.</a:t>
              </a:r>
              <a:endPara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  <a:sym typeface="+mn-ea"/>
              </a:endParaRPr>
            </a:p>
            <a:p>
              <a:pPr marL="285750" marR="0" lvl="0" indent="-285750" algn="just" defTabSz="914400" rtl="0" eaLnBrk="1" fontAlgn="auto" latinLnBrk="0" hangingPunct="1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Limitation: Still in the initial stage, with insufficient research on </a:t>
              </a:r>
              <a:r>
                <a:rPr kumimoji="0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E97132">
                      <a:lumMod val="75000"/>
                    </a:srgbClr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mild</a:t>
              </a:r>
              <a:r>
                <a:rPr kumimoji="0" lang="en-US" altLang="zh-CN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depression.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16" name="图片 15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1247" y="1967"/>
              <a:ext cx="8037" cy="5275"/>
            </a:xfrm>
            <a:prstGeom prst="rect">
              <a:avLst/>
            </a:prstGeom>
          </p:spPr>
        </p:pic>
        <p:sp>
          <p:nvSpPr>
            <p:cNvPr id="105" name="右箭头 65"/>
            <p:cNvSpPr/>
            <p:nvPr/>
          </p:nvSpPr>
          <p:spPr>
            <a:xfrm rot="5400000">
              <a:off x="10824" y="2062"/>
              <a:ext cx="651" cy="714"/>
            </a:xfrm>
            <a:prstGeom prst="rightArrow">
              <a:avLst>
                <a:gd name="adj1" fmla="val 50000"/>
                <a:gd name="adj2" fmla="val 48658"/>
              </a:avLst>
            </a:prstGeom>
            <a:gradFill>
              <a:gsLst>
                <a:gs pos="0">
                  <a:srgbClr val="EFF8FC"/>
                </a:gs>
                <a:gs pos="50000">
                  <a:srgbClr val="7FB4E1">
                    <a:alpha val="100000"/>
                  </a:srgbClr>
                </a:gs>
                <a:gs pos="96000">
                  <a:srgbClr val="0F6FC6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3.0 45 Light"/>
                <a:cs typeface="+mn-cs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1810" y="2131"/>
              <a:ext cx="4509" cy="58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rgbClr val="0E2841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Times New Roman" panose="02020603050405020304" charset="0"/>
                  <a:cs typeface="Times New Roman" panose="02020603050405020304" charset="0"/>
                </a:rPr>
                <a:t>Multi-modal Data Fusion</a:t>
              </a:r>
              <a:endPara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0" name="右箭头 65"/>
          <p:cNvSpPr/>
          <p:nvPr/>
        </p:nvSpPr>
        <p:spPr>
          <a:xfrm rot="5400000">
            <a:off x="6931978" y="4388485"/>
            <a:ext cx="413385" cy="453390"/>
          </a:xfrm>
          <a:prstGeom prst="rightArrow">
            <a:avLst>
              <a:gd name="adj1" fmla="val 50000"/>
              <a:gd name="adj2" fmla="val 48658"/>
            </a:avLst>
          </a:prstGeom>
          <a:gradFill>
            <a:gsLst>
              <a:gs pos="0">
                <a:srgbClr val="EFF8FC"/>
              </a:gs>
              <a:gs pos="50000">
                <a:srgbClr val="7FB4E1">
                  <a:alpha val="100000"/>
                </a:srgbClr>
              </a:gs>
              <a:gs pos="96000">
                <a:srgbClr val="0F6FC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3.0 45 Light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6503669" y="2505670"/>
            <a:ext cx="3216063" cy="9220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 defTabSz="914400"/>
            <a:r>
              <a:rPr lang="en-US" altLang="zh-CN" sz="54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  <a:sym typeface="+mn-lt"/>
              </a:rPr>
              <a:t>03</a:t>
            </a:r>
            <a:endParaRPr lang="en-US" altLang="zh-CN" sz="54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3670" y="3465830"/>
            <a:ext cx="5570220" cy="13722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3600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</a:rPr>
              <a:t>Materials and methods</a:t>
            </a:r>
            <a:endParaRPr lang="en-US" altLang="zh-CN" sz="36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4003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latin typeface="Times New Roman Bold" panose="02020503050405090304" charset="0"/>
                  <a:cs typeface="Times New Roman Bold" panose="02020503050405090304" charset="0"/>
                </a:rPr>
                <a:t>Data collection and preprocessing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03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518507" y="2651291"/>
            <a:ext cx="7877211" cy="1401826"/>
            <a:chOff x="6024608" y="1308144"/>
            <a:chExt cx="10518342" cy="1117866"/>
          </a:xfrm>
        </p:grpSpPr>
        <p:sp>
          <p:nvSpPr>
            <p:cNvPr id="46" name="矩形 45"/>
            <p:cNvSpPr/>
            <p:nvPr/>
          </p:nvSpPr>
          <p:spPr>
            <a:xfrm>
              <a:off x="6042565" y="1763343"/>
              <a:ext cx="10500385" cy="66266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 latinLnBrk="1"/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Driving scenario: 20 trials, including sudden appearance of pedestrians and vehicle collisions</a:t>
              </a:r>
              <a:endParaRPr lang="en-US" altLang="zh-CN" sz="1600" dirty="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just" latinLnBrk="1"/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EEG equipment</a:t>
              </a:r>
              <a:endParaRPr lang="en-US" altLang="zh-CN" sz="1600" dirty="0">
                <a:latin typeface="Times New Roman Regular" panose="02020503050405090304" charset="0"/>
                <a:cs typeface="Times New Roman Regular" panose="02020503050405090304" charset="0"/>
              </a:endParaRPr>
            </a:p>
            <a:p>
              <a:pPr algn="just" latinLnBrk="1"/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Eye-tracking device</a:t>
              </a:r>
              <a:endParaRPr lang="en-US" altLang="zh-CN" sz="16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47" name="矩形: 圆角 46"/>
            <p:cNvSpPr/>
            <p:nvPr/>
          </p:nvSpPr>
          <p:spPr>
            <a:xfrm>
              <a:off x="6024608" y="1308144"/>
              <a:ext cx="5390197" cy="3517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6024608" y="1371291"/>
              <a:ext cx="5409739" cy="2699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en-US" altLang="zh-CN" dirty="0">
                  <a:latin typeface="Times New Roman Bold" panose="02020503050405090304" charset="0"/>
                  <a:cs typeface="Times New Roman Bold" panose="02020503050405090304" charset="0"/>
                </a:rPr>
                <a:t>Ⅱ</a:t>
              </a:r>
              <a:r>
                <a:rPr lang="zh-CN" altLang="en-US" dirty="0">
                  <a:latin typeface="Times New Roman Bold" panose="02020503050405090304" charset="0"/>
                  <a:cs typeface="Times New Roman Bold" panose="02020503050405090304" charset="0"/>
                </a:rPr>
                <a:t>：</a:t>
              </a:r>
              <a:r>
                <a:rPr lang="en-US" altLang="zh-CN" dirty="0">
                  <a:latin typeface="Times New Roman Bold" panose="02020503050405090304" charset="0"/>
                  <a:cs typeface="Times New Roman Bold" panose="02020503050405090304" charset="0"/>
                </a:rPr>
                <a:t>Experimental paradigm and equipment</a:t>
              </a:r>
              <a:endParaRPr lang="zh-CN" altLang="en-US" dirty="0"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lt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1452027" y="892826"/>
            <a:ext cx="4166758" cy="710034"/>
            <a:chOff x="6333166" y="1289250"/>
            <a:chExt cx="4939503" cy="892256"/>
          </a:xfrm>
        </p:grpSpPr>
        <p:sp>
          <p:nvSpPr>
            <p:cNvPr id="61" name="矩形 60"/>
            <p:cNvSpPr/>
            <p:nvPr/>
          </p:nvSpPr>
          <p:spPr>
            <a:xfrm>
              <a:off x="6333166" y="1768876"/>
              <a:ext cx="4939503" cy="4126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endParaRPr lang="zh-CN" altLang="en-US" sz="14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62" name="矩形: 圆角 61"/>
            <p:cNvSpPr/>
            <p:nvPr/>
          </p:nvSpPr>
          <p:spPr>
            <a:xfrm>
              <a:off x="6491903" y="1318621"/>
              <a:ext cx="2596187" cy="36917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6446504" y="1289250"/>
              <a:ext cx="2686985" cy="425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en-US" altLang="zh-CN" dirty="0">
                  <a:latin typeface="Times New Roman Bold" panose="02020503050405090304" charset="0"/>
                  <a:cs typeface="Times New Roman Bold" panose="02020503050405090304" charset="0"/>
                </a:rPr>
                <a:t>Ⅰ</a:t>
              </a:r>
              <a:r>
                <a:rPr lang="zh-CN" altLang="en-US" dirty="0">
                  <a:latin typeface="Times New Roman Bold" panose="02020503050405090304" charset="0"/>
                  <a:cs typeface="Times New Roman Bold" panose="02020503050405090304" charset="0"/>
                </a:rPr>
                <a:t>：</a:t>
              </a:r>
              <a:r>
                <a:rPr lang="en-US" altLang="zh-CN" dirty="0">
                  <a:latin typeface="Times New Roman Bold" panose="02020503050405090304" charset="0"/>
                  <a:cs typeface="Times New Roman Bold" panose="02020503050405090304" charset="0"/>
                </a:rPr>
                <a:t>Subject Information</a:t>
              </a:r>
              <a:endParaRPr lang="zh-CN" altLang="en-US" dirty="0"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lt"/>
              </a:endParaRPr>
            </a:p>
          </p:txBody>
        </p:sp>
      </p:grp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854586" y="1369848"/>
          <a:ext cx="7879725" cy="1102719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568889"/>
                <a:gridCol w="1734573"/>
                <a:gridCol w="1222412"/>
                <a:gridCol w="2353851"/>
              </a:tblGrid>
              <a:tr h="3863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 Bold" panose="02020503050405090304" charset="0"/>
                          <a:cs typeface="Times New Roman Bold" panose="02020503050405090304" charset="0"/>
                        </a:rPr>
                        <a:t>group</a:t>
                      </a:r>
                      <a:endParaRPr lang="zh-CN" altLang="en-US" sz="1600" dirty="0">
                        <a:latin typeface="Times New Roman Bold" panose="02020503050405090304" charset="0"/>
                        <a:cs typeface="Times New Roman Bold" panose="0202050305040509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 Bold" panose="02020503050405090304" charset="0"/>
                          <a:cs typeface="Times New Roman Bold" panose="02020503050405090304" charset="0"/>
                        </a:rPr>
                        <a:t>number of people</a:t>
                      </a:r>
                      <a:endParaRPr lang="zh-CN" altLang="en-US" sz="1600" dirty="0">
                        <a:latin typeface="Times New Roman Bold" panose="02020503050405090304" charset="0"/>
                        <a:cs typeface="Times New Roman Bold" panose="0202050305040509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 Bold" panose="02020503050405090304" charset="0"/>
                          <a:cs typeface="Times New Roman Bold" panose="02020503050405090304" charset="0"/>
                        </a:rPr>
                        <a:t>average age</a:t>
                      </a:r>
                      <a:endParaRPr lang="zh-CN" altLang="en-US" sz="1600" dirty="0">
                        <a:latin typeface="Times New Roman Bold" panose="02020503050405090304" charset="0"/>
                        <a:cs typeface="Times New Roman Bold" panose="0202050305040509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 Bold" panose="02020503050405090304" charset="0"/>
                          <a:cs typeface="Times New Roman Bold" panose="02020503050405090304" charset="0"/>
                        </a:rPr>
                        <a:t>inclusion criteria</a:t>
                      </a:r>
                      <a:endParaRPr lang="zh-CN" altLang="en-US" sz="1600" dirty="0">
                        <a:latin typeface="Times New Roman Bold" panose="02020503050405090304" charset="0"/>
                        <a:cs typeface="Times New Roman Bold" panose="02020503050405090304" charset="0"/>
                      </a:endParaRPr>
                    </a:p>
                  </a:txBody>
                  <a:tcPr/>
                </a:tc>
              </a:tr>
              <a:tr h="381115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Mild to moderate depression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21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16.5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DSM-V score: 32 - 38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229601">
                <a:tc>
                  <a:txBody>
                    <a:bodyPr/>
                    <a:lstStyle/>
                    <a:p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health comparison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28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17.5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No depressive symptoms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1441054" y="4206204"/>
            <a:ext cx="4166761" cy="722209"/>
            <a:chOff x="6333164" y="1273951"/>
            <a:chExt cx="4939505" cy="907555"/>
          </a:xfrm>
        </p:grpSpPr>
        <p:sp>
          <p:nvSpPr>
            <p:cNvPr id="8" name="矩形 7"/>
            <p:cNvSpPr/>
            <p:nvPr/>
          </p:nvSpPr>
          <p:spPr>
            <a:xfrm>
              <a:off x="6333166" y="1768876"/>
              <a:ext cx="4939503" cy="4126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endParaRPr lang="zh-CN" altLang="en-US" sz="14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9" name="矩形: 圆角 8"/>
            <p:cNvSpPr/>
            <p:nvPr/>
          </p:nvSpPr>
          <p:spPr>
            <a:xfrm>
              <a:off x="6491903" y="1318621"/>
              <a:ext cx="4780762" cy="36917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333164" y="1273951"/>
              <a:ext cx="4939502" cy="425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en-US" altLang="zh-CN" dirty="0">
                  <a:latin typeface="Times New Roman Bold" panose="02020503050405090304" charset="0"/>
                  <a:cs typeface="Times New Roman Bold" panose="02020503050405090304" charset="0"/>
                </a:rPr>
                <a:t>Ⅲ</a:t>
              </a:r>
              <a:r>
                <a:rPr lang="zh-CN" altLang="en-US" dirty="0">
                  <a:latin typeface="Times New Roman Bold" panose="02020503050405090304" charset="0"/>
                  <a:cs typeface="Times New Roman Bold" panose="02020503050405090304" charset="0"/>
                </a:rPr>
                <a:t>：</a:t>
              </a:r>
              <a:r>
                <a:rPr lang="en-US" altLang="zh-CN" dirty="0">
                  <a:latin typeface="Times New Roman Bold" panose="02020503050405090304" charset="0"/>
                  <a:cs typeface="Times New Roman Bold" panose="02020503050405090304" charset="0"/>
                </a:rPr>
                <a:t> Preprocessing and Feature Extraction</a:t>
              </a:r>
              <a:endParaRPr lang="zh-CN" altLang="en-US" dirty="0"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lt"/>
              </a:endParaRPr>
            </a:p>
          </p:txBody>
        </p:sp>
      </p:grp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1854586" y="4764233"/>
          <a:ext cx="6798966" cy="1112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381314"/>
                <a:gridCol w="541765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modal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feature extract extraction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EEG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statistical characteristic</a:t>
                      </a:r>
                      <a:r>
                        <a:rPr lang="zh-CN" altLang="en-US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、</a:t>
                      </a:r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Hjorth</a:t>
                      </a:r>
                      <a:r>
                        <a:rPr lang="zh-CN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、</a:t>
                      </a:r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nonlinear character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Eye-tracking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AOI sample percentage, AOI fixation time, fixation distribution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1432698" y="5748819"/>
            <a:ext cx="88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8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3092244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2671364" cy="400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</a:rPr>
                <a:t>Multimodal fusion strategy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03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934138" y="917779"/>
            <a:ext cx="5186302" cy="3746370"/>
            <a:chOff x="6228875" y="1267141"/>
            <a:chExt cx="5186302" cy="3251797"/>
          </a:xfrm>
        </p:grpSpPr>
        <p:sp>
          <p:nvSpPr>
            <p:cNvPr id="26" name="矩形 25"/>
            <p:cNvSpPr/>
            <p:nvPr/>
          </p:nvSpPr>
          <p:spPr>
            <a:xfrm>
              <a:off x="6228875" y="1521416"/>
              <a:ext cx="5186302" cy="299752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E4F96">
                  <a:alpha val="50000"/>
                </a:srgbClr>
              </a:solidFill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28" name="矩形: 圆角 20"/>
            <p:cNvSpPr/>
            <p:nvPr/>
          </p:nvSpPr>
          <p:spPr>
            <a:xfrm>
              <a:off x="7121479" y="1267141"/>
              <a:ext cx="3401095" cy="3517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7089436" y="1317022"/>
              <a:ext cx="3401095" cy="3339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en-US" altLang="zh-CN" sz="1900" dirty="0">
                  <a:latin typeface="Times New Roman Bold" panose="02020503050405090304" charset="0"/>
                  <a:cs typeface="Times New Roman Bold" panose="02020503050405090304" charset="0"/>
                </a:rPr>
                <a:t>Deep learning fusion - </a:t>
              </a:r>
              <a:r>
                <a:rPr lang="en-US" altLang="zh-CN" sz="1900" dirty="0" err="1">
                  <a:latin typeface="Times New Roman Bold" panose="02020503050405090304" charset="0"/>
                  <a:cs typeface="Times New Roman Bold" panose="02020503050405090304" charset="0"/>
                </a:rPr>
                <a:t>MTNet</a:t>
              </a:r>
              <a:endParaRPr lang="zh-CN" altLang="en-US" sz="1900" dirty="0"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47836" y="981487"/>
            <a:ext cx="5186303" cy="3682663"/>
            <a:chOff x="6228874" y="1218167"/>
            <a:chExt cx="5186303" cy="4942036"/>
          </a:xfrm>
        </p:grpSpPr>
        <p:sp>
          <p:nvSpPr>
            <p:cNvPr id="31" name="矩形 30"/>
            <p:cNvSpPr/>
            <p:nvPr/>
          </p:nvSpPr>
          <p:spPr>
            <a:xfrm>
              <a:off x="6228874" y="1525803"/>
              <a:ext cx="5186303" cy="46344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E4F96">
                  <a:alpha val="50000"/>
                </a:srgbClr>
              </a:solidFill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6295817" y="1856093"/>
              <a:ext cx="5052416" cy="4858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endParaRPr lang="it-IT" altLang="zh-CN" sz="16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33" name="矩形: 圆角 25"/>
            <p:cNvSpPr/>
            <p:nvPr/>
          </p:nvSpPr>
          <p:spPr>
            <a:xfrm>
              <a:off x="7165014" y="1331295"/>
              <a:ext cx="3147500" cy="3517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12700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132971" y="1218167"/>
              <a:ext cx="3211586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en-US" altLang="zh-CN" sz="1900" dirty="0">
                  <a:latin typeface="Times New Roman Bold" panose="02020503050405090304" charset="0"/>
                  <a:cs typeface="Times New Roman Bold" panose="02020503050405090304" charset="0"/>
                </a:rPr>
                <a:t>Traditional machine learning</a:t>
              </a:r>
              <a:endParaRPr lang="en-US" altLang="zh-CN" sz="1900" dirty="0">
                <a:latin typeface="Times New Roman Bold" panose="02020503050405090304" charset="0"/>
                <a:ea typeface="+mn-ea"/>
                <a:cs typeface="Times New Roman Bold" panose="02020503050405090304" charset="0"/>
                <a:sym typeface="+mn-lt"/>
              </a:endParaRPr>
            </a:p>
          </p:txBody>
        </p:sp>
      </p:grpSp>
      <p:pic>
        <p:nvPicPr>
          <p:cNvPr id="49" name="图片 48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95" r="-668" b="22974"/>
          <a:stretch>
            <a:fillRect/>
          </a:stretch>
        </p:blipFill>
        <p:spPr>
          <a:xfrm>
            <a:off x="1596998" y="1497412"/>
            <a:ext cx="3201579" cy="1647200"/>
          </a:xfrm>
          <a:prstGeom prst="rect">
            <a:avLst/>
          </a:prstGeom>
        </p:spPr>
      </p:pic>
      <p:pic>
        <p:nvPicPr>
          <p:cNvPr id="52" name="图片 5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0" t="29952" r="6751" b="15394"/>
          <a:stretch>
            <a:fillRect/>
          </a:stretch>
        </p:blipFill>
        <p:spPr>
          <a:xfrm>
            <a:off x="7476761" y="1600729"/>
            <a:ext cx="2500227" cy="1543883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657553" y="4809090"/>
            <a:ext cx="1083456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The traditional method is like "simply cutting the ingredients and mixing them together", while our 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</a:rPr>
              <a:t>MTNet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 is like "asking two experts to analyze separately and then discuss together". Therefore, it can discover more detailed and specific information related to depression.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523652" y="2258469"/>
            <a:ext cx="11023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rgbClr val="1E4F96"/>
                </a:solidFill>
                <a:latin typeface="Times New Roman" panose="02020603050405020304" charset="0"/>
                <a:cs typeface="Times New Roman" panose="02020603050405020304" charset="0"/>
              </a:rPr>
              <a:t>vs</a:t>
            </a:r>
            <a:endParaRPr lang="zh-CN" altLang="en-US" sz="5400" dirty="0">
              <a:solidFill>
                <a:srgbClr val="1E4F96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50652" y="3181799"/>
            <a:ext cx="50834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>
                <a:solidFill>
                  <a:srgbClr val="1E4F96"/>
                </a:solidFill>
                <a:latin typeface="Times New Roman" panose="02020603050405020304" charset="0"/>
                <a:cs typeface="Times New Roman" panose="02020603050405020304" charset="0"/>
              </a:rPr>
              <a:t>Disadvantages:</a:t>
            </a:r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zh-CN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The features extracted manually may not be comprehensive enough. </a:t>
            </a:r>
            <a:endParaRPr lang="en-US" altLang="zh-CN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Simple concatenation ignores the deep interrelationship between the two types of data.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257862" y="3181799"/>
            <a:ext cx="4862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b="1" dirty="0">
                <a:solidFill>
                  <a:srgbClr val="1E4F96"/>
                </a:solidFill>
                <a:latin typeface="Times New Roman" panose="02020603050405020304" charset="0"/>
                <a:cs typeface="Times New Roman" panose="02020603050405020304" charset="0"/>
              </a:rPr>
              <a:t>Advantages:</a:t>
            </a:r>
            <a:endParaRPr lang="en-US" altLang="zh-CN" sz="1600" b="1" dirty="0">
              <a:solidFill>
                <a:srgbClr val="1E4F96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Automatically extract the most effective features </a:t>
            </a:r>
            <a:endParaRPr lang="en-US" altLang="zh-CN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It is possible to learn the complex relationships between two types of data. </a:t>
            </a:r>
            <a:endParaRPr lang="en-US" altLang="zh-CN" sz="1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zh-CN" sz="1600" dirty="0">
                <a:latin typeface="Times New Roman" panose="02020603050405020304" charset="0"/>
                <a:cs typeface="Times New Roman" panose="02020603050405020304" charset="0"/>
              </a:rPr>
              <a:t>The effect has been significantly improved.</a:t>
            </a:r>
            <a:endParaRPr lang="zh-CN" altLang="en-US" sz="1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L 形 5"/>
          <p:cNvSpPr/>
          <p:nvPr/>
        </p:nvSpPr>
        <p:spPr>
          <a:xfrm rot="18926899">
            <a:off x="10234159" y="2697192"/>
            <a:ext cx="629108" cy="332204"/>
          </a:xfrm>
          <a:prstGeom prst="corner">
            <a:avLst>
              <a:gd name="adj1" fmla="val 35712"/>
              <a:gd name="adj2" fmla="val 3518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十字形 6"/>
          <p:cNvSpPr/>
          <p:nvPr/>
        </p:nvSpPr>
        <p:spPr>
          <a:xfrm rot="18906797">
            <a:off x="1010881" y="2561812"/>
            <a:ext cx="602957" cy="602966"/>
          </a:xfrm>
          <a:prstGeom prst="plus">
            <a:avLst>
              <a:gd name="adj" fmla="val 38473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1432698" y="5748819"/>
            <a:ext cx="88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9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6429" y="1024898"/>
            <a:ext cx="3039140" cy="456596"/>
          </a:xfrm>
        </p:spPr>
        <p:txBody>
          <a:bodyPr/>
          <a:lstStyle/>
          <a:p>
            <a:r>
              <a:rPr lang="en-US" altLang="zh-CN" sz="1800" dirty="0">
                <a:latin typeface="Times New Roman Bold" panose="02020503050405090304" charset="0"/>
                <a:cs typeface="Times New Roman Bold" panose="02020503050405090304" charset="0"/>
              </a:rPr>
              <a:t>Early vs. Middle vs. Late</a:t>
            </a:r>
            <a:endParaRPr lang="zh-CN" altLang="en-US" sz="1800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graphicFrame>
        <p:nvGraphicFramePr>
          <p:cNvPr id="9" name="内容占位符 8"/>
          <p:cNvGraphicFramePr>
            <a:graphicFrameLocks noGrp="1"/>
          </p:cNvGraphicFramePr>
          <p:nvPr>
            <p:ph idx="1"/>
          </p:nvPr>
        </p:nvGraphicFramePr>
        <p:xfrm>
          <a:off x="2609008" y="3092980"/>
          <a:ext cx="6973983" cy="14833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417785"/>
                <a:gridCol w="1438939"/>
                <a:gridCol w="1070344"/>
                <a:gridCol w="1077433"/>
                <a:gridCol w="96948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Integration stage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accuracy rate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sensitivity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specificity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F1 score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Early integration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85.91%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85.00%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82.76%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0.837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highlight>
                            <a:srgbClr val="FFFF00"/>
                          </a:highlight>
                          <a:latin typeface="Times New Roman" panose="02020603050405020304" charset="0"/>
                          <a:cs typeface="Times New Roman" panose="02020603050405020304" charset="0"/>
                        </a:rPr>
                        <a:t>Intermediate integration</a:t>
                      </a:r>
                      <a:endParaRPr lang="zh-CN" altLang="en-US" sz="1600" b="1" dirty="0">
                        <a:highlight>
                          <a:srgbClr val="FFFF00"/>
                        </a:highlight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91.79%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90.48%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92.86%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0.904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Late fusion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89.71%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90.00%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89.66%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charset="0"/>
                          <a:ea typeface="+mn-ea"/>
                          <a:cs typeface="Times New Roman" panose="02020603050405020304" charset="0"/>
                        </a:rPr>
                        <a:t>0.878</a:t>
                      </a:r>
                      <a:endParaRPr lang="zh-CN" altLang="en-US" sz="16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369570" y="305435"/>
            <a:ext cx="7219950" cy="467360"/>
            <a:chOff x="2496626" y="2183229"/>
            <a:chExt cx="3470810" cy="467606"/>
          </a:xfrm>
        </p:grpSpPr>
        <p:sp>
          <p:nvSpPr>
            <p:cNvPr id="5" name="矩形: 圆角 4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任意多边形: 形状 5"/>
            <p:cNvSpPr/>
            <p:nvPr/>
          </p:nvSpPr>
          <p:spPr>
            <a:xfrm flipH="1">
              <a:off x="2496626" y="2193999"/>
              <a:ext cx="3216266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296072" y="2217537"/>
              <a:ext cx="2671364" cy="400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</a:rPr>
                <a:t>The influence of different integration stages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03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838200" y="4735032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Intermediate fusion of the best: Capable of effectively adapting to the heterogeneity of multimodal data and capturing the interactions between modalities 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MTNet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+ Intermediate Fusion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achieves the best detection performance (91.79%), which is superior to single-modal and feature-level fusion.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38200" y="1456960"/>
            <a:ext cx="103047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Early fusion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: Input layer directly concatenates raw features → FCNN 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Intermediate fusion 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(adopted by 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</a:rPr>
              <a:t>MTNet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): Features of each modality are extracted separately and then fused in the hidden layer. 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Late fusion</a:t>
            </a:r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: Each modality is independently modeled, and the prediction results are weighted averaged (average weighted / entropy weighted)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L 形 2"/>
          <p:cNvSpPr/>
          <p:nvPr/>
        </p:nvSpPr>
        <p:spPr>
          <a:xfrm rot="18926899">
            <a:off x="9697037" y="3941000"/>
            <a:ext cx="289173" cy="172701"/>
          </a:xfrm>
          <a:prstGeom prst="corner">
            <a:avLst>
              <a:gd name="adj1" fmla="val 35712"/>
              <a:gd name="adj2" fmla="val 3518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432698" y="5748819"/>
            <a:ext cx="88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10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6503669" y="2505670"/>
            <a:ext cx="3216063" cy="9220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 defTabSz="914400"/>
            <a:r>
              <a:rPr lang="en-US" altLang="zh-CN" sz="54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  <a:sym typeface="+mn-lt"/>
              </a:rPr>
              <a:t>04</a:t>
            </a:r>
            <a:endParaRPr lang="en-US" altLang="zh-CN" sz="54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3670" y="3465830"/>
            <a:ext cx="52558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1E4F96"/>
                </a:solidFill>
                <a:latin typeface="Times New Roman Bold" panose="02020503050405090304" charset="0"/>
                <a:cs typeface="Times New Roman Bold" panose="02020503050405090304" charset="0"/>
              </a:rPr>
              <a:t>Analysis and Conclusion</a:t>
            </a:r>
            <a:endParaRPr lang="en-US" altLang="zh-CN" sz="3600" b="1" dirty="0">
              <a:solidFill>
                <a:srgbClr val="1E4F96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dem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1525"/>
            <a:ext cx="12192000" cy="467423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69570" y="305435"/>
            <a:ext cx="4783676" cy="467360"/>
            <a:chOff x="2496626" y="2183229"/>
            <a:chExt cx="2337246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2337246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1494895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  <a:sym typeface="+mn-ea"/>
                </a:rPr>
                <a:t>Analysis and Conclusion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7" name="AutoShape 6"/>
          <p:cNvSpPr/>
          <p:nvPr>
            <p:custDataLst>
              <p:tags r:id="rId2"/>
            </p:custDataLst>
          </p:nvPr>
        </p:nvSpPr>
        <p:spPr>
          <a:xfrm>
            <a:off x="498475" y="5521325"/>
            <a:ext cx="164465" cy="40767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grpSp>
        <p:nvGrpSpPr>
          <p:cNvPr id="8" name="组合 7"/>
          <p:cNvGrpSpPr/>
          <p:nvPr/>
        </p:nvGrpSpPr>
        <p:grpSpPr>
          <a:xfrm>
            <a:off x="861060" y="5521325"/>
            <a:ext cx="10654665" cy="398780"/>
            <a:chOff x="6228874" y="1747703"/>
            <a:chExt cx="5051901" cy="676472"/>
          </a:xfrm>
        </p:grpSpPr>
        <p:sp>
          <p:nvSpPr>
            <p:cNvPr id="9" name="矩形 8"/>
            <p:cNvSpPr/>
            <p:nvPr/>
          </p:nvSpPr>
          <p:spPr>
            <a:xfrm>
              <a:off x="6228874" y="1747703"/>
              <a:ext cx="5051901" cy="67647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E4F96">
                  <a:alpha val="50000"/>
                </a:srgbClr>
              </a:solidFill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6253899" y="1748216"/>
              <a:ext cx="4982936" cy="6549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600" dirty="0">
                  <a:latin typeface="Times New Roman Regular" panose="02020503050405090304" charset="0"/>
                  <a:cs typeface="Times New Roman Regular" panose="02020503050405090304" charset="0"/>
                </a:rPr>
                <a:t>Target object: 49 adolescents; mild depression: DSM-V youth scale 32-38; reported MTNet; accuracy 91.79%, F1 score 0.904.</a:t>
              </a:r>
              <a:endParaRPr lang="en-US" altLang="zh-CN" sz="1600" dirty="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1596857" y="5744329"/>
            <a:ext cx="88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11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69" y="305435"/>
            <a:ext cx="4783677" cy="467360"/>
            <a:chOff x="2496626" y="2183229"/>
            <a:chExt cx="231486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2314860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1409080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  <a:sym typeface="+mn-ea"/>
                </a:rPr>
                <a:t>Analysis and Conclusion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369570" y="1426845"/>
            <a:ext cx="2814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Eye-tracking only (best ML)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69570" y="2235835"/>
            <a:ext cx="2814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EEG only (best ML)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78460" y="3044825"/>
            <a:ext cx="2814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Feature-based fusion (SVM)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68300" y="3853815"/>
            <a:ext cx="2814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EEG-only Transformer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68300" y="4662805"/>
            <a:ext cx="2814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MTNet intermediate fusion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294380" y="1449705"/>
            <a:ext cx="1391920" cy="34544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3294380" y="2258695"/>
            <a:ext cx="2560320" cy="34544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3294380" y="3070225"/>
            <a:ext cx="3108960" cy="34544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3294380" y="3881755"/>
            <a:ext cx="3860165" cy="34544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3294380" y="4685665"/>
            <a:ext cx="5160645" cy="34544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743450" y="1431925"/>
            <a:ext cx="925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75.61%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965190" y="2235835"/>
            <a:ext cx="925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81.62%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504940" y="3039745"/>
            <a:ext cx="925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83.70%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266305" y="3855085"/>
            <a:ext cx="925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87.87%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566785" y="4662805"/>
            <a:ext cx="925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91.79%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6403340" y="1221105"/>
            <a:ext cx="0" cy="4043680"/>
          </a:xfrm>
          <a:prstGeom prst="line">
            <a:avLst/>
          </a:prstGeom>
          <a:ln w="19050" cap="flat" cmpd="sng" algn="ctr">
            <a:solidFill>
              <a:schemeClr val="accent3">
                <a:lumMod val="75000"/>
              </a:schemeClr>
            </a:solidFill>
            <a:prstDash val="dash"/>
            <a:miter lim="800000"/>
            <a:headEnd type="none"/>
            <a:tailEnd type="none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8455025" y="1221105"/>
            <a:ext cx="0" cy="4043680"/>
          </a:xfrm>
          <a:prstGeom prst="line">
            <a:avLst/>
          </a:prstGeom>
          <a:ln w="19050" cap="flat" cmpd="sng" algn="ctr">
            <a:solidFill>
              <a:schemeClr val="accent3">
                <a:lumMod val="75000"/>
              </a:schemeClr>
            </a:solidFill>
            <a:prstDash val="dash"/>
            <a:miter lim="800000"/>
            <a:headEnd type="none"/>
            <a:tailEnd type="none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H="1">
            <a:off x="7683500" y="5085715"/>
            <a:ext cx="585470" cy="4165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4419600" y="5326380"/>
            <a:ext cx="3475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92D050"/>
                </a:solidFill>
                <a:latin typeface="Times New Roman" panose="02020603050405020304" charset="0"/>
                <a:cs typeface="Times New Roman" panose="02020603050405020304" charset="0"/>
              </a:rPr>
              <a:t>+8.09%</a:t>
            </a:r>
            <a:r>
              <a:rPr lang="en-US" altLang="zh-CN">
                <a:solidFill>
                  <a:srgbClr val="92D050"/>
                </a:solidFill>
                <a:latin typeface="Times New Roman" panose="02020603050405020304" charset="0"/>
                <a:cs typeface="Times New Roman" panose="02020603050405020304" charset="0"/>
              </a:rPr>
              <a:t> over feature-based fusion</a:t>
            </a:r>
            <a:endParaRPr lang="en-US" altLang="zh-CN">
              <a:solidFill>
                <a:srgbClr val="92D05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AutoShape 10"/>
          <p:cNvSpPr/>
          <p:nvPr>
            <p:custDataLst>
              <p:tags r:id="rId1"/>
            </p:custDataLst>
          </p:nvPr>
        </p:nvSpPr>
        <p:spPr>
          <a:xfrm>
            <a:off x="8718550" y="1776095"/>
            <a:ext cx="3472815" cy="1035685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6" name="AutoShape 6"/>
          <p:cNvSpPr/>
          <p:nvPr>
            <p:custDataLst>
              <p:tags r:id="rId2"/>
            </p:custDataLst>
          </p:nvPr>
        </p:nvSpPr>
        <p:spPr>
          <a:xfrm>
            <a:off x="8973185" y="2049780"/>
            <a:ext cx="76200" cy="63500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7" name="AutoShape 8"/>
          <p:cNvSpPr/>
          <p:nvPr>
            <p:custDataLst>
              <p:tags r:id="rId3"/>
            </p:custDataLst>
          </p:nvPr>
        </p:nvSpPr>
        <p:spPr>
          <a:xfrm>
            <a:off x="9755505" y="1231265"/>
            <a:ext cx="1504315" cy="3454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b="1">
                <a:latin typeface="Times New Roman Bold" panose="02020503050405090304" charset="0"/>
                <a:ea typeface="微软雅黑" panose="020B0503020204020204" pitchFamily="34" charset="-122"/>
                <a:cs typeface="Times New Roman Bold" panose="02020503050405090304" charset="0"/>
              </a:rPr>
              <a:t>Key readout</a:t>
            </a:r>
            <a:endParaRPr lang="en-US" altLang="zh-CN" sz="2000" b="1">
              <a:latin typeface="Times New Roman Bold" panose="02020503050405090304" charset="0"/>
              <a:ea typeface="微软雅黑" panose="020B0503020204020204" pitchFamily="34" charset="-122"/>
              <a:cs typeface="Times New Roman Bold" panose="02020503050405090304" charset="0"/>
            </a:endParaRPr>
          </a:p>
        </p:txBody>
      </p:sp>
      <p:sp>
        <p:nvSpPr>
          <p:cNvPr id="58" name="AutoShape 9"/>
          <p:cNvSpPr/>
          <p:nvPr>
            <p:custDataLst>
              <p:tags r:id="rId4"/>
            </p:custDataLst>
          </p:nvPr>
        </p:nvSpPr>
        <p:spPr>
          <a:xfrm>
            <a:off x="9933305" y="1945640"/>
            <a:ext cx="150495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altLang="zh-CN" sz="1600" i="0" u="none" strike="noStrike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Poppins"/>
              </a:rPr>
              <a:t>Best accuracy</a:t>
            </a:r>
            <a:endParaRPr lang="en-US" altLang="zh-CN" i="0" u="none" strike="noStrike">
              <a:solidFill>
                <a:srgbClr val="555F6E"/>
              </a:solidFill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Poppins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2000" b="1" i="0" u="none" strike="noStrike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Poppins"/>
              </a:rPr>
              <a:t>91.79%</a:t>
            </a:r>
            <a:endParaRPr lang="en-US" altLang="zh-CN" sz="2000" b="1" i="0" u="none" strike="noStrike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Poppins"/>
            </a:endParaRPr>
          </a:p>
        </p:txBody>
      </p:sp>
      <p:pic>
        <p:nvPicPr>
          <p:cNvPr id="59" name="图片 58" descr="linchuangkeshijieshouquer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9245" y="2103120"/>
            <a:ext cx="459740" cy="459740"/>
          </a:xfrm>
          <a:prstGeom prst="rect">
            <a:avLst/>
          </a:prstGeom>
        </p:spPr>
      </p:pic>
      <p:sp>
        <p:nvSpPr>
          <p:cNvPr id="70" name="AutoShape 10"/>
          <p:cNvSpPr/>
          <p:nvPr>
            <p:custDataLst>
              <p:tags r:id="rId6"/>
            </p:custDataLst>
          </p:nvPr>
        </p:nvSpPr>
        <p:spPr>
          <a:xfrm>
            <a:off x="8718550" y="3181985"/>
            <a:ext cx="3472815" cy="1035685"/>
          </a:xfrm>
          <a:prstGeom prst="roundRect">
            <a:avLst>
              <a:gd name="adj" fmla="val 10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1" name="AutoShape 6"/>
          <p:cNvSpPr/>
          <p:nvPr>
            <p:custDataLst>
              <p:tags r:id="rId7"/>
            </p:custDataLst>
          </p:nvPr>
        </p:nvSpPr>
        <p:spPr>
          <a:xfrm>
            <a:off x="8937625" y="3420110"/>
            <a:ext cx="76200" cy="635000"/>
          </a:xfrm>
          <a:prstGeom prst="roundRect">
            <a:avLst>
              <a:gd name="adj" fmla="val 50000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3" name="AutoShape 9"/>
          <p:cNvSpPr/>
          <p:nvPr>
            <p:custDataLst>
              <p:tags r:id="rId8"/>
            </p:custDataLst>
          </p:nvPr>
        </p:nvSpPr>
        <p:spPr>
          <a:xfrm>
            <a:off x="9933305" y="3368675"/>
            <a:ext cx="150495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altLang="zh-CN" sz="1600" i="0" u="none" strike="noStrike">
                <a:solidFill>
                  <a:srgbClr val="555F6E"/>
                </a:solidFill>
                <a:latin typeface="Times New Roman Regular" panose="02020503050405090304" charset="0"/>
                <a:ea typeface="微软雅黑" panose="020B0503020204020204" pitchFamily="34" charset="-122"/>
                <a:cs typeface="Times New Roman Regular" panose="02020503050405090304" charset="0"/>
                <a:sym typeface="Poppins"/>
              </a:rPr>
              <a:t>F1-score peak</a:t>
            </a:r>
            <a:endParaRPr lang="en-US" altLang="zh-CN" sz="1600" i="0" u="none" strike="noStrike">
              <a:solidFill>
                <a:srgbClr val="555F6E"/>
              </a:solidFill>
              <a:latin typeface="Times New Roman Regular" panose="02020503050405090304" charset="0"/>
              <a:ea typeface="微软雅黑" panose="020B0503020204020204" pitchFamily="34" charset="-122"/>
              <a:cs typeface="Times New Roman Regular" panose="02020503050405090304" charset="0"/>
              <a:sym typeface="Poppins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altLang="zh-CN" sz="2000" b="1" i="0" u="none" strike="noStrike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Poppins"/>
              </a:rPr>
              <a:t>0.904</a:t>
            </a:r>
            <a:endParaRPr lang="en-US" altLang="zh-CN" sz="2000" b="1" i="0" u="none" strike="noStrike">
              <a:solidFill>
                <a:srgbClr val="C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  <a:sym typeface="Poppins"/>
            </a:endParaRPr>
          </a:p>
        </p:txBody>
      </p:sp>
      <p:pic>
        <p:nvPicPr>
          <p:cNvPr id="75" name="图片 74" descr="dongcha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0500" y="3368675"/>
            <a:ext cx="697865" cy="697865"/>
          </a:xfrm>
          <a:prstGeom prst="rect">
            <a:avLst/>
          </a:prstGeom>
        </p:spPr>
      </p:pic>
      <p:sp>
        <p:nvSpPr>
          <p:cNvPr id="76" name="文本框 75"/>
          <p:cNvSpPr txBox="1"/>
          <p:nvPr/>
        </p:nvSpPr>
        <p:spPr>
          <a:xfrm>
            <a:off x="828040" y="5729605"/>
            <a:ext cx="105359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Signal story: </a:t>
            </a:r>
            <a:r>
              <a:rPr lang="en-US" altLang="zh-CN" sz="1600" b="1">
                <a:latin typeface="Times New Roman" panose="02020603050405020304" charset="0"/>
                <a:cs typeface="Times New Roman" panose="02020603050405020304" charset="0"/>
              </a:rPr>
              <a:t>eye behavior + EEG neural activity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&gt; Transformer-based intermediate fusion &gt; stronger screening performance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596857" y="5744329"/>
            <a:ext cx="886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12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/>
          <p:cNvSpPr/>
          <p:nvPr/>
        </p:nvSpPr>
        <p:spPr>
          <a:xfrm>
            <a:off x="6041390" y="2191385"/>
            <a:ext cx="3261360" cy="252857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369570" y="305435"/>
            <a:ext cx="4762411" cy="467360"/>
            <a:chOff x="2496626" y="2183229"/>
            <a:chExt cx="2289410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2289410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3" y="2207372"/>
              <a:ext cx="1452481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</a:rPr>
                <a:t>Analysis and Conclusion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04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1621366" y="5763491"/>
            <a:ext cx="57063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13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605" y="1197610"/>
            <a:ext cx="5079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Error Analysis: Why Is MTNet Better for Screening?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圆角矩形 275"/>
          <p:cNvSpPr/>
          <p:nvPr/>
        </p:nvSpPr>
        <p:spPr>
          <a:xfrm>
            <a:off x="369570" y="1163955"/>
            <a:ext cx="5104765" cy="443865"/>
          </a:xfrm>
          <a:prstGeom prst="roundRect">
            <a:avLst>
              <a:gd name="adj" fmla="val 4182"/>
            </a:avLst>
          </a:prstGeom>
          <a:noFill/>
          <a:ln>
            <a:solidFill>
              <a:srgbClr val="1D4F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69570" y="1717040"/>
            <a:ext cx="85591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The intermediate fusion setting 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cuts total mistakes in half</a:t>
            </a: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 and reduces missed mild-depression cases.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508760" y="2758440"/>
            <a:ext cx="1249680" cy="58547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False alarm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125730" y="2758440"/>
            <a:ext cx="1221740" cy="5854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24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Correct HC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25730" y="3559175"/>
            <a:ext cx="1221740" cy="58547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 lang="en-US" altLang="zh-CN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Missed MD</a:t>
            </a:r>
            <a:endParaRPr lang="en-US" altLang="zh-CN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508760" y="3559175"/>
            <a:ext cx="1249680" cy="5854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17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Correct MD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51510" y="2247265"/>
            <a:ext cx="1570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Feature-based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-30480" y="4359910"/>
            <a:ext cx="293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Total errors: 8 Missed MD: 4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4613910" y="2758440"/>
            <a:ext cx="1249680" cy="58547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False alarm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3230880" y="2758440"/>
            <a:ext cx="1221740" cy="5854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25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Correct HC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3230880" y="3559175"/>
            <a:ext cx="1221740" cy="58547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 lang="en-US" altLang="zh-CN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Missed MD</a:t>
            </a:r>
            <a:endParaRPr lang="en-US" altLang="zh-CN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4613910" y="3559175"/>
            <a:ext cx="1249680" cy="5854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17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Correct MD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3756660" y="2247265"/>
            <a:ext cx="1570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Early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074670" y="4359910"/>
            <a:ext cx="293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Total errors: 7 Missed MD: 4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4" name="圆角矩形 73"/>
          <p:cNvSpPr/>
          <p:nvPr/>
        </p:nvSpPr>
        <p:spPr>
          <a:xfrm>
            <a:off x="7719060" y="2749550"/>
            <a:ext cx="1249680" cy="58547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False alarm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5" name="圆角矩形 74"/>
          <p:cNvSpPr/>
          <p:nvPr/>
        </p:nvSpPr>
        <p:spPr>
          <a:xfrm>
            <a:off x="6336030" y="2749550"/>
            <a:ext cx="1221740" cy="5854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26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Correct HC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6336030" y="3550285"/>
            <a:ext cx="1221740" cy="58547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Missed MD</a:t>
            </a:r>
            <a:endParaRPr lang="en-US" altLang="zh-CN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7" name="圆角矩形 76"/>
          <p:cNvSpPr/>
          <p:nvPr/>
        </p:nvSpPr>
        <p:spPr>
          <a:xfrm>
            <a:off x="7719060" y="3550285"/>
            <a:ext cx="1249680" cy="5854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19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Correct MD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6861810" y="2238375"/>
            <a:ext cx="1570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Intermediate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179820" y="4351020"/>
            <a:ext cx="293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Total errors: 4 Missed MD: 2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10824210" y="2751455"/>
            <a:ext cx="1249680" cy="58547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False alarm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1" name="圆角矩形 80"/>
          <p:cNvSpPr/>
          <p:nvPr/>
        </p:nvSpPr>
        <p:spPr>
          <a:xfrm>
            <a:off x="9441180" y="2751455"/>
            <a:ext cx="1221740" cy="5854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26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Correct HC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2" name="圆角矩形 81"/>
          <p:cNvSpPr/>
          <p:nvPr/>
        </p:nvSpPr>
        <p:spPr>
          <a:xfrm>
            <a:off x="9441180" y="3552190"/>
            <a:ext cx="1221740" cy="585470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en-US" altLang="zh-CN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Missed MD</a:t>
            </a:r>
            <a:endParaRPr lang="en-US" altLang="zh-CN" sz="160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3" name="圆角矩形 82"/>
          <p:cNvSpPr/>
          <p:nvPr/>
        </p:nvSpPr>
        <p:spPr>
          <a:xfrm>
            <a:off x="10824210" y="3552190"/>
            <a:ext cx="1249680" cy="58547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18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Correct MD</a:t>
            </a:r>
            <a:endParaRPr lang="en-US" altLang="zh-CN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9966960" y="2240280"/>
            <a:ext cx="15709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Late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9284970" y="4352925"/>
            <a:ext cx="293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Total errors: 5 Missed MD: 3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560705" y="4985385"/>
            <a:ext cx="110604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Intermediate fusion significantly reduces misclassification, cutting total errors from 8 to 4 and missed mild-depression cases from 4 to 2.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MTNet provides a more balanced screening result, achieving high sensitivity and specificity while reducing the risk of missed depression detection.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/>
          <p:cNvSpPr/>
          <p:nvPr/>
        </p:nvSpPr>
        <p:spPr>
          <a:xfrm>
            <a:off x="6503669" y="2505670"/>
            <a:ext cx="3216063" cy="9220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l" defTabSz="914400"/>
            <a:r>
              <a:rPr lang="en-US" altLang="zh-CN" sz="54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  <a:sym typeface="+mn-lt"/>
              </a:rPr>
              <a:t>05</a:t>
            </a:r>
            <a:endParaRPr lang="en-US" altLang="zh-CN" sz="54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03668" y="3465513"/>
            <a:ext cx="52417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rgbClr val="1D4F98"/>
                </a:solidFill>
                <a:latin typeface="Times New Roman Bold" panose="02020503050405090304" charset="0"/>
                <a:cs typeface="Times New Roman Bold" panose="02020503050405090304" charset="0"/>
              </a:rPr>
              <a:t>References and About us</a:t>
            </a:r>
            <a:endParaRPr lang="en-US" altLang="zh-CN" sz="3600" b="1" dirty="0">
              <a:solidFill>
                <a:srgbClr val="1D4F98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4393816" cy="467360"/>
            <a:chOff x="2496626" y="2183229"/>
            <a:chExt cx="2112217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1546562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2" y="2207372"/>
              <a:ext cx="1312771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  <a:sym typeface="+mn-ea"/>
                </a:rPr>
                <a:t>References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05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69570" y="965978"/>
            <a:ext cx="11040110" cy="56455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Das, Abhishek, et al. "Human attention in visual question answering: Do humans and deep networks look at the same regions?." Computer Vision and Image Understanding 163 (2017): 90-100.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 err="1">
                <a:latin typeface="Times New Roman Regular" panose="02020503050405090304" charset="0"/>
                <a:cs typeface="Times New Roman Regular" panose="02020503050405090304" charset="0"/>
              </a:rPr>
              <a:t>Chlasta</a:t>
            </a: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, Karol, et al. "AI-Based Screening for Depression and Social Anxiety Through Eye Tracking: An Exploratory Study." </a:t>
            </a:r>
            <a:r>
              <a:rPr lang="en-US" altLang="zh-CN" sz="1200" dirty="0" err="1">
                <a:latin typeface="Times New Roman Regular" panose="02020503050405090304" charset="0"/>
                <a:cs typeface="Times New Roman Regular" panose="02020503050405090304" charset="0"/>
              </a:rPr>
              <a:t>arXiv</a:t>
            </a: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 preprint arXiv:2503.17625 (2025).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Zhu, Jing, et al. "An improved classification model for depression detection using EEG and eye tracking data." IEEE transactions on </a:t>
            </a:r>
            <a:r>
              <a:rPr lang="en-US" altLang="zh-CN" sz="1200" dirty="0" err="1">
                <a:latin typeface="Times New Roman Regular" panose="02020503050405090304" charset="0"/>
                <a:cs typeface="Times New Roman Regular" panose="02020503050405090304" charset="0"/>
              </a:rPr>
              <a:t>nanobioscience</a:t>
            </a: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 19.3 (2020): 527-537.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Zheng, </a:t>
            </a:r>
            <a:r>
              <a:rPr lang="en-US" altLang="zh-CN" sz="1200" dirty="0" err="1">
                <a:latin typeface="Times New Roman Regular" panose="02020503050405090304" charset="0"/>
                <a:cs typeface="Times New Roman Regular" panose="02020503050405090304" charset="0"/>
              </a:rPr>
              <a:t>Zhiguo</a:t>
            </a: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, et al. "Diagnosing and tracking depression based on eye movement in response to virtual reality." Frontiers in Psychiatry 15 (2024): 1280935.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Lee, S., S. Kim, and K. M. Lee. "Depression detection using virtual avatar communication and eye tracking." Frontiers in Psychiatry 13 (2022): 10699095.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Zhu, Jing, et al. "Multimodal mild depression recognition based on EEG-EM synchronization acquisition network." IEEE Access 7 (2019): 28196-28210.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Zhu, Jing, et al. "Transformer-based fusion model for mild depression recognition with EEG and pupil area signals." Medical &amp; Biological Engineering &amp; Computing 63.7 (2025): 2011-2027.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 err="1">
                <a:latin typeface="Times New Roman Regular" panose="02020503050405090304" charset="0"/>
                <a:cs typeface="Times New Roman Regular" panose="02020503050405090304" charset="0"/>
              </a:rPr>
              <a:t>Stolicyn</a:t>
            </a: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, A., J. D. Steele, and P. </a:t>
            </a:r>
            <a:r>
              <a:rPr lang="en-US" altLang="zh-CN" sz="1200" dirty="0" err="1">
                <a:latin typeface="Times New Roman Regular" panose="02020503050405090304" charset="0"/>
                <a:cs typeface="Times New Roman Regular" panose="02020503050405090304" charset="0"/>
              </a:rPr>
              <a:t>Seriès</a:t>
            </a: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. "Prediction of depression symptoms in individual subjects with face and eye movement tracking." Psychological Medicine 52.9 (2022): 1784-1792.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Yang, M., et al. "Clustering based on eye tracking data for depression recognition." IEEE Transactions on Cognitive and Developmental Systems (2022).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Mahato, S., and S. Paul. "Classification of depression patients and normal subjects based on electroencephalogram (EEG) signal using alpha power and theta asymmetry." Journal of Medical Systems 44 (2020): 1-8.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algn="just" fontAlgn="auto">
              <a:lnSpc>
                <a:spcPct val="125000"/>
              </a:lnSpc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11.       Yin, F., et al. "Depression detection in speech using transformer and parallel convolutional neural networks." Electronics 12.2 (2023): 328.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algn="just" fontAlgn="auto">
              <a:lnSpc>
                <a:spcPct val="125000"/>
              </a:lnSpc>
              <a:buAutoNum type="arabicPeriod" startAt="12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   </a:t>
            </a:r>
            <a:r>
              <a:rPr lang="en-US" altLang="zh-CN" sz="1200" dirty="0" err="1">
                <a:latin typeface="Times New Roman Regular" panose="02020503050405090304" charset="0"/>
                <a:cs typeface="Times New Roman Regular" panose="02020503050405090304" charset="0"/>
              </a:rPr>
              <a:t>Tigga</a:t>
            </a: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, N. P., and S. Garg. "Efficacy of novel attention-based gated recurrent units transformer for depression detection using electroencephalogram signals." Health Information Science and Systems 11.1 (2023): 1-17.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algn="just" fontAlgn="auto">
              <a:lnSpc>
                <a:spcPct val="125000"/>
              </a:lnSpc>
              <a:buAutoNum type="arabicPeriod" startAt="12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   Ding, X., et al. "Classifying major depression patients and healthy controls using EEG, eye tracking and galvanic skin response data." Journal of Affective Disorders 251 (2019): 156-161.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342900" indent="-342900" algn="just" fontAlgn="auto">
              <a:lnSpc>
                <a:spcPct val="125000"/>
              </a:lnSpc>
              <a:buAutoNum type="arabicPeriod" startAt="12"/>
            </a:pPr>
            <a:r>
              <a:rPr lang="en-US" altLang="zh-CN" sz="1200" dirty="0">
                <a:latin typeface="Times New Roman Regular" panose="02020503050405090304" charset="0"/>
                <a:cs typeface="Times New Roman Regular" panose="02020503050405090304" charset="0"/>
              </a:rPr>
              <a:t>   Zhu, J., et al. "Toward depression recognition using EEG and eye tracking: an ensemble classification model CBEM." 2019 IEEE International Conference on Bioinformatics and Biomedicine (BIBM). IEEE, 2019.</a:t>
            </a: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endParaRPr lang="en-US" altLang="zh-CN" sz="12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457200" indent="-457200" algn="just" fontAlgn="auto">
              <a:lnSpc>
                <a:spcPct val="125000"/>
              </a:lnSpc>
              <a:buFont typeface="+mj-lt"/>
              <a:buAutoNum type="arabicPeriod"/>
            </a:pPr>
            <a:endParaRPr lang="en-US" altLang="zh-CN" sz="14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9570" y="305435"/>
            <a:ext cx="5094717" cy="467360"/>
            <a:chOff x="2496626" y="2183229"/>
            <a:chExt cx="2593798" cy="467606"/>
          </a:xfrm>
        </p:grpSpPr>
        <p:sp>
          <p:nvSpPr>
            <p:cNvPr id="3" name="矩形: 圆角 2"/>
            <p:cNvSpPr/>
            <p:nvPr/>
          </p:nvSpPr>
          <p:spPr>
            <a:xfrm>
              <a:off x="2795710" y="2188312"/>
              <a:ext cx="432010" cy="456805"/>
            </a:xfrm>
            <a:prstGeom prst="roundRect">
              <a:avLst>
                <a:gd name="adj" fmla="val 0"/>
              </a:avLst>
            </a:prstGeom>
            <a:solidFill>
              <a:srgbClr val="1E4F96"/>
            </a:solidFill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任意多边形: 形状 3"/>
            <p:cNvSpPr/>
            <p:nvPr/>
          </p:nvSpPr>
          <p:spPr>
            <a:xfrm flipH="1">
              <a:off x="2496626" y="2193999"/>
              <a:ext cx="1547678" cy="456836"/>
            </a:xfrm>
            <a:custGeom>
              <a:avLst/>
              <a:gdLst>
                <a:gd name="connsiteX0" fmla="*/ 0 w 3092244"/>
                <a:gd name="connsiteY0" fmla="*/ 0 h 456836"/>
                <a:gd name="connsiteX1" fmla="*/ 773061 w 3092244"/>
                <a:gd name="connsiteY1" fmla="*/ 0 h 456836"/>
                <a:gd name="connsiteX2" fmla="*/ 1317704 w 3092244"/>
                <a:gd name="connsiteY2" fmla="*/ 0 h 456836"/>
                <a:gd name="connsiteX3" fmla="*/ 1546122 w 3092244"/>
                <a:gd name="connsiteY3" fmla="*/ 0 h 456836"/>
                <a:gd name="connsiteX4" fmla="*/ 2090765 w 3092244"/>
                <a:gd name="connsiteY4" fmla="*/ 0 h 456836"/>
                <a:gd name="connsiteX5" fmla="*/ 2863826 w 3092244"/>
                <a:gd name="connsiteY5" fmla="*/ 0 h 456836"/>
                <a:gd name="connsiteX6" fmla="*/ 3092244 w 3092244"/>
                <a:gd name="connsiteY6" fmla="*/ 228418 h 456836"/>
                <a:gd name="connsiteX7" fmla="*/ 3092243 w 3092244"/>
                <a:gd name="connsiteY7" fmla="*/ 228418 h 456836"/>
                <a:gd name="connsiteX8" fmla="*/ 2863825 w 3092244"/>
                <a:gd name="connsiteY8" fmla="*/ 456836 h 456836"/>
                <a:gd name="connsiteX9" fmla="*/ 2090771 w 3092244"/>
                <a:gd name="connsiteY9" fmla="*/ 456835 h 456836"/>
                <a:gd name="connsiteX10" fmla="*/ 2090764 w 3092244"/>
                <a:gd name="connsiteY10" fmla="*/ 456836 h 456836"/>
                <a:gd name="connsiteX11" fmla="*/ 1317710 w 3092244"/>
                <a:gd name="connsiteY11" fmla="*/ 456835 h 456836"/>
                <a:gd name="connsiteX12" fmla="*/ 1317702 w 3092244"/>
                <a:gd name="connsiteY12" fmla="*/ 456836 h 456836"/>
                <a:gd name="connsiteX13" fmla="*/ 0 w 3092244"/>
                <a:gd name="connsiteY13" fmla="*/ 456835 h 456836"/>
                <a:gd name="connsiteX14" fmla="*/ 32121 w 3092244"/>
                <a:gd name="connsiteY14" fmla="*/ 353353 h 456836"/>
                <a:gd name="connsiteX15" fmla="*/ 44716 w 3092244"/>
                <a:gd name="connsiteY15" fmla="*/ 228417 h 456836"/>
                <a:gd name="connsiteX16" fmla="*/ 32121 w 3092244"/>
                <a:gd name="connsiteY16" fmla="*/ 103480 h 456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92244" h="456836">
                  <a:moveTo>
                    <a:pt x="0" y="0"/>
                  </a:moveTo>
                  <a:lnTo>
                    <a:pt x="773061" y="0"/>
                  </a:lnTo>
                  <a:lnTo>
                    <a:pt x="1317704" y="0"/>
                  </a:lnTo>
                  <a:lnTo>
                    <a:pt x="1546122" y="0"/>
                  </a:lnTo>
                  <a:lnTo>
                    <a:pt x="2090765" y="0"/>
                  </a:lnTo>
                  <a:lnTo>
                    <a:pt x="2863826" y="0"/>
                  </a:lnTo>
                  <a:cubicBezTo>
                    <a:pt x="2989977" y="0"/>
                    <a:pt x="3092244" y="102267"/>
                    <a:pt x="3092244" y="228418"/>
                  </a:cubicBezTo>
                  <a:lnTo>
                    <a:pt x="3092243" y="228418"/>
                  </a:lnTo>
                  <a:cubicBezTo>
                    <a:pt x="3092243" y="354569"/>
                    <a:pt x="2989976" y="456836"/>
                    <a:pt x="2863825" y="456836"/>
                  </a:cubicBezTo>
                  <a:lnTo>
                    <a:pt x="2090771" y="456835"/>
                  </a:lnTo>
                  <a:lnTo>
                    <a:pt x="2090764" y="456836"/>
                  </a:lnTo>
                  <a:lnTo>
                    <a:pt x="1317710" y="456835"/>
                  </a:lnTo>
                  <a:lnTo>
                    <a:pt x="1317702" y="456836"/>
                  </a:lnTo>
                  <a:lnTo>
                    <a:pt x="0" y="456835"/>
                  </a:lnTo>
                  <a:lnTo>
                    <a:pt x="32121" y="353353"/>
                  </a:lnTo>
                  <a:cubicBezTo>
                    <a:pt x="40380" y="312997"/>
                    <a:pt x="44716" y="271213"/>
                    <a:pt x="44716" y="228417"/>
                  </a:cubicBezTo>
                  <a:cubicBezTo>
                    <a:pt x="44716" y="185620"/>
                    <a:pt x="40380" y="143836"/>
                    <a:pt x="32121" y="103480"/>
                  </a:cubicBezTo>
                  <a:close/>
                </a:path>
              </a:pathLst>
            </a:custGeom>
            <a:noFill/>
            <a:ln>
              <a:solidFill>
                <a:srgbClr val="1E4F9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296073" y="2207372"/>
              <a:ext cx="1794351" cy="398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2000" b="1" dirty="0">
                  <a:latin typeface="Times New Roman Bold" panose="02020503050405090304" charset="0"/>
                  <a:cs typeface="Times New Roman Bold" panose="02020503050405090304" charset="0"/>
                </a:rPr>
                <a:t>About us</a:t>
              </a:r>
              <a:endParaRPr lang="en-US" altLang="zh-CN" sz="2000" b="1" dirty="0">
                <a:latin typeface="Times New Roman Bold" panose="02020503050405090304" charset="0"/>
                <a:cs typeface="Times New Roman Bold" panose="02020503050405090304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863854" y="2183229"/>
              <a:ext cx="296713" cy="460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 Bold" panose="02020503050405090304" charset="0"/>
                  <a:ea typeface="+mj-ea"/>
                  <a:cs typeface="Times New Roman Bold" panose="02020503050405090304" charset="0"/>
                </a:rPr>
                <a:t>05</a:t>
              </a:r>
              <a:endParaRPr lang="zh-CN" altLang="en-US" sz="2400" b="1" dirty="0">
                <a:solidFill>
                  <a:schemeClr val="bg1"/>
                </a:solidFill>
                <a:latin typeface="Times New Roman Bold" panose="02020503050405090304" charset="0"/>
                <a:ea typeface="+mj-ea"/>
                <a:cs typeface="Times New Roman Bold" panose="02020503050405090304" charset="0"/>
              </a:endParaRPr>
            </a:p>
          </p:txBody>
        </p:sp>
      </p:grpSp>
      <p:sp>
        <p:nvSpPr>
          <p:cNvPr id="8" name="矩形: 圆角 7"/>
          <p:cNvSpPr/>
          <p:nvPr/>
        </p:nvSpPr>
        <p:spPr>
          <a:xfrm>
            <a:off x="1729562" y="1814623"/>
            <a:ext cx="3749750" cy="1268818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/>
          <p:cNvSpPr/>
          <p:nvPr/>
        </p:nvSpPr>
        <p:spPr>
          <a:xfrm>
            <a:off x="6397256" y="1814623"/>
            <a:ext cx="3858442" cy="1268818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/>
          <p:cNvSpPr/>
          <p:nvPr/>
        </p:nvSpPr>
        <p:spPr>
          <a:xfrm>
            <a:off x="1729562" y="3628442"/>
            <a:ext cx="3749750" cy="1268818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>
            <a:off x="6397256" y="3628442"/>
            <a:ext cx="3858441" cy="1268818"/>
          </a:xfrm>
          <a:prstGeom prst="round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772730" y="1658678"/>
            <a:ext cx="1540554" cy="31188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Zhao Poling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7589290" y="1707229"/>
            <a:ext cx="1540554" cy="31188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Shu Anqi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589290" y="3472497"/>
            <a:ext cx="1540554" cy="31188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Ye 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</a:rPr>
              <a:t>Binghui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772731" y="3472497"/>
            <a:ext cx="1540554" cy="31188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Wu </a:t>
            </a:r>
            <a:r>
              <a:rPr lang="en-US" altLang="zh-CN" dirty="0" err="1">
                <a:latin typeface="Times New Roman" panose="02020603050405020304" charset="0"/>
                <a:cs typeface="Times New Roman" panose="02020603050405020304" charset="0"/>
              </a:rPr>
              <a:t>Qirui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729562" y="2019118"/>
            <a:ext cx="38584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Control the process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Clearly assign tasks to team members 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Complete the research methods section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623494" y="2019118"/>
            <a:ext cx="34059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Complete the research background section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Provide the presentation outline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912216" y="3867722"/>
            <a:ext cx="32615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Complete the research progress section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Provide suggestions for revisions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543465" y="3867722"/>
            <a:ext cx="36322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Complete the data analysis and result section</a:t>
            </a:r>
            <a:endParaRPr lang="en-US" altLang="zh-CN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/>
            <a:r>
              <a:rPr lang="en-US" altLang="zh-CN" dirty="0">
                <a:latin typeface="Times New Roman" panose="02020603050405020304" charset="0"/>
                <a:cs typeface="Times New Roman" panose="02020603050405020304" charset="0"/>
              </a:rPr>
              <a:t>Provide professional guidance.</a:t>
            </a:r>
            <a:endParaRPr lang="zh-CN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5345" y="2545779"/>
            <a:ext cx="10515600" cy="1325563"/>
          </a:xfrm>
        </p:spPr>
        <p:txBody>
          <a:bodyPr/>
          <a:lstStyle/>
          <a:p>
            <a:pPr algn="ctr"/>
            <a:r>
              <a:rPr lang="en-US" altLang="zh-CN" sz="8000" b="1" dirty="0">
                <a:solidFill>
                  <a:srgbClr val="1E4F96"/>
                </a:solidFill>
                <a:latin typeface="Times New Roman Bold" panose="02020503050405090304" charset="0"/>
                <a:ea typeface="思源宋体 CN Heavy" panose="02020900000000000000" pitchFamily="18" charset="-122"/>
                <a:cs typeface="Times New Roman Bold" panose="02020503050405090304" charset="0"/>
              </a:rPr>
              <a:t>Thank you for listening!</a:t>
            </a:r>
            <a:endParaRPr lang="en-US" altLang="zh-CN" sz="8000" b="1" dirty="0">
              <a:solidFill>
                <a:srgbClr val="1E4F96"/>
              </a:solidFill>
              <a:latin typeface="Times New Roman Bold" panose="02020503050405090304" charset="0"/>
              <a:ea typeface="思源宋体 CN Heavy" panose="02020900000000000000" pitchFamily="18" charset="-122"/>
              <a:cs typeface="Times New Roman Bold" panose="0202050305040509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2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3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4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5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6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7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8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9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10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11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12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13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14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15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16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17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18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19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20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21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22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23.xml><?xml version="1.0" encoding="utf-8"?>
<p:tagLst xmlns:p="http://schemas.openxmlformats.org/presentationml/2006/main">
  <p:tag name="KSO_WM_DIAGRAM_VIRTUALLY_FRAME" val="{&quot;height&quot;:334.35960629921254,&quot;left&quot;:131.43299212598424,&quot;top&quot;:107.63834645669291,&quot;width&quot;:704.6670078740158}"/>
</p:tagLst>
</file>

<file path=ppt/tags/tag24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25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26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27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28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29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30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31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32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33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34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35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36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37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38.xml><?xml version="1.0" encoding="utf-8"?>
<p:tagLst xmlns:p="http://schemas.openxmlformats.org/presentationml/2006/main">
  <p:tag name="KSO_WM_DIAGRAM_VIRTUALLY_FRAME" val="{&quot;height&quot;:439.3,&quot;left&quot;:41.75,&quot;top&quot;:70.7,&quot;width&quot;:930.7}"/>
</p:tagLst>
</file>

<file path=ppt/tags/tag39.xml><?xml version="1.0" encoding="utf-8"?>
<p:tagLst xmlns:p="http://schemas.openxmlformats.org/presentationml/2006/main">
  <p:tag name="TABLE_ENDDRAG_ORIGIN_RECT" val="666*340"/>
  <p:tag name="TABLE_ENDDRAG_RECT" val="46*124*666*340"/>
</p:tagLst>
</file>

<file path=ppt/tags/tag40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41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42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43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44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45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46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ags/tag47.xml><?xml version="1.0" encoding="utf-8"?>
<p:tagLst xmlns:p="http://schemas.openxmlformats.org/presentationml/2006/main">
  <p:tag name="KSO_WM_DIAGRAM_VIRTUALLY_FRAME" val="{&quot;height&quot;:439.3,&quot;left&quot;:41.75,&quot;top&quot;:70.7,&quot;width&quot;:875.3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默认字体">
      <a:majorFont>
        <a:latin typeface="阿里巴巴普惠体 3.0 45 Light"/>
        <a:ea typeface="思源黑体"/>
        <a:cs typeface=""/>
      </a:majorFont>
      <a:minorFont>
        <a:latin typeface="阿里巴巴普惠体 3.0 45 Light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默认字体">
      <a:majorFont>
        <a:latin typeface="阿里巴巴普惠体 3.0 45 Light"/>
        <a:ea typeface="思源黑体"/>
        <a:cs typeface=""/>
      </a:majorFont>
      <a:minorFont>
        <a:latin typeface="阿里巴巴普惠体 3.0 45 Light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默认字体">
      <a:majorFont>
        <a:latin typeface="阿里巴巴普惠体 3.0 45 Light"/>
        <a:ea typeface="思源黑体"/>
        <a:cs typeface=""/>
      </a:majorFont>
      <a:minorFont>
        <a:latin typeface="阿里巴巴普惠体 3.0 45 Light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默认字体">
      <a:majorFont>
        <a:latin typeface="阿里巴巴普惠体 3.0 45 Light"/>
        <a:ea typeface="思源黑体"/>
        <a:cs typeface=""/>
      </a:majorFont>
      <a:minorFont>
        <a:latin typeface="阿里巴巴普惠体 3.0 45 Light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自定义设计方案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默认字体">
      <a:majorFont>
        <a:latin typeface="阿里巴巴普惠体 3.0 45 Light"/>
        <a:ea typeface="思源黑体"/>
        <a:cs typeface=""/>
      </a:majorFont>
      <a:minorFont>
        <a:latin typeface="阿里巴巴普惠体 3.0 45 Light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默认字体">
      <a:majorFont>
        <a:latin typeface="阿里巴巴普惠体 3.0 45 Light"/>
        <a:ea typeface="思源黑体"/>
        <a:cs typeface=""/>
      </a:majorFont>
      <a:minorFont>
        <a:latin typeface="阿里巴巴普惠体 3.0 45 Light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默认字体">
      <a:majorFont>
        <a:latin typeface="阿里巴巴普惠体 3.0 45 Light"/>
        <a:ea typeface="思源黑体"/>
        <a:cs typeface=""/>
      </a:majorFont>
      <a:minorFont>
        <a:latin typeface="阿里巴巴普惠体 3.0 45 Light"/>
        <a:ea typeface="思源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10863</Words>
  <Application>WPS 演示</Application>
  <PresentationFormat>宽屏</PresentationFormat>
  <Paragraphs>481</Paragraphs>
  <Slides>23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23</vt:i4>
      </vt:variant>
    </vt:vector>
  </HeadingPairs>
  <TitlesOfParts>
    <vt:vector size="53" baseType="lpstr">
      <vt:lpstr>Arial</vt:lpstr>
      <vt:lpstr>宋体</vt:lpstr>
      <vt:lpstr>Wingdings</vt:lpstr>
      <vt:lpstr>楷体</vt:lpstr>
      <vt:lpstr>Times New Roman</vt:lpstr>
      <vt:lpstr>Times New Roman Regular</vt:lpstr>
      <vt:lpstr>阿里巴巴普惠体 3.0 45 Light</vt:lpstr>
      <vt:lpstr>Times New Roman Bold</vt:lpstr>
      <vt:lpstr>黑体</vt:lpstr>
      <vt:lpstr>阿里巴巴普惠体 3.0 45 Light</vt:lpstr>
      <vt:lpstr>Segoe Print</vt:lpstr>
      <vt:lpstr>Noto Sans SC</vt:lpstr>
      <vt:lpstr>微软雅黑</vt:lpstr>
      <vt:lpstr>Poppins</vt:lpstr>
      <vt:lpstr>ui-sans-serif</vt:lpstr>
      <vt:lpstr>CharisSIL</vt:lpstr>
      <vt:lpstr>Arial Unicode MS</vt:lpstr>
      <vt:lpstr>等线</vt:lpstr>
      <vt:lpstr>HarmonyOS Sans SC Light</vt:lpstr>
      <vt:lpstr>阿里巴巴普惠体 2.0 55 Regular</vt:lpstr>
      <vt:lpstr>Alibaba PuHuiTi</vt:lpstr>
      <vt:lpstr>思源宋体 CN Heavy</vt:lpstr>
      <vt:lpstr>思源黑体</vt:lpstr>
      <vt:lpstr>Office 主题​​</vt:lpstr>
      <vt:lpstr>自定义设计方案</vt:lpstr>
      <vt:lpstr>1_自定义设计方案</vt:lpstr>
      <vt:lpstr>3_自定义设计方案</vt:lpstr>
      <vt:lpstr>2_自定义设计方案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Early vs. Middle vs. Late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 for listening!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ucashlth</dc:creator>
  <cp:lastModifiedBy>幻象</cp:lastModifiedBy>
  <cp:revision>293</cp:revision>
  <dcterms:created xsi:type="dcterms:W3CDTF">2026-04-20T14:20:00Z</dcterms:created>
  <dcterms:modified xsi:type="dcterms:W3CDTF">2026-06-11T11:18:27Z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11452E9D4E502B0E5E31E6691991F255_43</vt:lpwstr>
  </property>
  <property fmtid="{D5CDD505-2E9C-101B-9397-08002B2CF9AE}" pid="3" name="KSOProductBuildVer">
    <vt:lpwstr>2052-12.1.0.26375</vt:lpwstr>
  </property>
</Properties>
</file>