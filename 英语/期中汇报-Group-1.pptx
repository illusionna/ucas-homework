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58" r:id="rId4"/>
    <p:sldMasterId id="2147483660" r:id="rId5"/>
    <p:sldMasterId id="2147483664" r:id="rId6"/>
  </p:sldMasterIdLst>
  <p:notesMasterIdLst>
    <p:notesMasterId r:id="rId11"/>
  </p:notesMasterIdLst>
  <p:handoutMasterIdLst>
    <p:handoutMasterId r:id="rId29"/>
  </p:handoutMasterIdLst>
  <p:sldIdLst>
    <p:sldId id="266" r:id="rId7"/>
    <p:sldId id="264" r:id="rId8"/>
    <p:sldId id="274" r:id="rId9"/>
    <p:sldId id="16671159" r:id="rId10"/>
    <p:sldId id="16671162" r:id="rId12"/>
    <p:sldId id="16671163" r:id="rId13"/>
    <p:sldId id="275" r:id="rId14"/>
    <p:sldId id="16671164" r:id="rId15"/>
    <p:sldId id="16671165" r:id="rId16"/>
    <p:sldId id="16671166" r:id="rId17"/>
    <p:sldId id="278" r:id="rId18"/>
    <p:sldId id="16671168" r:id="rId19"/>
    <p:sldId id="279" r:id="rId20"/>
    <p:sldId id="16671170" r:id="rId21"/>
    <p:sldId id="16671172" r:id="rId22"/>
    <p:sldId id="16671171" r:id="rId23"/>
    <p:sldId id="16671169" r:id="rId24"/>
    <p:sldId id="16671173" r:id="rId25"/>
    <p:sldId id="282" r:id="rId26"/>
    <p:sldId id="16671174" r:id="rId27"/>
    <p:sldId id="26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F96"/>
    <a:srgbClr val="1D4F98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91762" autoAdjust="0"/>
  </p:normalViewPr>
  <p:slideViewPr>
    <p:cSldViewPr snapToGrid="0" showGuides="1">
      <p:cViewPr varScale="1">
        <p:scale>
          <a:sx n="87" d="100"/>
          <a:sy n="87" d="100"/>
        </p:scale>
        <p:origin x="60" y="132"/>
      </p:cViewPr>
      <p:guideLst>
        <p:guide orient="horz" pos="2295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4"/>
    </p:cViewPr>
  </p:sorterViewPr>
  <p:notesViewPr>
    <p:cSldViewPr snapToGrid="0">
      <p:cViewPr varScale="1">
        <p:scale>
          <a:sx n="80" d="100"/>
          <a:sy n="80" d="100"/>
        </p:scale>
        <p:origin x="2511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B636D-B018-49AA-89B6-B207312F43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9D8FB-B22E-43A2-8C9A-B4D6D4729A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625F4-DDF2-45FF-B519-A9B8F019BB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8C5AE-D0E9-4ED8-8C37-A10D91270A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616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695575"/>
            <a:ext cx="10515600" cy="289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58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07511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9976"/>
            <a:ext cx="10515600" cy="79577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2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72757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867025"/>
            <a:ext cx="3932237" cy="28479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49" y="199430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片 2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 descr="D:\51PPT模板网\51pptmoban.com\图片.jpg"/>
          <p:cNvSpPr/>
          <p:nvPr userDrawn="1"/>
        </p:nvSpPr>
        <p:spPr>
          <a:xfrm>
            <a:off x="0" y="6259580"/>
            <a:ext cx="12192000" cy="598419"/>
          </a:xfrm>
          <a:custGeom>
            <a:avLst/>
            <a:gdLst>
              <a:gd name="connsiteX0" fmla="*/ 0 w 12192000"/>
              <a:gd name="connsiteY0" fmla="*/ 0 h 1039132"/>
              <a:gd name="connsiteX1" fmla="*/ 5683251 w 12192000"/>
              <a:gd name="connsiteY1" fmla="*/ 0 h 1039132"/>
              <a:gd name="connsiteX2" fmla="*/ 6086968 w 12192000"/>
              <a:gd name="connsiteY2" fmla="*/ 267602 h 1039132"/>
              <a:gd name="connsiteX3" fmla="*/ 6096000 w 12192000"/>
              <a:gd name="connsiteY3" fmla="*/ 296697 h 1039132"/>
              <a:gd name="connsiteX4" fmla="*/ 6105031 w 12192000"/>
              <a:gd name="connsiteY4" fmla="*/ 267602 h 1039132"/>
              <a:gd name="connsiteX5" fmla="*/ 6508748 w 12192000"/>
              <a:gd name="connsiteY5" fmla="*/ 0 h 1039132"/>
              <a:gd name="connsiteX6" fmla="*/ 12192000 w 12192000"/>
              <a:gd name="connsiteY6" fmla="*/ 0 h 1039132"/>
              <a:gd name="connsiteX7" fmla="*/ 12192000 w 12192000"/>
              <a:gd name="connsiteY7" fmla="*/ 1039132 h 1039132"/>
              <a:gd name="connsiteX8" fmla="*/ 0 w 12192000"/>
              <a:gd name="connsiteY8" fmla="*/ 1039132 h 103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039132">
                <a:moveTo>
                  <a:pt x="0" y="0"/>
                </a:moveTo>
                <a:lnTo>
                  <a:pt x="5683251" y="0"/>
                </a:lnTo>
                <a:cubicBezTo>
                  <a:pt x="5864738" y="0"/>
                  <a:pt x="6020454" y="110344"/>
                  <a:pt x="6086968" y="267602"/>
                </a:cubicBezTo>
                <a:lnTo>
                  <a:pt x="6096000" y="296697"/>
                </a:lnTo>
                <a:lnTo>
                  <a:pt x="6105031" y="267602"/>
                </a:lnTo>
                <a:cubicBezTo>
                  <a:pt x="6171546" y="110344"/>
                  <a:pt x="6327261" y="0"/>
                  <a:pt x="6508748" y="0"/>
                </a:cubicBezTo>
                <a:lnTo>
                  <a:pt x="12192000" y="0"/>
                </a:lnTo>
                <a:lnTo>
                  <a:pt x="12192000" y="1039132"/>
                </a:lnTo>
                <a:lnTo>
                  <a:pt x="0" y="1039132"/>
                </a:lnTo>
                <a:close/>
              </a:path>
            </a:pathLst>
          </a:custGeom>
          <a:solidFill>
            <a:srgbClr val="1E4F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6193741"/>
            <a:ext cx="12192000" cy="697614"/>
          </a:xfrm>
          <a:custGeom>
            <a:avLst/>
            <a:gdLst>
              <a:gd name="connsiteX0" fmla="*/ 0 w 12827000"/>
              <a:gd name="connsiteY0" fmla="*/ 0 h 1186456"/>
              <a:gd name="connsiteX1" fmla="*/ 6105291 w 12827000"/>
              <a:gd name="connsiteY1" fmla="*/ 0 h 1186456"/>
              <a:gd name="connsiteX2" fmla="*/ 6393611 w 12827000"/>
              <a:gd name="connsiteY2" fmla="*/ 153299 h 1186456"/>
              <a:gd name="connsiteX3" fmla="*/ 6413499 w 12827000"/>
              <a:gd name="connsiteY3" fmla="*/ 189944 h 1186456"/>
              <a:gd name="connsiteX4" fmla="*/ 6433391 w 12827000"/>
              <a:gd name="connsiteY4" fmla="*/ 153299 h 1186456"/>
              <a:gd name="connsiteX5" fmla="*/ 6721711 w 12827000"/>
              <a:gd name="connsiteY5" fmla="*/ 0 h 1186456"/>
              <a:gd name="connsiteX6" fmla="*/ 12827000 w 12827000"/>
              <a:gd name="connsiteY6" fmla="*/ 0 h 1186456"/>
              <a:gd name="connsiteX7" fmla="*/ 12827000 w 12827000"/>
              <a:gd name="connsiteY7" fmla="*/ 1186456 h 1186456"/>
              <a:gd name="connsiteX8" fmla="*/ 0 w 12827000"/>
              <a:gd name="connsiteY8" fmla="*/ 1186456 h 118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27000" h="1186456">
                <a:moveTo>
                  <a:pt x="0" y="0"/>
                </a:moveTo>
                <a:lnTo>
                  <a:pt x="6105291" y="0"/>
                </a:lnTo>
                <a:cubicBezTo>
                  <a:pt x="6225310" y="0"/>
                  <a:pt x="6331125" y="60810"/>
                  <a:pt x="6393611" y="153299"/>
                </a:cubicBezTo>
                <a:lnTo>
                  <a:pt x="6413499" y="189944"/>
                </a:lnTo>
                <a:lnTo>
                  <a:pt x="6433391" y="153299"/>
                </a:lnTo>
                <a:cubicBezTo>
                  <a:pt x="6495875" y="60810"/>
                  <a:pt x="6601692" y="0"/>
                  <a:pt x="6721711" y="0"/>
                </a:cubicBezTo>
                <a:lnTo>
                  <a:pt x="12827000" y="0"/>
                </a:lnTo>
                <a:lnTo>
                  <a:pt x="12827000" y="1186456"/>
                </a:lnTo>
                <a:lnTo>
                  <a:pt x="0" y="1186456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259580"/>
            <a:ext cx="7001933" cy="4685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932" y="6411392"/>
            <a:ext cx="5190067" cy="3252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3" descr="IMG_4591 (2).jpg"/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</a:extLst>
          </a:blip>
          <a:srcRect t="2" r="10309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3" descr="IMG_4591 (2).jpg"/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</a:extLst>
          </a:blip>
          <a:srcRect t="2" r="10309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-20955"/>
            <a:ext cx="3870960" cy="6898005"/>
          </a:xfrm>
          <a:custGeom>
            <a:avLst/>
            <a:gdLst>
              <a:gd name="connsiteX0" fmla="*/ 0 w 5101701"/>
              <a:gd name="connsiteY0" fmla="*/ 0 h 6878896"/>
              <a:gd name="connsiteX1" fmla="*/ 3099572 w 5101701"/>
              <a:gd name="connsiteY1" fmla="*/ 0 h 6878896"/>
              <a:gd name="connsiteX2" fmla="*/ 3205616 w 5101701"/>
              <a:gd name="connsiteY2" fmla="*/ 60974 h 6878896"/>
              <a:gd name="connsiteX3" fmla="*/ 5101701 w 5101701"/>
              <a:gd name="connsiteY3" fmla="*/ 3429000 h 6878896"/>
              <a:gd name="connsiteX4" fmla="*/ 3205616 w 5101701"/>
              <a:gd name="connsiteY4" fmla="*/ 6797026 h 6878896"/>
              <a:gd name="connsiteX5" fmla="*/ 3063231 w 5101701"/>
              <a:gd name="connsiteY5" fmla="*/ 6878896 h 6878896"/>
              <a:gd name="connsiteX6" fmla="*/ 0 w 5101701"/>
              <a:gd name="connsiteY6" fmla="*/ 6878896 h 6878896"/>
              <a:gd name="connsiteX7" fmla="*/ 0 w 5101701"/>
              <a:gd name="connsiteY7" fmla="*/ 0 h 6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01701" h="6878896">
                <a:moveTo>
                  <a:pt x="0" y="0"/>
                </a:moveTo>
                <a:lnTo>
                  <a:pt x="3099572" y="0"/>
                </a:lnTo>
                <a:lnTo>
                  <a:pt x="3205616" y="60974"/>
                </a:lnTo>
                <a:cubicBezTo>
                  <a:pt x="4342364" y="751678"/>
                  <a:pt x="5101701" y="2001663"/>
                  <a:pt x="5101701" y="3429000"/>
                </a:cubicBezTo>
                <a:cubicBezTo>
                  <a:pt x="5101701" y="4856337"/>
                  <a:pt x="4342364" y="6106321"/>
                  <a:pt x="3205616" y="6797026"/>
                </a:cubicBezTo>
                <a:lnTo>
                  <a:pt x="3063231" y="6878896"/>
                </a:lnTo>
                <a:lnTo>
                  <a:pt x="0" y="6878896"/>
                </a:lnTo>
                <a:lnTo>
                  <a:pt x="0" y="0"/>
                </a:lnTo>
                <a:close/>
              </a:path>
            </a:pathLst>
          </a:custGeom>
          <a:solidFill>
            <a:srgbClr val="1D4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0422255" y="0"/>
            <a:ext cx="1769745" cy="1729105"/>
          </a:xfrm>
          <a:custGeom>
            <a:avLst/>
            <a:gdLst>
              <a:gd name="connsiteX0" fmla="*/ 69718 w 2359238"/>
              <a:gd name="connsiteY0" fmla="*/ 0 h 2239647"/>
              <a:gd name="connsiteX1" fmla="*/ 919065 w 2359238"/>
              <a:gd name="connsiteY1" fmla="*/ 0 h 2239647"/>
              <a:gd name="connsiteX2" fmla="*/ 903714 w 2359238"/>
              <a:gd name="connsiteY2" fmla="*/ 25268 h 2239647"/>
              <a:gd name="connsiteX3" fmla="*/ 787052 w 2359238"/>
              <a:gd name="connsiteY3" fmla="*/ 486003 h 2239647"/>
              <a:gd name="connsiteX4" fmla="*/ 1753644 w 2359238"/>
              <a:gd name="connsiteY4" fmla="*/ 1452595 h 2239647"/>
              <a:gd name="connsiteX5" fmla="*/ 2294075 w 2359238"/>
              <a:gd name="connsiteY5" fmla="*/ 1287516 h 2239647"/>
              <a:gd name="connsiteX6" fmla="*/ 2359238 w 2359238"/>
              <a:gd name="connsiteY6" fmla="*/ 1233752 h 2239647"/>
              <a:gd name="connsiteX7" fmla="*/ 2359238 w 2359238"/>
              <a:gd name="connsiteY7" fmla="*/ 2130021 h 2239647"/>
              <a:gd name="connsiteX8" fmla="*/ 2275124 w 2359238"/>
              <a:gd name="connsiteY8" fmla="*/ 2160807 h 2239647"/>
              <a:gd name="connsiteX9" fmla="*/ 1753644 w 2359238"/>
              <a:gd name="connsiteY9" fmla="*/ 2239647 h 2239647"/>
              <a:gd name="connsiteX10" fmla="*/ 0 w 2359238"/>
              <a:gd name="connsiteY10" fmla="*/ 486003 h 2239647"/>
              <a:gd name="connsiteX11" fmla="*/ 35628 w 2359238"/>
              <a:gd name="connsiteY11" fmla="*/ 132583 h 2239647"/>
              <a:gd name="connsiteX12" fmla="*/ 69718 w 2359238"/>
              <a:gd name="connsiteY12" fmla="*/ 0 h 2239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59238" h="2239647">
                <a:moveTo>
                  <a:pt x="69718" y="0"/>
                </a:moveTo>
                <a:lnTo>
                  <a:pt x="919065" y="0"/>
                </a:lnTo>
                <a:lnTo>
                  <a:pt x="903714" y="25268"/>
                </a:lnTo>
                <a:cubicBezTo>
                  <a:pt x="829314" y="162227"/>
                  <a:pt x="787052" y="319180"/>
                  <a:pt x="787052" y="486003"/>
                </a:cubicBezTo>
                <a:cubicBezTo>
                  <a:pt x="787052" y="1019837"/>
                  <a:pt x="1219810" y="1452595"/>
                  <a:pt x="1753644" y="1452595"/>
                </a:cubicBezTo>
                <a:cubicBezTo>
                  <a:pt x="1953832" y="1452595"/>
                  <a:pt x="2139806" y="1391738"/>
                  <a:pt x="2294075" y="1287516"/>
                </a:cubicBezTo>
                <a:lnTo>
                  <a:pt x="2359238" y="1233752"/>
                </a:lnTo>
                <a:lnTo>
                  <a:pt x="2359238" y="2130021"/>
                </a:lnTo>
                <a:lnTo>
                  <a:pt x="2275124" y="2160807"/>
                </a:lnTo>
                <a:cubicBezTo>
                  <a:pt x="2110389" y="2212045"/>
                  <a:pt x="1935240" y="2239647"/>
                  <a:pt x="1753644" y="2239647"/>
                </a:cubicBezTo>
                <a:cubicBezTo>
                  <a:pt x="785133" y="2239647"/>
                  <a:pt x="0" y="1454514"/>
                  <a:pt x="0" y="486003"/>
                </a:cubicBezTo>
                <a:cubicBezTo>
                  <a:pt x="0" y="364939"/>
                  <a:pt x="12268" y="246741"/>
                  <a:pt x="35628" y="132583"/>
                </a:cubicBezTo>
                <a:lnTo>
                  <a:pt x="69718" y="0"/>
                </a:lnTo>
                <a:close/>
              </a:path>
            </a:pathLst>
          </a:custGeom>
          <a:solidFill>
            <a:srgbClr val="1E4F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内容占位符 3" descr="IMG_4591 (2).jpg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ement/>
                    </a14:imgEffect>
                  </a14:imgLayer>
                </a14:imgProps>
              </a:ext>
            </a:extLst>
          </a:blip>
          <a:srcRect l="13703" t="27905" r="49486" b="7282"/>
          <a:stretch>
            <a:fillRect/>
          </a:stretch>
        </p:blipFill>
        <p:spPr>
          <a:xfrm>
            <a:off x="939800" y="1070080"/>
            <a:ext cx="5003800" cy="4445000"/>
          </a:xfrm>
          <a:prstGeom prst="snip2DiagRect">
            <a:avLst>
              <a:gd name="adj1" fmla="val 0"/>
              <a:gd name="adj2" fmla="val 30953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8.jpe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image" Target="../media/image14.svg"/><Relationship Id="rId2" Type="http://schemas.openxmlformats.org/officeDocument/2006/relationships/tags" Target="../tags/tag2.xml"/><Relationship Id="rId19" Type="http://schemas.openxmlformats.org/officeDocument/2006/relationships/image" Target="../media/image13.png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1.xml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0194" y="-620032"/>
            <a:ext cx="11705122" cy="8098064"/>
            <a:chOff x="602149" y="-401864"/>
            <a:chExt cx="11354770" cy="7661726"/>
          </a:xfrm>
        </p:grpSpPr>
        <p:sp>
          <p:nvSpPr>
            <p:cNvPr id="9" name="矩形 8" descr="D:\51PPT模板网\51pptmoban.com\图片.jpg"/>
            <p:cNvSpPr/>
            <p:nvPr/>
          </p:nvSpPr>
          <p:spPr>
            <a:xfrm rot="2700000">
              <a:off x="2451819" y="-401864"/>
              <a:ext cx="7661726" cy="7661726"/>
            </a:xfrm>
            <a:prstGeom prst="rect">
              <a:avLst/>
            </a:prstGeom>
            <a:noFill/>
            <a:ln w="25400"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02149" y="2705724"/>
              <a:ext cx="11354770" cy="1461570"/>
              <a:chOff x="618247" y="2705724"/>
              <a:chExt cx="11354770" cy="1461570"/>
            </a:xfrm>
          </p:grpSpPr>
          <p:sp>
            <p:nvSpPr>
              <p:cNvPr id="11" name="任意多边形: 形状 10" descr="D:\51PPT模板网\51pptmoban.com\图片.jpg"/>
              <p:cNvSpPr/>
              <p:nvPr/>
            </p:nvSpPr>
            <p:spPr>
              <a:xfrm>
                <a:off x="10997663" y="2720744"/>
                <a:ext cx="975354" cy="1446550"/>
              </a:xfrm>
              <a:custGeom>
                <a:avLst/>
                <a:gdLst>
                  <a:gd name="connsiteX0" fmla="*/ 0 w 975354"/>
                  <a:gd name="connsiteY0" fmla="*/ 0 h 1446550"/>
                  <a:gd name="connsiteX1" fmla="*/ 252079 w 975354"/>
                  <a:gd name="connsiteY1" fmla="*/ 0 h 1446550"/>
                  <a:gd name="connsiteX2" fmla="*/ 975354 w 975354"/>
                  <a:gd name="connsiteY2" fmla="*/ 723275 h 1446550"/>
                  <a:gd name="connsiteX3" fmla="*/ 252079 w 975354"/>
                  <a:gd name="connsiteY3" fmla="*/ 1446550 h 1446550"/>
                  <a:gd name="connsiteX4" fmla="*/ 0 w 975354"/>
                  <a:gd name="connsiteY4" fmla="*/ 1446550 h 1446550"/>
                  <a:gd name="connsiteX5" fmla="*/ 723275 w 975354"/>
                  <a:gd name="connsiteY5" fmla="*/ 723275 h 144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5354" h="1446550">
                    <a:moveTo>
                      <a:pt x="0" y="0"/>
                    </a:moveTo>
                    <a:lnTo>
                      <a:pt x="252079" y="0"/>
                    </a:lnTo>
                    <a:lnTo>
                      <a:pt x="975354" y="723275"/>
                    </a:lnTo>
                    <a:lnTo>
                      <a:pt x="252079" y="1446550"/>
                    </a:lnTo>
                    <a:lnTo>
                      <a:pt x="0" y="1446550"/>
                    </a:lnTo>
                    <a:lnTo>
                      <a:pt x="723275" y="723275"/>
                    </a:lnTo>
                    <a:close/>
                  </a:path>
                </a:pathLst>
              </a:custGeom>
              <a:solidFill>
                <a:srgbClr val="1E4F96"/>
              </a:solidFill>
              <a:ln>
                <a:solidFill>
                  <a:srgbClr val="1E4F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 flipH="1">
                <a:off x="618247" y="2705724"/>
                <a:ext cx="975354" cy="1446550"/>
              </a:xfrm>
              <a:custGeom>
                <a:avLst/>
                <a:gdLst>
                  <a:gd name="connsiteX0" fmla="*/ 0 w 975354"/>
                  <a:gd name="connsiteY0" fmla="*/ 0 h 1446550"/>
                  <a:gd name="connsiteX1" fmla="*/ 252079 w 975354"/>
                  <a:gd name="connsiteY1" fmla="*/ 0 h 1446550"/>
                  <a:gd name="connsiteX2" fmla="*/ 975354 w 975354"/>
                  <a:gd name="connsiteY2" fmla="*/ 723275 h 1446550"/>
                  <a:gd name="connsiteX3" fmla="*/ 252079 w 975354"/>
                  <a:gd name="connsiteY3" fmla="*/ 1446550 h 1446550"/>
                  <a:gd name="connsiteX4" fmla="*/ 0 w 975354"/>
                  <a:gd name="connsiteY4" fmla="*/ 1446550 h 1446550"/>
                  <a:gd name="connsiteX5" fmla="*/ 723275 w 975354"/>
                  <a:gd name="connsiteY5" fmla="*/ 723275 h 144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5354" h="1446550">
                    <a:moveTo>
                      <a:pt x="0" y="0"/>
                    </a:moveTo>
                    <a:lnTo>
                      <a:pt x="252079" y="0"/>
                    </a:lnTo>
                    <a:lnTo>
                      <a:pt x="975354" y="723275"/>
                    </a:lnTo>
                    <a:lnTo>
                      <a:pt x="252079" y="1446550"/>
                    </a:lnTo>
                    <a:lnTo>
                      <a:pt x="0" y="1446550"/>
                    </a:lnTo>
                    <a:lnTo>
                      <a:pt x="723275" y="723275"/>
                    </a:lnTo>
                    <a:close/>
                  </a:path>
                </a:pathLst>
              </a:custGeom>
              <a:solidFill>
                <a:srgbClr val="1E4F96"/>
              </a:solidFill>
              <a:ln>
                <a:solidFill>
                  <a:srgbClr val="1E4F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任意多边形: 形状 12"/>
          <p:cNvSpPr/>
          <p:nvPr/>
        </p:nvSpPr>
        <p:spPr>
          <a:xfrm rot="16200000" flipH="1">
            <a:off x="10342143" y="5540580"/>
            <a:ext cx="2053814" cy="581027"/>
          </a:xfrm>
          <a:custGeom>
            <a:avLst/>
            <a:gdLst>
              <a:gd name="connsiteX0" fmla="*/ 0 w 2053814"/>
              <a:gd name="connsiteY0" fmla="*/ 581027 h 581027"/>
              <a:gd name="connsiteX1" fmla="*/ 2053814 w 2053814"/>
              <a:gd name="connsiteY1" fmla="*/ 581026 h 581027"/>
              <a:gd name="connsiteX2" fmla="*/ 2053814 w 2053814"/>
              <a:gd name="connsiteY2" fmla="*/ 0 h 581027"/>
              <a:gd name="connsiteX3" fmla="*/ 615381 w 2053814"/>
              <a:gd name="connsiteY3" fmla="*/ 0 h 58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3814" h="581027">
                <a:moveTo>
                  <a:pt x="0" y="581027"/>
                </a:moveTo>
                <a:lnTo>
                  <a:pt x="2053814" y="581026"/>
                </a:lnTo>
                <a:lnTo>
                  <a:pt x="2053814" y="0"/>
                </a:lnTo>
                <a:lnTo>
                  <a:pt x="615381" y="0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 descr="D:\51PPT模板网\51pptmoban.com\图片.jpg"/>
          <p:cNvSpPr/>
          <p:nvPr/>
        </p:nvSpPr>
        <p:spPr>
          <a:xfrm rot="16200000" flipH="1">
            <a:off x="9940879" y="5916637"/>
            <a:ext cx="1301700" cy="581027"/>
          </a:xfrm>
          <a:custGeom>
            <a:avLst/>
            <a:gdLst>
              <a:gd name="connsiteX0" fmla="*/ 0 w 1301700"/>
              <a:gd name="connsiteY0" fmla="*/ 581027 h 581027"/>
              <a:gd name="connsiteX1" fmla="*/ 1301700 w 1301700"/>
              <a:gd name="connsiteY1" fmla="*/ 581027 h 581027"/>
              <a:gd name="connsiteX2" fmla="*/ 1301700 w 1301700"/>
              <a:gd name="connsiteY2" fmla="*/ 0 h 581027"/>
              <a:gd name="connsiteX3" fmla="*/ 615381 w 1301700"/>
              <a:gd name="connsiteY3" fmla="*/ 0 h 58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1700" h="581027">
                <a:moveTo>
                  <a:pt x="0" y="581027"/>
                </a:moveTo>
                <a:lnTo>
                  <a:pt x="1301700" y="581027"/>
                </a:lnTo>
                <a:lnTo>
                  <a:pt x="1301700" y="0"/>
                </a:lnTo>
                <a:lnTo>
                  <a:pt x="615381" y="0"/>
                </a:lnTo>
                <a:close/>
              </a:path>
            </a:pathLst>
          </a:custGeom>
          <a:solidFill>
            <a:srgbClr val="1E4F96"/>
          </a:solidFill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 rot="16200000" flipH="1">
            <a:off x="1003934" y="360336"/>
            <a:ext cx="1301696" cy="581025"/>
          </a:xfrm>
          <a:custGeom>
            <a:avLst/>
            <a:gdLst>
              <a:gd name="connsiteX0" fmla="*/ 0 w 1301696"/>
              <a:gd name="connsiteY0" fmla="*/ 0 h 581025"/>
              <a:gd name="connsiteX1" fmla="*/ 0 w 1301696"/>
              <a:gd name="connsiteY1" fmla="*/ 581025 h 581025"/>
              <a:gd name="connsiteX2" fmla="*/ 686315 w 1301696"/>
              <a:gd name="connsiteY2" fmla="*/ 581025 h 581025"/>
              <a:gd name="connsiteX3" fmla="*/ 1301696 w 1301696"/>
              <a:gd name="connsiteY3" fmla="*/ 0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1696" h="581025">
                <a:moveTo>
                  <a:pt x="0" y="0"/>
                </a:moveTo>
                <a:lnTo>
                  <a:pt x="0" y="581025"/>
                </a:lnTo>
                <a:lnTo>
                  <a:pt x="686315" y="581025"/>
                </a:lnTo>
                <a:lnTo>
                  <a:pt x="1301696" y="0"/>
                </a:lnTo>
                <a:close/>
              </a:path>
            </a:pathLst>
          </a:custGeom>
          <a:solidFill>
            <a:srgbClr val="1E4F96"/>
          </a:solidFill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 rot="16200000" flipH="1">
            <a:off x="-149443" y="731857"/>
            <a:ext cx="2053810" cy="581025"/>
          </a:xfrm>
          <a:custGeom>
            <a:avLst/>
            <a:gdLst>
              <a:gd name="connsiteX0" fmla="*/ 0 w 2053810"/>
              <a:gd name="connsiteY0" fmla="*/ 0 h 581025"/>
              <a:gd name="connsiteX1" fmla="*/ 0 w 2053810"/>
              <a:gd name="connsiteY1" fmla="*/ 581025 h 581025"/>
              <a:gd name="connsiteX2" fmla="*/ 1438429 w 2053810"/>
              <a:gd name="connsiteY2" fmla="*/ 581025 h 581025"/>
              <a:gd name="connsiteX3" fmla="*/ 2053810 w 2053810"/>
              <a:gd name="connsiteY3" fmla="*/ 0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3810" h="581025">
                <a:moveTo>
                  <a:pt x="0" y="0"/>
                </a:moveTo>
                <a:lnTo>
                  <a:pt x="0" y="581025"/>
                </a:lnTo>
                <a:lnTo>
                  <a:pt x="1438429" y="581025"/>
                </a:lnTo>
                <a:lnTo>
                  <a:pt x="2053810" y="0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 descr="文本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661" y="-12700"/>
            <a:ext cx="4342668" cy="1301697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73138" y="3384550"/>
            <a:ext cx="10245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1E4F96"/>
                </a:solidFill>
                <a:latin typeface="黑体" charset="0"/>
                <a:ea typeface="黑体" charset="0"/>
              </a:rPr>
              <a:t>基于脑电图与眼动追踪多模态数据检测轻度抑郁症</a:t>
            </a:r>
            <a:endParaRPr lang="zh-CN" altLang="en-US" sz="2800" dirty="0">
              <a:solidFill>
                <a:srgbClr val="1E4F96"/>
              </a:solidFill>
              <a:latin typeface="黑体" charset="0"/>
              <a:ea typeface="黑体" charset="0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924175" y="4128770"/>
            <a:ext cx="6343650" cy="1758315"/>
          </a:xfrm>
          <a:prstGeom prst="roundRect">
            <a:avLst>
              <a:gd name="adj" fmla="val 50000"/>
            </a:avLst>
          </a:prstGeom>
          <a:solidFill>
            <a:srgbClr val="1E4F96"/>
          </a:solidFill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汇报人：舒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XX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、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Illusionna</a:t>
            </a:r>
            <a:endParaRPr lang="zh-CN" altLang="en-US" dirty="0">
              <a:solidFill>
                <a:schemeClr val="bg1"/>
              </a:solidFill>
              <a:uFillTx/>
              <a:latin typeface="Times New Roman" panose="0202050305040509030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小组成员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：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赵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XX、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吴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XX、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  <a:sym typeface="+mn-ea"/>
              </a:rPr>
              <a:t>舒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  <a:sym typeface="+mn-ea"/>
              </a:rPr>
              <a:t>XX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  <a:sym typeface="+mn-ea"/>
              </a:rPr>
              <a:t>Illusionna</a:t>
            </a:r>
            <a:endParaRPr lang="zh-CN" altLang="en-US" dirty="0">
              <a:solidFill>
                <a:schemeClr val="bg1"/>
              </a:solidFill>
              <a:uFillTx/>
              <a:latin typeface="Times New Roman" panose="0202050305040509030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汇报时间：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2026 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年</a:t>
            </a:r>
            <a:r>
              <a:rPr lang="en-US" altLang="zh-CN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 4 </a:t>
            </a:r>
            <a:r>
              <a:rPr lang="zh-CN" altLang="en-US" dirty="0">
                <a:solidFill>
                  <a:schemeClr val="bg1"/>
                </a:solidFill>
                <a:uFillTx/>
                <a:latin typeface="Times New Roman" panose="02020503050405090304" charset="0"/>
              </a:rPr>
              <a:t>月</a:t>
            </a:r>
            <a:endParaRPr lang="zh-CN" altLang="en-US" dirty="0">
              <a:solidFill>
                <a:schemeClr val="bg1"/>
              </a:solidFill>
              <a:uFillTx/>
              <a:latin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7363" y="1788795"/>
            <a:ext cx="8677275" cy="1477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1E4F96"/>
                </a:solidFill>
                <a:latin typeface="+mj-ea"/>
                <a:ea typeface="+mj-ea"/>
              </a:rPr>
              <a:t>Detection of mild depression based on multimodal data of electroencephalogram and eye movement tracking</a:t>
            </a:r>
            <a:endParaRPr lang="en-US" altLang="zh-CN" sz="3200" b="1" dirty="0">
              <a:solidFill>
                <a:srgbClr val="1E4F96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205355" y="2347595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075525" y="2360215"/>
            <a:ext cx="32404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Literature review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05355" y="3148330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205355" y="3928110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205355" y="4744085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05355" y="1494790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9839" y="296814"/>
            <a:ext cx="3487785" cy="476486"/>
            <a:chOff x="2496626" y="2174349"/>
            <a:chExt cx="3092244" cy="476486"/>
          </a:xfrm>
        </p:grpSpPr>
        <p:sp>
          <p:nvSpPr>
            <p:cNvPr id="3" name="矩形: 圆角 2"/>
            <p:cNvSpPr/>
            <p:nvPr/>
          </p:nvSpPr>
          <p:spPr>
            <a:xfrm>
              <a:off x="2795588" y="2188614"/>
              <a:ext cx="1337805" cy="456836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258534" y="2174349"/>
              <a:ext cx="1163021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黑体" charset="0"/>
                  <a:ea typeface="黑体" charset="0"/>
                </a:rPr>
                <a:t>目录</a:t>
              </a:r>
              <a:endParaRPr lang="zh-CN" altLang="en-US" sz="2400" b="1" dirty="0">
                <a:latin typeface="黑体" charset="0"/>
                <a:ea typeface="黑体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43844" y="2183229"/>
              <a:ext cx="1389548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Times New Roman Regular" panose="02020503050405090304" charset="0"/>
                  <a:ea typeface="阿里巴巴普惠体 3.0 45 Light" panose="00020600040101010101" pitchFamily="18" charset="-122"/>
                  <a:cs typeface="Times New Roman Regular" panose="02020503050405090304" charset="0"/>
                </a:rPr>
                <a:t>Content</a:t>
              </a:r>
              <a:endParaRPr lang="zh-CN" altLang="en-US" sz="2400" dirty="0">
                <a:solidFill>
                  <a:schemeClr val="bg1"/>
                </a:solidFill>
                <a:latin typeface="Times New Roman Regular" panose="02020503050405090304" charset="0"/>
                <a:ea typeface="阿里巴巴普惠体 3.0 45 Light" panose="00020600040101010101" pitchFamily="18" charset="-122"/>
                <a:cs typeface="Times New Roman Regular" panose="0202050305040509030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669199" y="1367007"/>
            <a:ext cx="224130" cy="4246367"/>
            <a:chOff x="495008" y="1327055"/>
            <a:chExt cx="224130" cy="4246367"/>
          </a:xfrm>
          <a:solidFill>
            <a:srgbClr val="1E4F96"/>
          </a:solidFill>
        </p:grpSpPr>
        <p:cxnSp>
          <p:nvCxnSpPr>
            <p:cNvPr id="9" name="直接箭头连接符 8"/>
            <p:cNvCxnSpPr/>
            <p:nvPr/>
          </p:nvCxnSpPr>
          <p:spPr>
            <a:xfrm>
              <a:off x="621258" y="1327055"/>
              <a:ext cx="0" cy="4246367"/>
            </a:xfrm>
            <a:prstGeom prst="straightConnector1">
              <a:avLst/>
            </a:prstGeom>
            <a:grpFill/>
            <a:ln w="28575">
              <a:solidFill>
                <a:srgbClr val="1E4F9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/>
            <p:cNvSpPr/>
            <p:nvPr/>
          </p:nvSpPr>
          <p:spPr>
            <a:xfrm>
              <a:off x="495008" y="2431964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95008" y="3238205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07104" y="4044446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07104" y="4850687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7104" y="1625723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3075525" y="1481927"/>
            <a:ext cx="39871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Research background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490104" y="1541517"/>
            <a:ext cx="538483" cy="3747941"/>
            <a:chOff x="971222" y="1228729"/>
            <a:chExt cx="538483" cy="3747941"/>
          </a:xfrm>
        </p:grpSpPr>
        <p:sp>
          <p:nvSpPr>
            <p:cNvPr id="17" name="文本框 16"/>
            <p:cNvSpPr txBox="1"/>
            <p:nvPr/>
          </p:nvSpPr>
          <p:spPr>
            <a:xfrm>
              <a:off x="971225" y="1228729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01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71225" y="2034970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02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71224" y="2841211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03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71223" y="3647452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04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71222" y="4454700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05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075525" y="3923117"/>
            <a:ext cx="6912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Issues,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Gaps,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Goals,</a:t>
            </a:r>
            <a:r>
              <a:rPr lang="en-US" altLang="zh-CN" sz="3200" b="1" dirty="0">
                <a:latin typeface="Times New Roman Bold" panose="02020503050405090304" charset="0"/>
                <a:ea typeface="黑体" charset="0"/>
                <a:cs typeface="Times New Roman Bold" panose="02020503050405090304" charset="0"/>
              </a:rPr>
              <a:t> logic,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Significance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075525" y="4725841"/>
            <a:ext cx="20777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References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075525" y="3160482"/>
            <a:ext cx="255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latin typeface="Times New Roman Bold" panose="02020503050405090304" charset="0"/>
                <a:ea typeface="黑体" charset="0"/>
                <a:cs typeface="Times New Roman Bold" panose="02020503050405090304" charset="0"/>
              </a:rPr>
              <a:t>Classification</a:t>
            </a:r>
            <a:endParaRPr lang="en-US" altLang="zh-CN" sz="3200" b="1" dirty="0">
              <a:latin typeface="Times New Roman Bold" panose="02020503050405090304" charset="0"/>
              <a:ea typeface="黑体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01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70" y="3465830"/>
            <a:ext cx="54686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Research background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14429014e0cc20aee5586edf756e1d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3945" y="2574925"/>
            <a:ext cx="4944110" cy="334962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Research background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032635" y="1503680"/>
            <a:ext cx="8135620" cy="1071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8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微软雅黑" panose="020B0503020204020204" pitchFamily="34" charset="-122"/>
                <a:sym typeface="+mn-ea"/>
              </a:rPr>
              <a:t>A Silent Struggle: How Do We See the Unseen?</a:t>
            </a:r>
            <a:endParaRPr lang="en-US" altLang="zh-CN" sz="28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28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微软雅黑" panose="020B0503020204020204" pitchFamily="34" charset="-122"/>
                <a:sym typeface="+mn-ea"/>
              </a:rPr>
              <a:t> (</a:t>
            </a:r>
            <a:r>
              <a:rPr lang="zh-CN" altLang="en-US" sz="28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微软雅黑" panose="020B0503020204020204" pitchFamily="34" charset="-122"/>
                <a:sym typeface="+mn-ea"/>
              </a:rPr>
              <a:t>一场无声的挣扎：我们如何看见看不见的痛苦？</a:t>
            </a:r>
            <a:r>
              <a:rPr lang="en-US" altLang="zh-CN" sz="28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微软雅黑" panose="020B0503020204020204" pitchFamily="34" charset="-122"/>
                <a:sym typeface="+mn-ea"/>
              </a:rPr>
              <a:t>)</a:t>
            </a:r>
            <a:endParaRPr lang="en-US" altLang="zh-CN" sz="28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07720" y="2705735"/>
            <a:ext cx="10558780" cy="1447165"/>
          </a:xfrm>
          <a:prstGeom prst="rect">
            <a:avLst/>
          </a:prstGeom>
          <a:solidFill>
            <a:schemeClr val="accent1">
              <a:lumMod val="20000"/>
              <a:lumOff val="80000"/>
              <a:alpha val="89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937895" y="2894330"/>
            <a:ext cx="10330180" cy="942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>
                <a:solidFill>
                  <a:srgbClr val="C00000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Depression</a:t>
            </a:r>
            <a:r>
              <a:rPr lang="en-US" altLang="zh-CN" sz="2400" b="1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 affects hundreds of millions, yet it often remains invisible. </a:t>
            </a:r>
            <a:endParaRPr lang="en-US" altLang="zh-CN" sz="24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b="1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Why is it so hard to detect accurately?</a:t>
            </a:r>
            <a:endParaRPr lang="zh-CN" altLang="en-US" sz="24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1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4" grpId="1" animBg="1"/>
      <p:bldP spid="35" grpId="0"/>
      <p:bldP spid="3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/>
          <p:cNvSpPr/>
          <p:nvPr>
            <p:custDataLst>
              <p:tags r:id="rId1"/>
            </p:custDataLst>
          </p:nvPr>
        </p:nvSpPr>
        <p:spPr>
          <a:xfrm>
            <a:off x="4953000" y="897890"/>
            <a:ext cx="6694170" cy="166751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5"/>
          <p:cNvSpPr/>
          <p:nvPr>
            <p:custDataLst>
              <p:tags r:id="rId2"/>
            </p:custDataLst>
          </p:nvPr>
        </p:nvSpPr>
        <p:spPr>
          <a:xfrm>
            <a:off x="4953000" y="4453890"/>
            <a:ext cx="6694170" cy="1613535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503050405090304" charset="0"/>
              <a:cs typeface="Times New Roman" panose="0202050305040509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Research background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25760" r="25760"/>
          <a:stretch>
            <a:fillRect/>
          </a:stretch>
        </p:blipFill>
        <p:spPr>
          <a:xfrm>
            <a:off x="629920" y="1215390"/>
            <a:ext cx="3586480" cy="4543425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8" name="AutoShape 6"/>
          <p:cNvSpPr/>
          <p:nvPr>
            <p:custDataLst>
              <p:tags r:id="rId4"/>
            </p:custDataLst>
          </p:nvPr>
        </p:nvSpPr>
        <p:spPr>
          <a:xfrm>
            <a:off x="4953000" y="1151890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9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0500" y="1215390"/>
            <a:ext cx="609600" cy="609600"/>
          </a:xfrm>
          <a:prstGeom prst="rect">
            <a:avLst/>
          </a:prstGeom>
        </p:spPr>
      </p:pic>
      <p:sp>
        <p:nvSpPr>
          <p:cNvPr id="10" name="AutoShape 8"/>
          <p:cNvSpPr/>
          <p:nvPr>
            <p:custDataLst>
              <p:tags r:id="rId8"/>
            </p:custDataLst>
          </p:nvPr>
        </p:nvSpPr>
        <p:spPr>
          <a:xfrm>
            <a:off x="6096000" y="108839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D3748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A Widespread Mental Health Crisis</a:t>
            </a:r>
            <a:endParaRPr lang="en-US" sz="2000" b="1" dirty="0"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</p:txBody>
      </p:sp>
      <p:sp>
        <p:nvSpPr>
          <p:cNvPr id="11" name="AutoShape 9"/>
          <p:cNvSpPr/>
          <p:nvPr>
            <p:custDataLst>
              <p:tags r:id="rId9"/>
            </p:custDataLst>
          </p:nvPr>
        </p:nvSpPr>
        <p:spPr>
          <a:xfrm>
            <a:off x="6096000" y="153289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i="0" u="none" strike="noStrike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According to the WHO, </a:t>
            </a:r>
            <a:r>
              <a:rPr lang="en-US" i="0" u="none" strike="noStrike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depression</a:t>
            </a:r>
            <a:r>
              <a:rPr lang="en-US" i="0" u="none" strike="noStrike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 is a leading cause of disability worldwide, affecting an estimated </a:t>
            </a:r>
            <a:r>
              <a:rPr lang="en-US" i="0" u="none" strike="noStrike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280 million</a:t>
            </a:r>
            <a:r>
              <a:rPr lang="en-US" i="0" u="none" strike="noStrike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 people globally (as of 2023).</a:t>
            </a:r>
            <a:endParaRPr lang="en-US" i="0" u="none" strike="noStrike" dirty="0">
              <a:solidFill>
                <a:srgbClr val="555F6E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  <a:sym typeface="Poppins"/>
            </a:endParaRPr>
          </a:p>
        </p:txBody>
      </p:sp>
      <p:sp>
        <p:nvSpPr>
          <p:cNvPr id="13" name="AutoShape 10"/>
          <p:cNvSpPr/>
          <p:nvPr>
            <p:custDataLst>
              <p:tags r:id="rId10"/>
            </p:custDataLst>
          </p:nvPr>
        </p:nvSpPr>
        <p:spPr>
          <a:xfrm>
            <a:off x="4953000" y="2675890"/>
            <a:ext cx="6694170" cy="167767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4" name="AutoShape 11"/>
          <p:cNvSpPr/>
          <p:nvPr>
            <p:custDataLst>
              <p:tags r:id="rId11"/>
            </p:custDataLst>
          </p:nvPr>
        </p:nvSpPr>
        <p:spPr>
          <a:xfrm>
            <a:off x="4953000" y="2929890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5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70500" y="2993390"/>
            <a:ext cx="609600" cy="609600"/>
          </a:xfrm>
          <a:prstGeom prst="rect">
            <a:avLst/>
          </a:prstGeom>
        </p:spPr>
      </p:pic>
      <p:sp>
        <p:nvSpPr>
          <p:cNvPr id="16" name="AutoShape 13"/>
          <p:cNvSpPr/>
          <p:nvPr>
            <p:custDataLst>
              <p:tags r:id="rId15"/>
            </p:custDataLst>
          </p:nvPr>
        </p:nvSpPr>
        <p:spPr>
          <a:xfrm>
            <a:off x="6096000" y="286639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Mild Depression: A Hidden Epidemic</a:t>
            </a:r>
            <a:endParaRPr lang="en-US" sz="2000" b="1"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</p:txBody>
      </p:sp>
      <p:sp>
        <p:nvSpPr>
          <p:cNvPr id="18" name="AutoShape 14"/>
          <p:cNvSpPr/>
          <p:nvPr>
            <p:custDataLst>
              <p:tags r:id="rId16"/>
            </p:custDataLst>
          </p:nvPr>
        </p:nvSpPr>
        <p:spPr>
          <a:xfrm>
            <a:off x="6096000" y="331089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i="0" u="none" strike="noStrike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Often undiagnosed</a:t>
            </a:r>
            <a:r>
              <a:rPr lang="en-US" i="0" u="none" strike="noStrike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  <a:sym typeface="Poppins"/>
              </a:rPr>
              <a:t>, mild symptoms significantly impair daily functioning and productivity, acting as a precursor to more severe depressive episodes.</a:t>
            </a:r>
            <a:endParaRPr lang="en-US" i="0" u="none" strike="noStrike" dirty="0">
              <a:solidFill>
                <a:srgbClr val="555F6E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  <a:sym typeface="Poppins"/>
            </a:endParaRPr>
          </a:p>
        </p:txBody>
      </p:sp>
      <p:sp>
        <p:nvSpPr>
          <p:cNvPr id="20" name="AutoShape 16"/>
          <p:cNvSpPr/>
          <p:nvPr>
            <p:custDataLst>
              <p:tags r:id="rId17"/>
            </p:custDataLst>
          </p:nvPr>
        </p:nvSpPr>
        <p:spPr>
          <a:xfrm>
            <a:off x="4953000" y="4644390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21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70500" y="4707890"/>
            <a:ext cx="609600" cy="609600"/>
          </a:xfrm>
          <a:prstGeom prst="rect">
            <a:avLst/>
          </a:prstGeom>
        </p:spPr>
      </p:pic>
      <p:sp>
        <p:nvSpPr>
          <p:cNvPr id="23" name="AutoShape 19"/>
          <p:cNvSpPr/>
          <p:nvPr>
            <p:custDataLst>
              <p:tags r:id="rId21"/>
            </p:custDataLst>
          </p:nvPr>
        </p:nvSpPr>
        <p:spPr>
          <a:xfrm>
            <a:off x="6096000" y="4961890"/>
            <a:ext cx="5090795" cy="8820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Such as scale assessments and clinical interviews, rely heavily on </a:t>
            </a:r>
            <a:r>
              <a:rPr lang="en-US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subjective judgment</a:t>
            </a:r>
            <a:r>
              <a:rPr lang="en-US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 and are prone to </a:t>
            </a:r>
            <a:r>
              <a:rPr lang="en-US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misdiagnosis and underdiagnosis</a:t>
            </a:r>
            <a:r>
              <a:rPr lang="en-US" dirty="0">
                <a:solidFill>
                  <a:srgbClr val="555F6E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rPr>
              <a:t>.</a:t>
            </a:r>
            <a:endParaRPr lang="en-US" dirty="0">
              <a:solidFill>
                <a:srgbClr val="555F6E"/>
              </a:solidFill>
              <a:latin typeface="Times New Roman" panose="02020503050405090304" charset="0"/>
              <a:ea typeface="微软雅黑" panose="020B0503020204020204" pitchFamily="34" charset="-122"/>
              <a:cs typeface="Times New Roman" panose="02020503050405090304" charset="0"/>
            </a:endParaRPr>
          </a:p>
        </p:txBody>
      </p:sp>
      <p:sp>
        <p:nvSpPr>
          <p:cNvPr id="22" name="AutoShape 18"/>
          <p:cNvSpPr/>
          <p:nvPr>
            <p:custDataLst>
              <p:tags r:id="rId22"/>
            </p:custDataLst>
          </p:nvPr>
        </p:nvSpPr>
        <p:spPr>
          <a:xfrm>
            <a:off x="6096000" y="4580890"/>
            <a:ext cx="625411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2D3748"/>
                </a:solidFill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  <a:sym typeface="+mn-ea"/>
              </a:rPr>
              <a:t>Limitations of Traditional Diagnostic </a:t>
            </a:r>
            <a:endParaRPr lang="en-US" sz="20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2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Research background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3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7585" y="3182620"/>
            <a:ext cx="103066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503050405090304" charset="0"/>
                <a:cs typeface="Times New Roman" panose="02020503050405090304" charset="0"/>
              </a:rPr>
              <a:t>EEG (Electroencephalogram)</a:t>
            </a:r>
            <a:r>
              <a:rPr lang="en-US" altLang="zh-CN" dirty="0">
                <a:solidFill>
                  <a:srgbClr val="C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楷体" charset="0"/>
                <a:ea typeface="楷体" charset="0"/>
                <a:cs typeface="Times New Roman" panose="02020503050405090304" charset="0"/>
              </a:rPr>
              <a:t>脑电图</a:t>
            </a:r>
            <a:r>
              <a:rPr lang="zh-CN" altLang="en-US" dirty="0">
                <a:latin typeface="Times New Roman" panose="02020503050405090304" charset="0"/>
                <a:cs typeface="Times New Roman" panose="02020503050405090304" charset="0"/>
              </a:rPr>
              <a:t>：</a:t>
            </a:r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Non-invasive technology, records brain electrical activity, serves as a reliable neural biomarker for depression detection, with higher sampling frequency. (Focuses on internal brain neural activity)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7585" y="1970405"/>
            <a:ext cx="1030605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503050405090304" charset="0"/>
                <a:cs typeface="Times New Roman" panose="02020503050405090304" charset="0"/>
              </a:rPr>
              <a:t>Eye-Tracking Technology</a:t>
            </a:r>
            <a:r>
              <a:rPr lang="en-US" altLang="zh-CN" dirty="0">
                <a:solidFill>
                  <a:srgbClr val="C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楷体" charset="0"/>
                <a:ea typeface="楷体" charset="0"/>
                <a:cs typeface="Times New Roman" panose="02020503050405090304" charset="0"/>
              </a:rPr>
              <a:t>眼动追踪</a:t>
            </a:r>
            <a:r>
              <a:rPr lang="zh-CN" altLang="en-US" dirty="0">
                <a:latin typeface="Times New Roman" panose="02020503050405090304" charset="0"/>
                <a:cs typeface="Times New Roman" panose="02020503050405090304" charset="0"/>
              </a:rPr>
              <a:t>：</a:t>
            </a:r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Non-invasive technology, reflects human cognitive and emotional processing, its features can reflect attentional biases in depressed patients. (Focuses on external cognitive behavior)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33594" y="1132706"/>
            <a:ext cx="626914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cs typeface="Times New Roman" panose="02020503050405090304" charset="0"/>
              </a:rPr>
              <a:t>Core Concepts: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7585" y="4394835"/>
            <a:ext cx="1020254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tx1"/>
              </a:buClr>
              <a:buFont typeface="Arial" panose="020B060402020209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503050405090304" charset="0"/>
                <a:cs typeface="Times New Roman" panose="02020503050405090304" charset="0"/>
              </a:rPr>
              <a:t>Multimodal Data Fusion (EEG + Eye-Tracking)</a:t>
            </a:r>
            <a:r>
              <a:rPr lang="en-US" altLang="zh-CN" dirty="0">
                <a:solidFill>
                  <a:srgbClr val="C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楷体" charset="0"/>
                <a:ea typeface="楷体" charset="0"/>
                <a:cs typeface="Times New Roman" panose="02020503050405090304" charset="0"/>
              </a:rPr>
              <a:t>多模态数据融合</a:t>
            </a:r>
            <a:r>
              <a:rPr lang="zh-CN" altLang="en-US" dirty="0">
                <a:latin typeface="Times New Roman" panose="02020503050405090304" charset="0"/>
                <a:cs typeface="Times New Roman" panose="02020503050405090304" charset="0"/>
              </a:rPr>
              <a:t>：</a:t>
            </a:r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Combines the two non-invasive signals, complements their advantages, makes up for the one-sidedness of single-modal data, and provides more comprehensive information for depression detection.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02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69" y="3465513"/>
            <a:ext cx="36986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Literature review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Literature review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84225" y="953135"/>
            <a:ext cx="7585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Part 1：</a:t>
            </a:r>
            <a:r>
              <a:rPr lang="en-US" altLang="zh-CN" sz="2400" b="1">
                <a:solidFill>
                  <a:schemeClr val="accent2">
                    <a:lumMod val="7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Eye tracking in Depression Detection</a:t>
            </a:r>
            <a:endParaRPr lang="en-US" altLang="zh-CN" sz="2400" b="1">
              <a:solidFill>
                <a:schemeClr val="accent2">
                  <a:lumMod val="75000"/>
                </a:schemeClr>
              </a:solidFill>
              <a:latin typeface="Times New Roman" panose="02020503050405090304" charset="0"/>
              <a:ea typeface="ui-sans-serif"/>
              <a:cs typeface="Times New Roman" panose="02020503050405090304" charset="0"/>
              <a:sym typeface="+mn-ea"/>
            </a:endParaRPr>
          </a:p>
        </p:txBody>
      </p:sp>
      <p:graphicFrame>
        <p:nvGraphicFramePr>
          <p:cNvPr id="36" name="表格 35"/>
          <p:cNvGraphicFramePr/>
          <p:nvPr>
            <p:custDataLst>
              <p:tags r:id="rId1"/>
            </p:custDataLst>
          </p:nvPr>
        </p:nvGraphicFramePr>
        <p:xfrm>
          <a:off x="589915" y="1577340"/>
          <a:ext cx="8461375" cy="432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920240"/>
                <a:gridCol w="3114675"/>
                <a:gridCol w="1993900"/>
              </a:tblGrid>
              <a:tr h="785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Source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Times New Roman" panose="02020503050405090304" charset="0"/>
                        <a:cs typeface="Times New Roman" panose="02020503050405090304" charset="0"/>
                        <a:sym typeface="+mn-ea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Methods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Results and conclusions</a:t>
                      </a:r>
                      <a:endParaRPr lang="en-US" altLang="zh-CN" sz="1600" b="1" kern="1200" dirty="0">
                        <a:solidFill>
                          <a:schemeClr val="bg1"/>
                        </a:solidFill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Limitations</a:t>
                      </a:r>
                      <a:endParaRPr lang="en-US" altLang="zh-CN" sz="1600" b="1" kern="1200" dirty="0">
                        <a:solidFill>
                          <a:schemeClr val="bg1"/>
                        </a:solidFill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</a:tr>
              <a:tr h="11842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Alghowinem et al. (2013)</a:t>
                      </a:r>
                      <a:endParaRPr lang="en-US" altLang="zh-CN" sz="1600" b="1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Analyzed eye movement features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Eye metrics reflect depressive attentional biases, laid foundation for eye-tracking in depression diagnosis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Qualitative analysis only, no deep learning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</a:tr>
              <a:tr h="1182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503050405090304" charset="0"/>
                          <a:cs typeface="Times New Roman" panose="02020503050405090304" charset="0"/>
                          <a:sym typeface="+mn-ea"/>
                        </a:rPr>
                        <a:t>Stolicyn </a:t>
                      </a:r>
                      <a:r>
                        <a:rPr lang="en-US" altLang="zh-CN" sz="1600" b="1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et al. (2022)</a:t>
                      </a:r>
                      <a:endParaRPr lang="en-US" altLang="zh-CN" sz="1600" b="1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Developed a depression assessment system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Extracted facial/eye-tracking features, 79% accuracy via SVM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No mild depression classification, limited generalization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</a:tr>
              <a:tr h="1170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Times New Roman" panose="02020503050405090304" charset="0"/>
                          <a:ea typeface="+mn-ea"/>
                          <a:cs typeface="Times New Roman" panose="02020503050405090304" charset="0"/>
                        </a:rPr>
                        <a:t>Yang et al. (2022)</a:t>
                      </a:r>
                      <a:endParaRPr lang="en-US" altLang="zh-CN" sz="1600" b="1" kern="1200" dirty="0">
                        <a:solidFill>
                          <a:schemeClr val="dk1"/>
                        </a:solidFill>
                        <a:latin typeface="Times New Roman" panose="02020503050405090304" charset="0"/>
                        <a:ea typeface="+mn-ea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Proposed spatiotemporal clustering algorithm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Identified ROIs via eye-tracking, 76.25% accuracy (89 participants)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CharisSIL"/>
                          <a:cs typeface="Times New Roman" panose="02020503050405090304" charset="0"/>
                        </a:rPr>
                        <a:t>Small sample, low sensitivity to mild depression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503050405090304" charset="0"/>
                        <a:ea typeface="CharisSIL"/>
                        <a:cs typeface="Times New Roman" panose="0202050305040509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</a:tr>
            </a:tbl>
          </a:graphicData>
        </a:graphic>
      </p:graphicFrame>
      <p:pic>
        <p:nvPicPr>
          <p:cNvPr id="45" name="图片 44" descr="2a48b2a16e241c5d053b0dc1de3a690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575" y="1567180"/>
            <a:ext cx="2413635" cy="4322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4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Literature review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pic>
        <p:nvPicPr>
          <p:cNvPr id="14" name="图片 13" descr="f54b2651a3def3b40800aca4c7166f2d"/>
          <p:cNvPicPr>
            <a:picLocks noChangeAspect="1"/>
          </p:cNvPicPr>
          <p:nvPr/>
        </p:nvPicPr>
        <p:blipFill>
          <a:blip r:embed="rId1"/>
          <a:srcRect r="3054"/>
          <a:stretch>
            <a:fillRect/>
          </a:stretch>
        </p:blipFill>
        <p:spPr>
          <a:xfrm>
            <a:off x="369570" y="1872615"/>
            <a:ext cx="5179695" cy="3485515"/>
          </a:xfrm>
          <a:prstGeom prst="rect">
            <a:avLst/>
          </a:prstGeom>
        </p:spPr>
      </p:pic>
      <p:sp>
        <p:nvSpPr>
          <p:cNvPr id="92" name="矩形 91"/>
          <p:cNvSpPr/>
          <p:nvPr/>
        </p:nvSpPr>
        <p:spPr>
          <a:xfrm>
            <a:off x="5765165" y="1718310"/>
            <a:ext cx="6033135" cy="14027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mpd="sng">
            <a:noFill/>
            <a:prstDash val="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4225" y="1044575"/>
            <a:ext cx="7585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Part 2：</a:t>
            </a:r>
            <a:r>
              <a:rPr lang="en-US" altLang="zh-CN" sz="2400" b="1">
                <a:solidFill>
                  <a:schemeClr val="accent2">
                    <a:lumMod val="7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EEG in Depression Detection</a:t>
            </a:r>
            <a:endParaRPr lang="en-US" altLang="zh-CN" sz="2400" b="1">
              <a:solidFill>
                <a:schemeClr val="accent2">
                  <a:lumMod val="75000"/>
                </a:schemeClr>
              </a:solidFill>
              <a:latin typeface="Times New Roman" panose="02020503050405090304" charset="0"/>
              <a:ea typeface="ui-sans-serif"/>
              <a:cs typeface="Times New Roman" panose="0202050305040509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17870" y="1816100"/>
            <a:ext cx="6033135" cy="1123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Mahato &amp; Paul (2020) classified depression and healthy subjects using EEG band features and SVM, achieving 88.33% accuracy. 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Limitation: traditional machine learning, manual feature extraction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5" name="右箭头 65"/>
          <p:cNvSpPr/>
          <p:nvPr/>
        </p:nvSpPr>
        <p:spPr>
          <a:xfrm rot="5400000">
            <a:off x="7299960" y="3195320"/>
            <a:ext cx="413385" cy="453390"/>
          </a:xfrm>
          <a:prstGeom prst="rightArrow">
            <a:avLst>
              <a:gd name="adj1" fmla="val 50000"/>
              <a:gd name="adj2" fmla="val 48658"/>
            </a:avLst>
          </a:prstGeom>
          <a:gradFill>
            <a:gsLst>
              <a:gs pos="0">
                <a:srgbClr val="EFF8FC"/>
              </a:gs>
              <a:gs pos="50000">
                <a:srgbClr val="7FB4E1">
                  <a:alpha val="100000"/>
                </a:srgbClr>
              </a:gs>
              <a:gs pos="96000">
                <a:srgbClr val="0F6FC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33030" y="3239135"/>
            <a:ext cx="185737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503050405090304" charset="0"/>
                <a:cs typeface="Times New Roman" panose="02020503050405090304" charset="0"/>
              </a:rPr>
              <a:t>Deep Learning</a:t>
            </a:r>
            <a:endParaRPr lang="en-US" altLang="zh-CN" sz="1600">
              <a:solidFill>
                <a:schemeClr val="tx2">
                  <a:lumMod val="75000"/>
                  <a:lumOff val="25000"/>
                </a:schemeClr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65165" y="3691255"/>
            <a:ext cx="6033135" cy="19608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mpd="sng">
            <a:noFill/>
            <a:prstDash val="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858510" y="3811905"/>
            <a:ext cx="587883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Deep learning extracts features automatically and effectively.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lnSpc>
                <a:spcPct val="130000"/>
              </a:lnSpc>
              <a:buFont typeface="+mj-ea"/>
              <a:buAutoNum type="circleNumDbPlain" startAt="2"/>
            </a:pP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Yin et al. (2023) proposed a Transformer-CNN hybrid model that outperforms existing methods.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lnSpc>
                <a:spcPct val="130000"/>
              </a:lnSpc>
              <a:buFont typeface="+mj-ea"/>
              <a:buAutoNum type="circleNumDbPlain" startAt="2"/>
            </a:pP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Tigga &amp; Garg (2023) introduced an attention-based Transformer model, achieving 98.67% accuracy in depression detection.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5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Literature review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5663565" y="1863090"/>
            <a:ext cx="5737860" cy="26320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mpd="sng">
            <a:noFill/>
            <a:prstDash val="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1845" y="1044575"/>
            <a:ext cx="10610215" cy="530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➡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️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With the rise of multimodal biomedical data, </a:t>
            </a:r>
            <a:r>
              <a:rPr lang="en-US" altLang="zh-CN" sz="2200" b="1">
                <a:solidFill>
                  <a:schemeClr val="accent2">
                    <a:lumMod val="7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Data fusion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503050405090304" charset="0"/>
                <a:ea typeface="ui-sans-serif"/>
                <a:cs typeface="Times New Roman" panose="02020503050405090304" charset="0"/>
                <a:sym typeface="+mn-ea"/>
              </a:rPr>
              <a:t> is increasingly applied.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503050405090304" charset="0"/>
              <a:ea typeface="ui-sans-serif"/>
              <a:cs typeface="Times New Roman" panose="0202050305040509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73725" y="1898015"/>
            <a:ext cx="5716905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60000"/>
              </a:lnSpc>
              <a:buFont typeface="+mj-ea"/>
              <a:buAutoNum type="circleNumDbPlain" startAt="4"/>
            </a:pPr>
            <a:r>
              <a:rPr lang="en-US" altLang="zh-CN" sz="1600" dirty="0">
                <a:latin typeface="Times New Roman" panose="02020503050405090304" charset="0"/>
                <a:cs typeface="Times New Roman" panose="02020503050405090304" charset="0"/>
              </a:rPr>
              <a:t>Ding et al. (2019) classified major depression using EEG, eye tracking and GSR data, achieving an accuracy of 79.63%.</a:t>
            </a:r>
            <a:endParaRPr lang="en-US" altLang="zh-CN" sz="16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lnSpc>
                <a:spcPct val="160000"/>
              </a:lnSpc>
              <a:buFont typeface="+mj-ea"/>
              <a:buAutoNum type="circleNumDbPlain" startAt="4"/>
            </a:pPr>
            <a:r>
              <a:rPr lang="en-US" altLang="zh-CN" sz="1600" dirty="0">
                <a:latin typeface="Times New Roman" panose="02020503050405090304" charset="0"/>
                <a:cs typeface="Times New Roman" panose="02020503050405090304" charset="0"/>
              </a:rPr>
              <a:t>Zhu et al. (2019) proposed a content-based ensemble method to fuse EEG and eye tracking data, validating its effectiveness in identifying depressed patients. The fused information is more complex and comprehensive than original single-modal data.</a:t>
            </a:r>
            <a:endParaRPr lang="en-US" altLang="zh-CN" sz="16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6" name="图片 15"/>
          <p:cNvPicPr/>
          <p:nvPr/>
        </p:nvPicPr>
        <p:blipFill>
          <a:blip r:embed="rId1"/>
          <a:stretch>
            <a:fillRect/>
          </a:stretch>
        </p:blipFill>
        <p:spPr>
          <a:xfrm>
            <a:off x="792480" y="1755775"/>
            <a:ext cx="4620260" cy="28517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01395" y="4887595"/>
            <a:ext cx="10281285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i="1">
                <a:solidFill>
                  <a:schemeClr val="accent1">
                    <a:lumMod val="75000"/>
                  </a:schemeClr>
                </a:solidFill>
                <a:latin typeface="Times New Roman" panose="02020503050405090304" charset="0"/>
                <a:cs typeface="Times New Roman" panose="02020503050405090304" charset="0"/>
              </a:rPr>
              <a:t>Limitations</a:t>
            </a:r>
            <a:r>
              <a:rPr lang="en-US" altLang="zh-CN" sz="1600">
                <a:latin typeface="Times New Roman" panose="02020503050405090304" charset="0"/>
                <a:cs typeface="Times New Roman" panose="02020503050405090304" charset="0"/>
              </a:rPr>
              <a:t>: While existing methods perform well, most rely on single-modal data and cannot fully capture the complex pathology of depression.Multimodal fusion remains preliminary, lacking effective strategies for EEG and eye tracking.</a:t>
            </a:r>
            <a:endParaRPr lang="en-US" altLang="zh-CN" sz="1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91845" y="4864735"/>
            <a:ext cx="10598785" cy="947420"/>
          </a:xfrm>
          <a:prstGeom prst="rect">
            <a:avLst/>
          </a:prstGeom>
          <a:noFill/>
          <a:ln w="19050">
            <a:solidFill>
              <a:srgbClr val="3D6FB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6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03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70" y="3465830"/>
            <a:ext cx="5570220" cy="1372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Classification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Research Topic Classification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53453" y="1091377"/>
            <a:ext cx="5303650" cy="4176850"/>
            <a:chOff x="671513" y="1152337"/>
            <a:chExt cx="5303650" cy="4176850"/>
          </a:xfrm>
        </p:grpSpPr>
        <p:sp>
          <p:nvSpPr>
            <p:cNvPr id="6" name="AutoShape 28@|1FFC:0|FBC:0|LFC:0|LBC:16777215"/>
            <p:cNvSpPr>
              <a:spLocks noChangeArrowheads="1"/>
            </p:cNvSpPr>
            <p:nvPr/>
          </p:nvSpPr>
          <p:spPr bwMode="auto">
            <a:xfrm rot="17972679">
              <a:off x="2848182" y="1582241"/>
              <a:ext cx="2955019" cy="3298942"/>
            </a:xfrm>
            <a:prstGeom prst="parallelogram">
              <a:avLst>
                <a:gd name="adj" fmla="val 63426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</p:spPr>
          <p:txBody>
            <a:bodyPr wrap="none" lIns="98082" tIns="49041" rIns="98082" bIns="49041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buNone/>
                <a:defRPr/>
              </a:pPr>
              <a:endParaRPr lang="zh-CN" altLang="zh-CN" sz="2000" kern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buNone/>
                <a:defRPr/>
              </a:pPr>
              <a:endParaRPr lang="zh-CN" altLang="zh-CN" sz="2000" kern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7" name="KMA1D1FEAF@|1FFC:0|FBC:0|LFC:0|LBC:16777215"/>
            <p:cNvSpPr>
              <a:spLocks noChangeArrowheads="1"/>
            </p:cNvSpPr>
            <p:nvPr/>
          </p:nvSpPr>
          <p:spPr bwMode="auto">
            <a:xfrm rot="3600000">
              <a:off x="2750302" y="3093213"/>
              <a:ext cx="3150778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216660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Multimodal Data Fusion</a:t>
              </a:r>
              <a:endParaRPr lang="en-US" altLang="zh-CN" sz="2000" dirty="0">
                <a:solidFill>
                  <a:schemeClr val="bg1"/>
                </a:solidFill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Arial" panose="020B0604020202090204" pitchFamily="34" charset="0"/>
              </a:endParaRPr>
            </a:p>
          </p:txBody>
        </p:sp>
        <p:sp>
          <p:nvSpPr>
            <p:cNvPr id="8" name="AutoShape 25@|1FFC:0|FBC:0|LFC:0|LBC:16777215"/>
            <p:cNvSpPr>
              <a:spLocks noChangeArrowheads="1"/>
            </p:cNvSpPr>
            <p:nvPr/>
          </p:nvSpPr>
          <p:spPr bwMode="auto">
            <a:xfrm>
              <a:off x="671513" y="1152337"/>
              <a:ext cx="2979910" cy="3267265"/>
            </a:xfrm>
            <a:prstGeom prst="parallelogram">
              <a:avLst>
                <a:gd name="adj" fmla="val 63426"/>
              </a:avLst>
            </a:prstGeom>
            <a:solidFill>
              <a:srgbClr val="1E4F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zh-CN" dirty="0">
                <a:solidFill>
                  <a:schemeClr val="lt1"/>
                </a:solidFill>
                <a:sym typeface="Arial" panose="020B0604020202090204" pitchFamily="34" charset="0"/>
              </a:endParaRPr>
            </a:p>
          </p:txBody>
        </p:sp>
        <p:sp>
          <p:nvSpPr>
            <p:cNvPr id="9" name="KMA1D1FEAF@|1FFC:0|FBC:0|LFC:0|LBC:16777215"/>
            <p:cNvSpPr>
              <a:spLocks noChangeArrowheads="1"/>
            </p:cNvSpPr>
            <p:nvPr/>
          </p:nvSpPr>
          <p:spPr bwMode="auto">
            <a:xfrm rot="18000000">
              <a:off x="634319" y="2647470"/>
              <a:ext cx="2872156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216660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Biomedical Engineering</a:t>
              </a:r>
              <a:endParaRPr lang="en-US" altLang="zh-CN" sz="2000" dirty="0">
                <a:solidFill>
                  <a:schemeClr val="bg1"/>
                </a:solidFill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Arial" panose="020B0604020202090204" pitchFamily="34" charset="0"/>
              </a:endParaRPr>
            </a:p>
          </p:txBody>
        </p:sp>
        <p:sp>
          <p:nvSpPr>
            <p:cNvPr id="10" name="AutoShape 26@|1FFC:2381804|FBC:16777215|LFC:0|LBC:16777215"/>
            <p:cNvSpPr>
              <a:spLocks noChangeArrowheads="1"/>
            </p:cNvSpPr>
            <p:nvPr/>
          </p:nvSpPr>
          <p:spPr bwMode="auto">
            <a:xfrm flipH="1">
              <a:off x="671513" y="4419602"/>
              <a:ext cx="4369176" cy="909585"/>
            </a:xfrm>
            <a:prstGeom prst="parallelogram">
              <a:avLst>
                <a:gd name="adj" fmla="val 58865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p:spPr>
          <p:txBody>
            <a:bodyPr wrap="none" lIns="98082" tIns="49041" rIns="98082" bIns="49041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buNone/>
                <a:defRPr/>
              </a:pPr>
              <a:endParaRPr lang="zh-CN" altLang="zh-CN" kern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endParaRPr>
            </a:p>
          </p:txBody>
        </p:sp>
        <p:sp>
          <p:nvSpPr>
            <p:cNvPr id="14" name="KMA1D1FEAF@|1FFC:16777215|FBC:16777215|LFC:0|LBC:16777215"/>
            <p:cNvSpPr>
              <a:spLocks noChangeArrowheads="1"/>
            </p:cNvSpPr>
            <p:nvPr/>
          </p:nvSpPr>
          <p:spPr bwMode="auto">
            <a:xfrm>
              <a:off x="784102" y="4747954"/>
              <a:ext cx="4192933" cy="307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216660"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Intelligent Depression Detection</a:t>
              </a:r>
              <a:endParaRPr lang="en-US" altLang="zh-CN" sz="2000" dirty="0">
                <a:solidFill>
                  <a:schemeClr val="bg1"/>
                </a:solidFill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Arial" panose="020B060402020209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365403" y="1038709"/>
            <a:ext cx="4815092" cy="1270000"/>
            <a:chOff x="6228875" y="1333500"/>
            <a:chExt cx="4815092" cy="1270000"/>
          </a:xfrm>
        </p:grpSpPr>
        <p:sp>
          <p:nvSpPr>
            <p:cNvPr id="21" name="矩形 20"/>
            <p:cNvSpPr/>
            <p:nvPr/>
          </p:nvSpPr>
          <p:spPr>
            <a:xfrm>
              <a:off x="6228875" y="1525803"/>
              <a:ext cx="4398762" cy="10776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cs typeface="+mn-ea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362758" y="1694972"/>
              <a:ext cx="4681209" cy="792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Biomedical Engineering 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Biomedical Signal Processing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23" name="矩形: 圆角 15"/>
            <p:cNvSpPr/>
            <p:nvPr/>
          </p:nvSpPr>
          <p:spPr>
            <a:xfrm>
              <a:off x="6534150" y="1333500"/>
              <a:ext cx="2007516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456689" y="1356526"/>
              <a:ext cx="2188243" cy="383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900" dirty="0">
                  <a:latin typeface="Times New Roman Bold" panose="02020503050405090304" charset="0"/>
                  <a:cs typeface="Times New Roman Bold" panose="02020503050405090304" charset="0"/>
                </a:rPr>
                <a:t>Primary discipline</a:t>
              </a:r>
              <a:endParaRPr lang="en-US" altLang="zh-CN" sz="19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365401" y="3908175"/>
            <a:ext cx="5320189" cy="1870057"/>
            <a:chOff x="6228875" y="1333500"/>
            <a:chExt cx="5320189" cy="1623183"/>
          </a:xfrm>
        </p:grpSpPr>
        <p:sp>
          <p:nvSpPr>
            <p:cNvPr id="26" name="矩形 25"/>
            <p:cNvSpPr/>
            <p:nvPr/>
          </p:nvSpPr>
          <p:spPr>
            <a:xfrm>
              <a:off x="6228875" y="1525803"/>
              <a:ext cx="4398762" cy="14308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362760" y="1656513"/>
              <a:ext cx="5186304" cy="1271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Intelligent Depression Detection 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Deep Learning 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Transformer Model 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Joint Analysis of EEG and Eye Tracking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28" name="矩形: 圆角 20"/>
            <p:cNvSpPr/>
            <p:nvPr/>
          </p:nvSpPr>
          <p:spPr>
            <a:xfrm>
              <a:off x="6534149" y="1333500"/>
              <a:ext cx="2755469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93480" y="1392043"/>
              <a:ext cx="3036806" cy="332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900" dirty="0">
                  <a:latin typeface="Times New Roman Bold" panose="02020503050405090304" charset="0"/>
                  <a:cs typeface="Times New Roman Bold" panose="02020503050405090304" charset="0"/>
                </a:rPr>
                <a:t>Tertiary research direction</a:t>
              </a:r>
              <a:endParaRPr lang="zh-CN" altLang="en-US" sz="19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365401" y="2403442"/>
            <a:ext cx="5152891" cy="1487798"/>
            <a:chOff x="6228875" y="1326927"/>
            <a:chExt cx="5152891" cy="1487798"/>
          </a:xfrm>
        </p:grpSpPr>
        <p:sp>
          <p:nvSpPr>
            <p:cNvPr id="31" name="矩形 30"/>
            <p:cNvSpPr/>
            <p:nvPr/>
          </p:nvSpPr>
          <p:spPr>
            <a:xfrm>
              <a:off x="6228875" y="1525803"/>
              <a:ext cx="4398762" cy="128892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362759" y="1700381"/>
              <a:ext cx="5019007" cy="1114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it-IT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Multimodal Data Fusion 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it-IT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Affective Computing </a:t>
              </a:r>
              <a:endParaRPr lang="en-US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it-IT" altLang="zh-CN" sz="1900" dirty="0">
                  <a:latin typeface="Times New Roman Regular" panose="02020503050405090304" charset="0"/>
                  <a:cs typeface="Times New Roman Regular" panose="02020503050405090304" charset="0"/>
                </a:rPr>
                <a:t>Brain-Computer Interface</a:t>
              </a:r>
              <a:endParaRPr lang="it-IT" altLang="zh-CN" sz="19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3" name="矩形: 圆角 25"/>
            <p:cNvSpPr/>
            <p:nvPr/>
          </p:nvSpPr>
          <p:spPr>
            <a:xfrm>
              <a:off x="6534149" y="1333500"/>
              <a:ext cx="2199515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455432" y="1326927"/>
              <a:ext cx="2341862" cy="383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900" dirty="0">
                  <a:latin typeface="Times New Roman Bold" panose="02020503050405090304" charset="0"/>
                  <a:cs typeface="Times New Roman Bold" panose="02020503050405090304" charset="0"/>
                </a:rPr>
                <a:t>Secondary discipline</a:t>
              </a:r>
              <a:endParaRPr lang="en-US" altLang="zh-CN" sz="19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1066165" y="5322570"/>
            <a:ext cx="45529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 Bold" panose="02020503050405090304" charset="0"/>
                <a:cs typeface="Times New Roman Bold" panose="02020503050405090304" charset="0"/>
              </a:rPr>
              <a:t>Objective auxiliary diagnosis of mild depression in adolescents</a:t>
            </a:r>
            <a:endParaRPr lang="en-US" altLang="zh-CN" sz="20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7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04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70" y="3465830"/>
            <a:ext cx="5255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1E4F96"/>
                </a:solidFill>
                <a:latin typeface="Times New Roman Bold" panose="02020503050405090304" charset="0"/>
                <a:cs typeface="Times New Roman Bold" panose="02020503050405090304" charset="0"/>
              </a:rPr>
              <a:t>Issues, </a:t>
            </a:r>
            <a:r>
              <a:rPr lang="en-US" altLang="zh-CN" sz="3600" b="1" dirty="0">
                <a:solidFill>
                  <a:srgbClr val="1E4F96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Gaps, </a:t>
            </a:r>
            <a:r>
              <a:rPr lang="en-US" altLang="zh-CN" sz="3600" b="1" dirty="0">
                <a:solidFill>
                  <a:srgbClr val="1E4F96"/>
                </a:solidFill>
                <a:latin typeface="Times New Roman Bold" panose="02020503050405090304" charset="0"/>
                <a:cs typeface="Times New Roman Bold" panose="02020503050405090304" charset="0"/>
              </a:rPr>
              <a:t>Goals,</a:t>
            </a:r>
            <a:r>
              <a:rPr lang="en-US" altLang="zh-CN" sz="3600" b="1" dirty="0">
                <a:solidFill>
                  <a:srgbClr val="1E4F96"/>
                </a:solidFill>
                <a:latin typeface="Times New Roman Bold" panose="02020503050405090304" charset="0"/>
                <a:ea typeface="黑体" charset="0"/>
                <a:cs typeface="Times New Roman Bold" panose="02020503050405090304" charset="0"/>
              </a:rPr>
              <a:t> logic,</a:t>
            </a:r>
            <a:r>
              <a:rPr lang="en-US" altLang="zh-CN" sz="3600" b="1" dirty="0">
                <a:solidFill>
                  <a:srgbClr val="1E4F96"/>
                </a:solidFill>
                <a:latin typeface="Times New Roman Bold" panose="02020503050405090304" charset="0"/>
                <a:cs typeface="Times New Roman Bold" panose="02020503050405090304" charset="0"/>
              </a:rPr>
              <a:t> Significance</a:t>
            </a:r>
            <a:endParaRPr lang="en-US" altLang="zh-CN" sz="3600" b="1" dirty="0">
              <a:solidFill>
                <a:srgbClr val="1E4F96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Research issues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grpSp>
        <p:nvGrpSpPr>
          <p:cNvPr id="38" name="组合 37"/>
          <p:cNvGrpSpPr>
            <a:grpSpLocks noChangeAspect="1"/>
          </p:cNvGrpSpPr>
          <p:nvPr/>
        </p:nvGrpSpPr>
        <p:grpSpPr>
          <a:xfrm>
            <a:off x="7179342" y="1722252"/>
            <a:ext cx="3125405" cy="3132000"/>
            <a:chOff x="3903838" y="935436"/>
            <a:chExt cx="4402923" cy="4412221"/>
          </a:xfrm>
        </p:grpSpPr>
        <p:sp>
          <p:nvSpPr>
            <p:cNvPr id="18" name="Shape 14693"/>
            <p:cNvSpPr/>
            <p:nvPr/>
          </p:nvSpPr>
          <p:spPr>
            <a:xfrm>
              <a:off x="3903839" y="942409"/>
              <a:ext cx="2622228" cy="2213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57" y="12384"/>
                  </a:moveTo>
                  <a:cubicBezTo>
                    <a:pt x="18057" y="12384"/>
                    <a:pt x="18057" y="12384"/>
                    <a:pt x="18057" y="12384"/>
                  </a:cubicBezTo>
                  <a:cubicBezTo>
                    <a:pt x="15921" y="12384"/>
                    <a:pt x="14125" y="13306"/>
                    <a:pt x="12620" y="15091"/>
                  </a:cubicBezTo>
                  <a:cubicBezTo>
                    <a:pt x="11116" y="16819"/>
                    <a:pt x="10387" y="19008"/>
                    <a:pt x="10387" y="21485"/>
                  </a:cubicBezTo>
                  <a:cubicBezTo>
                    <a:pt x="10387" y="21542"/>
                    <a:pt x="10387" y="21600"/>
                    <a:pt x="10387" y="21600"/>
                  </a:cubicBezTo>
                  <a:cubicBezTo>
                    <a:pt x="7669" y="21600"/>
                    <a:pt x="7669" y="21600"/>
                    <a:pt x="7669" y="21600"/>
                  </a:cubicBezTo>
                  <a:cubicBezTo>
                    <a:pt x="7815" y="21485"/>
                    <a:pt x="7960" y="21370"/>
                    <a:pt x="8106" y="21197"/>
                  </a:cubicBezTo>
                  <a:cubicBezTo>
                    <a:pt x="8494" y="20736"/>
                    <a:pt x="8689" y="20218"/>
                    <a:pt x="8689" y="19584"/>
                  </a:cubicBezTo>
                  <a:cubicBezTo>
                    <a:pt x="8689" y="18893"/>
                    <a:pt x="8494" y="18374"/>
                    <a:pt x="8106" y="17914"/>
                  </a:cubicBezTo>
                  <a:cubicBezTo>
                    <a:pt x="7718" y="17453"/>
                    <a:pt x="7232" y="17222"/>
                    <a:pt x="6698" y="17222"/>
                  </a:cubicBezTo>
                  <a:cubicBezTo>
                    <a:pt x="6164" y="17222"/>
                    <a:pt x="5679" y="17453"/>
                    <a:pt x="5291" y="17914"/>
                  </a:cubicBezTo>
                  <a:cubicBezTo>
                    <a:pt x="4902" y="18374"/>
                    <a:pt x="4708" y="18893"/>
                    <a:pt x="4708" y="19584"/>
                  </a:cubicBezTo>
                  <a:cubicBezTo>
                    <a:pt x="4708" y="20218"/>
                    <a:pt x="4902" y="20736"/>
                    <a:pt x="5291" y="21197"/>
                  </a:cubicBezTo>
                  <a:cubicBezTo>
                    <a:pt x="5436" y="21370"/>
                    <a:pt x="5582" y="21485"/>
                    <a:pt x="5728" y="21600"/>
                  </a:cubicBezTo>
                  <a:cubicBezTo>
                    <a:pt x="2961" y="21600"/>
                    <a:pt x="2961" y="21600"/>
                    <a:pt x="2961" y="21600"/>
                  </a:cubicBezTo>
                  <a:cubicBezTo>
                    <a:pt x="2961" y="21542"/>
                    <a:pt x="2961" y="21542"/>
                    <a:pt x="2961" y="21485"/>
                  </a:cubicBezTo>
                  <a:cubicBezTo>
                    <a:pt x="2961" y="21370"/>
                    <a:pt x="2961" y="21254"/>
                    <a:pt x="2961" y="21139"/>
                  </a:cubicBezTo>
                  <a:cubicBezTo>
                    <a:pt x="2961" y="20678"/>
                    <a:pt x="3009" y="20160"/>
                    <a:pt x="3009" y="19699"/>
                  </a:cubicBezTo>
                  <a:cubicBezTo>
                    <a:pt x="0" y="17683"/>
                    <a:pt x="0" y="17683"/>
                    <a:pt x="0" y="17683"/>
                  </a:cubicBezTo>
                  <a:cubicBezTo>
                    <a:pt x="194" y="16416"/>
                    <a:pt x="437" y="15149"/>
                    <a:pt x="825" y="13997"/>
                  </a:cubicBezTo>
                  <a:cubicBezTo>
                    <a:pt x="4174" y="14227"/>
                    <a:pt x="4174" y="14227"/>
                    <a:pt x="4174" y="14227"/>
                  </a:cubicBezTo>
                  <a:cubicBezTo>
                    <a:pt x="4611" y="13075"/>
                    <a:pt x="5145" y="12038"/>
                    <a:pt x="5776" y="11002"/>
                  </a:cubicBezTo>
                  <a:cubicBezTo>
                    <a:pt x="4126" y="7315"/>
                    <a:pt x="4126" y="7315"/>
                    <a:pt x="4126" y="7315"/>
                  </a:cubicBezTo>
                  <a:cubicBezTo>
                    <a:pt x="4466" y="6912"/>
                    <a:pt x="4805" y="6451"/>
                    <a:pt x="5145" y="6048"/>
                  </a:cubicBezTo>
                  <a:cubicBezTo>
                    <a:pt x="5485" y="5645"/>
                    <a:pt x="5825" y="5242"/>
                    <a:pt x="6213" y="4838"/>
                  </a:cubicBezTo>
                  <a:cubicBezTo>
                    <a:pt x="9125" y="6912"/>
                    <a:pt x="9125" y="6912"/>
                    <a:pt x="9125" y="6912"/>
                  </a:cubicBezTo>
                  <a:cubicBezTo>
                    <a:pt x="9999" y="6163"/>
                    <a:pt x="10873" y="5530"/>
                    <a:pt x="11795" y="5069"/>
                  </a:cubicBezTo>
                  <a:cubicBezTo>
                    <a:pt x="11795" y="922"/>
                    <a:pt x="11795" y="922"/>
                    <a:pt x="11795" y="922"/>
                  </a:cubicBezTo>
                  <a:cubicBezTo>
                    <a:pt x="12717" y="518"/>
                    <a:pt x="13737" y="230"/>
                    <a:pt x="14707" y="0"/>
                  </a:cubicBezTo>
                  <a:cubicBezTo>
                    <a:pt x="16455" y="3571"/>
                    <a:pt x="16455" y="3571"/>
                    <a:pt x="16455" y="3571"/>
                  </a:cubicBezTo>
                  <a:cubicBezTo>
                    <a:pt x="16989" y="3514"/>
                    <a:pt x="17523" y="3456"/>
                    <a:pt x="18057" y="3456"/>
                  </a:cubicBezTo>
                  <a:cubicBezTo>
                    <a:pt x="18057" y="6970"/>
                    <a:pt x="18057" y="6970"/>
                    <a:pt x="18057" y="6970"/>
                  </a:cubicBezTo>
                  <a:cubicBezTo>
                    <a:pt x="18105" y="6854"/>
                    <a:pt x="18154" y="6797"/>
                    <a:pt x="18202" y="6739"/>
                  </a:cubicBezTo>
                  <a:cubicBezTo>
                    <a:pt x="18591" y="6278"/>
                    <a:pt x="19076" y="6048"/>
                    <a:pt x="19610" y="6048"/>
                  </a:cubicBezTo>
                  <a:cubicBezTo>
                    <a:pt x="20144" y="6048"/>
                    <a:pt x="20629" y="6278"/>
                    <a:pt x="21018" y="6739"/>
                  </a:cubicBezTo>
                  <a:cubicBezTo>
                    <a:pt x="21406" y="7200"/>
                    <a:pt x="21600" y="7718"/>
                    <a:pt x="21600" y="8352"/>
                  </a:cubicBezTo>
                  <a:cubicBezTo>
                    <a:pt x="21600" y="9043"/>
                    <a:pt x="21406" y="9562"/>
                    <a:pt x="21018" y="10022"/>
                  </a:cubicBezTo>
                  <a:cubicBezTo>
                    <a:pt x="20629" y="10483"/>
                    <a:pt x="20144" y="10714"/>
                    <a:pt x="19610" y="10714"/>
                  </a:cubicBezTo>
                  <a:cubicBezTo>
                    <a:pt x="19076" y="10714"/>
                    <a:pt x="18591" y="10483"/>
                    <a:pt x="18202" y="10022"/>
                  </a:cubicBezTo>
                  <a:cubicBezTo>
                    <a:pt x="18154" y="9965"/>
                    <a:pt x="18105" y="9907"/>
                    <a:pt x="18057" y="9792"/>
                  </a:cubicBezTo>
                  <a:lnTo>
                    <a:pt x="18057" y="12384"/>
                  </a:lnTo>
                  <a:close/>
                </a:path>
              </a:pathLst>
            </a:custGeom>
            <a:solidFill>
              <a:srgbClr val="1E4F9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dirty="0">
                <a:solidFill>
                  <a:schemeClr val="tx1">
                    <a:lumMod val="85000"/>
                    <a:lumOff val="15000"/>
                  </a:schemeClr>
                </a:solidFill>
                <a:sym typeface="+mn-lt"/>
              </a:endParaRPr>
            </a:p>
          </p:txBody>
        </p:sp>
        <p:sp>
          <p:nvSpPr>
            <p:cNvPr id="19" name="Shape 14695"/>
            <p:cNvSpPr/>
            <p:nvPr/>
          </p:nvSpPr>
          <p:spPr>
            <a:xfrm>
              <a:off x="5658961" y="3155494"/>
              <a:ext cx="2647800" cy="2192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560" y="9082"/>
                  </a:moveTo>
                  <a:cubicBezTo>
                    <a:pt x="5629" y="9082"/>
                    <a:pt x="7457" y="8209"/>
                    <a:pt x="8900" y="6404"/>
                  </a:cubicBezTo>
                  <a:cubicBezTo>
                    <a:pt x="10391" y="4658"/>
                    <a:pt x="11113" y="2504"/>
                    <a:pt x="11161" y="0"/>
                  </a:cubicBezTo>
                  <a:cubicBezTo>
                    <a:pt x="13181" y="0"/>
                    <a:pt x="13181" y="0"/>
                    <a:pt x="13181" y="0"/>
                  </a:cubicBezTo>
                  <a:cubicBezTo>
                    <a:pt x="13181" y="0"/>
                    <a:pt x="13181" y="58"/>
                    <a:pt x="13181" y="58"/>
                  </a:cubicBezTo>
                  <a:cubicBezTo>
                    <a:pt x="12796" y="524"/>
                    <a:pt x="12604" y="1106"/>
                    <a:pt x="12604" y="1747"/>
                  </a:cubicBezTo>
                  <a:cubicBezTo>
                    <a:pt x="12604" y="2387"/>
                    <a:pt x="12796" y="2969"/>
                    <a:pt x="13181" y="3377"/>
                  </a:cubicBezTo>
                  <a:cubicBezTo>
                    <a:pt x="13566" y="3843"/>
                    <a:pt x="13999" y="4075"/>
                    <a:pt x="14528" y="4075"/>
                  </a:cubicBezTo>
                  <a:cubicBezTo>
                    <a:pt x="15106" y="4075"/>
                    <a:pt x="15539" y="3843"/>
                    <a:pt x="15923" y="3377"/>
                  </a:cubicBezTo>
                  <a:cubicBezTo>
                    <a:pt x="16308" y="2969"/>
                    <a:pt x="16501" y="2387"/>
                    <a:pt x="16501" y="1747"/>
                  </a:cubicBezTo>
                  <a:cubicBezTo>
                    <a:pt x="16501" y="1106"/>
                    <a:pt x="16308" y="524"/>
                    <a:pt x="15923" y="58"/>
                  </a:cubicBezTo>
                  <a:cubicBezTo>
                    <a:pt x="15923" y="58"/>
                    <a:pt x="15875" y="0"/>
                    <a:pt x="15875" y="0"/>
                  </a:cubicBezTo>
                  <a:cubicBezTo>
                    <a:pt x="18665" y="0"/>
                    <a:pt x="18665" y="0"/>
                    <a:pt x="18665" y="0"/>
                  </a:cubicBezTo>
                  <a:cubicBezTo>
                    <a:pt x="18665" y="640"/>
                    <a:pt x="18665" y="1281"/>
                    <a:pt x="18617" y="1863"/>
                  </a:cubicBezTo>
                  <a:cubicBezTo>
                    <a:pt x="21600" y="3843"/>
                    <a:pt x="21600" y="3843"/>
                    <a:pt x="21600" y="3843"/>
                  </a:cubicBezTo>
                  <a:cubicBezTo>
                    <a:pt x="21456" y="4949"/>
                    <a:pt x="21215" y="5997"/>
                    <a:pt x="20927" y="7045"/>
                  </a:cubicBezTo>
                  <a:cubicBezTo>
                    <a:pt x="17415" y="7278"/>
                    <a:pt x="17415" y="7278"/>
                    <a:pt x="17415" y="7278"/>
                  </a:cubicBezTo>
                  <a:cubicBezTo>
                    <a:pt x="16982" y="8442"/>
                    <a:pt x="16453" y="9548"/>
                    <a:pt x="15779" y="10654"/>
                  </a:cubicBezTo>
                  <a:cubicBezTo>
                    <a:pt x="17559" y="14148"/>
                    <a:pt x="17559" y="14148"/>
                    <a:pt x="17559" y="14148"/>
                  </a:cubicBezTo>
                  <a:cubicBezTo>
                    <a:pt x="17222" y="14613"/>
                    <a:pt x="16886" y="15021"/>
                    <a:pt x="16549" y="15487"/>
                  </a:cubicBezTo>
                  <a:cubicBezTo>
                    <a:pt x="16164" y="15894"/>
                    <a:pt x="15827" y="16302"/>
                    <a:pt x="15442" y="16709"/>
                  </a:cubicBezTo>
                  <a:cubicBezTo>
                    <a:pt x="12508" y="14613"/>
                    <a:pt x="12508" y="14613"/>
                    <a:pt x="12508" y="14613"/>
                  </a:cubicBezTo>
                  <a:cubicBezTo>
                    <a:pt x="11594" y="15429"/>
                    <a:pt x="10680" y="16069"/>
                    <a:pt x="9718" y="16593"/>
                  </a:cubicBezTo>
                  <a:cubicBezTo>
                    <a:pt x="9718" y="20727"/>
                    <a:pt x="9718" y="20727"/>
                    <a:pt x="9718" y="20727"/>
                  </a:cubicBezTo>
                  <a:cubicBezTo>
                    <a:pt x="8804" y="21134"/>
                    <a:pt x="7890" y="21425"/>
                    <a:pt x="6927" y="21600"/>
                  </a:cubicBezTo>
                  <a:cubicBezTo>
                    <a:pt x="5196" y="17990"/>
                    <a:pt x="5196" y="17990"/>
                    <a:pt x="5196" y="17990"/>
                  </a:cubicBezTo>
                  <a:cubicBezTo>
                    <a:pt x="4666" y="18049"/>
                    <a:pt x="4137" y="18107"/>
                    <a:pt x="3656" y="18107"/>
                  </a:cubicBezTo>
                  <a:cubicBezTo>
                    <a:pt x="3608" y="18107"/>
                    <a:pt x="3608" y="18107"/>
                    <a:pt x="3560" y="18107"/>
                  </a:cubicBezTo>
                  <a:cubicBezTo>
                    <a:pt x="3560" y="14439"/>
                    <a:pt x="3560" y="14439"/>
                    <a:pt x="3560" y="14439"/>
                  </a:cubicBezTo>
                  <a:cubicBezTo>
                    <a:pt x="3512" y="14555"/>
                    <a:pt x="3416" y="14672"/>
                    <a:pt x="3319" y="14788"/>
                  </a:cubicBezTo>
                  <a:cubicBezTo>
                    <a:pt x="2935" y="15254"/>
                    <a:pt x="2453" y="15487"/>
                    <a:pt x="1924" y="15487"/>
                  </a:cubicBezTo>
                  <a:cubicBezTo>
                    <a:pt x="1395" y="15487"/>
                    <a:pt x="914" y="15254"/>
                    <a:pt x="529" y="14788"/>
                  </a:cubicBezTo>
                  <a:cubicBezTo>
                    <a:pt x="192" y="14381"/>
                    <a:pt x="0" y="13798"/>
                    <a:pt x="0" y="13158"/>
                  </a:cubicBezTo>
                  <a:cubicBezTo>
                    <a:pt x="0" y="12518"/>
                    <a:pt x="192" y="11935"/>
                    <a:pt x="529" y="11470"/>
                  </a:cubicBezTo>
                  <a:cubicBezTo>
                    <a:pt x="914" y="11004"/>
                    <a:pt x="1395" y="10771"/>
                    <a:pt x="1924" y="10771"/>
                  </a:cubicBezTo>
                  <a:cubicBezTo>
                    <a:pt x="2453" y="10771"/>
                    <a:pt x="2935" y="11004"/>
                    <a:pt x="3319" y="11470"/>
                  </a:cubicBezTo>
                  <a:cubicBezTo>
                    <a:pt x="3416" y="11586"/>
                    <a:pt x="3512" y="11702"/>
                    <a:pt x="3560" y="11819"/>
                  </a:cubicBezTo>
                  <a:lnTo>
                    <a:pt x="3560" y="9082"/>
                  </a:lnTo>
                  <a:close/>
                </a:path>
              </a:pathLst>
            </a:custGeom>
            <a:solidFill>
              <a:srgbClr val="1E4F9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dirty="0">
                <a:solidFill>
                  <a:schemeClr val="tx1">
                    <a:lumMod val="85000"/>
                    <a:lumOff val="15000"/>
                  </a:schemeClr>
                </a:solidFill>
                <a:sym typeface="+mn-lt"/>
              </a:endParaRPr>
            </a:p>
          </p:txBody>
        </p:sp>
        <p:sp>
          <p:nvSpPr>
            <p:cNvPr id="20" name="Shape 14694"/>
            <p:cNvSpPr/>
            <p:nvPr/>
          </p:nvSpPr>
          <p:spPr>
            <a:xfrm>
              <a:off x="6096000" y="935436"/>
              <a:ext cx="2203788" cy="2633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35" y="18210"/>
                  </a:moveTo>
                  <a:cubicBezTo>
                    <a:pt x="14785" y="18210"/>
                    <a:pt x="14785" y="18210"/>
                    <a:pt x="14785" y="18210"/>
                  </a:cubicBezTo>
                  <a:cubicBezTo>
                    <a:pt x="14785" y="18210"/>
                    <a:pt x="14843" y="18258"/>
                    <a:pt x="14843" y="18258"/>
                  </a:cubicBezTo>
                  <a:cubicBezTo>
                    <a:pt x="15305" y="18646"/>
                    <a:pt x="15536" y="19130"/>
                    <a:pt x="15536" y="19663"/>
                  </a:cubicBezTo>
                  <a:cubicBezTo>
                    <a:pt x="15536" y="20196"/>
                    <a:pt x="15305" y="20680"/>
                    <a:pt x="14843" y="21019"/>
                  </a:cubicBezTo>
                  <a:cubicBezTo>
                    <a:pt x="14381" y="21406"/>
                    <a:pt x="13861" y="21600"/>
                    <a:pt x="13168" y="21600"/>
                  </a:cubicBezTo>
                  <a:cubicBezTo>
                    <a:pt x="12533" y="21600"/>
                    <a:pt x="12013" y="21406"/>
                    <a:pt x="11551" y="21019"/>
                  </a:cubicBezTo>
                  <a:cubicBezTo>
                    <a:pt x="11089" y="20680"/>
                    <a:pt x="10858" y="20196"/>
                    <a:pt x="10858" y="19663"/>
                  </a:cubicBezTo>
                  <a:cubicBezTo>
                    <a:pt x="10858" y="19130"/>
                    <a:pt x="11089" y="18646"/>
                    <a:pt x="11551" y="18258"/>
                  </a:cubicBezTo>
                  <a:cubicBezTo>
                    <a:pt x="11551" y="18258"/>
                    <a:pt x="11551" y="18210"/>
                    <a:pt x="11551" y="18210"/>
                  </a:cubicBezTo>
                  <a:cubicBezTo>
                    <a:pt x="9125" y="18210"/>
                    <a:pt x="9125" y="18210"/>
                    <a:pt x="9125" y="18210"/>
                  </a:cubicBezTo>
                  <a:cubicBezTo>
                    <a:pt x="9125" y="18210"/>
                    <a:pt x="9125" y="18161"/>
                    <a:pt x="9125" y="18113"/>
                  </a:cubicBezTo>
                  <a:cubicBezTo>
                    <a:pt x="9125" y="16030"/>
                    <a:pt x="8201" y="14190"/>
                    <a:pt x="6411" y="12737"/>
                  </a:cubicBezTo>
                  <a:cubicBezTo>
                    <a:pt x="4678" y="11236"/>
                    <a:pt x="2483" y="10461"/>
                    <a:pt x="0" y="10461"/>
                  </a:cubicBezTo>
                  <a:cubicBezTo>
                    <a:pt x="0" y="8282"/>
                    <a:pt x="0" y="8282"/>
                    <a:pt x="0" y="8282"/>
                  </a:cubicBezTo>
                  <a:cubicBezTo>
                    <a:pt x="58" y="8378"/>
                    <a:pt x="116" y="8427"/>
                    <a:pt x="173" y="8475"/>
                  </a:cubicBezTo>
                  <a:cubicBezTo>
                    <a:pt x="635" y="8863"/>
                    <a:pt x="1213" y="9057"/>
                    <a:pt x="1848" y="9057"/>
                  </a:cubicBezTo>
                  <a:cubicBezTo>
                    <a:pt x="2483" y="9057"/>
                    <a:pt x="3061" y="8863"/>
                    <a:pt x="3523" y="8475"/>
                  </a:cubicBezTo>
                  <a:cubicBezTo>
                    <a:pt x="3985" y="8088"/>
                    <a:pt x="4216" y="7652"/>
                    <a:pt x="4216" y="7071"/>
                  </a:cubicBezTo>
                  <a:cubicBezTo>
                    <a:pt x="4216" y="6538"/>
                    <a:pt x="3985" y="6102"/>
                    <a:pt x="3523" y="5715"/>
                  </a:cubicBezTo>
                  <a:cubicBezTo>
                    <a:pt x="3061" y="5327"/>
                    <a:pt x="2483" y="5134"/>
                    <a:pt x="1848" y="5134"/>
                  </a:cubicBezTo>
                  <a:cubicBezTo>
                    <a:pt x="1213" y="5134"/>
                    <a:pt x="635" y="5327"/>
                    <a:pt x="173" y="5715"/>
                  </a:cubicBezTo>
                  <a:cubicBezTo>
                    <a:pt x="116" y="5763"/>
                    <a:pt x="58" y="5812"/>
                    <a:pt x="0" y="5909"/>
                  </a:cubicBezTo>
                  <a:cubicBezTo>
                    <a:pt x="0" y="2954"/>
                    <a:pt x="0" y="2954"/>
                    <a:pt x="0" y="2954"/>
                  </a:cubicBezTo>
                  <a:cubicBezTo>
                    <a:pt x="58" y="2954"/>
                    <a:pt x="58" y="2954"/>
                    <a:pt x="116" y="2954"/>
                  </a:cubicBezTo>
                  <a:cubicBezTo>
                    <a:pt x="693" y="2954"/>
                    <a:pt x="1271" y="2954"/>
                    <a:pt x="1848" y="3003"/>
                  </a:cubicBezTo>
                  <a:cubicBezTo>
                    <a:pt x="3870" y="0"/>
                    <a:pt x="3870" y="0"/>
                    <a:pt x="3870" y="0"/>
                  </a:cubicBezTo>
                  <a:cubicBezTo>
                    <a:pt x="5025" y="194"/>
                    <a:pt x="6180" y="387"/>
                    <a:pt x="7277" y="726"/>
                  </a:cubicBezTo>
                  <a:cubicBezTo>
                    <a:pt x="7277" y="4165"/>
                    <a:pt x="7277" y="4165"/>
                    <a:pt x="7277" y="4165"/>
                  </a:cubicBezTo>
                  <a:cubicBezTo>
                    <a:pt x="8490" y="4601"/>
                    <a:pt x="9645" y="5134"/>
                    <a:pt x="10742" y="5812"/>
                  </a:cubicBezTo>
                  <a:cubicBezTo>
                    <a:pt x="14207" y="4068"/>
                    <a:pt x="14207" y="4068"/>
                    <a:pt x="14207" y="4068"/>
                  </a:cubicBezTo>
                  <a:cubicBezTo>
                    <a:pt x="14670" y="4407"/>
                    <a:pt x="15132" y="4746"/>
                    <a:pt x="15594" y="5134"/>
                  </a:cubicBezTo>
                  <a:cubicBezTo>
                    <a:pt x="15940" y="5473"/>
                    <a:pt x="16287" y="5763"/>
                    <a:pt x="16633" y="6102"/>
                  </a:cubicBezTo>
                  <a:cubicBezTo>
                    <a:pt x="14554" y="9008"/>
                    <a:pt x="14554" y="9008"/>
                    <a:pt x="14554" y="9008"/>
                  </a:cubicBezTo>
                  <a:cubicBezTo>
                    <a:pt x="15363" y="9880"/>
                    <a:pt x="16056" y="10848"/>
                    <a:pt x="16633" y="11817"/>
                  </a:cubicBezTo>
                  <a:cubicBezTo>
                    <a:pt x="20734" y="11817"/>
                    <a:pt x="20734" y="11817"/>
                    <a:pt x="20734" y="11817"/>
                  </a:cubicBezTo>
                  <a:cubicBezTo>
                    <a:pt x="21080" y="12737"/>
                    <a:pt x="21369" y="13657"/>
                    <a:pt x="21600" y="14578"/>
                  </a:cubicBezTo>
                  <a:cubicBezTo>
                    <a:pt x="18077" y="16515"/>
                    <a:pt x="18077" y="16515"/>
                    <a:pt x="18077" y="16515"/>
                  </a:cubicBezTo>
                  <a:cubicBezTo>
                    <a:pt x="18135" y="17048"/>
                    <a:pt x="18135" y="17580"/>
                    <a:pt x="18135" y="18113"/>
                  </a:cubicBezTo>
                  <a:cubicBezTo>
                    <a:pt x="18135" y="18161"/>
                    <a:pt x="18135" y="18161"/>
                    <a:pt x="18135" y="18210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dirty="0">
                <a:solidFill>
                  <a:schemeClr val="tx1">
                    <a:lumMod val="85000"/>
                    <a:lumOff val="15000"/>
                  </a:schemeClr>
                </a:solidFill>
                <a:sym typeface="+mn-lt"/>
              </a:endParaRPr>
            </a:p>
          </p:txBody>
        </p:sp>
        <p:sp>
          <p:nvSpPr>
            <p:cNvPr id="21" name="Shape 14696"/>
            <p:cNvSpPr/>
            <p:nvPr/>
          </p:nvSpPr>
          <p:spPr>
            <a:xfrm>
              <a:off x="3903838" y="2706832"/>
              <a:ext cx="2192165" cy="2633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236"/>
                  </a:moveTo>
                  <a:cubicBezTo>
                    <a:pt x="21600" y="13512"/>
                    <a:pt x="21600" y="13512"/>
                    <a:pt x="21600" y="13512"/>
                  </a:cubicBezTo>
                  <a:cubicBezTo>
                    <a:pt x="21542" y="13415"/>
                    <a:pt x="21426" y="13318"/>
                    <a:pt x="21310" y="13222"/>
                  </a:cubicBezTo>
                  <a:cubicBezTo>
                    <a:pt x="20845" y="12834"/>
                    <a:pt x="20265" y="12640"/>
                    <a:pt x="19626" y="12640"/>
                  </a:cubicBezTo>
                  <a:cubicBezTo>
                    <a:pt x="18987" y="12640"/>
                    <a:pt x="18406" y="12834"/>
                    <a:pt x="17942" y="13222"/>
                  </a:cubicBezTo>
                  <a:cubicBezTo>
                    <a:pt x="17535" y="13609"/>
                    <a:pt x="17303" y="14093"/>
                    <a:pt x="17303" y="14626"/>
                  </a:cubicBezTo>
                  <a:cubicBezTo>
                    <a:pt x="17303" y="15159"/>
                    <a:pt x="17535" y="15643"/>
                    <a:pt x="17942" y="15982"/>
                  </a:cubicBezTo>
                  <a:cubicBezTo>
                    <a:pt x="18406" y="16370"/>
                    <a:pt x="18987" y="16563"/>
                    <a:pt x="19626" y="16563"/>
                  </a:cubicBezTo>
                  <a:cubicBezTo>
                    <a:pt x="20265" y="16563"/>
                    <a:pt x="20845" y="16370"/>
                    <a:pt x="21310" y="15982"/>
                  </a:cubicBezTo>
                  <a:cubicBezTo>
                    <a:pt x="21426" y="15885"/>
                    <a:pt x="21542" y="15788"/>
                    <a:pt x="21600" y="15691"/>
                  </a:cubicBezTo>
                  <a:cubicBezTo>
                    <a:pt x="21600" y="18743"/>
                    <a:pt x="21600" y="18743"/>
                    <a:pt x="21600" y="18743"/>
                  </a:cubicBezTo>
                  <a:cubicBezTo>
                    <a:pt x="20961" y="18743"/>
                    <a:pt x="20381" y="18694"/>
                    <a:pt x="19742" y="18646"/>
                  </a:cubicBezTo>
                  <a:cubicBezTo>
                    <a:pt x="17535" y="21600"/>
                    <a:pt x="17535" y="21600"/>
                    <a:pt x="17535" y="21600"/>
                  </a:cubicBezTo>
                  <a:cubicBezTo>
                    <a:pt x="16316" y="21455"/>
                    <a:pt x="15155" y="21164"/>
                    <a:pt x="14052" y="20825"/>
                  </a:cubicBezTo>
                  <a:cubicBezTo>
                    <a:pt x="14342" y="17483"/>
                    <a:pt x="14342" y="17483"/>
                    <a:pt x="14342" y="17483"/>
                  </a:cubicBezTo>
                  <a:cubicBezTo>
                    <a:pt x="13065" y="16999"/>
                    <a:pt x="11845" y="16370"/>
                    <a:pt x="10684" y="15643"/>
                  </a:cubicBezTo>
                  <a:cubicBezTo>
                    <a:pt x="7490" y="17580"/>
                    <a:pt x="7490" y="17580"/>
                    <a:pt x="7490" y="17580"/>
                  </a:cubicBezTo>
                  <a:cubicBezTo>
                    <a:pt x="7026" y="17241"/>
                    <a:pt x="6561" y="16902"/>
                    <a:pt x="6155" y="16563"/>
                  </a:cubicBezTo>
                  <a:cubicBezTo>
                    <a:pt x="5632" y="16127"/>
                    <a:pt x="5168" y="15740"/>
                    <a:pt x="4761" y="15304"/>
                  </a:cubicBezTo>
                  <a:cubicBezTo>
                    <a:pt x="6852" y="12301"/>
                    <a:pt x="6852" y="12301"/>
                    <a:pt x="6852" y="12301"/>
                  </a:cubicBezTo>
                  <a:cubicBezTo>
                    <a:pt x="6097" y="11478"/>
                    <a:pt x="5516" y="10606"/>
                    <a:pt x="4994" y="9638"/>
                  </a:cubicBezTo>
                  <a:cubicBezTo>
                    <a:pt x="871" y="9638"/>
                    <a:pt x="871" y="9638"/>
                    <a:pt x="871" y="9638"/>
                  </a:cubicBezTo>
                  <a:cubicBezTo>
                    <a:pt x="465" y="8717"/>
                    <a:pt x="232" y="7797"/>
                    <a:pt x="0" y="6829"/>
                  </a:cubicBezTo>
                  <a:cubicBezTo>
                    <a:pt x="3600" y="5037"/>
                    <a:pt x="3600" y="5037"/>
                    <a:pt x="3600" y="5037"/>
                  </a:cubicBezTo>
                  <a:cubicBezTo>
                    <a:pt x="3600" y="4746"/>
                    <a:pt x="3542" y="4407"/>
                    <a:pt x="3542" y="4068"/>
                  </a:cubicBezTo>
                  <a:cubicBezTo>
                    <a:pt x="3542" y="3971"/>
                    <a:pt x="3542" y="3826"/>
                    <a:pt x="3542" y="3681"/>
                  </a:cubicBezTo>
                  <a:cubicBezTo>
                    <a:pt x="6852" y="3681"/>
                    <a:pt x="6852" y="3681"/>
                    <a:pt x="6852" y="3681"/>
                  </a:cubicBezTo>
                  <a:cubicBezTo>
                    <a:pt x="6677" y="3584"/>
                    <a:pt x="6503" y="3487"/>
                    <a:pt x="6329" y="3342"/>
                  </a:cubicBezTo>
                  <a:cubicBezTo>
                    <a:pt x="5865" y="2954"/>
                    <a:pt x="5632" y="2518"/>
                    <a:pt x="5632" y="1986"/>
                  </a:cubicBezTo>
                  <a:cubicBezTo>
                    <a:pt x="5632" y="1404"/>
                    <a:pt x="5865" y="969"/>
                    <a:pt x="6329" y="581"/>
                  </a:cubicBezTo>
                  <a:cubicBezTo>
                    <a:pt x="6794" y="194"/>
                    <a:pt x="7374" y="0"/>
                    <a:pt x="8013" y="0"/>
                  </a:cubicBezTo>
                  <a:cubicBezTo>
                    <a:pt x="8652" y="0"/>
                    <a:pt x="9232" y="194"/>
                    <a:pt x="9697" y="581"/>
                  </a:cubicBezTo>
                  <a:cubicBezTo>
                    <a:pt x="10161" y="969"/>
                    <a:pt x="10394" y="1404"/>
                    <a:pt x="10394" y="1986"/>
                  </a:cubicBezTo>
                  <a:cubicBezTo>
                    <a:pt x="10394" y="2518"/>
                    <a:pt x="10161" y="2954"/>
                    <a:pt x="9697" y="3342"/>
                  </a:cubicBezTo>
                  <a:cubicBezTo>
                    <a:pt x="9523" y="3487"/>
                    <a:pt x="9348" y="3584"/>
                    <a:pt x="9174" y="3681"/>
                  </a:cubicBezTo>
                  <a:cubicBezTo>
                    <a:pt x="12426" y="3681"/>
                    <a:pt x="12426" y="3681"/>
                    <a:pt x="12426" y="3681"/>
                  </a:cubicBezTo>
                  <a:cubicBezTo>
                    <a:pt x="12426" y="5763"/>
                    <a:pt x="13297" y="7555"/>
                    <a:pt x="15097" y="9008"/>
                  </a:cubicBezTo>
                  <a:cubicBezTo>
                    <a:pt x="16897" y="10509"/>
                    <a:pt x="19045" y="11236"/>
                    <a:pt x="21600" y="11236"/>
                  </a:cubicBezTo>
                  <a:cubicBezTo>
                    <a:pt x="21600" y="11236"/>
                    <a:pt x="21600" y="11236"/>
                    <a:pt x="21600" y="11236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>
                <a:solidFill>
                  <a:schemeClr val="tx1">
                    <a:lumMod val="85000"/>
                    <a:lumOff val="15000"/>
                  </a:schemeClr>
                </a:solidFill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527835" y="3171755"/>
            <a:ext cx="3783330" cy="2378711"/>
            <a:chOff x="6228874" y="1333500"/>
            <a:chExt cx="5051833" cy="1896869"/>
          </a:xfrm>
        </p:grpSpPr>
        <p:sp>
          <p:nvSpPr>
            <p:cNvPr id="40" name="矩形 39"/>
            <p:cNvSpPr/>
            <p:nvPr/>
          </p:nvSpPr>
          <p:spPr>
            <a:xfrm>
              <a:off x="6228874" y="1525921"/>
              <a:ext cx="5051833" cy="1648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6413718" y="1685429"/>
              <a:ext cx="4681297" cy="154494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What is the most effective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deep learning architecture and fusion stage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 (early, intermediate, or late) to integrate heterogeneous multimodal data (EEG and Eye Tracking) for depression detection?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6534121" y="1333500"/>
              <a:ext cx="2722631" cy="3519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486638" y="1374516"/>
              <a:ext cx="2863384" cy="293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800" dirty="0">
                  <a:latin typeface="Times New Roman Bold" panose="02020503050405090304" charset="0"/>
                  <a:ea typeface="+mn-ea"/>
                  <a:cs typeface="Times New Roman Bold" panose="02020503050405090304" charset="0"/>
                  <a:sym typeface="+mn-lt"/>
                </a:rPr>
                <a:t>Technical Question</a:t>
              </a:r>
              <a:endParaRPr lang="en-US" altLang="zh-CN" sz="18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527756" y="1241355"/>
            <a:ext cx="3783381" cy="1592605"/>
            <a:chOff x="6228874" y="1333500"/>
            <a:chExt cx="5051901" cy="1270000"/>
          </a:xfrm>
        </p:grpSpPr>
        <p:sp>
          <p:nvSpPr>
            <p:cNvPr id="60" name="矩形 59"/>
            <p:cNvSpPr/>
            <p:nvPr/>
          </p:nvSpPr>
          <p:spPr>
            <a:xfrm>
              <a:off x="6228874" y="1525803"/>
              <a:ext cx="5051901" cy="10776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6456690" y="1748191"/>
              <a:ext cx="4681209" cy="7782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How can we objectively and accurately detect mild depression in adolescents using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non-invasive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 biological signals?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2" name="矩形: 圆角 61"/>
            <p:cNvSpPr/>
            <p:nvPr/>
          </p:nvSpPr>
          <p:spPr>
            <a:xfrm>
              <a:off x="6534969" y="1333500"/>
              <a:ext cx="2667517" cy="3519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6608737" y="1374516"/>
              <a:ext cx="2594597" cy="293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800" dirty="0">
                  <a:latin typeface="Times New Roman Bold" panose="02020503050405090304" charset="0"/>
                  <a:ea typeface="+mn-ea"/>
                  <a:cs typeface="Times New Roman Bold" panose="02020503050405090304" charset="0"/>
                  <a:sym typeface="+mn-lt"/>
                </a:rPr>
                <a:t>Primary Question</a:t>
              </a:r>
              <a:endParaRPr lang="en-US" altLang="zh-CN" sz="18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pic>
        <p:nvPicPr>
          <p:cNvPr id="13" name="图片 12" descr="a-wenti3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035" y="1482725"/>
            <a:ext cx="500380" cy="500380"/>
          </a:xfrm>
          <a:prstGeom prst="rect">
            <a:avLst/>
          </a:prstGeom>
        </p:spPr>
      </p:pic>
      <p:pic>
        <p:nvPicPr>
          <p:cNvPr id="15" name="图片 14" descr="jish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35" y="3413125"/>
            <a:ext cx="500380" cy="500380"/>
          </a:xfrm>
          <a:prstGeom prst="rect">
            <a:avLst/>
          </a:prstGeom>
        </p:spPr>
      </p:pic>
      <p:sp>
        <p:nvSpPr>
          <p:cNvPr id="16" name="AutoShape 6"/>
          <p:cNvSpPr/>
          <p:nvPr>
            <p:custDataLst>
              <p:tags r:id="rId3"/>
            </p:custDataLst>
          </p:nvPr>
        </p:nvSpPr>
        <p:spPr>
          <a:xfrm>
            <a:off x="2187575" y="1482725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6"/>
          <p:cNvSpPr/>
          <p:nvPr>
            <p:custDataLst>
              <p:tags r:id="rId4"/>
            </p:custDataLst>
          </p:nvPr>
        </p:nvSpPr>
        <p:spPr>
          <a:xfrm>
            <a:off x="2187575" y="3413125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文本框 4"/>
          <p:cNvSpPr txBox="1"/>
          <p:nvPr/>
        </p:nvSpPr>
        <p:spPr>
          <a:xfrm>
            <a:off x="11621366" y="5763491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8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0"/>
          <p:cNvSpPr/>
          <p:nvPr>
            <p:custDataLst>
              <p:tags r:id="rId1"/>
            </p:custDataLst>
          </p:nvPr>
        </p:nvSpPr>
        <p:spPr>
          <a:xfrm>
            <a:off x="991870" y="1230630"/>
            <a:ext cx="10202545" cy="426720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Research gaps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539875" y="1581785"/>
            <a:ext cx="9155430" cy="722630"/>
            <a:chOff x="1950" y="2716"/>
            <a:chExt cx="14418" cy="1138"/>
          </a:xfrm>
        </p:grpSpPr>
        <p:sp>
          <p:nvSpPr>
            <p:cNvPr id="11" name="矩形 10"/>
            <p:cNvSpPr/>
            <p:nvPr/>
          </p:nvSpPr>
          <p:spPr>
            <a:xfrm>
              <a:off x="3730" y="2878"/>
              <a:ext cx="12514" cy="88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 cmpd="sng">
              <a:solidFill>
                <a:schemeClr val="accent3">
                  <a:lumMod val="50000"/>
                </a:schemeClr>
              </a:solidFill>
              <a:prstDash val="dashDot"/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5" name="图片 4" descr="qingshaonia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0" y="2716"/>
              <a:ext cx="1139" cy="113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3730" y="2990"/>
              <a:ext cx="12639" cy="5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overcome the limitations of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single-mode data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in capturing physiological signal characteristics.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610360" y="2806065"/>
            <a:ext cx="9006205" cy="830580"/>
            <a:chOff x="2061" y="4091"/>
            <a:chExt cx="14183" cy="1308"/>
          </a:xfrm>
        </p:grpSpPr>
        <p:sp>
          <p:nvSpPr>
            <p:cNvPr id="13" name="矩形 12"/>
            <p:cNvSpPr/>
            <p:nvPr/>
          </p:nvSpPr>
          <p:spPr>
            <a:xfrm>
              <a:off x="3738" y="4091"/>
              <a:ext cx="12506" cy="130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 cmpd="sng">
              <a:solidFill>
                <a:schemeClr val="accent3">
                  <a:lumMod val="50000"/>
                </a:schemeClr>
              </a:solidFill>
              <a:prstDash val="dashDot"/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6" name="图片 5" descr="shiyanzuguanli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1" y="4160"/>
              <a:ext cx="1140" cy="114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3730" y="4091"/>
              <a:ext cx="12432" cy="1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the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difference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 between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attention maps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generated by deep learning models (e.g., Transformers) and actual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human visual attention mechanisms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has not been thoroughly investigated in the context of depression detection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607185" y="4138295"/>
            <a:ext cx="9004300" cy="830580"/>
            <a:chOff x="2056" y="5740"/>
            <a:chExt cx="14180" cy="1308"/>
          </a:xfrm>
        </p:grpSpPr>
        <p:sp>
          <p:nvSpPr>
            <p:cNvPr id="14" name="矩形 13"/>
            <p:cNvSpPr/>
            <p:nvPr/>
          </p:nvSpPr>
          <p:spPr>
            <a:xfrm>
              <a:off x="3730" y="5740"/>
              <a:ext cx="12506" cy="130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 cmpd="sng">
              <a:solidFill>
                <a:schemeClr val="accent3">
                  <a:lumMod val="50000"/>
                </a:schemeClr>
              </a:solidFill>
              <a:prstDash val="dashDot"/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zh-CN" altLang="en-US"/>
            </a:p>
          </p:txBody>
        </p:sp>
        <p:pic>
          <p:nvPicPr>
            <p:cNvPr id="7" name="图片 6" descr="kongzhizujia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6" y="5805"/>
              <a:ext cx="1140" cy="11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3744" y="5740"/>
              <a:ext cx="12403" cy="1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there is a lack of systematic comparison and optimization of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fusion strategies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(feature-based vs. deep learning fusion) and </a:t>
              </a:r>
              <a:r>
                <a:rPr lang="en-US" altLang="zh-CN" sz="1600" dirty="0">
                  <a:solidFill>
                    <a:srgbClr val="C0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fusion stages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 Regular" panose="02020503050405090304" charset="0"/>
                  <a:cs typeface="Times New Roman Regular" panose="02020503050405090304" charset="0"/>
                </a:rPr>
                <a:t> </a:t>
              </a: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(early, intermediate, late) specifically for depression detection. 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1621366" y="5763491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9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078605" y="1071245"/>
            <a:ext cx="7842885" cy="480250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 cmpd="sng">
            <a:solidFill>
              <a:schemeClr val="accent2">
                <a:lumMod val="75000"/>
              </a:schemeClr>
            </a:solidFill>
            <a:prstDash val="dashDot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Research goals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44" name="圆角矩形 274"/>
          <p:cNvSpPr/>
          <p:nvPr/>
        </p:nvSpPr>
        <p:spPr>
          <a:xfrm>
            <a:off x="9389110" y="3368675"/>
            <a:ext cx="2420620" cy="2372995"/>
          </a:xfrm>
          <a:prstGeom prst="roundRect">
            <a:avLst>
              <a:gd name="adj" fmla="val 4182"/>
            </a:avLst>
          </a:prstGeom>
          <a:noFill/>
          <a:ln>
            <a:solidFill>
              <a:srgbClr val="1D4F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5" name="圆角矩形 275"/>
          <p:cNvSpPr/>
          <p:nvPr/>
        </p:nvSpPr>
        <p:spPr>
          <a:xfrm>
            <a:off x="4178935" y="1181735"/>
            <a:ext cx="2667000" cy="2357120"/>
          </a:xfrm>
          <a:prstGeom prst="roundRect">
            <a:avLst>
              <a:gd name="adj" fmla="val 4182"/>
            </a:avLst>
          </a:prstGeom>
          <a:noFill/>
          <a:ln>
            <a:solidFill>
              <a:srgbClr val="1D4F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6" name="TextBox 70"/>
          <p:cNvSpPr txBox="1"/>
          <p:nvPr/>
        </p:nvSpPr>
        <p:spPr>
          <a:xfrm>
            <a:off x="4283075" y="1266190"/>
            <a:ext cx="2491105" cy="39878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noProof="1">
                <a:solidFill>
                  <a:srgbClr val="1D4F98"/>
                </a:solidFill>
                <a:latin typeface="Times New Roman Bold" panose="02020503050405090304" charset="0"/>
                <a:ea typeface="Alibaba PuHuiTi" pitchFamily="18" charset="-122"/>
                <a:cs typeface="Times New Roman Bold" panose="02020503050405090304" charset="0"/>
              </a:rPr>
              <a:t>Platform Development</a:t>
            </a:r>
            <a:endParaRPr lang="en-US" altLang="zh-CN" sz="2000" b="1" noProof="1">
              <a:solidFill>
                <a:srgbClr val="1D4F98"/>
              </a:solidFill>
              <a:latin typeface="Times New Roman Bold" panose="02020503050405090304" charset="0"/>
              <a:ea typeface="Alibaba PuHuiTi" pitchFamily="18" charset="-122"/>
              <a:cs typeface="Times New Roman Bold" panose="02020503050405090304" charset="0"/>
            </a:endParaRPr>
          </a:p>
        </p:txBody>
      </p:sp>
      <p:sp>
        <p:nvSpPr>
          <p:cNvPr id="48" name="TextBox 70"/>
          <p:cNvSpPr txBox="1"/>
          <p:nvPr/>
        </p:nvSpPr>
        <p:spPr>
          <a:xfrm>
            <a:off x="9474835" y="3390900"/>
            <a:ext cx="2402205" cy="39878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noProof="1">
                <a:solidFill>
                  <a:srgbClr val="1D4F98"/>
                </a:solidFill>
                <a:latin typeface="Times New Roman Bold" panose="02020503050405090304" charset="0"/>
                <a:ea typeface="Alibaba PuHuiTi" pitchFamily="18" charset="-122"/>
                <a:cs typeface="Times New Roman Bold" panose="02020503050405090304" charset="0"/>
              </a:rPr>
              <a:t>Strategy Evaluation</a:t>
            </a:r>
            <a:endParaRPr lang="en-US" altLang="zh-CN" sz="2000" b="1" noProof="1">
              <a:solidFill>
                <a:srgbClr val="1D4F98"/>
              </a:solidFill>
              <a:latin typeface="Times New Roman Bold" panose="02020503050405090304" charset="0"/>
              <a:ea typeface="Alibaba PuHuiTi" pitchFamily="18" charset="-122"/>
              <a:cs typeface="Times New Roman Bold" panose="02020503050405090304" charset="0"/>
            </a:endParaRPr>
          </a:p>
        </p:txBody>
      </p:sp>
      <p:pic>
        <p:nvPicPr>
          <p:cNvPr id="59" name="内容占位符 3" descr="IMG_4591 (2).jpg"/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Cement/>
                    </a14:imgEffect>
                  </a14:imgLayer>
                </a14:imgProps>
              </a:ext>
            </a:extLst>
          </a:blip>
          <a:srcRect l="4422" t="6262" r="56816" b="20617"/>
          <a:stretch>
            <a:fillRect/>
          </a:stretch>
        </p:blipFill>
        <p:spPr>
          <a:xfrm>
            <a:off x="369570" y="1701165"/>
            <a:ext cx="3630295" cy="3455035"/>
          </a:xfrm>
          <a:prstGeom prst="roundRect">
            <a:avLst/>
          </a:prstGeom>
          <a:ln>
            <a:noFill/>
          </a:ln>
          <a:effectLst/>
        </p:spPr>
      </p:pic>
      <p:sp>
        <p:nvSpPr>
          <p:cNvPr id="60" name="文本框 59"/>
          <p:cNvSpPr txBox="1"/>
          <p:nvPr/>
        </p:nvSpPr>
        <p:spPr>
          <a:xfrm>
            <a:off x="4204970" y="1915795"/>
            <a:ext cx="2612390" cy="143065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HarmonyOS Sans SC Light" panose="00000400000000000000" pitchFamily="2" charset="-122"/>
              </a:rPr>
              <a:t>To develop a </a:t>
            </a:r>
            <a:r>
              <a:rPr lang="en-US" altLang="zh-CN" sz="1600" dirty="0">
                <a:solidFill>
                  <a:srgbClr val="C0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HarmonyOS Sans SC Light" panose="00000400000000000000" pitchFamily="2" charset="-122"/>
              </a:rPr>
              <a:t>multimodal signal acquisition platform</a:t>
            </a: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HarmonyOS Sans SC Light" panose="00000400000000000000" pitchFamily="2" charset="-122"/>
              </a:rPr>
              <a:t> to investigate visual attention and cognitive brain activities.</a:t>
            </a:r>
            <a:endParaRPr lang="en-US" altLang="zh-CN" sz="1600" dirty="0">
              <a:solidFill>
                <a:schemeClr val="tx1"/>
              </a:solidFill>
              <a:latin typeface="Times New Roman Regular" panose="02020503050405090304" charset="0"/>
              <a:ea typeface="+mn-ea"/>
              <a:cs typeface="Times New Roman Regular" panose="02020503050405090304" charset="0"/>
              <a:sym typeface="HarmonyOS Sans SC Light" panose="00000400000000000000" pitchFamily="2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413240" y="3918585"/>
            <a:ext cx="23647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HarmonyOS Sans SC Light" panose="00000400000000000000" pitchFamily="2" charset="-122"/>
              </a:rPr>
              <a:t>To evaluate and compare the </a:t>
            </a:r>
            <a:r>
              <a:rPr lang="en-US" altLang="zh-CN" sz="1600" dirty="0">
                <a:solidFill>
                  <a:srgbClr val="C00000"/>
                </a:solidFill>
                <a:latin typeface="Times New Roman Regular" panose="02020503050405090304" charset="0"/>
                <a:cs typeface="Times New Roman Regular" panose="02020503050405090304" charset="0"/>
                <a:sym typeface="HarmonyOS Sans SC Light" panose="00000400000000000000" pitchFamily="2" charset="-122"/>
              </a:rPr>
              <a:t>impact of different fusion stages</a:t>
            </a: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HarmonyOS Sans SC Light" panose="00000400000000000000" pitchFamily="2" charset="-122"/>
              </a:rPr>
              <a:t> (early, intermediate, and late) on depression classification performance.</a:t>
            </a:r>
            <a:endParaRPr lang="en-US" altLang="zh-CN" sz="160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HarmonyOS Sans SC Light" panose="00000400000000000000" pitchFamily="2" charset="-122"/>
            </a:endParaRPr>
          </a:p>
        </p:txBody>
      </p:sp>
      <p:sp>
        <p:nvSpPr>
          <p:cNvPr id="7" name="圆角矩形 275"/>
          <p:cNvSpPr/>
          <p:nvPr/>
        </p:nvSpPr>
        <p:spPr>
          <a:xfrm>
            <a:off x="6968490" y="2202815"/>
            <a:ext cx="2298065" cy="2372995"/>
          </a:xfrm>
          <a:prstGeom prst="roundRect">
            <a:avLst>
              <a:gd name="adj" fmla="val 4182"/>
            </a:avLst>
          </a:prstGeom>
          <a:noFill/>
          <a:ln>
            <a:solidFill>
              <a:srgbClr val="1D4F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TextBox 70"/>
          <p:cNvSpPr txBox="1"/>
          <p:nvPr/>
        </p:nvSpPr>
        <p:spPr>
          <a:xfrm>
            <a:off x="7125970" y="2303145"/>
            <a:ext cx="1979930" cy="39878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noProof="1">
                <a:solidFill>
                  <a:srgbClr val="1D4F98"/>
                </a:solidFill>
                <a:latin typeface="Times New Roman Bold" panose="02020503050405090304" charset="0"/>
                <a:ea typeface="Alibaba PuHuiTi" pitchFamily="18" charset="-122"/>
                <a:cs typeface="Times New Roman Bold" panose="02020503050405090304" charset="0"/>
              </a:rPr>
              <a:t>Model Innovation</a:t>
            </a:r>
            <a:endParaRPr lang="en-US" altLang="zh-CN" sz="2000" b="1" noProof="1">
              <a:solidFill>
                <a:srgbClr val="1D4F98"/>
              </a:solidFill>
              <a:latin typeface="Times New Roman Bold" panose="02020503050405090304" charset="0"/>
              <a:ea typeface="Alibaba PuHuiTi" pitchFamily="18" charset="-122"/>
              <a:cs typeface="Times New Roman Bold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06590" y="2653665"/>
            <a:ext cx="225996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HarmonyOS Sans SC Light" panose="00000400000000000000" pitchFamily="2" charset="-122"/>
              </a:rPr>
              <a:t>To propose a novel </a:t>
            </a:r>
            <a:r>
              <a:rPr lang="en-US" altLang="zh-CN" sz="1600" dirty="0">
                <a:solidFill>
                  <a:srgbClr val="C00000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HarmonyOS Sans SC Light" panose="00000400000000000000" pitchFamily="2" charset="-122"/>
              </a:rPr>
              <a:t>Multimodal Transformer Network</a:t>
            </a:r>
            <a:r>
              <a:rPr lang="en-US" altLang="zh-CN" sz="1600" dirty="0">
                <a:solidFill>
                  <a:schemeClr val="tx1"/>
                </a:solidFill>
                <a:latin typeface="Times New Roman Regular" panose="02020503050405090304" charset="0"/>
                <a:ea typeface="+mn-ea"/>
                <a:cs typeface="Times New Roman Regular" panose="02020503050405090304" charset="0"/>
                <a:sym typeface="HarmonyOS Sans SC Light" panose="00000400000000000000" pitchFamily="2" charset="-122"/>
              </a:rPr>
              <a:t> (MTNet) to capture local and global spatio-temporal characteristics of EEG and eye-tracking data.</a:t>
            </a:r>
            <a:endParaRPr lang="en-US" altLang="zh-CN" sz="1600" dirty="0">
              <a:solidFill>
                <a:schemeClr val="tx1"/>
              </a:solidFill>
              <a:latin typeface="Times New Roman Regular" panose="02020503050405090304" charset="0"/>
              <a:ea typeface="+mn-ea"/>
              <a:cs typeface="Times New Roman Regular" panose="02020503050405090304" charset="0"/>
              <a:sym typeface="HarmonyOS Sans SC Light" panose="000004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21366" y="5763491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10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Research Logical Structure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5672455" y="998220"/>
            <a:ext cx="2466340" cy="344805"/>
          </a:xfrm>
          <a:prstGeom prst="rect">
            <a:avLst/>
          </a:prstGeom>
          <a:solidFill>
            <a:schemeClr val="bg1"/>
          </a:solidFill>
          <a:ln w="12700">
            <a:solidFill>
              <a:srgbClr val="1E4F96">
                <a:alpha val="50000"/>
              </a:srgb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90645" y="998220"/>
            <a:ext cx="1572895" cy="344805"/>
          </a:xfrm>
          <a:prstGeom prst="rect">
            <a:avLst/>
          </a:prstGeom>
          <a:solidFill>
            <a:schemeClr val="bg1"/>
          </a:solidFill>
          <a:ln w="12700">
            <a:solidFill>
              <a:srgbClr val="1E4F96">
                <a:alpha val="50000"/>
              </a:srgb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974850" y="1004570"/>
            <a:ext cx="1711960" cy="344805"/>
          </a:xfrm>
          <a:prstGeom prst="rect">
            <a:avLst/>
          </a:prstGeom>
          <a:solidFill>
            <a:schemeClr val="bg1"/>
          </a:solidFill>
          <a:ln w="12700">
            <a:solidFill>
              <a:srgbClr val="1E4F96">
                <a:alpha val="50000"/>
              </a:srgb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169511" y="3676589"/>
            <a:ext cx="4032498" cy="2328365"/>
            <a:chOff x="5761533" y="1308144"/>
            <a:chExt cx="5384545" cy="1856722"/>
          </a:xfrm>
        </p:grpSpPr>
        <p:sp>
          <p:nvSpPr>
            <p:cNvPr id="45" name="矩形 44"/>
            <p:cNvSpPr/>
            <p:nvPr/>
          </p:nvSpPr>
          <p:spPr>
            <a:xfrm>
              <a:off x="5761533" y="1506279"/>
              <a:ext cx="5384545" cy="16585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829245" y="1706700"/>
              <a:ext cx="5249120" cy="5878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/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49 teenagers (21 with mild depression + 28 healthy controls) participated in the driving attention paradigm (with sudden driver/vehicle collision).</a:t>
              </a:r>
              <a:endParaRPr lang="en-US" altLang="zh-CN" sz="14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6024609" y="1308144"/>
              <a:ext cx="3148883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829245" y="1379384"/>
              <a:ext cx="3494738" cy="26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Ⅲ. Experiment verification </a:t>
              </a:r>
              <a:endParaRPr lang="zh-CN" altLang="en-US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716099" y="1680904"/>
            <a:ext cx="4261572" cy="2532671"/>
            <a:chOff x="6228875" y="1333500"/>
            <a:chExt cx="5690424" cy="2082493"/>
          </a:xfrm>
        </p:grpSpPr>
        <p:sp>
          <p:nvSpPr>
            <p:cNvPr id="50" name="矩形 49"/>
            <p:cNvSpPr/>
            <p:nvPr/>
          </p:nvSpPr>
          <p:spPr>
            <a:xfrm>
              <a:off x="6228875" y="1525803"/>
              <a:ext cx="5690424" cy="189019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cs typeface="+mn-ea"/>
              </a:endParaRPr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6534150" y="1333500"/>
              <a:ext cx="2232340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cs typeface="+mn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356645" y="1398148"/>
              <a:ext cx="2554680" cy="277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Ⅱ. Method design </a:t>
              </a:r>
              <a:endParaRPr lang="zh-CN" altLang="en-US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6262412" y="1781178"/>
              <a:ext cx="3149342" cy="2521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atinLnBrk="1"/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Limitations of single modality</a:t>
              </a:r>
              <a:endParaRPr lang="en-US" altLang="zh-CN" sz="14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40861" y="1427118"/>
            <a:ext cx="4261572" cy="1283516"/>
            <a:chOff x="6228874" y="1312952"/>
            <a:chExt cx="5051901" cy="1612917"/>
          </a:xfrm>
        </p:grpSpPr>
        <p:sp>
          <p:nvSpPr>
            <p:cNvPr id="60" name="矩形 59"/>
            <p:cNvSpPr/>
            <p:nvPr/>
          </p:nvSpPr>
          <p:spPr>
            <a:xfrm>
              <a:off x="6228874" y="1525804"/>
              <a:ext cx="5051901" cy="140006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6333165" y="1768876"/>
              <a:ext cx="4939503" cy="10884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The diagnosis of depression is highly subjective.</a:t>
              </a:r>
              <a:endParaRPr lang="en-US" altLang="zh-CN" sz="14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400" dirty="0">
                  <a:latin typeface="Times New Roman Regular" panose="02020503050405090304" charset="0"/>
                  <a:cs typeface="Times New Roman Regular" panose="02020503050405090304" charset="0"/>
                </a:rPr>
                <a:t>It is necessary to search for objective and non-invasive biological signal indicators</a:t>
              </a:r>
              <a:endParaRPr lang="zh-CN" altLang="en-US" sz="14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2" name="矩形: 圆角 61"/>
            <p:cNvSpPr/>
            <p:nvPr/>
          </p:nvSpPr>
          <p:spPr>
            <a:xfrm>
              <a:off x="6491904" y="1336093"/>
              <a:ext cx="1901441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6321022" y="1312952"/>
              <a:ext cx="2211014" cy="423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Ⅰ. Problem-driven</a:t>
              </a:r>
              <a:endParaRPr lang="zh-CN" altLang="en-US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974850" y="989940"/>
            <a:ext cx="6223762" cy="382930"/>
          </a:xfrm>
          <a:custGeom>
            <a:avLst/>
            <a:gdLst>
              <a:gd name="connsiteX0" fmla="*/ 0 w 8710930"/>
              <a:gd name="connsiteY0" fmla="*/ 0 h 368300"/>
              <a:gd name="connsiteX1" fmla="*/ 8710930 w 8710930"/>
              <a:gd name="connsiteY1" fmla="*/ 0 h 368300"/>
              <a:gd name="connsiteX2" fmla="*/ 8710930 w 8710930"/>
              <a:gd name="connsiteY2" fmla="*/ 368300 h 368300"/>
              <a:gd name="connsiteX3" fmla="*/ 0 w 8710930"/>
              <a:gd name="connsiteY3" fmla="*/ 368300 h 368300"/>
              <a:gd name="connsiteX4" fmla="*/ 0 w 8710930"/>
              <a:gd name="connsiteY4" fmla="*/ 0 h 368300"/>
              <a:gd name="connsiteX0-1" fmla="*/ 0 w 8710930"/>
              <a:gd name="connsiteY0-2" fmla="*/ 14630 h 382930"/>
              <a:gd name="connsiteX1-3" fmla="*/ 6223762 w 8710930"/>
              <a:gd name="connsiteY1-4" fmla="*/ 0 h 382930"/>
              <a:gd name="connsiteX2-5" fmla="*/ 8710930 w 8710930"/>
              <a:gd name="connsiteY2-6" fmla="*/ 382930 h 382930"/>
              <a:gd name="connsiteX3-7" fmla="*/ 0 w 8710930"/>
              <a:gd name="connsiteY3-8" fmla="*/ 382930 h 382930"/>
              <a:gd name="connsiteX4-9" fmla="*/ 0 w 8710930"/>
              <a:gd name="connsiteY4-10" fmla="*/ 14630 h 382930"/>
              <a:gd name="connsiteX0-11" fmla="*/ 0 w 6223762"/>
              <a:gd name="connsiteY0-12" fmla="*/ 14630 h 382930"/>
              <a:gd name="connsiteX1-13" fmla="*/ 6223762 w 6223762"/>
              <a:gd name="connsiteY1-14" fmla="*/ 0 h 382930"/>
              <a:gd name="connsiteX2-15" fmla="*/ 6216446 w 6223762"/>
              <a:gd name="connsiteY2-16" fmla="*/ 382930 h 382930"/>
              <a:gd name="connsiteX3-17" fmla="*/ 0 w 6223762"/>
              <a:gd name="connsiteY3-18" fmla="*/ 382930 h 382930"/>
              <a:gd name="connsiteX4-19" fmla="*/ 0 w 6223762"/>
              <a:gd name="connsiteY4-20" fmla="*/ 14630 h 3829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223762" h="382930">
                <a:moveTo>
                  <a:pt x="0" y="14630"/>
                </a:moveTo>
                <a:lnTo>
                  <a:pt x="6223762" y="0"/>
                </a:lnTo>
                <a:lnTo>
                  <a:pt x="6216446" y="382930"/>
                </a:lnTo>
                <a:lnTo>
                  <a:pt x="0" y="382930"/>
                </a:lnTo>
                <a:lnTo>
                  <a:pt x="0" y="1463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</a:rPr>
              <a:t>Problem-driven → Method design → Experiment verification</a:t>
            </a:r>
            <a:endParaRPr lang="zh-CN" altLang="en-US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8891363" y="2541139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箭头: 下 15"/>
          <p:cNvSpPr/>
          <p:nvPr/>
        </p:nvSpPr>
        <p:spPr>
          <a:xfrm rot="17397485">
            <a:off x="5637253" y="1951694"/>
            <a:ext cx="277097" cy="1464594"/>
          </a:xfrm>
          <a:prstGeom prst="downArrow">
            <a:avLst>
              <a:gd name="adj1" fmla="val 50000"/>
              <a:gd name="adj2" fmla="val 87665"/>
            </a:avLst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endParaRPr>
          </a:p>
        </p:txBody>
      </p:sp>
      <p:sp>
        <p:nvSpPr>
          <p:cNvPr id="37" name="箭头: 右 16"/>
          <p:cNvSpPr/>
          <p:nvPr/>
        </p:nvSpPr>
        <p:spPr>
          <a:xfrm rot="9134889">
            <a:off x="5528550" y="4804194"/>
            <a:ext cx="1603530" cy="296466"/>
          </a:xfrm>
          <a:prstGeom prst="rightArrow">
            <a:avLst>
              <a:gd name="adj1" fmla="val 50000"/>
              <a:gd name="adj2" fmla="val 86449"/>
            </a:avLst>
          </a:prstGeom>
          <a:gradFill flip="none" rotWithShape="1">
            <a:gsLst>
              <a:gs pos="0">
                <a:schemeClr val="tx2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2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2">
                  <a:lumMod val="75000"/>
                  <a:lumOff val="25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9298426" y="2081931"/>
            <a:ext cx="188274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Multimodal fusion (EEG + eye tracking)</a:t>
            </a:r>
            <a:endParaRPr lang="zh-CN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9074649" y="2412091"/>
            <a:ext cx="2834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6758657" y="2653189"/>
            <a:ext cx="4044675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6878830" y="2776529"/>
            <a:ext cx="3871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Data acquisition &amp; preprocessing (49 adolescents)</a:t>
            </a:r>
            <a:endParaRPr lang="zh-CN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6792267" y="3099308"/>
            <a:ext cx="4044675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6716099" y="3544020"/>
            <a:ext cx="1314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Method design:</a:t>
            </a:r>
            <a:endParaRPr lang="zh-CN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8" name="左大括号 57"/>
          <p:cNvSpPr/>
          <p:nvPr/>
        </p:nvSpPr>
        <p:spPr>
          <a:xfrm>
            <a:off x="8010785" y="3360056"/>
            <a:ext cx="73152" cy="7315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149939" y="3256097"/>
            <a:ext cx="2924604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Traditional ML (handcrafted features + SVM etc.)</a:t>
            </a:r>
            <a:endParaRPr lang="en-US" altLang="zh-CN" sz="1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atinLnBrk="1"/>
            <a:r>
              <a:rPr lang="en-US" altLang="zh-CN" sz="1400" b="1" dirty="0">
                <a:latin typeface="Times New Roman Bold" panose="02020503050405090304" charset="0"/>
                <a:cs typeface="Times New Roman Bold" panose="02020503050405090304" charset="0"/>
              </a:rPr>
              <a:t>Deep learning </a:t>
            </a:r>
            <a:r>
              <a:rPr lang="en-US" altLang="zh-CN" sz="1400" b="1" dirty="0" err="1">
                <a:latin typeface="Times New Roman Bold" panose="02020503050405090304" charset="0"/>
                <a:cs typeface="Times New Roman Bold" panose="02020503050405090304" charset="0"/>
              </a:rPr>
              <a:t>MTNet</a:t>
            </a:r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 (Transformer + multimodal)</a:t>
            </a:r>
            <a:endParaRPr lang="zh-CN" altLang="en-US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8876525" y="3037103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1294574" y="4959629"/>
            <a:ext cx="26270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 Bold" panose="02020503050405090304" charset="0"/>
                <a:cs typeface="Times New Roman Bold" panose="02020503050405090304" charset="0"/>
              </a:rPr>
              <a:t>Deep learning model (</a:t>
            </a:r>
            <a:r>
              <a:rPr lang="en-US" altLang="zh-CN" sz="1400" b="1" dirty="0" err="1">
                <a:latin typeface="Times New Roman Bold" panose="02020503050405090304" charset="0"/>
                <a:cs typeface="Times New Roman Bold" panose="02020503050405090304" charset="0"/>
              </a:rPr>
              <a:t>MTNet</a:t>
            </a:r>
            <a:r>
              <a:rPr lang="en-US" altLang="zh-CN" sz="1400" b="1" dirty="0"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en-US" altLang="zh-CN" sz="1400" dirty="0">
                <a:latin typeface="Times New Roman" panose="02020503050405090304" charset="0"/>
                <a:cs typeface="Times New Roman" panose="02020503050405090304" charset="0"/>
              </a:rPr>
              <a:t>:</a:t>
            </a:r>
            <a:endParaRPr lang="zh-CN" altLang="en-US" sz="14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1267752" y="4952428"/>
            <a:ext cx="3866147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1485532" y="5228248"/>
            <a:ext cx="33878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EEG branch</a:t>
            </a:r>
            <a:endParaRPr lang="en-US" altLang="zh-CN" sz="1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Eye tracking branch</a:t>
            </a:r>
            <a:endParaRPr lang="en-US" altLang="zh-CN" sz="14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1400" dirty="0">
                <a:latin typeface="Times New Roman Regular" panose="02020503050405090304" charset="0"/>
                <a:cs typeface="Times New Roman Regular" panose="02020503050405090304" charset="0"/>
              </a:rPr>
              <a:t>Fusion</a:t>
            </a:r>
            <a:endParaRPr lang="zh-CN" altLang="en-US" sz="1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2" name="左大括号 71"/>
          <p:cNvSpPr/>
          <p:nvPr/>
        </p:nvSpPr>
        <p:spPr>
          <a:xfrm>
            <a:off x="1350074" y="5338040"/>
            <a:ext cx="168859" cy="50511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621366" y="5763491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11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634614706575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2370" y="2159635"/>
            <a:ext cx="5855970" cy="3951605"/>
          </a:xfrm>
          <a:prstGeom prst="rect">
            <a:avLst/>
          </a:prstGeom>
        </p:spPr>
      </p:pic>
      <p:sp>
        <p:nvSpPr>
          <p:cNvPr id="24" name="AutoShape 10"/>
          <p:cNvSpPr/>
          <p:nvPr>
            <p:custDataLst>
              <p:tags r:id="rId2"/>
            </p:custDataLst>
          </p:nvPr>
        </p:nvSpPr>
        <p:spPr>
          <a:xfrm>
            <a:off x="895985" y="4345305"/>
            <a:ext cx="6693535" cy="167767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10"/>
          <p:cNvSpPr/>
          <p:nvPr>
            <p:custDataLst>
              <p:tags r:id="rId3"/>
            </p:custDataLst>
          </p:nvPr>
        </p:nvSpPr>
        <p:spPr>
          <a:xfrm>
            <a:off x="895985" y="901700"/>
            <a:ext cx="6694170" cy="167767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Research significance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8" name="AutoShape 6"/>
          <p:cNvSpPr/>
          <p:nvPr>
            <p:custDataLst>
              <p:tags r:id="rId4"/>
            </p:custDataLst>
          </p:nvPr>
        </p:nvSpPr>
        <p:spPr>
          <a:xfrm>
            <a:off x="895985" y="1143635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8"/>
          <p:cNvSpPr/>
          <p:nvPr>
            <p:custDataLst>
              <p:tags r:id="rId5"/>
            </p:custDataLst>
          </p:nvPr>
        </p:nvSpPr>
        <p:spPr>
          <a:xfrm>
            <a:off x="2038985" y="108013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Clinical Value</a:t>
            </a:r>
            <a:endParaRPr lang="en-US" altLang="zh-CN" sz="20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</p:txBody>
      </p:sp>
      <p:sp>
        <p:nvSpPr>
          <p:cNvPr id="11" name="AutoShape 9"/>
          <p:cNvSpPr/>
          <p:nvPr>
            <p:custDataLst>
              <p:tags r:id="rId6"/>
            </p:custDataLst>
          </p:nvPr>
        </p:nvSpPr>
        <p:spPr>
          <a:xfrm>
            <a:off x="2038985" y="1524635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Provides an </a:t>
            </a:r>
            <a:r>
              <a:rPr lang="en-US" altLang="zh-CN" i="0" u="none" strike="noStrike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objective, comprehensive</a:t>
            </a: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, and </a:t>
            </a:r>
            <a:r>
              <a:rPr lang="en-US" altLang="zh-CN" i="0" u="none" strike="noStrike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accurate</a:t>
            </a: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 biological indicator for the </a:t>
            </a:r>
            <a:r>
              <a:rPr lang="en-US" altLang="zh-CN" i="0" u="none" strike="noStrike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prompt detection</a:t>
            </a: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 of adolescent mild depression.</a:t>
            </a:r>
            <a:endParaRPr lang="en-US" altLang="zh-CN" i="0" u="none" strike="noStrike">
              <a:solidFill>
                <a:srgbClr val="555F6E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Poppins"/>
            </a:endParaRPr>
          </a:p>
        </p:txBody>
      </p:sp>
      <p:sp>
        <p:nvSpPr>
          <p:cNvPr id="13" name="AutoShape 10"/>
          <p:cNvSpPr/>
          <p:nvPr>
            <p:custDataLst>
              <p:tags r:id="rId7"/>
            </p:custDataLst>
          </p:nvPr>
        </p:nvSpPr>
        <p:spPr>
          <a:xfrm>
            <a:off x="895985" y="2623820"/>
            <a:ext cx="6694170" cy="167767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1"/>
          <p:cNvSpPr/>
          <p:nvPr>
            <p:custDataLst>
              <p:tags r:id="rId8"/>
            </p:custDataLst>
          </p:nvPr>
        </p:nvSpPr>
        <p:spPr>
          <a:xfrm>
            <a:off x="895985" y="2921635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3"/>
          <p:cNvSpPr/>
          <p:nvPr>
            <p:custDataLst>
              <p:tags r:id="rId9"/>
            </p:custDataLst>
          </p:nvPr>
        </p:nvSpPr>
        <p:spPr>
          <a:xfrm>
            <a:off x="2038985" y="2858135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Methodological Breakthrough</a:t>
            </a:r>
            <a:endParaRPr lang="en-US" altLang="zh-CN" sz="20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</p:txBody>
      </p:sp>
      <p:sp>
        <p:nvSpPr>
          <p:cNvPr id="18" name="AutoShape 14"/>
          <p:cNvSpPr/>
          <p:nvPr>
            <p:custDataLst>
              <p:tags r:id="rId10"/>
            </p:custDataLst>
          </p:nvPr>
        </p:nvSpPr>
        <p:spPr>
          <a:xfrm>
            <a:off x="2038985" y="3201035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Demonstrates that the proposed </a:t>
            </a:r>
            <a:r>
              <a:rPr lang="en-US" altLang="zh-CN" i="0" u="none" strike="noStrike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MTNet</a:t>
            </a: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 achieves a </a:t>
            </a:r>
            <a:r>
              <a:rPr lang="en-US" altLang="zh-CN" i="0" u="none" strike="noStrike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state-of-the-art</a:t>
            </a:r>
            <a:r>
              <a:rPr lang="en-US" altLang="zh-CN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 accuracy of 91.79%.</a:t>
            </a:r>
            <a:endParaRPr lang="en-US" altLang="zh-CN" i="0" u="none" strike="noStrike">
              <a:solidFill>
                <a:srgbClr val="555F6E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Poppins"/>
            </a:endParaRPr>
          </a:p>
        </p:txBody>
      </p:sp>
      <p:sp>
        <p:nvSpPr>
          <p:cNvPr id="20" name="AutoShape 16"/>
          <p:cNvSpPr/>
          <p:nvPr>
            <p:custDataLst>
              <p:tags r:id="rId11"/>
            </p:custDataLst>
          </p:nvPr>
        </p:nvSpPr>
        <p:spPr>
          <a:xfrm>
            <a:off x="895985" y="4636135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19"/>
          <p:cNvSpPr/>
          <p:nvPr>
            <p:custDataLst>
              <p:tags r:id="rId12"/>
            </p:custDataLst>
          </p:nvPr>
        </p:nvSpPr>
        <p:spPr>
          <a:xfrm>
            <a:off x="2038985" y="4953635"/>
            <a:ext cx="5090795" cy="8820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Proves that</a:t>
            </a:r>
            <a:r>
              <a:rPr lang="en-US" altLang="en-US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 </a:t>
            </a:r>
            <a:r>
              <a:rPr lang="en-US" altLang="zh-CN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intermediate fusion</a:t>
            </a:r>
            <a:r>
              <a:rPr lang="en-US" altLang="en-US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 </a:t>
            </a:r>
            <a:r>
              <a:rPr lang="en-US" altLang="zh-CN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in DP is superior for processing </a:t>
            </a:r>
            <a:r>
              <a:rPr lang="en-US" altLang="zh-CN">
                <a:solidFill>
                  <a:srgbClr val="C00000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heterogeneous multimodal data</a:t>
            </a:r>
            <a:r>
              <a:rPr lang="en-US" altLang="zh-CN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</a:rPr>
              <a:t>, effectively capturing interactions between modal features.</a:t>
            </a:r>
            <a:endParaRPr lang="en-US" altLang="zh-CN">
              <a:solidFill>
                <a:srgbClr val="555F6E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</a:endParaRPr>
          </a:p>
        </p:txBody>
      </p:sp>
      <p:pic>
        <p:nvPicPr>
          <p:cNvPr id="6" name="图片 5" descr="linchuangkeshijieshouquere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8085" y="1370330"/>
            <a:ext cx="562610" cy="562610"/>
          </a:xfrm>
          <a:prstGeom prst="rect">
            <a:avLst/>
          </a:prstGeom>
        </p:spPr>
      </p:pic>
      <p:pic>
        <p:nvPicPr>
          <p:cNvPr id="7" name="图片 6" descr="a-dangan_huaban1fuben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2185" y="2942590"/>
            <a:ext cx="986155" cy="986155"/>
          </a:xfrm>
          <a:prstGeom prst="rect">
            <a:avLst/>
          </a:prstGeom>
        </p:spPr>
      </p:pic>
      <p:pic>
        <p:nvPicPr>
          <p:cNvPr id="19" name="图片 18" descr="dongcha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9345" y="4768215"/>
            <a:ext cx="792480" cy="792480"/>
          </a:xfrm>
          <a:prstGeom prst="rect">
            <a:avLst/>
          </a:prstGeom>
        </p:spPr>
      </p:pic>
      <p:sp>
        <p:nvSpPr>
          <p:cNvPr id="26" name="AutoShape 13"/>
          <p:cNvSpPr/>
          <p:nvPr>
            <p:custDataLst>
              <p:tags r:id="rId16"/>
            </p:custDataLst>
          </p:nvPr>
        </p:nvSpPr>
        <p:spPr>
          <a:xfrm>
            <a:off x="2048510" y="458851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Fusion Stage Insight</a:t>
            </a:r>
            <a:endParaRPr lang="en-US" altLang="zh-CN" sz="20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21366" y="5763491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503050405090304" charset="0"/>
                <a:cs typeface="Times New Roman" panose="02020503050405090304" charset="0"/>
              </a:rPr>
              <a:t>12</a:t>
            </a:r>
            <a:endParaRPr lang="zh-CN" altLang="en-US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05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69" y="3465513"/>
            <a:ext cx="36986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References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References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05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69570" y="965978"/>
            <a:ext cx="11040110" cy="564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Das, Abhishek, et al. "Human attention in visual question answering: Do humans and deep networks look at the same regions?." Computer Vision and Image Understanding 163 (2017): 90-100.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Chlasta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Karol, et al. "AI-Based Screening for Depression and Social Anxiety Through Eye Tracking: An Exploratory Study."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arXiv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preprint arXiv:2503.17625 (2025).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Zhu, Jing, et al. "An improved classification model for depression detection using EEG and eye tracking data." IEEE transactions on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nanobioscience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19.3 (2020): 527-537.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Zheng,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Zhiguo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et al. "Diagnosing and tracking depression based on eye movement in response to virtual reality." Frontiers in Psychiatry 15 (2024): 1280935.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Lee, S., S. Kim, and K. M. Lee. "Depression detection using virtual avatar communication and eye tracking." Frontiers in Psychiatry 13 (2022): 10699095.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Zhu, Jing, et al. "Multimodal mild depression recognition based on EEG-EM synchronization acquisition network." IEEE Access 7 (2019): 28196-28210.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Zhu, Jing, et al. "Transformer-based fusion model for mild depression recognition with EEG and pupil area signals." Medical &amp; Biological Engineering &amp; Computing 63.7 (2025): 2011-2027.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Stolicyn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A., J. D. Steele, and P.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Seriès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. "Prediction of depression symptoms in individual subjects with face and eye movement tracking." Psychological Medicine 52.9 (2022): 1784-1792.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Yang, M., et al. "Clustering based on eye tracking data for depression recognition." IEEE Transactions on Cognitive and Developmental Systems (2022).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Mahato, S., and S. Paul. "Classification of depression patients and normal subjects based on electroencephalogram (EEG) signal using alpha power and theta asymmetry." Journal of Medical Systems 44 (2020): 1-8.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just" fontAlgn="auto">
              <a:lnSpc>
                <a:spcPct val="125000"/>
              </a:lnSpc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11.       Yin, F., et al. "Depression detection in speech using transformer and parallel convolutional neural networks." Electronics 12.2 (2023): 328.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25000"/>
              </a:lnSpc>
              <a:buAutoNum type="arabicPeriod" startAt="12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 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Tigga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N. P., and S. Garg. "Efficacy of novel attention-based gated recurrent units transformer for depression detection using electroencephalogram signals." Health Information Science and Systems 11.1 (2023): 1-17.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25000"/>
              </a:lnSpc>
              <a:buAutoNum type="arabicPeriod" startAt="12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  Ding, X., et al. "Classifying major depression patients and healthy controls using EEG, eye tracking and galvanic skin response data." Journal of Affective Disorders 251 (2019): 156-161.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25000"/>
              </a:lnSpc>
              <a:buAutoNum type="arabicPeriod" startAt="12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  Zhu, J., et al. "Toward depression recognition using EEG and eye tracking: an ensemble classification model CBEM." 2019 IEEE International Conference on Bioinformatics and Biomedicine (BIBM). IEEE, 2019.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endParaRPr lang="en-US" altLang="zh-CN" sz="1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5345" y="2545779"/>
            <a:ext cx="10515600" cy="1325563"/>
          </a:xfrm>
        </p:spPr>
        <p:txBody>
          <a:bodyPr/>
          <a:lstStyle/>
          <a:p>
            <a:pPr algn="ctr"/>
            <a:r>
              <a:rPr lang="en-US" altLang="zh-CN" sz="8000" b="1" dirty="0">
                <a:solidFill>
                  <a:srgbClr val="1E4F96"/>
                </a:solidFill>
                <a:latin typeface="Times New Roman Bold" panose="02020503050405090304" charset="0"/>
                <a:ea typeface="思源宋体 CN Heavy" panose="02020900000000000000" pitchFamily="18" charset="-122"/>
                <a:cs typeface="Times New Roman Bold" panose="02020503050405090304" charset="0"/>
              </a:rPr>
              <a:t>Thank you for listening!</a:t>
            </a:r>
            <a:endParaRPr lang="en-US" altLang="zh-CN" sz="8000" b="1" dirty="0">
              <a:solidFill>
                <a:srgbClr val="1E4F96"/>
              </a:solidFill>
              <a:latin typeface="Times New Roman Bold" panose="02020503050405090304" charset="0"/>
              <a:ea typeface="思源宋体 CN Heavy" panose="02020900000000000000" pitchFamily="18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3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5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6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7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8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9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0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1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2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3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4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5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6.xml><?xml version="1.0" encoding="utf-8"?>
<p:tagLst xmlns:p="http://schemas.openxmlformats.org/presentationml/2006/main">
  <p:tag name="TABLE_ENDDRAG_ORIGIN_RECT" val="671*314"/>
  <p:tag name="TABLE_ENDDRAG_RECT" val="70*152*671*314"/>
</p:tagLst>
</file>

<file path=ppt/tags/tag17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8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19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0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1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2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3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4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5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6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7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8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29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30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31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自定义设计方案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9267</Words>
  <Application>WPS 演示</Application>
  <PresentationFormat>宽屏</PresentationFormat>
  <Paragraphs>321</Paragraphs>
  <Slides>21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21</vt:i4>
      </vt:variant>
    </vt:vector>
  </HeadingPairs>
  <TitlesOfParts>
    <vt:vector size="65" baseType="lpstr">
      <vt:lpstr>Arial</vt:lpstr>
      <vt:lpstr>宋体</vt:lpstr>
      <vt:lpstr>Wingdings</vt:lpstr>
      <vt:lpstr>黑体</vt:lpstr>
      <vt:lpstr>汉仪中黑KW</vt:lpstr>
      <vt:lpstr>Times New Roman</vt:lpstr>
      <vt:lpstr>Times New Roman Bold</vt:lpstr>
      <vt:lpstr>Times New Roman Regular</vt:lpstr>
      <vt:lpstr>阿里巴巴普惠体 3.0 45 Light</vt:lpstr>
      <vt:lpstr>宋体-简</vt:lpstr>
      <vt:lpstr>微软雅黑</vt:lpstr>
      <vt:lpstr>汉仪旗黑</vt:lpstr>
      <vt:lpstr>Poppins</vt:lpstr>
      <vt:lpstr>楷体</vt:lpstr>
      <vt:lpstr>汉仪楷体KW</vt:lpstr>
      <vt:lpstr>ui-sans-serif</vt:lpstr>
      <vt:lpstr>Thonburi</vt:lpstr>
      <vt:lpstr>CharisSIL</vt:lpstr>
      <vt:lpstr>苹方-简</vt:lpstr>
      <vt:lpstr>思源黑体</vt:lpstr>
      <vt:lpstr>宋体</vt:lpstr>
      <vt:lpstr>Arial Unicode MS</vt:lpstr>
      <vt:lpstr>等线</vt:lpstr>
      <vt:lpstr>汉仪中等线KW</vt:lpstr>
      <vt:lpstr>HarmonyOS Sans SC Light</vt:lpstr>
      <vt:lpstr>阿里巴巴普惠体 2.0 55 Regular</vt:lpstr>
      <vt:lpstr>Alibaba PuHuiTi</vt:lpstr>
      <vt:lpstr>思源宋体 CN Heavy</vt:lpstr>
      <vt:lpstr>汉仪书宋二KW</vt:lpstr>
      <vt:lpstr>Alibaba PuHuiTi</vt:lpstr>
      <vt:lpstr>CharisSIL</vt:lpstr>
      <vt:lpstr>HarmonyOS Sans SC Light</vt:lpstr>
      <vt:lpstr>Poppins</vt:lpstr>
      <vt:lpstr>ui-sans-serif</vt:lpstr>
      <vt:lpstr>微软雅黑</vt:lpstr>
      <vt:lpstr>思源宋体 CN Heavy</vt:lpstr>
      <vt:lpstr>阿里巴巴普惠体 2.0 55 Regular</vt:lpstr>
      <vt:lpstr>阿里巴巴普惠体 3.0 45 Light</vt:lpstr>
      <vt:lpstr>Apple Color Emoji</vt:lpstr>
      <vt:lpstr>Office 主题​​</vt:lpstr>
      <vt:lpstr>自定义设计方案</vt:lpstr>
      <vt:lpstr>1_自定义设计方案</vt:lpstr>
      <vt:lpstr>3_自定义设计方案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for listening!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ucashlth</dc:creator>
  <cp:lastModifiedBy>幻象</cp:lastModifiedBy>
  <cp:revision>259</cp:revision>
  <dcterms:created xsi:type="dcterms:W3CDTF">2026-04-22T10:33:04Z</dcterms:created>
  <dcterms:modified xsi:type="dcterms:W3CDTF">2026-04-22T10:33:04Z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11452E9D4E502B0E5E31E6691991F255_43</vt:lpwstr>
  </property>
  <property fmtid="{D5CDD505-2E9C-101B-9397-08002B2CF9AE}" pid="3" name="KSOProductBuildVer">
    <vt:lpwstr>2052-12.1.24031.24031</vt:lpwstr>
  </property>
</Properties>
</file>