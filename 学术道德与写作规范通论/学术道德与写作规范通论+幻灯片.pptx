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media/image11.webp" ContentType="image/webp"/>
  <Override PartName="/ppt/media/image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embeddedFontLst>
    <p:embeddedFont>
      <p:font typeface="Calibri" panose="020F050202020403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web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web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1A3A5C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936eb63bf7030ec2e313be42a4902f23835e08d8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183" r="18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50000">
                <a:srgbClr val="1A3A5C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4" name="Shape 1"/>
          <p:cNvSpPr/>
          <p:nvPr/>
        </p:nvSpPr>
        <p:spPr>
          <a:xfrm>
            <a:off x="5738813" y="1514475"/>
            <a:ext cx="714375" cy="571500"/>
          </a:xfrm>
          <a:custGeom>
            <a:avLst/>
            <a:gdLst/>
            <a:ahLst/>
            <a:cxnLst/>
            <a:rect l="l" t="t" r="r" b="b"/>
            <a:pathLst>
              <a:path w="714375" h="571500">
                <a:moveTo>
                  <a:pt x="428625" y="35719"/>
                </a:moveTo>
                <a:lnTo>
                  <a:pt x="571500" y="35719"/>
                </a:lnTo>
                <a:cubicBezTo>
                  <a:pt x="591257" y="35719"/>
                  <a:pt x="607219" y="51681"/>
                  <a:pt x="607219" y="71438"/>
                </a:cubicBezTo>
                <a:cubicBezTo>
                  <a:pt x="607219" y="91194"/>
                  <a:pt x="591257" y="107156"/>
                  <a:pt x="571500" y="107156"/>
                </a:cubicBezTo>
                <a:lnTo>
                  <a:pt x="444698" y="107156"/>
                </a:lnTo>
                <a:cubicBezTo>
                  <a:pt x="438894" y="135954"/>
                  <a:pt x="419137" y="159730"/>
                  <a:pt x="392906" y="171115"/>
                </a:cubicBezTo>
                <a:lnTo>
                  <a:pt x="392906" y="500063"/>
                </a:lnTo>
                <a:lnTo>
                  <a:pt x="571500" y="500063"/>
                </a:lnTo>
                <a:cubicBezTo>
                  <a:pt x="591257" y="500063"/>
                  <a:pt x="607219" y="516024"/>
                  <a:pt x="607219" y="535781"/>
                </a:cubicBezTo>
                <a:cubicBezTo>
                  <a:pt x="607219" y="555538"/>
                  <a:pt x="591257" y="571500"/>
                  <a:pt x="571500" y="571500"/>
                </a:cubicBezTo>
                <a:lnTo>
                  <a:pt x="142875" y="571500"/>
                </a:lnTo>
                <a:cubicBezTo>
                  <a:pt x="123118" y="571500"/>
                  <a:pt x="107156" y="555538"/>
                  <a:pt x="107156" y="535781"/>
                </a:cubicBezTo>
                <a:cubicBezTo>
                  <a:pt x="107156" y="516024"/>
                  <a:pt x="123118" y="500063"/>
                  <a:pt x="142875" y="500063"/>
                </a:cubicBezTo>
                <a:lnTo>
                  <a:pt x="321469" y="500063"/>
                </a:lnTo>
                <a:lnTo>
                  <a:pt x="321469" y="171115"/>
                </a:lnTo>
                <a:cubicBezTo>
                  <a:pt x="295238" y="159618"/>
                  <a:pt x="275481" y="135843"/>
                  <a:pt x="269677" y="107156"/>
                </a:cubicBezTo>
                <a:lnTo>
                  <a:pt x="142875" y="107156"/>
                </a:lnTo>
                <a:cubicBezTo>
                  <a:pt x="123118" y="107156"/>
                  <a:pt x="107156" y="91194"/>
                  <a:pt x="107156" y="71438"/>
                </a:cubicBezTo>
                <a:cubicBezTo>
                  <a:pt x="107156" y="51681"/>
                  <a:pt x="123118" y="35719"/>
                  <a:pt x="142875" y="35719"/>
                </a:cubicBezTo>
                <a:lnTo>
                  <a:pt x="285750" y="35719"/>
                </a:lnTo>
                <a:cubicBezTo>
                  <a:pt x="302047" y="14064"/>
                  <a:pt x="327943" y="0"/>
                  <a:pt x="357188" y="0"/>
                </a:cubicBezTo>
                <a:cubicBezTo>
                  <a:pt x="386432" y="0"/>
                  <a:pt x="412328" y="14064"/>
                  <a:pt x="428625" y="35719"/>
                </a:cubicBezTo>
                <a:close/>
                <a:moveTo>
                  <a:pt x="490686" y="357188"/>
                </a:moveTo>
                <a:lnTo>
                  <a:pt x="652314" y="357188"/>
                </a:lnTo>
                <a:lnTo>
                  <a:pt x="571500" y="218554"/>
                </a:lnTo>
                <a:lnTo>
                  <a:pt x="490686" y="357188"/>
                </a:lnTo>
                <a:close/>
                <a:moveTo>
                  <a:pt x="571500" y="464344"/>
                </a:moveTo>
                <a:cubicBezTo>
                  <a:pt x="501290" y="464344"/>
                  <a:pt x="442913" y="426393"/>
                  <a:pt x="430857" y="376275"/>
                </a:cubicBezTo>
                <a:cubicBezTo>
                  <a:pt x="427955" y="363996"/>
                  <a:pt x="431974" y="351383"/>
                  <a:pt x="438336" y="340444"/>
                </a:cubicBezTo>
                <a:lnTo>
                  <a:pt x="544599" y="158279"/>
                </a:lnTo>
                <a:cubicBezTo>
                  <a:pt x="550180" y="148679"/>
                  <a:pt x="560450" y="142875"/>
                  <a:pt x="571500" y="142875"/>
                </a:cubicBezTo>
                <a:cubicBezTo>
                  <a:pt x="582550" y="142875"/>
                  <a:pt x="592820" y="148791"/>
                  <a:pt x="598401" y="158279"/>
                </a:cubicBezTo>
                <a:lnTo>
                  <a:pt x="704664" y="340444"/>
                </a:lnTo>
                <a:cubicBezTo>
                  <a:pt x="711026" y="351383"/>
                  <a:pt x="715045" y="363996"/>
                  <a:pt x="712143" y="376275"/>
                </a:cubicBezTo>
                <a:cubicBezTo>
                  <a:pt x="700088" y="426281"/>
                  <a:pt x="641710" y="464344"/>
                  <a:pt x="571500" y="464344"/>
                </a:cubicBezTo>
                <a:close/>
                <a:moveTo>
                  <a:pt x="141536" y="218554"/>
                </a:moveTo>
                <a:lnTo>
                  <a:pt x="60722" y="357188"/>
                </a:lnTo>
                <a:lnTo>
                  <a:pt x="222461" y="357188"/>
                </a:lnTo>
                <a:lnTo>
                  <a:pt x="141536" y="218554"/>
                </a:lnTo>
                <a:close/>
                <a:moveTo>
                  <a:pt x="1005" y="376275"/>
                </a:moveTo>
                <a:cubicBezTo>
                  <a:pt x="-1898" y="363996"/>
                  <a:pt x="2121" y="351383"/>
                  <a:pt x="8483" y="340444"/>
                </a:cubicBezTo>
                <a:lnTo>
                  <a:pt x="114746" y="158279"/>
                </a:lnTo>
                <a:cubicBezTo>
                  <a:pt x="120328" y="148679"/>
                  <a:pt x="130597" y="142875"/>
                  <a:pt x="141647" y="142875"/>
                </a:cubicBezTo>
                <a:cubicBezTo>
                  <a:pt x="152698" y="142875"/>
                  <a:pt x="162967" y="148791"/>
                  <a:pt x="168548" y="158279"/>
                </a:cubicBezTo>
                <a:lnTo>
                  <a:pt x="274811" y="340444"/>
                </a:lnTo>
                <a:cubicBezTo>
                  <a:pt x="281174" y="351383"/>
                  <a:pt x="285192" y="363996"/>
                  <a:pt x="282290" y="376275"/>
                </a:cubicBezTo>
                <a:cubicBezTo>
                  <a:pt x="270235" y="426281"/>
                  <a:pt x="211857" y="464344"/>
                  <a:pt x="141647" y="464344"/>
                </a:cubicBezTo>
                <a:cubicBezTo>
                  <a:pt x="71437" y="464344"/>
                  <a:pt x="13060" y="426393"/>
                  <a:pt x="1005" y="376275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5" name="Text 2"/>
          <p:cNvSpPr/>
          <p:nvPr/>
        </p:nvSpPr>
        <p:spPr>
          <a:xfrm>
            <a:off x="2752725" y="2466975"/>
            <a:ext cx="66865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9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学术边界与共赢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8F9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学术道德视域下的师生关系探讨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0" y="41243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7" name="Text 4"/>
          <p:cNvSpPr/>
          <p:nvPr/>
        </p:nvSpPr>
        <p:spPr>
          <a:xfrm>
            <a:off x="4065270" y="4391025"/>
            <a:ext cx="4143375" cy="795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学术道德与写作规范</a:t>
            </a:r>
            <a:r>
              <a:rPr lang="zh-CN" altLang="en-US" sz="1800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通论</a:t>
            </a:r>
            <a:r>
              <a:rPr lang="en-US" sz="1800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课程汇报</a:t>
            </a:r>
            <a:endParaRPr lang="en-US" sz="1800" dirty="0">
              <a:solidFill>
                <a:srgbClr val="F8F9FA">
                  <a:alpha val="9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主题二一组：李XX、胡XX、Illusion</a:t>
            </a:r>
            <a:r>
              <a:rPr lang="en-US" sz="1800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</a:t>
            </a:r>
            <a:endParaRPr lang="en-US" sz="1800" dirty="0">
              <a:solidFill>
                <a:srgbClr val="F8F9FA">
                  <a:alpha val="9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08645" y="5256530"/>
            <a:ext cx="2926715" cy="873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en-US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en-US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Illusion</a:t>
            </a:r>
            <a:r>
              <a:rPr lang="en-US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</a:t>
            </a:r>
            <a:endParaRPr lang="en-US" dirty="0">
              <a:solidFill>
                <a:srgbClr val="F8F9FA">
                  <a:alpha val="9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en-US" dirty="0">
                <a:solidFill>
                  <a:srgbClr val="F8F9FA">
                    <a:alpha val="9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2026年4月9日</a:t>
            </a:r>
            <a:endParaRPr lang="en-US" dirty="0">
              <a:solidFill>
                <a:srgbClr val="F8F9FA">
                  <a:alpha val="9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20000"/>
              </a:lnSpc>
            </a:pPr>
            <a:endParaRPr lang="zh-CN" altLang="en-US" dirty="0">
              <a:solidFill>
                <a:srgbClr val="F8F9FA">
                  <a:alpha val="8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PHENOMENON INTRODUCTION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现象引入：学术不端背后的"隐秘角落"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5121275" cy="5257800"/>
          </a:xfrm>
          <a:custGeom>
            <a:avLst/>
            <a:gdLst/>
            <a:ahLst/>
            <a:cxnLst/>
            <a:rect l="l" t="t" r="r" b="b"/>
            <a:pathLst>
              <a:path w="5038725" h="5257800">
                <a:moveTo>
                  <a:pt x="76186" y="0"/>
                </a:moveTo>
                <a:lnTo>
                  <a:pt x="4962539" y="0"/>
                </a:lnTo>
                <a:cubicBezTo>
                  <a:pt x="5004616" y="0"/>
                  <a:pt x="5038725" y="34109"/>
                  <a:pt x="5038725" y="76186"/>
                </a:cubicBezTo>
                <a:lnTo>
                  <a:pt x="5038725" y="5181614"/>
                </a:lnTo>
                <a:cubicBezTo>
                  <a:pt x="5038725" y="5223691"/>
                  <a:pt x="5004616" y="5257800"/>
                  <a:pt x="4962539" y="5257800"/>
                </a:cubicBezTo>
                <a:lnTo>
                  <a:pt x="76186" y="5257800"/>
                </a:lnTo>
                <a:cubicBezTo>
                  <a:pt x="34109" y="5257800"/>
                  <a:pt x="0" y="5223691"/>
                  <a:pt x="0" y="51816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530" y="1419225"/>
            <a:ext cx="257810" cy="211455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39303"/>
                </a:moveTo>
                <a:lnTo>
                  <a:pt x="0" y="40184"/>
                </a:lnTo>
                <a:cubicBezTo>
                  <a:pt x="0" y="35730"/>
                  <a:pt x="3583" y="32147"/>
                  <a:pt x="8037" y="32147"/>
                </a:cubicBezTo>
                <a:cubicBezTo>
                  <a:pt x="12490" y="32147"/>
                  <a:pt x="16073" y="35730"/>
                  <a:pt x="16073" y="40184"/>
                </a:cubicBezTo>
                <a:lnTo>
                  <a:pt x="16073" y="136624"/>
                </a:lnTo>
                <a:cubicBezTo>
                  <a:pt x="16073" y="141078"/>
                  <a:pt x="19656" y="144661"/>
                  <a:pt x="24110" y="144661"/>
                </a:cubicBezTo>
                <a:cubicBezTo>
                  <a:pt x="28564" y="144661"/>
                  <a:pt x="32147" y="141078"/>
                  <a:pt x="32147" y="136624"/>
                </a:cubicBezTo>
                <a:lnTo>
                  <a:pt x="32147" y="32147"/>
                </a:lnTo>
                <a:cubicBezTo>
                  <a:pt x="32147" y="20326"/>
                  <a:pt x="41757" y="10716"/>
                  <a:pt x="53578" y="10716"/>
                </a:cubicBezTo>
                <a:lnTo>
                  <a:pt x="150019" y="10716"/>
                </a:lnTo>
                <a:cubicBezTo>
                  <a:pt x="161839" y="10716"/>
                  <a:pt x="171450" y="20326"/>
                  <a:pt x="171450" y="32147"/>
                </a:cubicBezTo>
                <a:lnTo>
                  <a:pt x="171450" y="139303"/>
                </a:lnTo>
                <a:cubicBezTo>
                  <a:pt x="171450" y="151124"/>
                  <a:pt x="161839" y="160734"/>
                  <a:pt x="150019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close/>
                <a:moveTo>
                  <a:pt x="53578" y="42863"/>
                </a:moveTo>
                <a:lnTo>
                  <a:pt x="53578" y="64294"/>
                </a:lnTo>
                <a:cubicBezTo>
                  <a:pt x="53578" y="70221"/>
                  <a:pt x="58367" y="75009"/>
                  <a:pt x="64294" y="75009"/>
                </a:cubicBezTo>
                <a:lnTo>
                  <a:pt x="85725" y="75009"/>
                </a:lnTo>
                <a:cubicBezTo>
                  <a:pt x="91652" y="75009"/>
                  <a:pt x="96441" y="70221"/>
                  <a:pt x="96441" y="64294"/>
                </a:cubicBezTo>
                <a:lnTo>
                  <a:pt x="96441" y="42863"/>
                </a:lnTo>
                <a:cubicBezTo>
                  <a:pt x="96441" y="36935"/>
                  <a:pt x="91652" y="32147"/>
                  <a:pt x="85725" y="32147"/>
                </a:cubicBezTo>
                <a:lnTo>
                  <a:pt x="64294" y="32147"/>
                </a:lnTo>
                <a:cubicBezTo>
                  <a:pt x="58367" y="32147"/>
                  <a:pt x="53578" y="36935"/>
                  <a:pt x="53578" y="42863"/>
                </a:cubicBezTo>
                <a:close/>
                <a:moveTo>
                  <a:pt x="61615" y="123230"/>
                </a:moveTo>
                <a:cubicBezTo>
                  <a:pt x="57161" y="123230"/>
                  <a:pt x="53578" y="126813"/>
                  <a:pt x="53578" y="131266"/>
                </a:cubicBezTo>
                <a:cubicBezTo>
                  <a:pt x="53578" y="135720"/>
                  <a:pt x="57161" y="139303"/>
                  <a:pt x="61615" y="139303"/>
                </a:cubicBezTo>
                <a:lnTo>
                  <a:pt x="141982" y="139303"/>
                </a:lnTo>
                <a:cubicBezTo>
                  <a:pt x="146436" y="139303"/>
                  <a:pt x="150019" y="135720"/>
                  <a:pt x="150019" y="131266"/>
                </a:cubicBezTo>
                <a:cubicBezTo>
                  <a:pt x="150019" y="126813"/>
                  <a:pt x="146436" y="123230"/>
                  <a:pt x="141982" y="123230"/>
                </a:cubicBezTo>
                <a:lnTo>
                  <a:pt x="61615" y="123230"/>
                </a:lnTo>
                <a:close/>
                <a:moveTo>
                  <a:pt x="53578" y="99120"/>
                </a:moveTo>
                <a:cubicBezTo>
                  <a:pt x="53578" y="103573"/>
                  <a:pt x="57161" y="107156"/>
                  <a:pt x="61615" y="107156"/>
                </a:cubicBezTo>
                <a:lnTo>
                  <a:pt x="141982" y="107156"/>
                </a:lnTo>
                <a:cubicBezTo>
                  <a:pt x="146436" y="107156"/>
                  <a:pt x="150019" y="103573"/>
                  <a:pt x="150019" y="99120"/>
                </a:cubicBezTo>
                <a:cubicBezTo>
                  <a:pt x="150019" y="94666"/>
                  <a:pt x="146436" y="91083"/>
                  <a:pt x="141982" y="91083"/>
                </a:cubicBezTo>
                <a:lnTo>
                  <a:pt x="61615" y="91083"/>
                </a:lnTo>
                <a:cubicBezTo>
                  <a:pt x="57161" y="91083"/>
                  <a:pt x="53578" y="94666"/>
                  <a:pt x="53578" y="99120"/>
                </a:cubicBezTo>
                <a:close/>
                <a:moveTo>
                  <a:pt x="120551" y="58936"/>
                </a:moveTo>
                <a:cubicBezTo>
                  <a:pt x="116097" y="58936"/>
                  <a:pt x="112514" y="62519"/>
                  <a:pt x="112514" y="66973"/>
                </a:cubicBezTo>
                <a:cubicBezTo>
                  <a:pt x="112514" y="71426"/>
                  <a:pt x="116097" y="75009"/>
                  <a:pt x="120551" y="75009"/>
                </a:cubicBezTo>
                <a:lnTo>
                  <a:pt x="141982" y="75009"/>
                </a:lnTo>
                <a:cubicBezTo>
                  <a:pt x="146436" y="75009"/>
                  <a:pt x="150019" y="71426"/>
                  <a:pt x="150019" y="66973"/>
                </a:cubicBezTo>
                <a:cubicBezTo>
                  <a:pt x="150019" y="62519"/>
                  <a:pt x="146436" y="58936"/>
                  <a:pt x="141982" y="58936"/>
                </a:cubicBezTo>
                <a:lnTo>
                  <a:pt x="120551" y="58936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6" name="Text 4"/>
          <p:cNvSpPr/>
          <p:nvPr/>
        </p:nvSpPr>
        <p:spPr>
          <a:xfrm>
            <a:off x="918210" y="1363980"/>
            <a:ext cx="4600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近年学术伦理新闻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0" y="1219200"/>
            <a:ext cx="6143625" cy="1390650"/>
          </a:xfrm>
          <a:custGeom>
            <a:avLst/>
            <a:gdLst/>
            <a:ahLst/>
            <a:cxnLst/>
            <a:rect l="l" t="t" r="r" b="b"/>
            <a:pathLst>
              <a:path w="6143625" h="1390650">
                <a:moveTo>
                  <a:pt x="38100" y="0"/>
                </a:moveTo>
                <a:lnTo>
                  <a:pt x="6067431" y="0"/>
                </a:lnTo>
                <a:cubicBezTo>
                  <a:pt x="6109484" y="0"/>
                  <a:pt x="6143625" y="34141"/>
                  <a:pt x="6143625" y="76194"/>
                </a:cubicBezTo>
                <a:lnTo>
                  <a:pt x="6143625" y="1314456"/>
                </a:lnTo>
                <a:cubicBezTo>
                  <a:pt x="6143625" y="1356509"/>
                  <a:pt x="6109484" y="1390650"/>
                  <a:pt x="6067431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2192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19" name="Shape 17"/>
          <p:cNvSpPr/>
          <p:nvPr/>
        </p:nvSpPr>
        <p:spPr>
          <a:xfrm>
            <a:off x="591693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D7A96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055043" y="1600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21" name="Text 19"/>
          <p:cNvSpPr/>
          <p:nvPr/>
        </p:nvSpPr>
        <p:spPr>
          <a:xfrm>
            <a:off x="6602730" y="1447800"/>
            <a:ext cx="50958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表象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02730" y="1828800"/>
            <a:ext cx="519366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dirty="0">
                <a:solidFill>
                  <a:srgbClr val="1A3A5C"/>
                </a:solidFill>
                <a:highlight>
                  <a:srgbClr val="5D7A96">
                    <a:alpha val="2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数据造假、剽窃、署名不当 </a:t>
            </a:r>
            <a:r>
              <a:rPr lang="en-US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等学术不端事件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0" y="2766894"/>
            <a:ext cx="6143625" cy="3009900"/>
          </a:xfrm>
          <a:custGeom>
            <a:avLst/>
            <a:gdLst/>
            <a:ahLst/>
            <a:cxnLst/>
            <a:rect l="l" t="t" r="r" b="b"/>
            <a:pathLst>
              <a:path w="6143625" h="3009900">
                <a:moveTo>
                  <a:pt x="38100" y="0"/>
                </a:moveTo>
                <a:lnTo>
                  <a:pt x="6067414" y="0"/>
                </a:lnTo>
                <a:cubicBezTo>
                  <a:pt x="6109504" y="0"/>
                  <a:pt x="6143625" y="34121"/>
                  <a:pt x="6143625" y="76211"/>
                </a:cubicBezTo>
                <a:lnTo>
                  <a:pt x="6143625" y="2933689"/>
                </a:lnTo>
                <a:cubicBezTo>
                  <a:pt x="6143625" y="2975779"/>
                  <a:pt x="6109504" y="3009900"/>
                  <a:pt x="6067414" y="3009900"/>
                </a:cubicBezTo>
                <a:lnTo>
                  <a:pt x="38100" y="3009900"/>
                </a:lnTo>
                <a:cubicBezTo>
                  <a:pt x="17058" y="3009900"/>
                  <a:pt x="0" y="2992842"/>
                  <a:pt x="0" y="2971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2766894"/>
            <a:ext cx="38100" cy="3009900"/>
          </a:xfrm>
          <a:custGeom>
            <a:avLst/>
            <a:gdLst/>
            <a:ahLst/>
            <a:cxnLst/>
            <a:rect l="l" t="t" r="r" b="b"/>
            <a:pathLst>
              <a:path w="38100" h="3009900">
                <a:moveTo>
                  <a:pt x="38100" y="0"/>
                </a:moveTo>
                <a:lnTo>
                  <a:pt x="38100" y="0"/>
                </a:lnTo>
                <a:lnTo>
                  <a:pt x="38100" y="3009900"/>
                </a:lnTo>
                <a:lnTo>
                  <a:pt x="38100" y="3009900"/>
                </a:lnTo>
                <a:cubicBezTo>
                  <a:pt x="17072" y="3009900"/>
                  <a:pt x="0" y="2992828"/>
                  <a:pt x="0" y="2971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25" name="Shape 23"/>
          <p:cNvSpPr/>
          <p:nvPr/>
        </p:nvSpPr>
        <p:spPr>
          <a:xfrm>
            <a:off x="5916930" y="29954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A87A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069330" y="31478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27" name="Text 25"/>
          <p:cNvSpPr/>
          <p:nvPr/>
        </p:nvSpPr>
        <p:spPr>
          <a:xfrm>
            <a:off x="6602730" y="2995494"/>
            <a:ext cx="396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2730" y="3449955"/>
            <a:ext cx="4601210" cy="572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背后隐藏的极容易被忽视的 </a:t>
            </a:r>
            <a:r>
              <a:rPr lang="en-US" dirty="0">
                <a:solidFill>
                  <a:srgbClr val="1A3A5C"/>
                </a:solidFill>
                <a:highlight>
                  <a:srgbClr val="C4A87A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</a:t>
            </a:r>
            <a:r>
              <a:rPr lang="zh-CN" altLang="en-US" dirty="0">
                <a:solidFill>
                  <a:srgbClr val="1A3A5C"/>
                </a:solidFill>
                <a:highlight>
                  <a:srgbClr val="C4A87A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dirty="0">
                <a:solidFill>
                  <a:srgbClr val="1A3A5C"/>
                </a:solidFill>
                <a:highlight>
                  <a:srgbClr val="C4A87A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是什么？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02730" y="4188380"/>
            <a:ext cx="3848100" cy="571500"/>
          </a:xfrm>
          <a:custGeom>
            <a:avLst/>
            <a:gdLst/>
            <a:ahLst/>
            <a:cxnLst/>
            <a:rect l="l" t="t" r="r" b="b"/>
            <a:pathLst>
              <a:path w="3848100" h="571500">
                <a:moveTo>
                  <a:pt x="76198" y="0"/>
                </a:moveTo>
                <a:lnTo>
                  <a:pt x="3771902" y="0"/>
                </a:lnTo>
                <a:cubicBezTo>
                  <a:pt x="3813985" y="0"/>
                  <a:pt x="3848100" y="34115"/>
                  <a:pt x="3848100" y="76198"/>
                </a:cubicBezTo>
                <a:lnTo>
                  <a:pt x="3848100" y="495302"/>
                </a:lnTo>
                <a:cubicBezTo>
                  <a:pt x="3848100" y="537385"/>
                  <a:pt x="3813985" y="571500"/>
                  <a:pt x="37719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30" name="Shape 28"/>
          <p:cNvSpPr/>
          <p:nvPr/>
        </p:nvSpPr>
        <p:spPr>
          <a:xfrm>
            <a:off x="6779260" y="4327525"/>
            <a:ext cx="328930" cy="2667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31" name="Text 29"/>
          <p:cNvSpPr/>
          <p:nvPr/>
        </p:nvSpPr>
        <p:spPr>
          <a:xfrm>
            <a:off x="6883400" y="4323635"/>
            <a:ext cx="3400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扭曲的师生关系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54040" y="5932170"/>
            <a:ext cx="6151245" cy="541020"/>
          </a:xfrm>
          <a:custGeom>
            <a:avLst/>
            <a:gdLst/>
            <a:ahLst/>
            <a:cxnLst/>
            <a:rect l="l" t="t" r="r" b="b"/>
            <a:pathLst>
              <a:path w="6151245" h="541020">
                <a:moveTo>
                  <a:pt x="76203" y="0"/>
                </a:moveTo>
                <a:lnTo>
                  <a:pt x="6075042" y="0"/>
                </a:lnTo>
                <a:cubicBezTo>
                  <a:pt x="6117128" y="0"/>
                  <a:pt x="6151245" y="34117"/>
                  <a:pt x="6151245" y="76203"/>
                </a:cubicBezTo>
                <a:lnTo>
                  <a:pt x="6151245" y="464817"/>
                </a:lnTo>
                <a:cubicBezTo>
                  <a:pt x="6151245" y="506903"/>
                  <a:pt x="6117128" y="541020"/>
                  <a:pt x="6075042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4A87A">
              <a:alpha val="10196"/>
            </a:srgbClr>
          </a:solidFill>
          <a:ln w="10160">
            <a:solidFill>
              <a:srgbClr val="C4A87A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6088381"/>
            <a:ext cx="5724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不谈师生关系去谈学术道德，往往是治标不治本的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图片 35" descr="师生关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188210"/>
            <a:ext cx="2492375" cy="3319780"/>
          </a:xfrm>
          <a:prstGeom prst="rect">
            <a:avLst/>
          </a:prstGeom>
        </p:spPr>
      </p:pic>
      <p:pic>
        <p:nvPicPr>
          <p:cNvPr id="37" name="图片 36" descr="a1fb47cb9a11c5e87a16ab2487b0cf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575" y="2188210"/>
            <a:ext cx="2419350" cy="339852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2132965" y="5720080"/>
            <a:ext cx="16167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师生学术纠纷</a:t>
            </a:r>
            <a:endParaRPr lang="zh-CN" altLang="en-US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CORE CONTRADICTION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核心矛盾：伦理危机</a:t>
            </a:r>
            <a:r>
              <a:rPr lang="zh-CN" alt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的产生原因</a:t>
            </a:r>
            <a:endParaRPr lang="zh-CN" altLang="en-US" sz="2700" b="1" dirty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0300" y="1606550"/>
            <a:ext cx="5600700" cy="3868420"/>
          </a:xfrm>
          <a:custGeom>
            <a:avLst/>
            <a:gdLst/>
            <a:ahLst/>
            <a:cxnLst/>
            <a:rect l="l" t="t" r="r" b="b"/>
            <a:pathLst>
              <a:path w="5600700" h="4791075">
                <a:moveTo>
                  <a:pt x="76178" y="0"/>
                </a:moveTo>
                <a:lnTo>
                  <a:pt x="5524522" y="0"/>
                </a:lnTo>
                <a:cubicBezTo>
                  <a:pt x="5566594" y="0"/>
                  <a:pt x="5600700" y="34106"/>
                  <a:pt x="5600700" y="76178"/>
                </a:cubicBezTo>
                <a:lnTo>
                  <a:pt x="5600700" y="4714897"/>
                </a:lnTo>
                <a:cubicBezTo>
                  <a:pt x="5600700" y="4756969"/>
                  <a:pt x="5566594" y="4791075"/>
                  <a:pt x="5524522" y="4791075"/>
                </a:cubicBezTo>
                <a:lnTo>
                  <a:pt x="76178" y="4791075"/>
                </a:lnTo>
                <a:cubicBezTo>
                  <a:pt x="34106" y="4791075"/>
                  <a:pt x="0" y="4756969"/>
                  <a:pt x="0" y="4714897"/>
                </a:cubicBezTo>
                <a:lnTo>
                  <a:pt x="0" y="76178"/>
                </a:lnTo>
                <a:cubicBezTo>
                  <a:pt x="0" y="34134"/>
                  <a:pt x="34134" y="0"/>
                  <a:pt x="761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9570" y="577215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495302"/>
                </a:lnTo>
                <a:cubicBezTo>
                  <a:pt x="11430000" y="537385"/>
                  <a:pt x="11395885" y="571500"/>
                  <a:pt x="11353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35" name="Shape 33"/>
          <p:cNvSpPr/>
          <p:nvPr/>
        </p:nvSpPr>
        <p:spPr>
          <a:xfrm>
            <a:off x="3166745" y="59664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36" name="Text 34"/>
          <p:cNvSpPr/>
          <p:nvPr/>
        </p:nvSpPr>
        <p:spPr>
          <a:xfrm>
            <a:off x="3693160" y="5955030"/>
            <a:ext cx="5804535" cy="2298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"权力极大不对等" + "利益极度捆绑" = 学术不端的 </a:t>
            </a:r>
            <a:r>
              <a:rPr lang="en-US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温床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81000" y="1600200"/>
            <a:ext cx="5600700" cy="3868420"/>
            <a:chOff x="600" y="1920"/>
            <a:chExt cx="8820" cy="6092"/>
          </a:xfrm>
        </p:grpSpPr>
        <p:sp>
          <p:nvSpPr>
            <p:cNvPr id="4" name="Shape 2"/>
            <p:cNvSpPr/>
            <p:nvPr/>
          </p:nvSpPr>
          <p:spPr>
            <a:xfrm>
              <a:off x="600" y="1920"/>
              <a:ext cx="8820" cy="6092"/>
            </a:xfrm>
            <a:custGeom>
              <a:avLst/>
              <a:gdLst/>
              <a:ahLst/>
              <a:cxnLst/>
              <a:rect l="l" t="t" r="r" b="b"/>
              <a:pathLst>
                <a:path w="5600700" h="4791075">
                  <a:moveTo>
                    <a:pt x="76178" y="0"/>
                  </a:moveTo>
                  <a:lnTo>
                    <a:pt x="5524522" y="0"/>
                  </a:lnTo>
                  <a:cubicBezTo>
                    <a:pt x="5566594" y="0"/>
                    <a:pt x="5600700" y="34106"/>
                    <a:pt x="5600700" y="76178"/>
                  </a:cubicBezTo>
                  <a:lnTo>
                    <a:pt x="5600700" y="4714897"/>
                  </a:lnTo>
                  <a:cubicBezTo>
                    <a:pt x="5600700" y="4756969"/>
                    <a:pt x="5566594" y="4791075"/>
                    <a:pt x="5524522" y="4791075"/>
                  </a:cubicBezTo>
                  <a:lnTo>
                    <a:pt x="76178" y="4791075"/>
                  </a:lnTo>
                  <a:cubicBezTo>
                    <a:pt x="34106" y="4791075"/>
                    <a:pt x="0" y="4756969"/>
                    <a:pt x="0" y="4714897"/>
                  </a:cubicBezTo>
                  <a:lnTo>
                    <a:pt x="0" y="76178"/>
                  </a:lnTo>
                  <a:cubicBezTo>
                    <a:pt x="0" y="34134"/>
                    <a:pt x="34134" y="0"/>
                    <a:pt x="76178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4320" y="2280"/>
              <a:ext cx="1380" cy="1245"/>
            </a:xfrm>
            <a:custGeom>
              <a:avLst/>
              <a:gdLst/>
              <a:ahLst/>
              <a:cxnLst/>
              <a:rect l="l" t="t" r="r" b="b"/>
              <a:pathLst>
                <a:path w="876300" h="790575">
                  <a:moveTo>
                    <a:pt x="395288" y="0"/>
                  </a:moveTo>
                  <a:lnTo>
                    <a:pt x="481012" y="0"/>
                  </a:lnTo>
                  <a:cubicBezTo>
                    <a:pt x="699178" y="0"/>
                    <a:pt x="876300" y="177122"/>
                    <a:pt x="876300" y="395288"/>
                  </a:cubicBezTo>
                  <a:lnTo>
                    <a:pt x="876300" y="395288"/>
                  </a:lnTo>
                  <a:cubicBezTo>
                    <a:pt x="876300" y="613453"/>
                    <a:pt x="699178" y="790575"/>
                    <a:pt x="481012" y="790575"/>
                  </a:cubicBezTo>
                  <a:lnTo>
                    <a:pt x="395288" y="790575"/>
                  </a:lnTo>
                  <a:cubicBezTo>
                    <a:pt x="177122" y="790575"/>
                    <a:pt x="0" y="613453"/>
                    <a:pt x="0" y="395288"/>
                  </a:cubicBezTo>
                  <a:lnTo>
                    <a:pt x="0" y="395288"/>
                  </a:lnTo>
                  <a:cubicBezTo>
                    <a:pt x="0" y="177122"/>
                    <a:pt x="177122" y="0"/>
                    <a:pt x="395287" y="0"/>
                  </a:cubicBezTo>
                  <a:close/>
                </a:path>
              </a:pathLst>
            </a:custGeom>
            <a:solidFill>
              <a:srgbClr val="1A3A5C">
                <a:alpha val="10196"/>
              </a:srgbClr>
            </a:solidFill>
          </p:spPr>
        </p:sp>
        <p:sp>
          <p:nvSpPr>
            <p:cNvPr id="6" name="Shape 4"/>
            <p:cNvSpPr/>
            <p:nvPr/>
          </p:nvSpPr>
          <p:spPr>
            <a:xfrm>
              <a:off x="4560" y="2520"/>
              <a:ext cx="900" cy="72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464165" y="55721"/>
                  </a:moveTo>
                  <a:cubicBezTo>
                    <a:pt x="479167" y="50721"/>
                    <a:pt x="487204" y="34558"/>
                    <a:pt x="482203" y="19556"/>
                  </a:cubicBezTo>
                  <a:cubicBezTo>
                    <a:pt x="477203" y="4554"/>
                    <a:pt x="461040" y="-3483"/>
                    <a:pt x="446127" y="1429"/>
                  </a:cubicBezTo>
                  <a:lnTo>
                    <a:pt x="345222" y="35094"/>
                  </a:lnTo>
                  <a:cubicBezTo>
                    <a:pt x="332809" y="14109"/>
                    <a:pt x="309860" y="0"/>
                    <a:pt x="283696" y="0"/>
                  </a:cubicBezTo>
                  <a:cubicBezTo>
                    <a:pt x="244227" y="0"/>
                    <a:pt x="212259" y="31968"/>
                    <a:pt x="212259" y="71438"/>
                  </a:cubicBezTo>
                  <a:cubicBezTo>
                    <a:pt x="212259" y="74116"/>
                    <a:pt x="212437" y="76706"/>
                    <a:pt x="212705" y="79296"/>
                  </a:cubicBezTo>
                  <a:lnTo>
                    <a:pt x="103227" y="115729"/>
                  </a:lnTo>
                  <a:cubicBezTo>
                    <a:pt x="88225" y="120729"/>
                    <a:pt x="80189" y="136892"/>
                    <a:pt x="85189" y="151894"/>
                  </a:cubicBezTo>
                  <a:cubicBezTo>
                    <a:pt x="90190" y="166896"/>
                    <a:pt x="106353" y="174933"/>
                    <a:pt x="121354" y="169932"/>
                  </a:cubicBezTo>
                  <a:lnTo>
                    <a:pt x="242352" y="129570"/>
                  </a:lnTo>
                  <a:cubicBezTo>
                    <a:pt x="246370" y="132427"/>
                    <a:pt x="250656" y="134838"/>
                    <a:pt x="255210" y="136892"/>
                  </a:cubicBezTo>
                  <a:lnTo>
                    <a:pt x="255210" y="428625"/>
                  </a:lnTo>
                  <a:cubicBezTo>
                    <a:pt x="255210" y="444431"/>
                    <a:pt x="267980" y="457200"/>
                    <a:pt x="283785" y="457200"/>
                  </a:cubicBezTo>
                  <a:lnTo>
                    <a:pt x="455235" y="457200"/>
                  </a:lnTo>
                  <a:cubicBezTo>
                    <a:pt x="471041" y="457200"/>
                    <a:pt x="483810" y="444431"/>
                    <a:pt x="483810" y="428625"/>
                  </a:cubicBezTo>
                  <a:cubicBezTo>
                    <a:pt x="483810" y="412819"/>
                    <a:pt x="471041" y="400050"/>
                    <a:pt x="455235" y="400050"/>
                  </a:cubicBezTo>
                  <a:lnTo>
                    <a:pt x="312360" y="400050"/>
                  </a:lnTo>
                  <a:lnTo>
                    <a:pt x="312360" y="136892"/>
                  </a:lnTo>
                  <a:cubicBezTo>
                    <a:pt x="331113" y="128677"/>
                    <a:pt x="345579" y="112782"/>
                    <a:pt x="351830" y="93137"/>
                  </a:cubicBezTo>
                  <a:lnTo>
                    <a:pt x="464254" y="55632"/>
                  </a:lnTo>
                  <a:close/>
                  <a:moveTo>
                    <a:pt x="390495" y="257175"/>
                  </a:moveTo>
                  <a:lnTo>
                    <a:pt x="455146" y="146268"/>
                  </a:lnTo>
                  <a:lnTo>
                    <a:pt x="519797" y="257175"/>
                  </a:lnTo>
                  <a:lnTo>
                    <a:pt x="390406" y="257175"/>
                  </a:lnTo>
                  <a:close/>
                  <a:moveTo>
                    <a:pt x="455146" y="342900"/>
                  </a:moveTo>
                  <a:cubicBezTo>
                    <a:pt x="511314" y="342900"/>
                    <a:pt x="558016" y="312539"/>
                    <a:pt x="567660" y="272445"/>
                  </a:cubicBezTo>
                  <a:cubicBezTo>
                    <a:pt x="569982" y="262622"/>
                    <a:pt x="566767" y="252532"/>
                    <a:pt x="561677" y="243780"/>
                  </a:cubicBezTo>
                  <a:lnTo>
                    <a:pt x="476667" y="98048"/>
                  </a:lnTo>
                  <a:cubicBezTo>
                    <a:pt x="472202" y="90368"/>
                    <a:pt x="463987" y="85725"/>
                    <a:pt x="455146" y="85725"/>
                  </a:cubicBezTo>
                  <a:cubicBezTo>
                    <a:pt x="446306" y="85725"/>
                    <a:pt x="438090" y="90458"/>
                    <a:pt x="433626" y="98048"/>
                  </a:cubicBezTo>
                  <a:lnTo>
                    <a:pt x="348615" y="243870"/>
                  </a:lnTo>
                  <a:cubicBezTo>
                    <a:pt x="343525" y="252621"/>
                    <a:pt x="340310" y="262711"/>
                    <a:pt x="342632" y="272534"/>
                  </a:cubicBezTo>
                  <a:cubicBezTo>
                    <a:pt x="352276" y="312539"/>
                    <a:pt x="398978" y="342989"/>
                    <a:pt x="455146" y="342989"/>
                  </a:cubicBezTo>
                  <a:close/>
                  <a:moveTo>
                    <a:pt x="113228" y="260568"/>
                  </a:moveTo>
                  <a:lnTo>
                    <a:pt x="177879" y="371475"/>
                  </a:lnTo>
                  <a:lnTo>
                    <a:pt x="48488" y="371475"/>
                  </a:lnTo>
                  <a:lnTo>
                    <a:pt x="113139" y="260568"/>
                  </a:lnTo>
                  <a:close/>
                  <a:moveTo>
                    <a:pt x="804" y="386745"/>
                  </a:moveTo>
                  <a:cubicBezTo>
                    <a:pt x="10448" y="426839"/>
                    <a:pt x="57150" y="457200"/>
                    <a:pt x="113228" y="457200"/>
                  </a:cubicBezTo>
                  <a:cubicBezTo>
                    <a:pt x="169307" y="457200"/>
                    <a:pt x="216098" y="426839"/>
                    <a:pt x="225743" y="386745"/>
                  </a:cubicBezTo>
                  <a:cubicBezTo>
                    <a:pt x="228064" y="376922"/>
                    <a:pt x="224850" y="366832"/>
                    <a:pt x="219760" y="358080"/>
                  </a:cubicBezTo>
                  <a:lnTo>
                    <a:pt x="134749" y="212348"/>
                  </a:lnTo>
                  <a:cubicBezTo>
                    <a:pt x="130284" y="204668"/>
                    <a:pt x="122069" y="200025"/>
                    <a:pt x="113228" y="200025"/>
                  </a:cubicBezTo>
                  <a:cubicBezTo>
                    <a:pt x="104388" y="200025"/>
                    <a:pt x="96173" y="204758"/>
                    <a:pt x="91708" y="212348"/>
                  </a:cubicBezTo>
                  <a:lnTo>
                    <a:pt x="6787" y="358170"/>
                  </a:lnTo>
                  <a:cubicBezTo>
                    <a:pt x="1697" y="366921"/>
                    <a:pt x="-1518" y="377011"/>
                    <a:pt x="804" y="386834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848" y="3708"/>
              <a:ext cx="832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权力不对等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893" y="4368"/>
              <a:ext cx="823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dirty="0">
                  <a:solidFill>
                    <a:srgbClr val="5D7A96"/>
                  </a:solidFill>
                  <a:latin typeface="Times New Roman" panose="02020503050405090304" charset="0"/>
                  <a:ea typeface="微软雅黑" panose="020B0503020204020204" charset="-122"/>
                  <a:cs typeface="Times New Roman" panose="02020503050405090304" charset="0"/>
                </a:rPr>
                <a:t>Power Imbalance</a:t>
              </a:r>
              <a:endParaRPr lang="en-US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998" y="5544"/>
              <a:ext cx="510" cy="51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1875" y="5559"/>
              <a:ext cx="529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资源掌控：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导师掌握学生的研究资源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875" y="6264"/>
              <a:ext cx="685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毕业大权：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导师拥有</a:t>
              </a: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学生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能否毕业的"生杀大权"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875" y="7029"/>
              <a:ext cx="6355" cy="35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天然倾斜：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师生之间存在天然的权力不对等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Shape 11"/>
            <p:cNvSpPr/>
            <p:nvPr/>
          </p:nvSpPr>
          <p:spPr>
            <a:xfrm>
              <a:off x="998" y="6276"/>
              <a:ext cx="510" cy="51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38" name="Shape 11"/>
            <p:cNvSpPr/>
            <p:nvPr/>
          </p:nvSpPr>
          <p:spPr>
            <a:xfrm>
              <a:off x="998" y="7008"/>
              <a:ext cx="510" cy="51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</p:grpSp>
      <p:sp>
        <p:nvSpPr>
          <p:cNvPr id="20" name="Shape 18"/>
          <p:cNvSpPr/>
          <p:nvPr/>
        </p:nvSpPr>
        <p:spPr>
          <a:xfrm>
            <a:off x="8572500" y="1787525"/>
            <a:ext cx="876300" cy="790575"/>
          </a:xfrm>
          <a:custGeom>
            <a:avLst/>
            <a:gdLst/>
            <a:ahLst/>
            <a:cxnLst/>
            <a:rect l="l" t="t" r="r" b="b"/>
            <a:pathLst>
              <a:path w="876300" h="790575">
                <a:moveTo>
                  <a:pt x="395288" y="0"/>
                </a:moveTo>
                <a:lnTo>
                  <a:pt x="481012" y="0"/>
                </a:lnTo>
                <a:cubicBezTo>
                  <a:pt x="699178" y="0"/>
                  <a:pt x="876300" y="177122"/>
                  <a:pt x="876300" y="395288"/>
                </a:cubicBezTo>
                <a:lnTo>
                  <a:pt x="876300" y="395288"/>
                </a:lnTo>
                <a:cubicBezTo>
                  <a:pt x="876300" y="613453"/>
                  <a:pt x="699178" y="790575"/>
                  <a:pt x="481012" y="790575"/>
                </a:cubicBezTo>
                <a:lnTo>
                  <a:pt x="395288" y="790575"/>
                </a:lnTo>
                <a:cubicBezTo>
                  <a:pt x="177122" y="790575"/>
                  <a:pt x="0" y="613453"/>
                  <a:pt x="0" y="395288"/>
                </a:cubicBezTo>
                <a:lnTo>
                  <a:pt x="0" y="395288"/>
                </a:lnTo>
                <a:cubicBezTo>
                  <a:pt x="0" y="177122"/>
                  <a:pt x="177122" y="0"/>
                  <a:pt x="395287" y="0"/>
                </a:cubicBezTo>
                <a:close/>
              </a:path>
            </a:pathLst>
          </a:custGeom>
          <a:solidFill>
            <a:srgbClr val="C4A87A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724900" y="194056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22" name="Text 20"/>
          <p:cNvSpPr/>
          <p:nvPr/>
        </p:nvSpPr>
        <p:spPr>
          <a:xfrm>
            <a:off x="6367780" y="2731770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利益高度绑定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96355" y="3160395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5D7A96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High Interest Binding</a:t>
            </a:r>
            <a:endParaRPr 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451600" y="3901440"/>
            <a:ext cx="5173980" cy="1326515"/>
            <a:chOff x="10159" y="6523"/>
            <a:chExt cx="8560" cy="2089"/>
          </a:xfrm>
        </p:grpSpPr>
        <p:sp>
          <p:nvSpPr>
            <p:cNvPr id="28" name="Shape 26"/>
            <p:cNvSpPr/>
            <p:nvPr/>
          </p:nvSpPr>
          <p:spPr>
            <a:xfrm>
              <a:off x="10159" y="6680"/>
              <a:ext cx="475" cy="42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56083" y="35719"/>
                  </a:moveTo>
                  <a:cubicBezTo>
                    <a:pt x="149907" y="35719"/>
                    <a:pt x="143917" y="37393"/>
                    <a:pt x="138671" y="40444"/>
                  </a:cubicBezTo>
                  <a:cubicBezTo>
                    <a:pt x="132792" y="34491"/>
                    <a:pt x="125946" y="29505"/>
                    <a:pt x="118393" y="25747"/>
                  </a:cubicBezTo>
                  <a:cubicBezTo>
                    <a:pt x="128885" y="16818"/>
                    <a:pt x="142242" y="11906"/>
                    <a:pt x="156083" y="11906"/>
                  </a:cubicBezTo>
                  <a:cubicBezTo>
                    <a:pt x="188230" y="11906"/>
                    <a:pt x="214313" y="37951"/>
                    <a:pt x="214313" y="70135"/>
                  </a:cubicBezTo>
                  <a:cubicBezTo>
                    <a:pt x="214313" y="85576"/>
                    <a:pt x="208173" y="100385"/>
                    <a:pt x="197272" y="111286"/>
                  </a:cubicBezTo>
                  <a:lnTo>
                    <a:pt x="170817" y="137740"/>
                  </a:lnTo>
                  <a:cubicBezTo>
                    <a:pt x="159916" y="148642"/>
                    <a:pt x="145107" y="154781"/>
                    <a:pt x="129667" y="154781"/>
                  </a:cubicBezTo>
                  <a:cubicBezTo>
                    <a:pt x="97520" y="154781"/>
                    <a:pt x="71438" y="128736"/>
                    <a:pt x="71438" y="96552"/>
                  </a:cubicBezTo>
                  <a:cubicBezTo>
                    <a:pt x="71438" y="95994"/>
                    <a:pt x="71438" y="95436"/>
                    <a:pt x="71475" y="94878"/>
                  </a:cubicBezTo>
                  <a:cubicBezTo>
                    <a:pt x="71661" y="88292"/>
                    <a:pt x="77130" y="83121"/>
                    <a:pt x="83716" y="83307"/>
                  </a:cubicBezTo>
                  <a:cubicBezTo>
                    <a:pt x="90301" y="83493"/>
                    <a:pt x="95473" y="88962"/>
                    <a:pt x="95287" y="95548"/>
                  </a:cubicBezTo>
                  <a:cubicBezTo>
                    <a:pt x="95287" y="95883"/>
                    <a:pt x="95287" y="96217"/>
                    <a:pt x="95287" y="96515"/>
                  </a:cubicBezTo>
                  <a:cubicBezTo>
                    <a:pt x="95287" y="115528"/>
                    <a:pt x="110691" y="130932"/>
                    <a:pt x="129704" y="130932"/>
                  </a:cubicBezTo>
                  <a:cubicBezTo>
                    <a:pt x="138819" y="130932"/>
                    <a:pt x="147563" y="127322"/>
                    <a:pt x="154037" y="120848"/>
                  </a:cubicBezTo>
                  <a:lnTo>
                    <a:pt x="180491" y="94394"/>
                  </a:lnTo>
                  <a:cubicBezTo>
                    <a:pt x="186928" y="87957"/>
                    <a:pt x="190574" y="79177"/>
                    <a:pt x="190574" y="70061"/>
                  </a:cubicBezTo>
                  <a:cubicBezTo>
                    <a:pt x="190574" y="51048"/>
                    <a:pt x="175171" y="35644"/>
                    <a:pt x="156158" y="35644"/>
                  </a:cubicBezTo>
                  <a:close/>
                  <a:moveTo>
                    <a:pt x="102394" y="64480"/>
                  </a:moveTo>
                  <a:cubicBezTo>
                    <a:pt x="101687" y="64182"/>
                    <a:pt x="100980" y="63773"/>
                    <a:pt x="100347" y="63326"/>
                  </a:cubicBezTo>
                  <a:cubicBezTo>
                    <a:pt x="95659" y="60908"/>
                    <a:pt x="90301" y="59531"/>
                    <a:pt x="84683" y="59531"/>
                  </a:cubicBezTo>
                  <a:cubicBezTo>
                    <a:pt x="75567" y="59531"/>
                    <a:pt x="66824" y="63140"/>
                    <a:pt x="60350" y="69614"/>
                  </a:cubicBezTo>
                  <a:lnTo>
                    <a:pt x="33896" y="96069"/>
                  </a:lnTo>
                  <a:cubicBezTo>
                    <a:pt x="27459" y="102505"/>
                    <a:pt x="23812" y="111286"/>
                    <a:pt x="23812" y="120402"/>
                  </a:cubicBezTo>
                  <a:cubicBezTo>
                    <a:pt x="23812" y="139415"/>
                    <a:pt x="39216" y="154818"/>
                    <a:pt x="58229" y="154818"/>
                  </a:cubicBezTo>
                  <a:cubicBezTo>
                    <a:pt x="64368" y="154818"/>
                    <a:pt x="70358" y="153181"/>
                    <a:pt x="75605" y="150130"/>
                  </a:cubicBezTo>
                  <a:cubicBezTo>
                    <a:pt x="81483" y="156083"/>
                    <a:pt x="88329" y="161069"/>
                    <a:pt x="95920" y="164827"/>
                  </a:cubicBezTo>
                  <a:cubicBezTo>
                    <a:pt x="85427" y="173720"/>
                    <a:pt x="72107" y="178668"/>
                    <a:pt x="58229" y="178668"/>
                  </a:cubicBezTo>
                  <a:cubicBezTo>
                    <a:pt x="26082" y="178668"/>
                    <a:pt x="0" y="152623"/>
                    <a:pt x="0" y="120439"/>
                  </a:cubicBezTo>
                  <a:cubicBezTo>
                    <a:pt x="0" y="104998"/>
                    <a:pt x="6139" y="90190"/>
                    <a:pt x="17041" y="79288"/>
                  </a:cubicBezTo>
                  <a:lnTo>
                    <a:pt x="43495" y="52834"/>
                  </a:lnTo>
                  <a:cubicBezTo>
                    <a:pt x="54397" y="41932"/>
                    <a:pt x="69205" y="35793"/>
                    <a:pt x="84646" y="35793"/>
                  </a:cubicBezTo>
                  <a:cubicBezTo>
                    <a:pt x="116867" y="35793"/>
                    <a:pt x="142875" y="62061"/>
                    <a:pt x="142875" y="94171"/>
                  </a:cubicBezTo>
                  <a:cubicBezTo>
                    <a:pt x="142875" y="94655"/>
                    <a:pt x="142875" y="95138"/>
                    <a:pt x="142875" y="95622"/>
                  </a:cubicBezTo>
                  <a:cubicBezTo>
                    <a:pt x="142726" y="102208"/>
                    <a:pt x="137257" y="107379"/>
                    <a:pt x="130671" y="107231"/>
                  </a:cubicBezTo>
                  <a:cubicBezTo>
                    <a:pt x="124085" y="107082"/>
                    <a:pt x="118914" y="101612"/>
                    <a:pt x="119063" y="95027"/>
                  </a:cubicBezTo>
                  <a:cubicBezTo>
                    <a:pt x="119063" y="94729"/>
                    <a:pt x="119063" y="94469"/>
                    <a:pt x="119063" y="94171"/>
                  </a:cubicBezTo>
                  <a:cubicBezTo>
                    <a:pt x="119063" y="81632"/>
                    <a:pt x="112365" y="70619"/>
                    <a:pt x="102394" y="64554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29" name="Text 27"/>
            <p:cNvSpPr/>
            <p:nvPr/>
          </p:nvSpPr>
          <p:spPr>
            <a:xfrm>
              <a:off x="10893" y="6523"/>
              <a:ext cx="7827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产出关联：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学生的论文产出关系到导师的课题结项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10894" y="7399"/>
              <a:ext cx="685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晋升挂钩：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学生的成果影响导师的职称晋升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10894" y="8012"/>
              <a:ext cx="6355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紧密咬合：</a:t>
              </a: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师生利益如同齿轮般高度绑定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Shape 26"/>
            <p:cNvSpPr/>
            <p:nvPr/>
          </p:nvSpPr>
          <p:spPr>
            <a:xfrm>
              <a:off x="10159" y="7400"/>
              <a:ext cx="475" cy="42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56083" y="35719"/>
                  </a:moveTo>
                  <a:cubicBezTo>
                    <a:pt x="149907" y="35719"/>
                    <a:pt x="143917" y="37393"/>
                    <a:pt x="138671" y="40444"/>
                  </a:cubicBezTo>
                  <a:cubicBezTo>
                    <a:pt x="132792" y="34491"/>
                    <a:pt x="125946" y="29505"/>
                    <a:pt x="118393" y="25747"/>
                  </a:cubicBezTo>
                  <a:cubicBezTo>
                    <a:pt x="128885" y="16818"/>
                    <a:pt x="142242" y="11906"/>
                    <a:pt x="156083" y="11906"/>
                  </a:cubicBezTo>
                  <a:cubicBezTo>
                    <a:pt x="188230" y="11906"/>
                    <a:pt x="214313" y="37951"/>
                    <a:pt x="214313" y="70135"/>
                  </a:cubicBezTo>
                  <a:cubicBezTo>
                    <a:pt x="214313" y="85576"/>
                    <a:pt x="208173" y="100385"/>
                    <a:pt x="197272" y="111286"/>
                  </a:cubicBezTo>
                  <a:lnTo>
                    <a:pt x="170817" y="137740"/>
                  </a:lnTo>
                  <a:cubicBezTo>
                    <a:pt x="159916" y="148642"/>
                    <a:pt x="145107" y="154781"/>
                    <a:pt x="129667" y="154781"/>
                  </a:cubicBezTo>
                  <a:cubicBezTo>
                    <a:pt x="97520" y="154781"/>
                    <a:pt x="71438" y="128736"/>
                    <a:pt x="71438" y="96552"/>
                  </a:cubicBezTo>
                  <a:cubicBezTo>
                    <a:pt x="71438" y="95994"/>
                    <a:pt x="71438" y="95436"/>
                    <a:pt x="71475" y="94878"/>
                  </a:cubicBezTo>
                  <a:cubicBezTo>
                    <a:pt x="71661" y="88292"/>
                    <a:pt x="77130" y="83121"/>
                    <a:pt x="83716" y="83307"/>
                  </a:cubicBezTo>
                  <a:cubicBezTo>
                    <a:pt x="90301" y="83493"/>
                    <a:pt x="95473" y="88962"/>
                    <a:pt x="95287" y="95548"/>
                  </a:cubicBezTo>
                  <a:cubicBezTo>
                    <a:pt x="95287" y="95883"/>
                    <a:pt x="95287" y="96217"/>
                    <a:pt x="95287" y="96515"/>
                  </a:cubicBezTo>
                  <a:cubicBezTo>
                    <a:pt x="95287" y="115528"/>
                    <a:pt x="110691" y="130932"/>
                    <a:pt x="129704" y="130932"/>
                  </a:cubicBezTo>
                  <a:cubicBezTo>
                    <a:pt x="138819" y="130932"/>
                    <a:pt x="147563" y="127322"/>
                    <a:pt x="154037" y="120848"/>
                  </a:cubicBezTo>
                  <a:lnTo>
                    <a:pt x="180491" y="94394"/>
                  </a:lnTo>
                  <a:cubicBezTo>
                    <a:pt x="186928" y="87957"/>
                    <a:pt x="190574" y="79177"/>
                    <a:pt x="190574" y="70061"/>
                  </a:cubicBezTo>
                  <a:cubicBezTo>
                    <a:pt x="190574" y="51048"/>
                    <a:pt x="175171" y="35644"/>
                    <a:pt x="156158" y="35644"/>
                  </a:cubicBezTo>
                  <a:close/>
                  <a:moveTo>
                    <a:pt x="102394" y="64480"/>
                  </a:moveTo>
                  <a:cubicBezTo>
                    <a:pt x="101687" y="64182"/>
                    <a:pt x="100980" y="63773"/>
                    <a:pt x="100347" y="63326"/>
                  </a:cubicBezTo>
                  <a:cubicBezTo>
                    <a:pt x="95659" y="60908"/>
                    <a:pt x="90301" y="59531"/>
                    <a:pt x="84683" y="59531"/>
                  </a:cubicBezTo>
                  <a:cubicBezTo>
                    <a:pt x="75567" y="59531"/>
                    <a:pt x="66824" y="63140"/>
                    <a:pt x="60350" y="69614"/>
                  </a:cubicBezTo>
                  <a:lnTo>
                    <a:pt x="33896" y="96069"/>
                  </a:lnTo>
                  <a:cubicBezTo>
                    <a:pt x="27459" y="102505"/>
                    <a:pt x="23812" y="111286"/>
                    <a:pt x="23812" y="120402"/>
                  </a:cubicBezTo>
                  <a:cubicBezTo>
                    <a:pt x="23812" y="139415"/>
                    <a:pt x="39216" y="154818"/>
                    <a:pt x="58229" y="154818"/>
                  </a:cubicBezTo>
                  <a:cubicBezTo>
                    <a:pt x="64368" y="154818"/>
                    <a:pt x="70358" y="153181"/>
                    <a:pt x="75605" y="150130"/>
                  </a:cubicBezTo>
                  <a:cubicBezTo>
                    <a:pt x="81483" y="156083"/>
                    <a:pt x="88329" y="161069"/>
                    <a:pt x="95920" y="164827"/>
                  </a:cubicBezTo>
                  <a:cubicBezTo>
                    <a:pt x="85427" y="173720"/>
                    <a:pt x="72107" y="178668"/>
                    <a:pt x="58229" y="178668"/>
                  </a:cubicBezTo>
                  <a:cubicBezTo>
                    <a:pt x="26082" y="178668"/>
                    <a:pt x="0" y="152623"/>
                    <a:pt x="0" y="120439"/>
                  </a:cubicBezTo>
                  <a:cubicBezTo>
                    <a:pt x="0" y="104998"/>
                    <a:pt x="6139" y="90190"/>
                    <a:pt x="17041" y="79288"/>
                  </a:cubicBezTo>
                  <a:lnTo>
                    <a:pt x="43495" y="52834"/>
                  </a:lnTo>
                  <a:cubicBezTo>
                    <a:pt x="54397" y="41932"/>
                    <a:pt x="69205" y="35793"/>
                    <a:pt x="84646" y="35793"/>
                  </a:cubicBezTo>
                  <a:cubicBezTo>
                    <a:pt x="116867" y="35793"/>
                    <a:pt x="142875" y="62061"/>
                    <a:pt x="142875" y="94171"/>
                  </a:cubicBezTo>
                  <a:cubicBezTo>
                    <a:pt x="142875" y="94655"/>
                    <a:pt x="142875" y="95138"/>
                    <a:pt x="142875" y="95622"/>
                  </a:cubicBezTo>
                  <a:cubicBezTo>
                    <a:pt x="142726" y="102208"/>
                    <a:pt x="137257" y="107379"/>
                    <a:pt x="130671" y="107231"/>
                  </a:cubicBezTo>
                  <a:cubicBezTo>
                    <a:pt x="124085" y="107082"/>
                    <a:pt x="118914" y="101612"/>
                    <a:pt x="119063" y="95027"/>
                  </a:cubicBezTo>
                  <a:cubicBezTo>
                    <a:pt x="119063" y="94729"/>
                    <a:pt x="119063" y="94469"/>
                    <a:pt x="119063" y="94171"/>
                  </a:cubicBezTo>
                  <a:cubicBezTo>
                    <a:pt x="119063" y="81632"/>
                    <a:pt x="112365" y="70619"/>
                    <a:pt x="102394" y="64554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41" name="Shape 26"/>
            <p:cNvSpPr/>
            <p:nvPr/>
          </p:nvSpPr>
          <p:spPr>
            <a:xfrm>
              <a:off x="10159" y="8120"/>
              <a:ext cx="475" cy="42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56083" y="35719"/>
                  </a:moveTo>
                  <a:cubicBezTo>
                    <a:pt x="149907" y="35719"/>
                    <a:pt x="143917" y="37393"/>
                    <a:pt x="138671" y="40444"/>
                  </a:cubicBezTo>
                  <a:cubicBezTo>
                    <a:pt x="132792" y="34491"/>
                    <a:pt x="125946" y="29505"/>
                    <a:pt x="118393" y="25747"/>
                  </a:cubicBezTo>
                  <a:cubicBezTo>
                    <a:pt x="128885" y="16818"/>
                    <a:pt x="142242" y="11906"/>
                    <a:pt x="156083" y="11906"/>
                  </a:cubicBezTo>
                  <a:cubicBezTo>
                    <a:pt x="188230" y="11906"/>
                    <a:pt x="214313" y="37951"/>
                    <a:pt x="214313" y="70135"/>
                  </a:cubicBezTo>
                  <a:cubicBezTo>
                    <a:pt x="214313" y="85576"/>
                    <a:pt x="208173" y="100385"/>
                    <a:pt x="197272" y="111286"/>
                  </a:cubicBezTo>
                  <a:lnTo>
                    <a:pt x="170817" y="137740"/>
                  </a:lnTo>
                  <a:cubicBezTo>
                    <a:pt x="159916" y="148642"/>
                    <a:pt x="145107" y="154781"/>
                    <a:pt x="129667" y="154781"/>
                  </a:cubicBezTo>
                  <a:cubicBezTo>
                    <a:pt x="97520" y="154781"/>
                    <a:pt x="71438" y="128736"/>
                    <a:pt x="71438" y="96552"/>
                  </a:cubicBezTo>
                  <a:cubicBezTo>
                    <a:pt x="71438" y="95994"/>
                    <a:pt x="71438" y="95436"/>
                    <a:pt x="71475" y="94878"/>
                  </a:cubicBezTo>
                  <a:cubicBezTo>
                    <a:pt x="71661" y="88292"/>
                    <a:pt x="77130" y="83121"/>
                    <a:pt x="83716" y="83307"/>
                  </a:cubicBezTo>
                  <a:cubicBezTo>
                    <a:pt x="90301" y="83493"/>
                    <a:pt x="95473" y="88962"/>
                    <a:pt x="95287" y="95548"/>
                  </a:cubicBezTo>
                  <a:cubicBezTo>
                    <a:pt x="95287" y="95883"/>
                    <a:pt x="95287" y="96217"/>
                    <a:pt x="95287" y="96515"/>
                  </a:cubicBezTo>
                  <a:cubicBezTo>
                    <a:pt x="95287" y="115528"/>
                    <a:pt x="110691" y="130932"/>
                    <a:pt x="129704" y="130932"/>
                  </a:cubicBezTo>
                  <a:cubicBezTo>
                    <a:pt x="138819" y="130932"/>
                    <a:pt x="147563" y="127322"/>
                    <a:pt x="154037" y="120848"/>
                  </a:cubicBezTo>
                  <a:lnTo>
                    <a:pt x="180491" y="94394"/>
                  </a:lnTo>
                  <a:cubicBezTo>
                    <a:pt x="186928" y="87957"/>
                    <a:pt x="190574" y="79177"/>
                    <a:pt x="190574" y="70061"/>
                  </a:cubicBezTo>
                  <a:cubicBezTo>
                    <a:pt x="190574" y="51048"/>
                    <a:pt x="175171" y="35644"/>
                    <a:pt x="156158" y="35644"/>
                  </a:cubicBezTo>
                  <a:close/>
                  <a:moveTo>
                    <a:pt x="102394" y="64480"/>
                  </a:moveTo>
                  <a:cubicBezTo>
                    <a:pt x="101687" y="64182"/>
                    <a:pt x="100980" y="63773"/>
                    <a:pt x="100347" y="63326"/>
                  </a:cubicBezTo>
                  <a:cubicBezTo>
                    <a:pt x="95659" y="60908"/>
                    <a:pt x="90301" y="59531"/>
                    <a:pt x="84683" y="59531"/>
                  </a:cubicBezTo>
                  <a:cubicBezTo>
                    <a:pt x="75567" y="59531"/>
                    <a:pt x="66824" y="63140"/>
                    <a:pt x="60350" y="69614"/>
                  </a:cubicBezTo>
                  <a:lnTo>
                    <a:pt x="33896" y="96069"/>
                  </a:lnTo>
                  <a:cubicBezTo>
                    <a:pt x="27459" y="102505"/>
                    <a:pt x="23812" y="111286"/>
                    <a:pt x="23812" y="120402"/>
                  </a:cubicBezTo>
                  <a:cubicBezTo>
                    <a:pt x="23812" y="139415"/>
                    <a:pt x="39216" y="154818"/>
                    <a:pt x="58229" y="154818"/>
                  </a:cubicBezTo>
                  <a:cubicBezTo>
                    <a:pt x="64368" y="154818"/>
                    <a:pt x="70358" y="153181"/>
                    <a:pt x="75605" y="150130"/>
                  </a:cubicBezTo>
                  <a:cubicBezTo>
                    <a:pt x="81483" y="156083"/>
                    <a:pt x="88329" y="161069"/>
                    <a:pt x="95920" y="164827"/>
                  </a:cubicBezTo>
                  <a:cubicBezTo>
                    <a:pt x="85427" y="173720"/>
                    <a:pt x="72107" y="178668"/>
                    <a:pt x="58229" y="178668"/>
                  </a:cubicBezTo>
                  <a:cubicBezTo>
                    <a:pt x="26082" y="178668"/>
                    <a:pt x="0" y="152623"/>
                    <a:pt x="0" y="120439"/>
                  </a:cubicBezTo>
                  <a:cubicBezTo>
                    <a:pt x="0" y="104998"/>
                    <a:pt x="6139" y="90190"/>
                    <a:pt x="17041" y="79288"/>
                  </a:cubicBezTo>
                  <a:lnTo>
                    <a:pt x="43495" y="52834"/>
                  </a:lnTo>
                  <a:cubicBezTo>
                    <a:pt x="54397" y="41932"/>
                    <a:pt x="69205" y="35793"/>
                    <a:pt x="84646" y="35793"/>
                  </a:cubicBezTo>
                  <a:cubicBezTo>
                    <a:pt x="116867" y="35793"/>
                    <a:pt x="142875" y="62061"/>
                    <a:pt x="142875" y="94171"/>
                  </a:cubicBezTo>
                  <a:cubicBezTo>
                    <a:pt x="142875" y="94655"/>
                    <a:pt x="142875" y="95138"/>
                    <a:pt x="142875" y="95622"/>
                  </a:cubicBezTo>
                  <a:cubicBezTo>
                    <a:pt x="142726" y="102208"/>
                    <a:pt x="137257" y="107379"/>
                    <a:pt x="130671" y="107231"/>
                  </a:cubicBezTo>
                  <a:cubicBezTo>
                    <a:pt x="124085" y="107082"/>
                    <a:pt x="118914" y="101612"/>
                    <a:pt x="119063" y="95027"/>
                  </a:cubicBezTo>
                  <a:cubicBezTo>
                    <a:pt x="119063" y="94729"/>
                    <a:pt x="119063" y="94469"/>
                    <a:pt x="119063" y="94171"/>
                  </a:cubicBezTo>
                  <a:cubicBezTo>
                    <a:pt x="119063" y="81632"/>
                    <a:pt x="112365" y="70619"/>
                    <a:pt x="102394" y="64554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THREE MODELS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导学关系的常见三种模式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3686175" cy="5257800"/>
          </a:xfrm>
          <a:custGeom>
            <a:avLst/>
            <a:gdLst/>
            <a:ahLst/>
            <a:cxnLst/>
            <a:rect l="l" t="t" r="r" b="b"/>
            <a:pathLst>
              <a:path w="3686175" h="52578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5181607"/>
                </a:lnTo>
                <a:cubicBezTo>
                  <a:pt x="3686175" y="5223687"/>
                  <a:pt x="3652062" y="5257800"/>
                  <a:pt x="3609982" y="5257800"/>
                </a:cubicBezTo>
                <a:lnTo>
                  <a:pt x="76193" y="5257800"/>
                </a:lnTo>
                <a:cubicBezTo>
                  <a:pt x="34113" y="5257800"/>
                  <a:pt x="0" y="5223687"/>
                  <a:pt x="0" y="51816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21920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0" y="0"/>
                </a:moveTo>
                <a:lnTo>
                  <a:pt x="3686175" y="0"/>
                </a:lnTo>
                <a:lnTo>
                  <a:pt x="3686175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5D7A96"/>
          </a:solidFill>
        </p:spPr>
      </p:sp>
      <p:sp>
        <p:nvSpPr>
          <p:cNvPr id="6" name="Shape 4"/>
          <p:cNvSpPr/>
          <p:nvPr/>
        </p:nvSpPr>
        <p:spPr>
          <a:xfrm>
            <a:off x="2072402" y="137160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166092"/>
                </a:moveTo>
                <a:cubicBezTo>
                  <a:pt x="105663" y="166092"/>
                  <a:pt x="69652" y="130081"/>
                  <a:pt x="69652" y="85725"/>
                </a:cubicBezTo>
                <a:cubicBezTo>
                  <a:pt x="69652" y="41369"/>
                  <a:pt x="105663" y="5358"/>
                  <a:pt x="150019" y="5358"/>
                </a:cubicBezTo>
                <a:cubicBezTo>
                  <a:pt x="194375" y="5358"/>
                  <a:pt x="230386" y="41369"/>
                  <a:pt x="230386" y="85725"/>
                </a:cubicBezTo>
                <a:cubicBezTo>
                  <a:pt x="230386" y="130081"/>
                  <a:pt x="194375" y="166092"/>
                  <a:pt x="150019" y="166092"/>
                </a:cubicBezTo>
                <a:close/>
                <a:moveTo>
                  <a:pt x="129592" y="203597"/>
                </a:moveTo>
                <a:lnTo>
                  <a:pt x="170445" y="203597"/>
                </a:lnTo>
                <a:cubicBezTo>
                  <a:pt x="176942" y="203597"/>
                  <a:pt x="182166" y="208821"/>
                  <a:pt x="182166" y="215317"/>
                </a:cubicBezTo>
                <a:cubicBezTo>
                  <a:pt x="182166" y="218130"/>
                  <a:pt x="181161" y="220809"/>
                  <a:pt x="179353" y="222952"/>
                </a:cubicBezTo>
                <a:lnTo>
                  <a:pt x="161002" y="244383"/>
                </a:lnTo>
                <a:lnTo>
                  <a:pt x="181764" y="321469"/>
                </a:lnTo>
                <a:lnTo>
                  <a:pt x="182166" y="321469"/>
                </a:lnTo>
                <a:lnTo>
                  <a:pt x="205338" y="228712"/>
                </a:lnTo>
                <a:cubicBezTo>
                  <a:pt x="206812" y="222885"/>
                  <a:pt x="212772" y="219335"/>
                  <a:pt x="218398" y="221479"/>
                </a:cubicBezTo>
                <a:cubicBezTo>
                  <a:pt x="259854" y="237284"/>
                  <a:pt x="289322" y="277468"/>
                  <a:pt x="289322" y="324483"/>
                </a:cubicBezTo>
                <a:cubicBezTo>
                  <a:pt x="289322" y="334595"/>
                  <a:pt x="281084" y="342833"/>
                  <a:pt x="270971" y="342833"/>
                </a:cubicBezTo>
                <a:lnTo>
                  <a:pt x="29066" y="342900"/>
                </a:lnTo>
                <a:cubicBezTo>
                  <a:pt x="18953" y="342900"/>
                  <a:pt x="10716" y="334662"/>
                  <a:pt x="10716" y="324549"/>
                </a:cubicBezTo>
                <a:cubicBezTo>
                  <a:pt x="10716" y="277535"/>
                  <a:pt x="40184" y="237351"/>
                  <a:pt x="81640" y="221546"/>
                </a:cubicBezTo>
                <a:cubicBezTo>
                  <a:pt x="87265" y="219402"/>
                  <a:pt x="93226" y="222952"/>
                  <a:pt x="94699" y="228779"/>
                </a:cubicBezTo>
                <a:lnTo>
                  <a:pt x="117872" y="321536"/>
                </a:lnTo>
                <a:lnTo>
                  <a:pt x="118274" y="321536"/>
                </a:lnTo>
                <a:lnTo>
                  <a:pt x="139035" y="244450"/>
                </a:lnTo>
                <a:lnTo>
                  <a:pt x="120685" y="223019"/>
                </a:lnTo>
                <a:cubicBezTo>
                  <a:pt x="118876" y="220876"/>
                  <a:pt x="117872" y="218197"/>
                  <a:pt x="117872" y="215384"/>
                </a:cubicBezTo>
                <a:cubicBezTo>
                  <a:pt x="117872" y="208888"/>
                  <a:pt x="123096" y="203664"/>
                  <a:pt x="129592" y="20366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476250" y="1790700"/>
            <a:ext cx="3495675" cy="520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传统型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师徒制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1500" y="593979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20" name="Text 18"/>
          <p:cNvSpPr/>
          <p:nvPr/>
        </p:nvSpPr>
        <p:spPr>
          <a:xfrm>
            <a:off x="538163" y="6096000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旧社会的"师徒制"延续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69700" y="1219200"/>
            <a:ext cx="3663315" cy="5244465"/>
          </a:xfrm>
          <a:custGeom>
            <a:avLst/>
            <a:gdLst/>
            <a:ahLst/>
            <a:cxnLst/>
            <a:rect l="l" t="t" r="r" b="b"/>
            <a:pathLst>
              <a:path w="3663315" h="5244465">
                <a:moveTo>
                  <a:pt x="76197" y="0"/>
                </a:moveTo>
                <a:lnTo>
                  <a:pt x="3587118" y="0"/>
                </a:lnTo>
                <a:cubicBezTo>
                  <a:pt x="3629200" y="0"/>
                  <a:pt x="3663315" y="34115"/>
                  <a:pt x="3663315" y="76197"/>
                </a:cubicBezTo>
                <a:lnTo>
                  <a:pt x="3663315" y="5168268"/>
                </a:lnTo>
                <a:cubicBezTo>
                  <a:pt x="3663315" y="5210350"/>
                  <a:pt x="3629200" y="5244465"/>
                  <a:pt x="3587118" y="5244465"/>
                </a:cubicBezTo>
                <a:lnTo>
                  <a:pt x="76197" y="5244465"/>
                </a:lnTo>
                <a:cubicBezTo>
                  <a:pt x="34115" y="5244465"/>
                  <a:pt x="0" y="5210350"/>
                  <a:pt x="0" y="516826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FF6467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69700" y="1234441"/>
            <a:ext cx="3648075" cy="1257300"/>
          </a:xfrm>
          <a:custGeom>
            <a:avLst/>
            <a:gdLst/>
            <a:ahLst/>
            <a:cxnLst/>
            <a:rect l="l" t="t" r="r" b="b"/>
            <a:pathLst>
              <a:path w="3648075" h="1257300">
                <a:moveTo>
                  <a:pt x="0" y="0"/>
                </a:moveTo>
                <a:lnTo>
                  <a:pt x="3648075" y="0"/>
                </a:lnTo>
                <a:lnTo>
                  <a:pt x="3648075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23" name="Shape 21"/>
          <p:cNvSpPr/>
          <p:nvPr/>
        </p:nvSpPr>
        <p:spPr>
          <a:xfrm>
            <a:off x="5924431" y="138684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9577" y="21431"/>
                  <a:pt x="0" y="31008"/>
                  <a:pt x="0" y="42863"/>
                </a:cubicBezTo>
                <a:lnTo>
                  <a:pt x="0" y="289322"/>
                </a:lnTo>
                <a:cubicBezTo>
                  <a:pt x="0" y="307070"/>
                  <a:pt x="14399" y="321469"/>
                  <a:pt x="32147" y="321469"/>
                </a:cubicBezTo>
                <a:lnTo>
                  <a:pt x="310753" y="321469"/>
                </a:lnTo>
                <a:cubicBezTo>
                  <a:pt x="328501" y="321469"/>
                  <a:pt x="342900" y="307070"/>
                  <a:pt x="342900" y="289322"/>
                </a:cubicBezTo>
                <a:lnTo>
                  <a:pt x="342900" y="101932"/>
                </a:lnTo>
                <a:cubicBezTo>
                  <a:pt x="342900" y="89743"/>
                  <a:pt x="329907" y="82042"/>
                  <a:pt x="319192" y="87801"/>
                </a:cubicBezTo>
                <a:lnTo>
                  <a:pt x="214313" y="144259"/>
                </a:lnTo>
                <a:lnTo>
                  <a:pt x="214313" y="101932"/>
                </a:lnTo>
                <a:cubicBezTo>
                  <a:pt x="214313" y="89743"/>
                  <a:pt x="201320" y="82042"/>
                  <a:pt x="190604" y="87801"/>
                </a:cubicBezTo>
                <a:lnTo>
                  <a:pt x="85725" y="144259"/>
                </a:lnTo>
                <a:lnTo>
                  <a:pt x="85725" y="42863"/>
                </a:lnTo>
                <a:cubicBezTo>
                  <a:pt x="85725" y="31008"/>
                  <a:pt x="76148" y="21431"/>
                  <a:pt x="64294" y="21431"/>
                </a:cubicBezTo>
                <a:lnTo>
                  <a:pt x="21431" y="2143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4364950" y="1898016"/>
            <a:ext cx="3457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异化型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老板制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154890" y="471221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31" name="Text 29"/>
          <p:cNvSpPr/>
          <p:nvPr/>
        </p:nvSpPr>
        <p:spPr>
          <a:xfrm>
            <a:off x="5444490" y="4624705"/>
            <a:ext cx="1155700" cy="305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利益导向</a:t>
            </a:r>
            <a:endParaRPr lang="en-US" sz="1600" b="1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93930" y="507797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3" name="Text 31"/>
          <p:cNvSpPr/>
          <p:nvPr/>
        </p:nvSpPr>
        <p:spPr>
          <a:xfrm>
            <a:off x="5444490" y="5032375"/>
            <a:ext cx="164973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计件打工</a:t>
            </a:r>
            <a:endParaRPr lang="en-US" sz="1600" b="1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19330" y="54291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5" name="Text 33"/>
          <p:cNvSpPr/>
          <p:nvPr/>
        </p:nvSpPr>
        <p:spPr>
          <a:xfrm>
            <a:off x="5444490" y="5361305"/>
            <a:ext cx="2130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学生成为廉价学术劳工</a:t>
            </a:r>
            <a:endParaRPr lang="en-US" sz="1600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460200" y="5924551"/>
            <a:ext cx="3267075" cy="7620"/>
          </a:xfrm>
          <a:custGeom>
            <a:avLst/>
            <a:gdLst/>
            <a:ahLst/>
            <a:cxnLst/>
            <a:rect l="l" t="t" r="r" b="b"/>
            <a:pathLst>
              <a:path w="3267075" h="7620">
                <a:moveTo>
                  <a:pt x="0" y="0"/>
                </a:moveTo>
                <a:lnTo>
                  <a:pt x="3267075" y="0"/>
                </a:lnTo>
                <a:lnTo>
                  <a:pt x="3267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C9C9"/>
          </a:solidFill>
        </p:spPr>
      </p:sp>
      <p:sp>
        <p:nvSpPr>
          <p:cNvPr id="37" name="Text 35"/>
          <p:cNvSpPr/>
          <p:nvPr/>
        </p:nvSpPr>
        <p:spPr>
          <a:xfrm>
            <a:off x="4426863" y="6080761"/>
            <a:ext cx="3333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E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学术规范的最大威胁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35541" y="1226820"/>
            <a:ext cx="3663315" cy="5244465"/>
          </a:xfrm>
          <a:custGeom>
            <a:avLst/>
            <a:gdLst/>
            <a:ahLst/>
            <a:cxnLst/>
            <a:rect l="l" t="t" r="r" b="b"/>
            <a:pathLst>
              <a:path w="3663315" h="5244465">
                <a:moveTo>
                  <a:pt x="76197" y="0"/>
                </a:moveTo>
                <a:lnTo>
                  <a:pt x="3587118" y="0"/>
                </a:lnTo>
                <a:cubicBezTo>
                  <a:pt x="3629200" y="0"/>
                  <a:pt x="3663315" y="34115"/>
                  <a:pt x="3663315" y="76197"/>
                </a:cubicBezTo>
                <a:lnTo>
                  <a:pt x="3663315" y="5168268"/>
                </a:lnTo>
                <a:cubicBezTo>
                  <a:pt x="3663315" y="5210350"/>
                  <a:pt x="3629200" y="5244465"/>
                  <a:pt x="3587118" y="5244465"/>
                </a:cubicBezTo>
                <a:lnTo>
                  <a:pt x="76197" y="5244465"/>
                </a:lnTo>
                <a:cubicBezTo>
                  <a:pt x="34115" y="5244465"/>
                  <a:pt x="0" y="5210350"/>
                  <a:pt x="0" y="516826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C4A87A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43161" y="1234441"/>
            <a:ext cx="3648075" cy="1257300"/>
          </a:xfrm>
          <a:custGeom>
            <a:avLst/>
            <a:gdLst/>
            <a:ahLst/>
            <a:cxnLst/>
            <a:rect l="l" t="t" r="r" b="b"/>
            <a:pathLst>
              <a:path w="3648075" h="1257300">
                <a:moveTo>
                  <a:pt x="0" y="0"/>
                </a:moveTo>
                <a:lnTo>
                  <a:pt x="3648075" y="0"/>
                </a:lnTo>
                <a:lnTo>
                  <a:pt x="3648075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40" name="Shape 38"/>
          <p:cNvSpPr/>
          <p:nvPr/>
        </p:nvSpPr>
        <p:spPr>
          <a:xfrm>
            <a:off x="9776579" y="1386841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80089" y="57061"/>
                </a:moveTo>
                <a:lnTo>
                  <a:pt x="101999" y="143857"/>
                </a:lnTo>
                <a:cubicBezTo>
                  <a:pt x="98919" y="147273"/>
                  <a:pt x="99053" y="152564"/>
                  <a:pt x="102334" y="155845"/>
                </a:cubicBezTo>
                <a:cubicBezTo>
                  <a:pt x="122761" y="176272"/>
                  <a:pt x="155912" y="176272"/>
                  <a:pt x="176339" y="155845"/>
                </a:cubicBezTo>
                <a:lnTo>
                  <a:pt x="197636" y="134548"/>
                </a:lnTo>
                <a:cubicBezTo>
                  <a:pt x="200449" y="131735"/>
                  <a:pt x="203999" y="130195"/>
                  <a:pt x="207615" y="129927"/>
                </a:cubicBezTo>
                <a:cubicBezTo>
                  <a:pt x="212169" y="129525"/>
                  <a:pt x="216857" y="131065"/>
                  <a:pt x="220340" y="134548"/>
                </a:cubicBezTo>
                <a:lnTo>
                  <a:pt x="338614" y="251817"/>
                </a:lnTo>
                <a:lnTo>
                  <a:pt x="385763" y="214313"/>
                </a:lnTo>
                <a:lnTo>
                  <a:pt x="385763" y="21431"/>
                </a:lnTo>
                <a:lnTo>
                  <a:pt x="310753" y="64294"/>
                </a:lnTo>
                <a:lnTo>
                  <a:pt x="294814" y="53645"/>
                </a:lnTo>
                <a:cubicBezTo>
                  <a:pt x="284232" y="46613"/>
                  <a:pt x="271842" y="42863"/>
                  <a:pt x="259117" y="42863"/>
                </a:cubicBezTo>
                <a:lnTo>
                  <a:pt x="211968" y="42863"/>
                </a:lnTo>
                <a:cubicBezTo>
                  <a:pt x="211232" y="42863"/>
                  <a:pt x="210428" y="42863"/>
                  <a:pt x="209691" y="42929"/>
                </a:cubicBezTo>
                <a:cubicBezTo>
                  <a:pt x="198373" y="43532"/>
                  <a:pt x="187724" y="48622"/>
                  <a:pt x="180089" y="57061"/>
                </a:cubicBezTo>
                <a:close/>
                <a:moveTo>
                  <a:pt x="78090" y="122359"/>
                </a:moveTo>
                <a:lnTo>
                  <a:pt x="149617" y="42863"/>
                </a:lnTo>
                <a:lnTo>
                  <a:pt x="123096" y="42863"/>
                </a:lnTo>
                <a:cubicBezTo>
                  <a:pt x="106018" y="42863"/>
                  <a:pt x="89676" y="49627"/>
                  <a:pt x="77621" y="61682"/>
                </a:cubicBezTo>
                <a:lnTo>
                  <a:pt x="75009" y="64294"/>
                </a:lnTo>
                <a:lnTo>
                  <a:pt x="0" y="21431"/>
                </a:lnTo>
                <a:lnTo>
                  <a:pt x="0" y="214313"/>
                </a:lnTo>
                <a:lnTo>
                  <a:pt x="104745" y="301578"/>
                </a:lnTo>
                <a:cubicBezTo>
                  <a:pt x="120149" y="314437"/>
                  <a:pt x="139571" y="321469"/>
                  <a:pt x="159596" y="321469"/>
                </a:cubicBezTo>
                <a:lnTo>
                  <a:pt x="170111" y="321469"/>
                </a:lnTo>
                <a:lnTo>
                  <a:pt x="165422" y="316781"/>
                </a:lnTo>
                <a:cubicBezTo>
                  <a:pt x="159127" y="310485"/>
                  <a:pt x="159127" y="300305"/>
                  <a:pt x="165422" y="294077"/>
                </a:cubicBezTo>
                <a:cubicBezTo>
                  <a:pt x="171718" y="287848"/>
                  <a:pt x="181898" y="287782"/>
                  <a:pt x="188126" y="294077"/>
                </a:cubicBezTo>
                <a:lnTo>
                  <a:pt x="215585" y="321536"/>
                </a:lnTo>
                <a:lnTo>
                  <a:pt x="221613" y="321536"/>
                </a:lnTo>
                <a:cubicBezTo>
                  <a:pt x="234404" y="321536"/>
                  <a:pt x="246928" y="318656"/>
                  <a:pt x="258314" y="313298"/>
                </a:cubicBezTo>
                <a:lnTo>
                  <a:pt x="240432" y="295349"/>
                </a:lnTo>
                <a:cubicBezTo>
                  <a:pt x="234136" y="289054"/>
                  <a:pt x="234136" y="278874"/>
                  <a:pt x="240432" y="272646"/>
                </a:cubicBezTo>
                <a:cubicBezTo>
                  <a:pt x="246727" y="266417"/>
                  <a:pt x="256907" y="266350"/>
                  <a:pt x="263136" y="272646"/>
                </a:cubicBezTo>
                <a:lnTo>
                  <a:pt x="284567" y="294077"/>
                </a:lnTo>
                <a:lnTo>
                  <a:pt x="296287" y="282357"/>
                </a:lnTo>
                <a:cubicBezTo>
                  <a:pt x="302248" y="276396"/>
                  <a:pt x="303989" y="267757"/>
                  <a:pt x="301377" y="260189"/>
                </a:cubicBezTo>
                <a:lnTo>
                  <a:pt x="209022" y="168570"/>
                </a:lnTo>
                <a:lnTo>
                  <a:pt x="199043" y="178549"/>
                </a:lnTo>
                <a:cubicBezTo>
                  <a:pt x="166025" y="211567"/>
                  <a:pt x="112581" y="211567"/>
                  <a:pt x="79564" y="178549"/>
                </a:cubicBezTo>
                <a:cubicBezTo>
                  <a:pt x="64160" y="163145"/>
                  <a:pt x="63557" y="138432"/>
                  <a:pt x="78090" y="1222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8300085" y="1790700"/>
            <a:ext cx="3457575" cy="520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理想型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学术共同体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886111" y="467792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26194" y="19050"/>
                </a:moveTo>
                <a:cubicBezTo>
                  <a:pt x="22235" y="19050"/>
                  <a:pt x="19050" y="22235"/>
                  <a:pt x="19050" y="26194"/>
                </a:cubicBezTo>
                <a:cubicBezTo>
                  <a:pt x="19050" y="30153"/>
                  <a:pt x="22235" y="33338"/>
                  <a:pt x="26194" y="33338"/>
                </a:cubicBezTo>
                <a:lnTo>
                  <a:pt x="40481" y="33338"/>
                </a:lnTo>
                <a:cubicBezTo>
                  <a:pt x="44440" y="33338"/>
                  <a:pt x="47625" y="30153"/>
                  <a:pt x="47625" y="26194"/>
                </a:cubicBezTo>
                <a:cubicBezTo>
                  <a:pt x="47625" y="22235"/>
                  <a:pt x="44440" y="19050"/>
                  <a:pt x="40481" y="19050"/>
                </a:cubicBezTo>
                <a:lnTo>
                  <a:pt x="26194" y="19050"/>
                </a:lnTo>
                <a:close/>
                <a:moveTo>
                  <a:pt x="26194" y="47625"/>
                </a:moveTo>
                <a:cubicBezTo>
                  <a:pt x="22235" y="47625"/>
                  <a:pt x="19050" y="50810"/>
                  <a:pt x="19050" y="54769"/>
                </a:cubicBezTo>
                <a:cubicBezTo>
                  <a:pt x="19050" y="58728"/>
                  <a:pt x="22235" y="61912"/>
                  <a:pt x="26194" y="61912"/>
                </a:cubicBezTo>
                <a:lnTo>
                  <a:pt x="40481" y="61912"/>
                </a:lnTo>
                <a:cubicBezTo>
                  <a:pt x="44440" y="61912"/>
                  <a:pt x="47625" y="58728"/>
                  <a:pt x="47625" y="54769"/>
                </a:cubicBezTo>
                <a:cubicBezTo>
                  <a:pt x="47625" y="50810"/>
                  <a:pt x="44440" y="47625"/>
                  <a:pt x="40481" y="47625"/>
                </a:cubicBezTo>
                <a:lnTo>
                  <a:pt x="26194" y="47625"/>
                </a:lnTo>
                <a:close/>
                <a:moveTo>
                  <a:pt x="47119" y="95250"/>
                </a:moveTo>
                <a:cubicBezTo>
                  <a:pt x="43755" y="95250"/>
                  <a:pt x="40600" y="96768"/>
                  <a:pt x="38517" y="99387"/>
                </a:cubicBezTo>
                <a:lnTo>
                  <a:pt x="20628" y="121741"/>
                </a:lnTo>
                <a:cubicBezTo>
                  <a:pt x="18157" y="124807"/>
                  <a:pt x="18663" y="129332"/>
                  <a:pt x="21729" y="131772"/>
                </a:cubicBezTo>
                <a:cubicBezTo>
                  <a:pt x="24795" y="134213"/>
                  <a:pt x="29319" y="133737"/>
                  <a:pt x="31760" y="130641"/>
                </a:cubicBezTo>
                <a:lnTo>
                  <a:pt x="45780" y="113139"/>
                </a:lnTo>
                <a:lnTo>
                  <a:pt x="50304" y="128230"/>
                </a:lnTo>
                <a:cubicBezTo>
                  <a:pt x="51197" y="131266"/>
                  <a:pt x="53995" y="133320"/>
                  <a:pt x="57150" y="133320"/>
                </a:cubicBezTo>
                <a:lnTo>
                  <a:pt x="88106" y="133320"/>
                </a:lnTo>
                <a:cubicBezTo>
                  <a:pt x="92065" y="133320"/>
                  <a:pt x="95250" y="130135"/>
                  <a:pt x="95250" y="126176"/>
                </a:cubicBezTo>
                <a:cubicBezTo>
                  <a:pt x="95250" y="122218"/>
                  <a:pt x="92065" y="119033"/>
                  <a:pt x="88106" y="119033"/>
                </a:cubicBezTo>
                <a:lnTo>
                  <a:pt x="62478" y="119033"/>
                </a:lnTo>
                <a:lnTo>
                  <a:pt x="57686" y="103078"/>
                </a:lnTo>
                <a:cubicBezTo>
                  <a:pt x="56287" y="98405"/>
                  <a:pt x="52001" y="95220"/>
                  <a:pt x="47119" y="95220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48" name="Text 46"/>
          <p:cNvSpPr/>
          <p:nvPr/>
        </p:nvSpPr>
        <p:spPr>
          <a:xfrm>
            <a:off x="9286240" y="4587240"/>
            <a:ext cx="101663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契约精神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67061" y="507797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38100"/>
                </a:moveTo>
                <a:cubicBezTo>
                  <a:pt x="4256" y="38100"/>
                  <a:pt x="0" y="42356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lnTo>
                  <a:pt x="123825" y="57150"/>
                </a:lnTo>
                <a:cubicBezTo>
                  <a:pt x="129094" y="57150"/>
                  <a:pt x="133350" y="52894"/>
                  <a:pt x="133350" y="47625"/>
                </a:cubicBezTo>
                <a:cubicBezTo>
                  <a:pt x="133350" y="42356"/>
                  <a:pt x="129094" y="38100"/>
                  <a:pt x="123825" y="38100"/>
                </a:cubicBezTo>
                <a:lnTo>
                  <a:pt x="9525" y="38100"/>
                </a:lnTo>
                <a:close/>
                <a:moveTo>
                  <a:pt x="9525" y="95250"/>
                </a:moveTo>
                <a:cubicBezTo>
                  <a:pt x="4256" y="95250"/>
                  <a:pt x="0" y="99506"/>
                  <a:pt x="0" y="104775"/>
                </a:cubicBezTo>
                <a:cubicBezTo>
                  <a:pt x="0" y="110044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0044"/>
                  <a:pt x="133350" y="104775"/>
                </a:cubicBezTo>
                <a:cubicBezTo>
                  <a:pt x="133350" y="99506"/>
                  <a:pt x="129094" y="95250"/>
                  <a:pt x="123825" y="95250"/>
                </a:cubicBezTo>
                <a:lnTo>
                  <a:pt x="9525" y="95250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50" name="Text 48"/>
          <p:cNvSpPr/>
          <p:nvPr/>
        </p:nvSpPr>
        <p:spPr>
          <a:xfrm>
            <a:off x="9286240" y="5032375"/>
            <a:ext cx="101663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平等合作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886111" y="542913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52" name="Text 50"/>
          <p:cNvSpPr/>
          <p:nvPr/>
        </p:nvSpPr>
        <p:spPr>
          <a:xfrm>
            <a:off x="9286240" y="5361305"/>
            <a:ext cx="175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双方共同探索未知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333661" y="5924551"/>
            <a:ext cx="3267075" cy="7620"/>
          </a:xfrm>
          <a:custGeom>
            <a:avLst/>
            <a:gdLst/>
            <a:ahLst/>
            <a:cxnLst/>
            <a:rect l="l" t="t" r="r" b="b"/>
            <a:pathLst>
              <a:path w="3267075" h="7620">
                <a:moveTo>
                  <a:pt x="0" y="0"/>
                </a:moveTo>
                <a:lnTo>
                  <a:pt x="3267075" y="0"/>
                </a:lnTo>
                <a:lnTo>
                  <a:pt x="3267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A87A">
              <a:alpha val="3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8300323" y="6080761"/>
            <a:ext cx="3333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符合学术伦理要求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09650" y="2700655"/>
            <a:ext cx="2447290" cy="2927350"/>
            <a:chOff x="1590" y="3924"/>
            <a:chExt cx="3854" cy="4610"/>
          </a:xfrm>
        </p:grpSpPr>
        <p:sp>
          <p:nvSpPr>
            <p:cNvPr id="13" name="Shape 11"/>
            <p:cNvSpPr/>
            <p:nvPr/>
          </p:nvSpPr>
          <p:spPr>
            <a:xfrm>
              <a:off x="1715" y="7038"/>
              <a:ext cx="270" cy="24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93166" y="25956"/>
                  </a:moveTo>
                  <a:cubicBezTo>
                    <a:pt x="95905" y="23783"/>
                    <a:pt x="97631" y="20419"/>
                    <a:pt x="97631" y="16669"/>
                  </a:cubicBezTo>
                  <a:cubicBezTo>
                    <a:pt x="97631" y="10091"/>
                    <a:pt x="92303" y="4763"/>
                    <a:pt x="85725" y="4763"/>
                  </a:cubicBezTo>
                  <a:cubicBezTo>
                    <a:pt x="79147" y="4763"/>
                    <a:pt x="73819" y="10091"/>
                    <a:pt x="73819" y="16669"/>
                  </a:cubicBezTo>
                  <a:cubicBezTo>
                    <a:pt x="73819" y="20419"/>
                    <a:pt x="75575" y="23783"/>
                    <a:pt x="78284" y="25956"/>
                  </a:cubicBezTo>
                  <a:lnTo>
                    <a:pt x="57924" y="57983"/>
                  </a:lnTo>
                  <a:cubicBezTo>
                    <a:pt x="54947" y="62657"/>
                    <a:pt x="48607" y="63818"/>
                    <a:pt x="44172" y="60484"/>
                  </a:cubicBezTo>
                  <a:lnTo>
                    <a:pt x="26462" y="47238"/>
                  </a:lnTo>
                  <a:cubicBezTo>
                    <a:pt x="27801" y="45333"/>
                    <a:pt x="28575" y="42982"/>
                    <a:pt x="28575" y="40481"/>
                  </a:cubicBezTo>
                  <a:cubicBezTo>
                    <a:pt x="28575" y="33903"/>
                    <a:pt x="23247" y="28575"/>
                    <a:pt x="16669" y="28575"/>
                  </a:cubicBezTo>
                  <a:cubicBezTo>
                    <a:pt x="10091" y="28575"/>
                    <a:pt x="4763" y="33903"/>
                    <a:pt x="4763" y="40481"/>
                  </a:cubicBezTo>
                  <a:cubicBezTo>
                    <a:pt x="4763" y="46970"/>
                    <a:pt x="9971" y="52268"/>
                    <a:pt x="16431" y="52388"/>
                  </a:cubicBezTo>
                  <a:lnTo>
                    <a:pt x="26134" y="117128"/>
                  </a:lnTo>
                  <a:cubicBezTo>
                    <a:pt x="27533" y="126444"/>
                    <a:pt x="35540" y="133350"/>
                    <a:pt x="44976" y="133350"/>
                  </a:cubicBezTo>
                  <a:lnTo>
                    <a:pt x="126474" y="133350"/>
                  </a:lnTo>
                  <a:cubicBezTo>
                    <a:pt x="135910" y="133350"/>
                    <a:pt x="143917" y="126444"/>
                    <a:pt x="145316" y="117128"/>
                  </a:cubicBezTo>
                  <a:lnTo>
                    <a:pt x="155019" y="52388"/>
                  </a:lnTo>
                  <a:cubicBezTo>
                    <a:pt x="161479" y="52268"/>
                    <a:pt x="166688" y="46970"/>
                    <a:pt x="166688" y="40481"/>
                  </a:cubicBezTo>
                  <a:cubicBezTo>
                    <a:pt x="166688" y="33903"/>
                    <a:pt x="161359" y="28575"/>
                    <a:pt x="154781" y="28575"/>
                  </a:cubicBezTo>
                  <a:cubicBezTo>
                    <a:pt x="148203" y="28575"/>
                    <a:pt x="142875" y="33903"/>
                    <a:pt x="142875" y="40481"/>
                  </a:cubicBezTo>
                  <a:cubicBezTo>
                    <a:pt x="142875" y="42982"/>
                    <a:pt x="143649" y="45333"/>
                    <a:pt x="144988" y="47238"/>
                  </a:cubicBezTo>
                  <a:lnTo>
                    <a:pt x="127308" y="60514"/>
                  </a:lnTo>
                  <a:cubicBezTo>
                    <a:pt x="122873" y="63847"/>
                    <a:pt x="116532" y="62686"/>
                    <a:pt x="113556" y="58013"/>
                  </a:cubicBezTo>
                  <a:lnTo>
                    <a:pt x="93166" y="25956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2405" y="6984"/>
              <a:ext cx="1524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权威主导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1700" y="7656"/>
              <a:ext cx="270" cy="24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24867" y="28575"/>
                  </a:moveTo>
                  <a:cubicBezTo>
                    <a:pt x="119926" y="28575"/>
                    <a:pt x="115133" y="29914"/>
                    <a:pt x="110936" y="32355"/>
                  </a:cubicBezTo>
                  <a:cubicBezTo>
                    <a:pt x="106234" y="27593"/>
                    <a:pt x="100757" y="23604"/>
                    <a:pt x="94714" y="20598"/>
                  </a:cubicBezTo>
                  <a:cubicBezTo>
                    <a:pt x="103108" y="13454"/>
                    <a:pt x="113794" y="9525"/>
                    <a:pt x="124867" y="9525"/>
                  </a:cubicBezTo>
                  <a:cubicBezTo>
                    <a:pt x="150584" y="9525"/>
                    <a:pt x="171450" y="30361"/>
                    <a:pt x="171450" y="56108"/>
                  </a:cubicBezTo>
                  <a:cubicBezTo>
                    <a:pt x="171450" y="68461"/>
                    <a:pt x="166539" y="80308"/>
                    <a:pt x="157817" y="89029"/>
                  </a:cubicBezTo>
                  <a:lnTo>
                    <a:pt x="136654" y="110192"/>
                  </a:lnTo>
                  <a:cubicBezTo>
                    <a:pt x="127933" y="118914"/>
                    <a:pt x="116086" y="123825"/>
                    <a:pt x="103733" y="123825"/>
                  </a:cubicBezTo>
                  <a:cubicBezTo>
                    <a:pt x="78016" y="123825"/>
                    <a:pt x="57150" y="102989"/>
                    <a:pt x="57150" y="77242"/>
                  </a:cubicBezTo>
                  <a:cubicBezTo>
                    <a:pt x="57150" y="76795"/>
                    <a:pt x="57150" y="76349"/>
                    <a:pt x="57180" y="75902"/>
                  </a:cubicBezTo>
                  <a:cubicBezTo>
                    <a:pt x="57329" y="70634"/>
                    <a:pt x="61704" y="66496"/>
                    <a:pt x="66973" y="66645"/>
                  </a:cubicBezTo>
                  <a:cubicBezTo>
                    <a:pt x="72241" y="66794"/>
                    <a:pt x="76379" y="71170"/>
                    <a:pt x="76230" y="76438"/>
                  </a:cubicBezTo>
                  <a:cubicBezTo>
                    <a:pt x="76230" y="76706"/>
                    <a:pt x="76230" y="76974"/>
                    <a:pt x="76230" y="77212"/>
                  </a:cubicBezTo>
                  <a:cubicBezTo>
                    <a:pt x="76230" y="92422"/>
                    <a:pt x="88553" y="104745"/>
                    <a:pt x="103763" y="104745"/>
                  </a:cubicBezTo>
                  <a:cubicBezTo>
                    <a:pt x="111056" y="104745"/>
                    <a:pt x="118050" y="101858"/>
                    <a:pt x="123230" y="96679"/>
                  </a:cubicBezTo>
                  <a:lnTo>
                    <a:pt x="144393" y="75515"/>
                  </a:lnTo>
                  <a:cubicBezTo>
                    <a:pt x="149543" y="70366"/>
                    <a:pt x="152460" y="63341"/>
                    <a:pt x="152460" y="56049"/>
                  </a:cubicBezTo>
                  <a:cubicBezTo>
                    <a:pt x="152460" y="40838"/>
                    <a:pt x="140137" y="28515"/>
                    <a:pt x="124926" y="28515"/>
                  </a:cubicBezTo>
                  <a:close/>
                  <a:moveTo>
                    <a:pt x="81915" y="51584"/>
                  </a:moveTo>
                  <a:cubicBezTo>
                    <a:pt x="81349" y="51346"/>
                    <a:pt x="80784" y="51018"/>
                    <a:pt x="80278" y="50661"/>
                  </a:cubicBezTo>
                  <a:cubicBezTo>
                    <a:pt x="76527" y="48726"/>
                    <a:pt x="72241" y="47625"/>
                    <a:pt x="67747" y="47625"/>
                  </a:cubicBezTo>
                  <a:cubicBezTo>
                    <a:pt x="60454" y="47625"/>
                    <a:pt x="53459" y="50512"/>
                    <a:pt x="48280" y="55691"/>
                  </a:cubicBezTo>
                  <a:lnTo>
                    <a:pt x="27116" y="76855"/>
                  </a:lnTo>
                  <a:cubicBezTo>
                    <a:pt x="21967" y="82004"/>
                    <a:pt x="19050" y="89029"/>
                    <a:pt x="19050" y="96322"/>
                  </a:cubicBezTo>
                  <a:cubicBezTo>
                    <a:pt x="19050" y="111532"/>
                    <a:pt x="31373" y="123855"/>
                    <a:pt x="46583" y="123855"/>
                  </a:cubicBezTo>
                  <a:cubicBezTo>
                    <a:pt x="51495" y="123855"/>
                    <a:pt x="56287" y="122545"/>
                    <a:pt x="60484" y="120104"/>
                  </a:cubicBezTo>
                  <a:cubicBezTo>
                    <a:pt x="65187" y="124867"/>
                    <a:pt x="70664" y="128855"/>
                    <a:pt x="76736" y="131862"/>
                  </a:cubicBezTo>
                  <a:cubicBezTo>
                    <a:pt x="68342" y="138976"/>
                    <a:pt x="57686" y="142935"/>
                    <a:pt x="46583" y="142935"/>
                  </a:cubicBezTo>
                  <a:cubicBezTo>
                    <a:pt x="20866" y="142935"/>
                    <a:pt x="0" y="122099"/>
                    <a:pt x="0" y="96351"/>
                  </a:cubicBezTo>
                  <a:cubicBezTo>
                    <a:pt x="0" y="83999"/>
                    <a:pt x="4911" y="72152"/>
                    <a:pt x="13633" y="63431"/>
                  </a:cubicBezTo>
                  <a:lnTo>
                    <a:pt x="34796" y="42267"/>
                  </a:lnTo>
                  <a:cubicBezTo>
                    <a:pt x="43517" y="33546"/>
                    <a:pt x="55364" y="28635"/>
                    <a:pt x="67717" y="28635"/>
                  </a:cubicBezTo>
                  <a:cubicBezTo>
                    <a:pt x="93494" y="28635"/>
                    <a:pt x="114300" y="49649"/>
                    <a:pt x="114300" y="75337"/>
                  </a:cubicBezTo>
                  <a:cubicBezTo>
                    <a:pt x="114300" y="75724"/>
                    <a:pt x="114300" y="76111"/>
                    <a:pt x="114300" y="76498"/>
                  </a:cubicBezTo>
                  <a:cubicBezTo>
                    <a:pt x="114181" y="81766"/>
                    <a:pt x="109805" y="85904"/>
                    <a:pt x="104537" y="85785"/>
                  </a:cubicBezTo>
                  <a:cubicBezTo>
                    <a:pt x="99268" y="85665"/>
                    <a:pt x="95131" y="81290"/>
                    <a:pt x="95250" y="76021"/>
                  </a:cubicBezTo>
                  <a:cubicBezTo>
                    <a:pt x="95250" y="75783"/>
                    <a:pt x="95250" y="75575"/>
                    <a:pt x="95250" y="75337"/>
                  </a:cubicBezTo>
                  <a:cubicBezTo>
                    <a:pt x="95250" y="65306"/>
                    <a:pt x="89892" y="56495"/>
                    <a:pt x="81915" y="5164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2381" y="7596"/>
              <a:ext cx="219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人身依附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700" y="8234"/>
              <a:ext cx="270" cy="24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4288" y="58281"/>
                  </a:moveTo>
                  <a:lnTo>
                    <a:pt x="76557" y="83909"/>
                  </a:lnTo>
                  <a:cubicBezTo>
                    <a:pt x="79474" y="85100"/>
                    <a:pt x="82570" y="85725"/>
                    <a:pt x="85725" y="85725"/>
                  </a:cubicBezTo>
                  <a:cubicBezTo>
                    <a:pt x="88880" y="85725"/>
                    <a:pt x="91976" y="85100"/>
                    <a:pt x="94893" y="83909"/>
                  </a:cubicBezTo>
                  <a:lnTo>
                    <a:pt x="167045" y="54203"/>
                  </a:lnTo>
                  <a:cubicBezTo>
                    <a:pt x="169724" y="53102"/>
                    <a:pt x="171450" y="50512"/>
                    <a:pt x="171450" y="47625"/>
                  </a:cubicBezTo>
                  <a:cubicBezTo>
                    <a:pt x="171450" y="44738"/>
                    <a:pt x="169724" y="42148"/>
                    <a:pt x="167045" y="41047"/>
                  </a:cubicBezTo>
                  <a:lnTo>
                    <a:pt x="94893" y="11341"/>
                  </a:lnTo>
                  <a:cubicBezTo>
                    <a:pt x="91976" y="10150"/>
                    <a:pt x="88880" y="9525"/>
                    <a:pt x="85725" y="9525"/>
                  </a:cubicBezTo>
                  <a:cubicBezTo>
                    <a:pt x="82570" y="9525"/>
                    <a:pt x="79474" y="10150"/>
                    <a:pt x="76557" y="11341"/>
                  </a:cubicBezTo>
                  <a:lnTo>
                    <a:pt x="4405" y="41047"/>
                  </a:lnTo>
                  <a:cubicBezTo>
                    <a:pt x="1726" y="42148"/>
                    <a:pt x="0" y="44738"/>
                    <a:pt x="0" y="47625"/>
                  </a:cubicBezTo>
                  <a:lnTo>
                    <a:pt x="0" y="135731"/>
                  </a:lnTo>
                  <a:cubicBezTo>
                    <a:pt x="0" y="139690"/>
                    <a:pt x="3185" y="142875"/>
                    <a:pt x="7144" y="142875"/>
                  </a:cubicBezTo>
                  <a:cubicBezTo>
                    <a:pt x="11103" y="142875"/>
                    <a:pt x="14288" y="139690"/>
                    <a:pt x="14288" y="135731"/>
                  </a:cubicBezTo>
                  <a:lnTo>
                    <a:pt x="14288" y="58281"/>
                  </a:lnTo>
                  <a:close/>
                  <a:moveTo>
                    <a:pt x="28575" y="79623"/>
                  </a:moveTo>
                  <a:lnTo>
                    <a:pt x="28575" y="114300"/>
                  </a:lnTo>
                  <a:cubicBezTo>
                    <a:pt x="28575" y="130076"/>
                    <a:pt x="54173" y="142875"/>
                    <a:pt x="85725" y="142875"/>
                  </a:cubicBezTo>
                  <a:cubicBezTo>
                    <a:pt x="117277" y="142875"/>
                    <a:pt x="142875" y="130076"/>
                    <a:pt x="142875" y="114300"/>
                  </a:cubicBezTo>
                  <a:lnTo>
                    <a:pt x="142875" y="79593"/>
                  </a:lnTo>
                  <a:lnTo>
                    <a:pt x="100340" y="97125"/>
                  </a:lnTo>
                  <a:cubicBezTo>
                    <a:pt x="95696" y="99030"/>
                    <a:pt x="90755" y="100012"/>
                    <a:pt x="85725" y="100012"/>
                  </a:cubicBezTo>
                  <a:cubicBezTo>
                    <a:pt x="80695" y="100012"/>
                    <a:pt x="75754" y="99030"/>
                    <a:pt x="71110" y="97125"/>
                  </a:cubicBezTo>
                  <a:lnTo>
                    <a:pt x="28575" y="79593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2381" y="8144"/>
              <a:ext cx="2766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导师具有绝对权威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90" y="3924"/>
              <a:ext cx="3854" cy="2891"/>
            </a:xfrm>
            <a:prstGeom prst="rect">
              <a:avLst/>
            </a:prstGeom>
          </p:spPr>
        </p:pic>
      </p:grpSp>
      <p:pic>
        <p:nvPicPr>
          <p:cNvPr id="56" name="图片 55"/>
          <p:cNvPicPr/>
          <p:nvPr/>
        </p:nvPicPr>
        <p:blipFill>
          <a:blip r:embed="rId2"/>
          <a:stretch>
            <a:fillRect/>
          </a:stretch>
        </p:blipFill>
        <p:spPr>
          <a:xfrm>
            <a:off x="8745855" y="2700655"/>
            <a:ext cx="2448000" cy="183600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3"/>
          <a:stretch>
            <a:fillRect/>
          </a:stretch>
        </p:blipFill>
        <p:spPr>
          <a:xfrm>
            <a:off x="4958080" y="2700655"/>
            <a:ext cx="2448000" cy="1836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THE BOSS SYSTEM DISASTER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"老板制"带来的学术规范灾难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6162675" cy="3657600"/>
          </a:xfrm>
          <a:custGeom>
            <a:avLst/>
            <a:gdLst/>
            <a:ahLst/>
            <a:cxnLst/>
            <a:rect l="l" t="t" r="r" b="b"/>
            <a:pathLst>
              <a:path w="6162675" h="3657600">
                <a:moveTo>
                  <a:pt x="76188" y="0"/>
                </a:moveTo>
                <a:lnTo>
                  <a:pt x="6086487" y="0"/>
                </a:lnTo>
                <a:cubicBezTo>
                  <a:pt x="6128565" y="0"/>
                  <a:pt x="6162675" y="34110"/>
                  <a:pt x="6162675" y="76188"/>
                </a:cubicBezTo>
                <a:lnTo>
                  <a:pt x="6162675" y="3581412"/>
                </a:lnTo>
                <a:cubicBezTo>
                  <a:pt x="6162675" y="3623490"/>
                  <a:pt x="6128565" y="3657600"/>
                  <a:pt x="6086487" y="3657600"/>
                </a:cubicBezTo>
                <a:lnTo>
                  <a:pt x="76188" y="3657600"/>
                </a:lnTo>
                <a:cubicBezTo>
                  <a:pt x="34110" y="3657600"/>
                  <a:pt x="0" y="3623490"/>
                  <a:pt x="0" y="35814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8175" y="14857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6" name="Text 4"/>
          <p:cNvSpPr/>
          <p:nvPr/>
        </p:nvSpPr>
        <p:spPr>
          <a:xfrm>
            <a:off x="895350" y="1447800"/>
            <a:ext cx="5534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科研目的变质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15991" y="1904881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2532697" y="22192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0"/>
                </a:moveTo>
                <a:cubicBezTo>
                  <a:pt x="83437" y="0"/>
                  <a:pt x="71438" y="11999"/>
                  <a:pt x="71438" y="26789"/>
                </a:cubicBezTo>
                <a:lnTo>
                  <a:pt x="71438" y="142875"/>
                </a:lnTo>
                <a:cubicBezTo>
                  <a:pt x="71438" y="157665"/>
                  <a:pt x="83437" y="169664"/>
                  <a:pt x="98227" y="169664"/>
                </a:cubicBezTo>
                <a:lnTo>
                  <a:pt x="133945" y="169664"/>
                </a:lnTo>
                <a:cubicBezTo>
                  <a:pt x="148735" y="169664"/>
                  <a:pt x="160734" y="157665"/>
                  <a:pt x="160734" y="142875"/>
                </a:cubicBezTo>
                <a:lnTo>
                  <a:pt x="160734" y="107156"/>
                </a:lnTo>
                <a:lnTo>
                  <a:pt x="178594" y="107156"/>
                </a:lnTo>
                <a:cubicBezTo>
                  <a:pt x="218052" y="107156"/>
                  <a:pt x="250031" y="139136"/>
                  <a:pt x="250031" y="178594"/>
                </a:cubicBezTo>
                <a:cubicBezTo>
                  <a:pt x="250031" y="218052"/>
                  <a:pt x="218052" y="250031"/>
                  <a:pt x="178594" y="250031"/>
                </a:cubicBezTo>
                <a:lnTo>
                  <a:pt x="17859" y="250031"/>
                </a:lnTo>
                <a:cubicBezTo>
                  <a:pt x="7981" y="250031"/>
                  <a:pt x="0" y="258012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58012"/>
                  <a:pt x="277769" y="250031"/>
                  <a:pt x="267891" y="250031"/>
                </a:cubicBezTo>
                <a:lnTo>
                  <a:pt x="258459" y="250031"/>
                </a:lnTo>
                <a:cubicBezTo>
                  <a:pt x="275425" y="231056"/>
                  <a:pt x="285750" y="206053"/>
                  <a:pt x="285750" y="178594"/>
                </a:cubicBezTo>
                <a:cubicBezTo>
                  <a:pt x="285750" y="119435"/>
                  <a:pt x="237753" y="71438"/>
                  <a:pt x="178594" y="71438"/>
                </a:cubicBezTo>
                <a:lnTo>
                  <a:pt x="160734" y="71438"/>
                </a:lnTo>
                <a:lnTo>
                  <a:pt x="160734" y="26789"/>
                </a:lnTo>
                <a:cubicBezTo>
                  <a:pt x="160734" y="11999"/>
                  <a:pt x="148735" y="0"/>
                  <a:pt x="133945" y="0"/>
                </a:cubicBezTo>
                <a:lnTo>
                  <a:pt x="98227" y="0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65199" y="223242"/>
                </a:lnTo>
                <a:cubicBezTo>
                  <a:pt x="172622" y="223242"/>
                  <a:pt x="178594" y="217270"/>
                  <a:pt x="178594" y="209848"/>
                </a:cubicBezTo>
                <a:cubicBezTo>
                  <a:pt x="178594" y="202425"/>
                  <a:pt x="172622" y="196453"/>
                  <a:pt x="165199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1A3A5C"/>
          </a:solidFill>
        </p:spPr>
      </p:sp>
      <p:sp>
        <p:nvSpPr>
          <p:cNvPr id="9" name="Text 7"/>
          <p:cNvSpPr/>
          <p:nvPr/>
        </p:nvSpPr>
        <p:spPr>
          <a:xfrm>
            <a:off x="2173129" y="2895481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求真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82654" y="3162181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科学探索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20891" y="24859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12" name="Shape 10"/>
          <p:cNvSpPr/>
          <p:nvPr/>
        </p:nvSpPr>
        <p:spPr>
          <a:xfrm>
            <a:off x="3799999" y="1912501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450533" y="0"/>
                </a:moveTo>
                <a:lnTo>
                  <a:pt x="450533" y="0"/>
                </a:lnTo>
                <a:cubicBezTo>
                  <a:pt x="699355" y="0"/>
                  <a:pt x="901065" y="201710"/>
                  <a:pt x="901065" y="450532"/>
                </a:cubicBezTo>
                <a:lnTo>
                  <a:pt x="901065" y="450533"/>
                </a:lnTo>
                <a:cubicBezTo>
                  <a:pt x="901065" y="699355"/>
                  <a:pt x="699355" y="901065"/>
                  <a:pt x="450533" y="901065"/>
                </a:cubicBezTo>
                <a:lnTo>
                  <a:pt x="450533" y="901065"/>
                </a:lnTo>
                <a:cubicBezTo>
                  <a:pt x="201710" y="901065"/>
                  <a:pt x="0" y="699355"/>
                  <a:pt x="0" y="450533"/>
                </a:cubicBezTo>
                <a:lnTo>
                  <a:pt x="0" y="450533"/>
                </a:lnTo>
                <a:cubicBezTo>
                  <a:pt x="0" y="201710"/>
                  <a:pt x="201710" y="0"/>
                  <a:pt x="450532" y="0"/>
                </a:cubicBezTo>
                <a:close/>
              </a:path>
            </a:pathLst>
          </a:custGeom>
          <a:solidFill>
            <a:srgbClr val="FFE2E2"/>
          </a:solidFill>
          <a:ln w="20320">
            <a:solidFill>
              <a:srgbClr val="FB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09085" y="22192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7981" y="17859"/>
                  <a:pt x="0" y="25840"/>
                  <a:pt x="0" y="35719"/>
                </a:cubicBezTo>
                <a:lnTo>
                  <a:pt x="0" y="241102"/>
                </a:lnTo>
                <a:cubicBezTo>
                  <a:pt x="0" y="255891"/>
                  <a:pt x="11999" y="267891"/>
                  <a:pt x="26789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84944"/>
                </a:lnTo>
                <a:cubicBezTo>
                  <a:pt x="285750" y="74786"/>
                  <a:pt x="274923" y="68368"/>
                  <a:pt x="265993" y="73168"/>
                </a:cubicBezTo>
                <a:lnTo>
                  <a:pt x="178594" y="120216"/>
                </a:lnTo>
                <a:lnTo>
                  <a:pt x="178594" y="84944"/>
                </a:lnTo>
                <a:cubicBezTo>
                  <a:pt x="178594" y="74786"/>
                  <a:pt x="167767" y="68368"/>
                  <a:pt x="158837" y="73168"/>
                </a:cubicBezTo>
                <a:lnTo>
                  <a:pt x="71438" y="120216"/>
                </a:lnTo>
                <a:lnTo>
                  <a:pt x="71438" y="35719"/>
                </a:lnTo>
                <a:cubicBezTo>
                  <a:pt x="71438" y="25840"/>
                  <a:pt x="63457" y="17859"/>
                  <a:pt x="53578" y="17859"/>
                </a:cubicBezTo>
                <a:lnTo>
                  <a:pt x="17859" y="17859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14" name="Text 12"/>
          <p:cNvSpPr/>
          <p:nvPr/>
        </p:nvSpPr>
        <p:spPr>
          <a:xfrm>
            <a:off x="3749516" y="2895481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求量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59200" y="3162300"/>
            <a:ext cx="1145540" cy="234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B2C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流水线打工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8650" y="3581281"/>
            <a:ext cx="5686425" cy="762000"/>
          </a:xfrm>
          <a:custGeom>
            <a:avLst/>
            <a:gdLst/>
            <a:ahLst/>
            <a:cxnLst/>
            <a:rect l="l" t="t" r="r" b="b"/>
            <a:pathLst>
              <a:path w="5686425" h="762000">
                <a:moveTo>
                  <a:pt x="38100" y="0"/>
                </a:moveTo>
                <a:lnTo>
                  <a:pt x="5648325" y="0"/>
                </a:lnTo>
                <a:cubicBezTo>
                  <a:pt x="5669353" y="0"/>
                  <a:pt x="5686425" y="17072"/>
                  <a:pt x="5686425" y="38100"/>
                </a:cubicBezTo>
                <a:lnTo>
                  <a:pt x="5686425" y="723900"/>
                </a:lnTo>
                <a:cubicBezTo>
                  <a:pt x="5686425" y="744928"/>
                  <a:pt x="5669353" y="762000"/>
                  <a:pt x="56483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7" name="Shape 15"/>
          <p:cNvSpPr/>
          <p:nvPr/>
        </p:nvSpPr>
        <p:spPr>
          <a:xfrm>
            <a:off x="628650" y="358128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18" name="Text 16"/>
          <p:cNvSpPr/>
          <p:nvPr/>
        </p:nvSpPr>
        <p:spPr>
          <a:xfrm>
            <a:off x="800100" y="3733681"/>
            <a:ext cx="54387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当师生关系异化为</a:t>
            </a: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雇佣关系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时，科研的目的就变质了。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1000" y="5029200"/>
            <a:ext cx="6162675" cy="1447800"/>
          </a:xfrm>
          <a:custGeom>
            <a:avLst/>
            <a:gdLst/>
            <a:ahLst/>
            <a:cxnLst/>
            <a:rect l="l" t="t" r="r" b="b"/>
            <a:pathLst>
              <a:path w="6162675" h="1447800">
                <a:moveTo>
                  <a:pt x="76198" y="0"/>
                </a:moveTo>
                <a:lnTo>
                  <a:pt x="6086477" y="0"/>
                </a:lnTo>
                <a:cubicBezTo>
                  <a:pt x="6128532" y="0"/>
                  <a:pt x="6162675" y="34143"/>
                  <a:pt x="6162675" y="76198"/>
                </a:cubicBezTo>
                <a:lnTo>
                  <a:pt x="6162675" y="1371602"/>
                </a:lnTo>
                <a:cubicBezTo>
                  <a:pt x="6162675" y="1413657"/>
                  <a:pt x="6128532" y="1447800"/>
                  <a:pt x="608647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0" name="Shape 18"/>
          <p:cNvSpPr/>
          <p:nvPr/>
        </p:nvSpPr>
        <p:spPr>
          <a:xfrm>
            <a:off x="595313" y="5257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21" name="Text 19"/>
          <p:cNvSpPr/>
          <p:nvPr/>
        </p:nvSpPr>
        <p:spPr>
          <a:xfrm>
            <a:off x="809625" y="5219700"/>
            <a:ext cx="5638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压力传导机制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1500" y="5600700"/>
            <a:ext cx="1647825" cy="685800"/>
          </a:xfrm>
          <a:custGeom>
            <a:avLst/>
            <a:gdLst/>
            <a:ahLst/>
            <a:cxnLst/>
            <a:rect l="l" t="t" r="r" b="b"/>
            <a:pathLst>
              <a:path w="1647825" h="685800">
                <a:moveTo>
                  <a:pt x="38103" y="0"/>
                </a:moveTo>
                <a:lnTo>
                  <a:pt x="1609722" y="0"/>
                </a:lnTo>
                <a:cubicBezTo>
                  <a:pt x="1630766" y="0"/>
                  <a:pt x="1647825" y="17059"/>
                  <a:pt x="1647825" y="38103"/>
                </a:cubicBezTo>
                <a:lnTo>
                  <a:pt x="1647825" y="647697"/>
                </a:lnTo>
                <a:cubicBezTo>
                  <a:pt x="1647825" y="668741"/>
                  <a:pt x="1630766" y="685800"/>
                  <a:pt x="160972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52463" y="5715000"/>
            <a:ext cx="1485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导师压力</a:t>
            </a:r>
            <a:endParaRPr lang="en-US" sz="140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938" y="5905500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课题结项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351961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26" name="Shape 24"/>
          <p:cNvSpPr/>
          <p:nvPr/>
        </p:nvSpPr>
        <p:spPr>
          <a:xfrm>
            <a:off x="2637711" y="5600700"/>
            <a:ext cx="1647825" cy="685800"/>
          </a:xfrm>
          <a:custGeom>
            <a:avLst/>
            <a:gdLst/>
            <a:ahLst/>
            <a:cxnLst/>
            <a:rect l="l" t="t" r="r" b="b"/>
            <a:pathLst>
              <a:path w="1647825" h="685800">
                <a:moveTo>
                  <a:pt x="38103" y="0"/>
                </a:moveTo>
                <a:lnTo>
                  <a:pt x="1609722" y="0"/>
                </a:lnTo>
                <a:cubicBezTo>
                  <a:pt x="1630766" y="0"/>
                  <a:pt x="1647825" y="17059"/>
                  <a:pt x="1647825" y="38103"/>
                </a:cubicBezTo>
                <a:lnTo>
                  <a:pt x="1647825" y="647697"/>
                </a:lnTo>
                <a:cubicBezTo>
                  <a:pt x="1647825" y="668741"/>
                  <a:pt x="1630766" y="685800"/>
                  <a:pt x="160972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2718673" y="5715000"/>
            <a:ext cx="1485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转移给学生</a:t>
            </a:r>
            <a:endParaRPr lang="en-US" sz="140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09148" y="5905500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发文指标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829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30" name="Shape 28"/>
          <p:cNvSpPr/>
          <p:nvPr/>
        </p:nvSpPr>
        <p:spPr>
          <a:xfrm>
            <a:off x="4704040" y="5600700"/>
            <a:ext cx="1647825" cy="685800"/>
          </a:xfrm>
          <a:custGeom>
            <a:avLst/>
            <a:gdLst/>
            <a:ahLst/>
            <a:cxnLst/>
            <a:rect l="l" t="t" r="r" b="b"/>
            <a:pathLst>
              <a:path w="1647825" h="685800">
                <a:moveTo>
                  <a:pt x="38103" y="0"/>
                </a:moveTo>
                <a:lnTo>
                  <a:pt x="1609722" y="0"/>
                </a:lnTo>
                <a:cubicBezTo>
                  <a:pt x="1630766" y="0"/>
                  <a:pt x="1647825" y="17059"/>
                  <a:pt x="1647825" y="38103"/>
                </a:cubicBezTo>
                <a:lnTo>
                  <a:pt x="1647825" y="647697"/>
                </a:lnTo>
                <a:cubicBezTo>
                  <a:pt x="1647825" y="668741"/>
                  <a:pt x="1630766" y="685800"/>
                  <a:pt x="160972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4785003" y="5715000"/>
            <a:ext cx="1485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学生处境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75478" y="5905500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A2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毕业压力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70370" y="1238250"/>
            <a:ext cx="5038725" cy="5238750"/>
          </a:xfrm>
          <a:custGeom>
            <a:avLst/>
            <a:gdLst/>
            <a:ahLst/>
            <a:cxnLst/>
            <a:rect l="l" t="t" r="r" b="b"/>
            <a:pathLst>
              <a:path w="5038725" h="5238750">
                <a:moveTo>
                  <a:pt x="38100" y="0"/>
                </a:moveTo>
                <a:lnTo>
                  <a:pt x="5000625" y="0"/>
                </a:lnTo>
                <a:cubicBezTo>
                  <a:pt x="5021653" y="0"/>
                  <a:pt x="5038725" y="17072"/>
                  <a:pt x="5038725" y="38100"/>
                </a:cubicBezTo>
                <a:lnTo>
                  <a:pt x="5038725" y="5162564"/>
                </a:lnTo>
                <a:cubicBezTo>
                  <a:pt x="5038725" y="5204641"/>
                  <a:pt x="5004616" y="5238750"/>
                  <a:pt x="4962539" y="5238750"/>
                </a:cubicBezTo>
                <a:lnTo>
                  <a:pt x="76186" y="5238750"/>
                </a:lnTo>
                <a:cubicBezTo>
                  <a:pt x="34109" y="5238750"/>
                  <a:pt x="0" y="5204641"/>
                  <a:pt x="0" y="516256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70370" y="1238250"/>
            <a:ext cx="5038725" cy="38100"/>
          </a:xfrm>
          <a:custGeom>
            <a:avLst/>
            <a:gdLst/>
            <a:ahLst/>
            <a:cxnLst/>
            <a:rect l="l" t="t" r="r" b="b"/>
            <a:pathLst>
              <a:path w="5038725" h="38100">
                <a:moveTo>
                  <a:pt x="38100" y="0"/>
                </a:moveTo>
                <a:lnTo>
                  <a:pt x="5000625" y="0"/>
                </a:lnTo>
                <a:cubicBezTo>
                  <a:pt x="5021653" y="0"/>
                  <a:pt x="5038725" y="17072"/>
                  <a:pt x="5038725" y="38100"/>
                </a:cubicBezTo>
                <a:lnTo>
                  <a:pt x="50387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5" name="Shape 33"/>
          <p:cNvSpPr/>
          <p:nvPr/>
        </p:nvSpPr>
        <p:spPr>
          <a:xfrm>
            <a:off x="7013257" y="152388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3" y="-7144"/>
                </a:moveTo>
                <a:cubicBezTo>
                  <a:pt x="217393" y="-7144"/>
                  <a:pt x="220117" y="-5179"/>
                  <a:pt x="221099" y="-2277"/>
                </a:cubicBezTo>
                <a:lnTo>
                  <a:pt x="227127" y="15761"/>
                </a:lnTo>
                <a:lnTo>
                  <a:pt x="245165" y="21788"/>
                </a:lnTo>
                <a:cubicBezTo>
                  <a:pt x="248067" y="22771"/>
                  <a:pt x="250031" y="25494"/>
                  <a:pt x="250031" y="28575"/>
                </a:cubicBezTo>
                <a:cubicBezTo>
                  <a:pt x="250031" y="31656"/>
                  <a:pt x="248067" y="34379"/>
                  <a:pt x="245165" y="35362"/>
                </a:cubicBezTo>
                <a:lnTo>
                  <a:pt x="227127" y="41389"/>
                </a:lnTo>
                <a:lnTo>
                  <a:pt x="221099" y="59427"/>
                </a:lnTo>
                <a:cubicBezTo>
                  <a:pt x="220117" y="62329"/>
                  <a:pt x="217393" y="64294"/>
                  <a:pt x="214313" y="64294"/>
                </a:cubicBezTo>
                <a:cubicBezTo>
                  <a:pt x="211232" y="64294"/>
                  <a:pt x="208508" y="62329"/>
                  <a:pt x="207526" y="59427"/>
                </a:cubicBezTo>
                <a:lnTo>
                  <a:pt x="201498" y="41389"/>
                </a:lnTo>
                <a:lnTo>
                  <a:pt x="183460" y="35362"/>
                </a:lnTo>
                <a:cubicBezTo>
                  <a:pt x="180558" y="34379"/>
                  <a:pt x="178594" y="31656"/>
                  <a:pt x="178594" y="28575"/>
                </a:cubicBezTo>
                <a:cubicBezTo>
                  <a:pt x="178594" y="25494"/>
                  <a:pt x="180558" y="22771"/>
                  <a:pt x="183460" y="21788"/>
                </a:cubicBezTo>
                <a:lnTo>
                  <a:pt x="201498" y="15761"/>
                </a:lnTo>
                <a:lnTo>
                  <a:pt x="207526" y="-2277"/>
                </a:lnTo>
                <a:cubicBezTo>
                  <a:pt x="208508" y="-5179"/>
                  <a:pt x="211232" y="-7144"/>
                  <a:pt x="214313" y="-7144"/>
                </a:cubicBezTo>
                <a:close/>
                <a:moveTo>
                  <a:pt x="143500" y="43488"/>
                </a:moveTo>
                <a:cubicBezTo>
                  <a:pt x="149081" y="37907"/>
                  <a:pt x="158145" y="37907"/>
                  <a:pt x="163726" y="43488"/>
                </a:cubicBezTo>
                <a:lnTo>
                  <a:pt x="199445" y="79206"/>
                </a:lnTo>
                <a:cubicBezTo>
                  <a:pt x="205026" y="84787"/>
                  <a:pt x="205026" y="93851"/>
                  <a:pt x="199445" y="99432"/>
                </a:cubicBezTo>
                <a:lnTo>
                  <a:pt x="194578" y="104299"/>
                </a:lnTo>
                <a:cubicBezTo>
                  <a:pt x="198105" y="114121"/>
                  <a:pt x="200025" y="124703"/>
                  <a:pt x="200025" y="135776"/>
                </a:cubicBezTo>
                <a:cubicBezTo>
                  <a:pt x="200025" y="187077"/>
                  <a:pt x="158457" y="228645"/>
                  <a:pt x="107156" y="228645"/>
                </a:cubicBezTo>
                <a:cubicBezTo>
                  <a:pt x="55855" y="228645"/>
                  <a:pt x="14288" y="187032"/>
                  <a:pt x="14288" y="135731"/>
                </a:cubicBezTo>
                <a:cubicBezTo>
                  <a:pt x="14288" y="84430"/>
                  <a:pt x="55855" y="42863"/>
                  <a:pt x="107156" y="42863"/>
                </a:cubicBezTo>
                <a:cubicBezTo>
                  <a:pt x="118184" y="42863"/>
                  <a:pt x="128811" y="44782"/>
                  <a:pt x="138633" y="48354"/>
                </a:cubicBezTo>
                <a:lnTo>
                  <a:pt x="143500" y="43488"/>
                </a:lnTo>
                <a:close/>
                <a:moveTo>
                  <a:pt x="64294" y="135731"/>
                </a:moveTo>
                <a:cubicBezTo>
                  <a:pt x="64294" y="112068"/>
                  <a:pt x="83493" y="92869"/>
                  <a:pt x="107156" y="92869"/>
                </a:cubicBezTo>
                <a:cubicBezTo>
                  <a:pt x="113094" y="92869"/>
                  <a:pt x="117872" y="88091"/>
                  <a:pt x="117872" y="82153"/>
                </a:cubicBezTo>
                <a:cubicBezTo>
                  <a:pt x="117872" y="76215"/>
                  <a:pt x="113094" y="71438"/>
                  <a:pt x="107156" y="71438"/>
                </a:cubicBezTo>
                <a:cubicBezTo>
                  <a:pt x="71661" y="71438"/>
                  <a:pt x="42863" y="100236"/>
                  <a:pt x="42863" y="135731"/>
                </a:cubicBezTo>
                <a:cubicBezTo>
                  <a:pt x="42863" y="141669"/>
                  <a:pt x="47640" y="146447"/>
                  <a:pt x="53578" y="146447"/>
                </a:cubicBezTo>
                <a:cubicBezTo>
                  <a:pt x="59516" y="146447"/>
                  <a:pt x="64294" y="141669"/>
                  <a:pt x="64294" y="135731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6" name="Text 34"/>
          <p:cNvSpPr/>
          <p:nvPr/>
        </p:nvSpPr>
        <p:spPr>
          <a:xfrm>
            <a:off x="7284720" y="1485900"/>
            <a:ext cx="4410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催生的不端行为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98970" y="1942981"/>
            <a:ext cx="4581525" cy="838200"/>
          </a:xfrm>
          <a:custGeom>
            <a:avLst/>
            <a:gdLst/>
            <a:ahLst/>
            <a:cxnLst/>
            <a:rect l="l" t="t" r="r" b="b"/>
            <a:pathLst>
              <a:path w="4581525" h="838200">
                <a:moveTo>
                  <a:pt x="76201" y="0"/>
                </a:moveTo>
                <a:lnTo>
                  <a:pt x="4505324" y="0"/>
                </a:lnTo>
                <a:cubicBezTo>
                  <a:pt x="4547409" y="0"/>
                  <a:pt x="4581525" y="34116"/>
                  <a:pt x="4581525" y="76201"/>
                </a:cubicBezTo>
                <a:lnTo>
                  <a:pt x="4581525" y="761999"/>
                </a:lnTo>
                <a:cubicBezTo>
                  <a:pt x="4581525" y="804084"/>
                  <a:pt x="4547409" y="838200"/>
                  <a:pt x="45053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8" name="Shape 36"/>
          <p:cNvSpPr/>
          <p:nvPr/>
        </p:nvSpPr>
        <p:spPr>
          <a:xfrm>
            <a:off x="7151370" y="20953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9" name="Text 37"/>
          <p:cNvSpPr/>
          <p:nvPr/>
        </p:nvSpPr>
        <p:spPr>
          <a:xfrm>
            <a:off x="7108507" y="2095381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46670" y="2095381"/>
            <a:ext cx="1914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编造数据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46670" y="2400300"/>
            <a:ext cx="2219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为了凑数据而</a:t>
            </a:r>
            <a:r>
              <a:rPr lang="en-US" sz="1400" b="1" dirty="0">
                <a:solidFill>
                  <a:srgbClr val="E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编造实验结果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998970" y="2933581"/>
            <a:ext cx="4581525" cy="838200"/>
          </a:xfrm>
          <a:custGeom>
            <a:avLst/>
            <a:gdLst/>
            <a:ahLst/>
            <a:cxnLst/>
            <a:rect l="l" t="t" r="r" b="b"/>
            <a:pathLst>
              <a:path w="4581525" h="838200">
                <a:moveTo>
                  <a:pt x="76201" y="0"/>
                </a:moveTo>
                <a:lnTo>
                  <a:pt x="4505324" y="0"/>
                </a:lnTo>
                <a:cubicBezTo>
                  <a:pt x="4547409" y="0"/>
                  <a:pt x="4581525" y="34116"/>
                  <a:pt x="4581525" y="76201"/>
                </a:cubicBezTo>
                <a:lnTo>
                  <a:pt x="4581525" y="761999"/>
                </a:lnTo>
                <a:cubicBezTo>
                  <a:pt x="4581525" y="804084"/>
                  <a:pt x="4547409" y="838200"/>
                  <a:pt x="45053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43" name="Shape 41"/>
          <p:cNvSpPr/>
          <p:nvPr/>
        </p:nvSpPr>
        <p:spPr>
          <a:xfrm>
            <a:off x="7151370" y="30859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44" name="Text 42"/>
          <p:cNvSpPr/>
          <p:nvPr/>
        </p:nvSpPr>
        <p:spPr>
          <a:xfrm>
            <a:off x="7108507" y="3085981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46670" y="3085981"/>
            <a:ext cx="1914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粗制滥造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46670" y="3390900"/>
            <a:ext cx="2229485" cy="286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为了赶进度而</a:t>
            </a:r>
            <a:r>
              <a:rPr lang="en-US" sz="1400" b="1" dirty="0">
                <a:solidFill>
                  <a:srgbClr val="E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降低研究质量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998970" y="3924181"/>
            <a:ext cx="4581525" cy="838200"/>
          </a:xfrm>
          <a:custGeom>
            <a:avLst/>
            <a:gdLst/>
            <a:ahLst/>
            <a:cxnLst/>
            <a:rect l="l" t="t" r="r" b="b"/>
            <a:pathLst>
              <a:path w="4581525" h="838200">
                <a:moveTo>
                  <a:pt x="76201" y="0"/>
                </a:moveTo>
                <a:lnTo>
                  <a:pt x="4505324" y="0"/>
                </a:lnTo>
                <a:cubicBezTo>
                  <a:pt x="4547409" y="0"/>
                  <a:pt x="4581525" y="34116"/>
                  <a:pt x="4581525" y="76201"/>
                </a:cubicBezTo>
                <a:lnTo>
                  <a:pt x="4581525" y="761999"/>
                </a:lnTo>
                <a:cubicBezTo>
                  <a:pt x="4581525" y="804084"/>
                  <a:pt x="4547409" y="838200"/>
                  <a:pt x="45053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48" name="Shape 46"/>
          <p:cNvSpPr/>
          <p:nvPr/>
        </p:nvSpPr>
        <p:spPr>
          <a:xfrm>
            <a:off x="7151370" y="40765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49" name="Text 47"/>
          <p:cNvSpPr/>
          <p:nvPr/>
        </p:nvSpPr>
        <p:spPr>
          <a:xfrm>
            <a:off x="7108507" y="4076581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46670" y="4076581"/>
            <a:ext cx="1762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一稿多投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46670" y="4381500"/>
            <a:ext cx="221424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</a:t>
            </a:r>
            <a:r>
              <a:rPr lang="zh-CN" alt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凑成果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</a:t>
            </a:r>
            <a:r>
              <a:rPr lang="en-US" sz="1400" b="1" dirty="0">
                <a:solidFill>
                  <a:srgbClr val="E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重复发表</a:t>
            </a:r>
            <a:endParaRPr lang="en-US" sz="1400" dirty="0"/>
          </a:p>
        </p:txBody>
      </p:sp>
      <p:pic>
        <p:nvPicPr>
          <p:cNvPr id="56" name="图片 55"/>
          <p:cNvPicPr/>
          <p:nvPr/>
        </p:nvPicPr>
        <p:blipFill>
          <a:blip r:embed="rId1"/>
          <a:stretch>
            <a:fillRect/>
          </a:stretch>
        </p:blipFill>
        <p:spPr>
          <a:xfrm>
            <a:off x="8360410" y="4876800"/>
            <a:ext cx="1505585" cy="14471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06705" y="1361440"/>
            <a:ext cx="4539615" cy="5149215"/>
          </a:xfrm>
          <a:custGeom>
            <a:avLst/>
            <a:gdLst/>
            <a:ahLst/>
            <a:cxnLst/>
            <a:rect l="l" t="t" r="r" b="b"/>
            <a:pathLst>
              <a:path w="4539574" h="5301574">
                <a:moveTo>
                  <a:pt x="64871" y="0"/>
                </a:moveTo>
                <a:lnTo>
                  <a:pt x="4474704" y="0"/>
                </a:lnTo>
                <a:cubicBezTo>
                  <a:pt x="4510507" y="0"/>
                  <a:pt x="4539574" y="29068"/>
                  <a:pt x="4539574" y="64871"/>
                </a:cubicBezTo>
                <a:lnTo>
                  <a:pt x="4539574" y="5236704"/>
                </a:lnTo>
                <a:cubicBezTo>
                  <a:pt x="4539574" y="5272507"/>
                  <a:pt x="4510507" y="5301574"/>
                  <a:pt x="4474704" y="5301574"/>
                </a:cubicBezTo>
                <a:lnTo>
                  <a:pt x="64871" y="5301574"/>
                </a:lnTo>
                <a:cubicBezTo>
                  <a:pt x="29068" y="5301574"/>
                  <a:pt x="0" y="5272507"/>
                  <a:pt x="0" y="5236704"/>
                </a:cubicBezTo>
                <a:lnTo>
                  <a:pt x="0" y="64871"/>
                </a:lnTo>
                <a:cubicBezTo>
                  <a:pt x="0" y="29068"/>
                  <a:pt x="29068" y="0"/>
                  <a:pt x="6487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1596" dist="810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6516" y="1556325"/>
            <a:ext cx="182394" cy="162128"/>
          </a:xfrm>
          <a:custGeom>
            <a:avLst/>
            <a:gdLst/>
            <a:ahLst/>
            <a:cxnLst/>
            <a:rect l="l" t="t" r="r" b="b"/>
            <a:pathLst>
              <a:path w="182394" h="162128">
                <a:moveTo>
                  <a:pt x="121596" y="45598"/>
                </a:moveTo>
                <a:cubicBezTo>
                  <a:pt x="121596" y="76377"/>
                  <a:pt x="94363" y="101330"/>
                  <a:pt x="60798" y="101330"/>
                </a:cubicBezTo>
                <a:cubicBezTo>
                  <a:pt x="52343" y="101330"/>
                  <a:pt x="44300" y="99747"/>
                  <a:pt x="36985" y="96897"/>
                </a:cubicBezTo>
                <a:lnTo>
                  <a:pt x="11146" y="110576"/>
                </a:lnTo>
                <a:cubicBezTo>
                  <a:pt x="8201" y="112128"/>
                  <a:pt x="4592" y="111589"/>
                  <a:pt x="2217" y="109246"/>
                </a:cubicBezTo>
                <a:cubicBezTo>
                  <a:pt x="-158" y="106903"/>
                  <a:pt x="-697" y="103261"/>
                  <a:pt x="887" y="100316"/>
                </a:cubicBezTo>
                <a:lnTo>
                  <a:pt x="12160" y="79037"/>
                </a:lnTo>
                <a:cubicBezTo>
                  <a:pt x="4528" y="69728"/>
                  <a:pt x="0" y="58138"/>
                  <a:pt x="0" y="45598"/>
                </a:cubicBezTo>
                <a:cubicBezTo>
                  <a:pt x="0" y="14819"/>
                  <a:pt x="27232" y="-10133"/>
                  <a:pt x="60798" y="-10133"/>
                </a:cubicBezTo>
                <a:cubicBezTo>
                  <a:pt x="94363" y="-10133"/>
                  <a:pt x="121596" y="14819"/>
                  <a:pt x="121596" y="45598"/>
                </a:cubicBezTo>
                <a:close/>
                <a:moveTo>
                  <a:pt x="121596" y="162128"/>
                </a:moveTo>
                <a:cubicBezTo>
                  <a:pt x="91798" y="162128"/>
                  <a:pt x="67004" y="142463"/>
                  <a:pt x="61811" y="116529"/>
                </a:cubicBezTo>
                <a:cubicBezTo>
                  <a:pt x="99810" y="116054"/>
                  <a:pt x="132837" y="89012"/>
                  <a:pt x="136479" y="52343"/>
                </a:cubicBezTo>
                <a:cubicBezTo>
                  <a:pt x="162856" y="58423"/>
                  <a:pt x="182394" y="80304"/>
                  <a:pt x="182394" y="106396"/>
                </a:cubicBezTo>
                <a:cubicBezTo>
                  <a:pt x="182394" y="118936"/>
                  <a:pt x="177865" y="130525"/>
                  <a:pt x="170234" y="139835"/>
                </a:cubicBezTo>
                <a:lnTo>
                  <a:pt x="181507" y="161114"/>
                </a:lnTo>
                <a:cubicBezTo>
                  <a:pt x="183059" y="164059"/>
                  <a:pt x="182520" y="167669"/>
                  <a:pt x="180177" y="170044"/>
                </a:cubicBezTo>
                <a:cubicBezTo>
                  <a:pt x="177834" y="172419"/>
                  <a:pt x="174192" y="172957"/>
                  <a:pt x="171247" y="171374"/>
                </a:cubicBezTo>
                <a:lnTo>
                  <a:pt x="145408" y="157694"/>
                </a:lnTo>
                <a:cubicBezTo>
                  <a:pt x="138094" y="160544"/>
                  <a:pt x="130050" y="162128"/>
                  <a:pt x="121596" y="162128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7" name="Text 5"/>
          <p:cNvSpPr/>
          <p:nvPr/>
        </p:nvSpPr>
        <p:spPr>
          <a:xfrm>
            <a:off x="752543" y="1523899"/>
            <a:ext cx="4093723" cy="2269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真实场景</a:t>
            </a:r>
            <a:endParaRPr 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89585" y="2546350"/>
            <a:ext cx="4198620" cy="1344930"/>
            <a:chOff x="791" y="5208"/>
            <a:chExt cx="6612" cy="2118"/>
          </a:xfrm>
        </p:grpSpPr>
        <p:sp>
          <p:nvSpPr>
            <p:cNvPr id="12" name="Shape 10"/>
            <p:cNvSpPr/>
            <p:nvPr/>
          </p:nvSpPr>
          <p:spPr>
            <a:xfrm>
              <a:off x="791" y="5208"/>
              <a:ext cx="6613" cy="2119"/>
            </a:xfrm>
            <a:custGeom>
              <a:avLst/>
              <a:gdLst/>
              <a:ahLst/>
              <a:cxnLst/>
              <a:rect l="l" t="t" r="r" b="b"/>
              <a:pathLst>
                <a:path w="4199106" h="1345660">
                  <a:moveTo>
                    <a:pt x="32426" y="0"/>
                  </a:moveTo>
                  <a:lnTo>
                    <a:pt x="4134259" y="0"/>
                  </a:lnTo>
                  <a:cubicBezTo>
                    <a:pt x="4170073" y="0"/>
                    <a:pt x="4199106" y="29033"/>
                    <a:pt x="4199106" y="64847"/>
                  </a:cubicBezTo>
                  <a:lnTo>
                    <a:pt x="4199106" y="1280812"/>
                  </a:lnTo>
                  <a:cubicBezTo>
                    <a:pt x="4199106" y="1316626"/>
                    <a:pt x="4170073" y="1345660"/>
                    <a:pt x="4134259" y="1345660"/>
                  </a:cubicBezTo>
                  <a:lnTo>
                    <a:pt x="32426" y="1345660"/>
                  </a:lnTo>
                  <a:cubicBezTo>
                    <a:pt x="14517" y="1345660"/>
                    <a:pt x="0" y="1331142"/>
                    <a:pt x="0" y="1313234"/>
                  </a:cubicBezTo>
                  <a:lnTo>
                    <a:pt x="0" y="32426"/>
                  </a:lnTo>
                  <a:cubicBezTo>
                    <a:pt x="0" y="14517"/>
                    <a:pt x="14517" y="0"/>
                    <a:pt x="32426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791" y="5208"/>
              <a:ext cx="51" cy="2119"/>
            </a:xfrm>
            <a:custGeom>
              <a:avLst/>
              <a:gdLst/>
              <a:ahLst/>
              <a:cxnLst/>
              <a:rect l="l" t="t" r="r" b="b"/>
              <a:pathLst>
                <a:path w="32426" h="1345660">
                  <a:moveTo>
                    <a:pt x="32426" y="0"/>
                  </a:moveTo>
                  <a:lnTo>
                    <a:pt x="32426" y="0"/>
                  </a:lnTo>
                  <a:lnTo>
                    <a:pt x="32426" y="1345660"/>
                  </a:lnTo>
                  <a:lnTo>
                    <a:pt x="32426" y="1345660"/>
                  </a:lnTo>
                  <a:cubicBezTo>
                    <a:pt x="14517" y="1345660"/>
                    <a:pt x="0" y="1331142"/>
                    <a:pt x="0" y="1313234"/>
                  </a:cubicBezTo>
                  <a:lnTo>
                    <a:pt x="0" y="32426"/>
                  </a:lnTo>
                  <a:cubicBezTo>
                    <a:pt x="0" y="14517"/>
                    <a:pt x="14517" y="0"/>
                    <a:pt x="32426" y="0"/>
                  </a:cubicBezTo>
                  <a:close/>
                </a:path>
              </a:pathLst>
            </a:custGeom>
            <a:solidFill>
              <a:srgbClr val="5D7A96"/>
            </a:solidFill>
          </p:spPr>
        </p:sp>
        <p:sp>
          <p:nvSpPr>
            <p:cNvPr id="14" name="Shape 12"/>
            <p:cNvSpPr/>
            <p:nvPr/>
          </p:nvSpPr>
          <p:spPr>
            <a:xfrm>
              <a:off x="1021" y="5413"/>
              <a:ext cx="511" cy="511"/>
            </a:xfrm>
            <a:custGeom>
              <a:avLst/>
              <a:gdLst/>
              <a:ahLst/>
              <a:cxnLst/>
              <a:rect l="l" t="t" r="r" b="b"/>
              <a:pathLst>
                <a:path w="324255" h="324255">
                  <a:moveTo>
                    <a:pt x="162128" y="0"/>
                  </a:moveTo>
                  <a:lnTo>
                    <a:pt x="162128" y="0"/>
                  </a:lnTo>
                  <a:cubicBezTo>
                    <a:pt x="251668" y="0"/>
                    <a:pt x="324255" y="72587"/>
                    <a:pt x="324255" y="162128"/>
                  </a:cubicBezTo>
                  <a:lnTo>
                    <a:pt x="324255" y="162128"/>
                  </a:lnTo>
                  <a:cubicBezTo>
                    <a:pt x="324255" y="251668"/>
                    <a:pt x="251668" y="324255"/>
                    <a:pt x="162128" y="324255"/>
                  </a:cubicBezTo>
                  <a:lnTo>
                    <a:pt x="162128" y="324255"/>
                  </a:lnTo>
                  <a:cubicBezTo>
                    <a:pt x="72587" y="324255"/>
                    <a:pt x="0" y="251668"/>
                    <a:pt x="0" y="162128"/>
                  </a:cubicBezTo>
                  <a:lnTo>
                    <a:pt x="0" y="162128"/>
                  </a:lnTo>
                  <a:cubicBezTo>
                    <a:pt x="0" y="72587"/>
                    <a:pt x="72587" y="0"/>
                    <a:pt x="162128" y="0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970" y="5413"/>
              <a:ext cx="613" cy="5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导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1685" y="5413"/>
              <a:ext cx="5515" cy="919"/>
            </a:xfrm>
            <a:custGeom>
              <a:avLst/>
              <a:gdLst/>
              <a:ahLst/>
              <a:cxnLst/>
              <a:rect l="l" t="t" r="r" b="b"/>
              <a:pathLst>
                <a:path w="3501957" h="583660">
                  <a:moveTo>
                    <a:pt x="64850" y="0"/>
                  </a:moveTo>
                  <a:lnTo>
                    <a:pt x="3437107" y="0"/>
                  </a:lnTo>
                  <a:cubicBezTo>
                    <a:pt x="3472923" y="0"/>
                    <a:pt x="3501957" y="29035"/>
                    <a:pt x="3501957" y="64850"/>
                  </a:cubicBezTo>
                  <a:lnTo>
                    <a:pt x="3501957" y="518809"/>
                  </a:lnTo>
                  <a:cubicBezTo>
                    <a:pt x="3501957" y="554625"/>
                    <a:pt x="3472923" y="583660"/>
                    <a:pt x="3437107" y="583660"/>
                  </a:cubicBezTo>
                  <a:lnTo>
                    <a:pt x="64850" y="583660"/>
                  </a:lnTo>
                  <a:cubicBezTo>
                    <a:pt x="29035" y="583660"/>
                    <a:pt x="0" y="554625"/>
                    <a:pt x="0" y="518809"/>
                  </a:cubicBezTo>
                  <a:lnTo>
                    <a:pt x="0" y="64850"/>
                  </a:lnTo>
                  <a:cubicBezTo>
                    <a:pt x="0" y="29058"/>
                    <a:pt x="29058" y="0"/>
                    <a:pt x="64850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24319" dist="8106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1838" y="5566"/>
              <a:ext cx="5311" cy="61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"小明啊，这篇文章把隔壁组的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王教授</a:t>
              </a: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加成共同通讯吧，他之前借过我们一台仪器。"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021" y="6485"/>
              <a:ext cx="511" cy="511"/>
            </a:xfrm>
            <a:custGeom>
              <a:avLst/>
              <a:gdLst/>
              <a:ahLst/>
              <a:cxnLst/>
              <a:rect l="l" t="t" r="r" b="b"/>
              <a:pathLst>
                <a:path w="324255" h="324255">
                  <a:moveTo>
                    <a:pt x="162128" y="0"/>
                  </a:moveTo>
                  <a:lnTo>
                    <a:pt x="162128" y="0"/>
                  </a:lnTo>
                  <a:cubicBezTo>
                    <a:pt x="251668" y="0"/>
                    <a:pt x="324255" y="72587"/>
                    <a:pt x="324255" y="162128"/>
                  </a:cubicBezTo>
                  <a:lnTo>
                    <a:pt x="324255" y="162128"/>
                  </a:lnTo>
                  <a:cubicBezTo>
                    <a:pt x="324255" y="251668"/>
                    <a:pt x="251668" y="324255"/>
                    <a:pt x="162128" y="324255"/>
                  </a:cubicBezTo>
                  <a:lnTo>
                    <a:pt x="162128" y="324255"/>
                  </a:lnTo>
                  <a:cubicBezTo>
                    <a:pt x="72587" y="324255"/>
                    <a:pt x="0" y="251668"/>
                    <a:pt x="0" y="162128"/>
                  </a:cubicBezTo>
                  <a:lnTo>
                    <a:pt x="0" y="162128"/>
                  </a:lnTo>
                  <a:cubicBezTo>
                    <a:pt x="0" y="72587"/>
                    <a:pt x="72587" y="0"/>
                    <a:pt x="162128" y="0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970" y="6485"/>
              <a:ext cx="613" cy="5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?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690" y="6490"/>
              <a:ext cx="5500" cy="623"/>
            </a:xfrm>
            <a:custGeom>
              <a:avLst/>
              <a:gdLst/>
              <a:ahLst/>
              <a:cxnLst/>
              <a:rect l="l" t="t" r="r" b="b"/>
              <a:pathLst>
                <a:path w="3492230" h="395591">
                  <a:moveTo>
                    <a:pt x="64849" y="0"/>
                  </a:moveTo>
                  <a:lnTo>
                    <a:pt x="3427380" y="0"/>
                  </a:lnTo>
                  <a:cubicBezTo>
                    <a:pt x="3463196" y="0"/>
                    <a:pt x="3492230" y="29034"/>
                    <a:pt x="3492230" y="64849"/>
                  </a:cubicBezTo>
                  <a:lnTo>
                    <a:pt x="3492230" y="330742"/>
                  </a:lnTo>
                  <a:cubicBezTo>
                    <a:pt x="3492230" y="366557"/>
                    <a:pt x="3463196" y="395591"/>
                    <a:pt x="3427380" y="395591"/>
                  </a:cubicBezTo>
                  <a:lnTo>
                    <a:pt x="64849" y="395591"/>
                  </a:lnTo>
                  <a:cubicBezTo>
                    <a:pt x="29034" y="395591"/>
                    <a:pt x="0" y="366557"/>
                    <a:pt x="0" y="330742"/>
                  </a:cubicBezTo>
                  <a:lnTo>
                    <a:pt x="0" y="64849"/>
                  </a:lnTo>
                  <a:cubicBezTo>
                    <a:pt x="0" y="29034"/>
                    <a:pt x="29034" y="0"/>
                    <a:pt x="64849" y="0"/>
                  </a:cubicBezTo>
                  <a:close/>
                </a:path>
              </a:pathLst>
            </a:custGeom>
            <a:solidFill>
              <a:srgbClr val="C4A87A">
                <a:alpha val="10196"/>
              </a:srgbClr>
            </a:solidFill>
            <a:ln w="10160">
              <a:solidFill>
                <a:srgbClr val="C4A87A">
                  <a:alpha val="30196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849" y="6648"/>
              <a:ext cx="5285" cy="3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你加还是不加？</a:t>
              </a:r>
              <a:endParaRPr lang="en-US" sz="140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489626" y="4782664"/>
            <a:ext cx="4205591" cy="395591"/>
          </a:xfrm>
          <a:custGeom>
            <a:avLst/>
            <a:gdLst/>
            <a:ahLst/>
            <a:cxnLst/>
            <a:rect l="l" t="t" r="r" b="b"/>
            <a:pathLst>
              <a:path w="4205591" h="395591">
                <a:moveTo>
                  <a:pt x="64849" y="0"/>
                </a:moveTo>
                <a:lnTo>
                  <a:pt x="4140742" y="0"/>
                </a:lnTo>
                <a:cubicBezTo>
                  <a:pt x="4176557" y="0"/>
                  <a:pt x="4205591" y="29034"/>
                  <a:pt x="4205591" y="64849"/>
                </a:cubicBezTo>
                <a:lnTo>
                  <a:pt x="4205591" y="330742"/>
                </a:lnTo>
                <a:cubicBezTo>
                  <a:pt x="4205591" y="366557"/>
                  <a:pt x="4176557" y="395591"/>
                  <a:pt x="4140742" y="395591"/>
                </a:cubicBezTo>
                <a:lnTo>
                  <a:pt x="64849" y="395591"/>
                </a:lnTo>
                <a:cubicBezTo>
                  <a:pt x="29034" y="395591"/>
                  <a:pt x="0" y="366557"/>
                  <a:pt x="0" y="330742"/>
                </a:cubicBezTo>
                <a:lnTo>
                  <a:pt x="0" y="64849"/>
                </a:lnTo>
                <a:cubicBezTo>
                  <a:pt x="0" y="29034"/>
                  <a:pt x="29034" y="0"/>
                  <a:pt x="64849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A2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6357" y="4915611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42305" y="42305"/>
                </a:moveTo>
                <a:cubicBezTo>
                  <a:pt x="44686" y="39924"/>
                  <a:pt x="48537" y="39924"/>
                  <a:pt x="50893" y="42305"/>
                </a:cubicBezTo>
                <a:lnTo>
                  <a:pt x="64826" y="56238"/>
                </a:lnTo>
                <a:lnTo>
                  <a:pt x="78759" y="42305"/>
                </a:lnTo>
                <a:cubicBezTo>
                  <a:pt x="81140" y="39924"/>
                  <a:pt x="84990" y="39924"/>
                  <a:pt x="87346" y="42305"/>
                </a:cubicBezTo>
                <a:cubicBezTo>
                  <a:pt x="89702" y="44686"/>
                  <a:pt x="89728" y="48537"/>
                  <a:pt x="87346" y="50893"/>
                </a:cubicBezTo>
                <a:lnTo>
                  <a:pt x="73413" y="64826"/>
                </a:lnTo>
                <a:lnTo>
                  <a:pt x="87346" y="78759"/>
                </a:lnTo>
                <a:cubicBezTo>
                  <a:pt x="89728" y="81140"/>
                  <a:pt x="89728" y="84990"/>
                  <a:pt x="87346" y="87346"/>
                </a:cubicBezTo>
                <a:cubicBezTo>
                  <a:pt x="84965" y="89702"/>
                  <a:pt x="81114" y="89728"/>
                  <a:pt x="78759" y="87346"/>
                </a:cubicBezTo>
                <a:lnTo>
                  <a:pt x="64826" y="73413"/>
                </a:lnTo>
                <a:lnTo>
                  <a:pt x="50893" y="87346"/>
                </a:lnTo>
                <a:cubicBezTo>
                  <a:pt x="48512" y="89728"/>
                  <a:pt x="44661" y="89728"/>
                  <a:pt x="42305" y="87346"/>
                </a:cubicBezTo>
                <a:cubicBezTo>
                  <a:pt x="39949" y="84965"/>
                  <a:pt x="39924" y="81114"/>
                  <a:pt x="42305" y="78759"/>
                </a:cubicBezTo>
                <a:lnTo>
                  <a:pt x="56238" y="64826"/>
                </a:lnTo>
                <a:lnTo>
                  <a:pt x="42305" y="50893"/>
                </a:lnTo>
                <a:cubicBezTo>
                  <a:pt x="39924" y="48512"/>
                  <a:pt x="39924" y="44661"/>
                  <a:pt x="42305" y="42305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24" name="Text 22"/>
          <p:cNvSpPr/>
          <p:nvPr/>
        </p:nvSpPr>
        <p:spPr>
          <a:xfrm>
            <a:off x="967105" y="4865370"/>
            <a:ext cx="118999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100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绝对不能加！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58410" y="1377950"/>
            <a:ext cx="6809105" cy="5149850"/>
          </a:xfrm>
          <a:custGeom>
            <a:avLst/>
            <a:gdLst/>
            <a:ahLst/>
            <a:cxnLst/>
            <a:rect l="l" t="t" r="r" b="b"/>
            <a:pathLst>
              <a:path w="6809362" h="5285362">
                <a:moveTo>
                  <a:pt x="32426" y="0"/>
                </a:moveTo>
                <a:lnTo>
                  <a:pt x="6776936" y="0"/>
                </a:lnTo>
                <a:cubicBezTo>
                  <a:pt x="6794844" y="0"/>
                  <a:pt x="6809362" y="14517"/>
                  <a:pt x="6809362" y="32426"/>
                </a:cubicBezTo>
                <a:lnTo>
                  <a:pt x="6809362" y="5220510"/>
                </a:lnTo>
                <a:cubicBezTo>
                  <a:pt x="6809362" y="5256327"/>
                  <a:pt x="6780327" y="5285362"/>
                  <a:pt x="6744510" y="5285362"/>
                </a:cubicBezTo>
                <a:lnTo>
                  <a:pt x="64851" y="5285362"/>
                </a:lnTo>
                <a:cubicBezTo>
                  <a:pt x="29035" y="5285362"/>
                  <a:pt x="0" y="5256327"/>
                  <a:pt x="0" y="5220510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1596" dist="810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58383" y="1377984"/>
            <a:ext cx="6809362" cy="32426"/>
          </a:xfrm>
          <a:custGeom>
            <a:avLst/>
            <a:gdLst/>
            <a:ahLst/>
            <a:cxnLst/>
            <a:rect l="l" t="t" r="r" b="b"/>
            <a:pathLst>
              <a:path w="6809362" h="32426">
                <a:moveTo>
                  <a:pt x="32426" y="0"/>
                </a:moveTo>
                <a:lnTo>
                  <a:pt x="6776936" y="0"/>
                </a:lnTo>
                <a:cubicBezTo>
                  <a:pt x="6794844" y="0"/>
                  <a:pt x="6809362" y="14517"/>
                  <a:pt x="6809362" y="32426"/>
                </a:cubicBezTo>
                <a:lnTo>
                  <a:pt x="6809362" y="32426"/>
                </a:lnTo>
                <a:lnTo>
                  <a:pt x="0" y="32426"/>
                </a:ln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7" name="Shape 25"/>
          <p:cNvSpPr/>
          <p:nvPr/>
        </p:nvSpPr>
        <p:spPr>
          <a:xfrm>
            <a:off x="5232670" y="1588649"/>
            <a:ext cx="218872" cy="194553"/>
          </a:xfrm>
          <a:custGeom>
            <a:avLst/>
            <a:gdLst/>
            <a:ahLst/>
            <a:cxnLst/>
            <a:rect l="l" t="t" r="r" b="b"/>
            <a:pathLst>
              <a:path w="218872" h="194553">
                <a:moveTo>
                  <a:pt x="64446" y="58290"/>
                </a:moveTo>
                <a:lnTo>
                  <a:pt x="57340" y="51184"/>
                </a:lnTo>
                <a:cubicBezTo>
                  <a:pt x="52590" y="46434"/>
                  <a:pt x="52590" y="38721"/>
                  <a:pt x="57340" y="33971"/>
                </a:cubicBezTo>
                <a:lnTo>
                  <a:pt x="100924" y="-9652"/>
                </a:lnTo>
                <a:cubicBezTo>
                  <a:pt x="105674" y="-14401"/>
                  <a:pt x="113388" y="-14401"/>
                  <a:pt x="118138" y="-9652"/>
                </a:cubicBezTo>
                <a:lnTo>
                  <a:pt x="125244" y="-2508"/>
                </a:lnTo>
                <a:cubicBezTo>
                  <a:pt x="129993" y="2242"/>
                  <a:pt x="129993" y="9956"/>
                  <a:pt x="125244" y="14705"/>
                </a:cubicBezTo>
                <a:lnTo>
                  <a:pt x="81659" y="58290"/>
                </a:lnTo>
                <a:cubicBezTo>
                  <a:pt x="76909" y="63040"/>
                  <a:pt x="69196" y="63040"/>
                  <a:pt x="64446" y="58290"/>
                </a:cubicBezTo>
                <a:close/>
                <a:moveTo>
                  <a:pt x="104876" y="80443"/>
                </a:moveTo>
                <a:lnTo>
                  <a:pt x="92945" y="68512"/>
                </a:lnTo>
                <a:lnTo>
                  <a:pt x="135503" y="25953"/>
                </a:lnTo>
                <a:lnTo>
                  <a:pt x="180874" y="71324"/>
                </a:lnTo>
                <a:lnTo>
                  <a:pt x="138315" y="113882"/>
                </a:lnTo>
                <a:lnTo>
                  <a:pt x="126384" y="101950"/>
                </a:lnTo>
                <a:lnTo>
                  <a:pt x="38227" y="190107"/>
                </a:lnTo>
                <a:cubicBezTo>
                  <a:pt x="32299" y="196035"/>
                  <a:pt x="22685" y="196035"/>
                  <a:pt x="16719" y="190107"/>
                </a:cubicBezTo>
                <a:cubicBezTo>
                  <a:pt x="10754" y="184180"/>
                  <a:pt x="10792" y="174566"/>
                  <a:pt x="16719" y="168600"/>
                </a:cubicBezTo>
                <a:lnTo>
                  <a:pt x="104876" y="80443"/>
                </a:lnTo>
                <a:close/>
                <a:moveTo>
                  <a:pt x="148537" y="142343"/>
                </a:moveTo>
                <a:cubicBezTo>
                  <a:pt x="143787" y="137593"/>
                  <a:pt x="143787" y="129879"/>
                  <a:pt x="148537" y="125130"/>
                </a:cubicBezTo>
                <a:lnTo>
                  <a:pt x="192121" y="81545"/>
                </a:lnTo>
                <a:cubicBezTo>
                  <a:pt x="196871" y="76795"/>
                  <a:pt x="204585" y="76795"/>
                  <a:pt x="209335" y="81545"/>
                </a:cubicBezTo>
                <a:lnTo>
                  <a:pt x="216440" y="88651"/>
                </a:lnTo>
                <a:cubicBezTo>
                  <a:pt x="221190" y="93401"/>
                  <a:pt x="221190" y="101114"/>
                  <a:pt x="216440" y="105864"/>
                </a:cubicBezTo>
                <a:lnTo>
                  <a:pt x="172856" y="149487"/>
                </a:lnTo>
                <a:cubicBezTo>
                  <a:pt x="168106" y="154237"/>
                  <a:pt x="160392" y="154237"/>
                  <a:pt x="155643" y="149487"/>
                </a:cubicBezTo>
                <a:lnTo>
                  <a:pt x="148537" y="142381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28" name="Text 26"/>
          <p:cNvSpPr/>
          <p:nvPr/>
        </p:nvSpPr>
        <p:spPr>
          <a:xfrm>
            <a:off x="5528472" y="1556325"/>
            <a:ext cx="6339191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ICMJE四项署名标准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20511" y="1912905"/>
            <a:ext cx="6549957" cy="1945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国际医学期刊编辑委员会（International Committee of Medical Journal Editors）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20511" y="2237160"/>
            <a:ext cx="6485106" cy="713362"/>
          </a:xfrm>
          <a:custGeom>
            <a:avLst/>
            <a:gdLst/>
            <a:ahLst/>
            <a:cxnLst/>
            <a:rect l="l" t="t" r="r" b="b"/>
            <a:pathLst>
              <a:path w="6485106" h="713362">
                <a:moveTo>
                  <a:pt x="64852" y="0"/>
                </a:moveTo>
                <a:lnTo>
                  <a:pt x="6420255" y="0"/>
                </a:lnTo>
                <a:cubicBezTo>
                  <a:pt x="6456071" y="0"/>
                  <a:pt x="6485106" y="29035"/>
                  <a:pt x="6485106" y="64852"/>
                </a:cubicBezTo>
                <a:lnTo>
                  <a:pt x="6485106" y="648510"/>
                </a:lnTo>
                <a:cubicBezTo>
                  <a:pt x="6485106" y="684327"/>
                  <a:pt x="6456071" y="713362"/>
                  <a:pt x="6420255" y="713362"/>
                </a:cubicBezTo>
                <a:lnTo>
                  <a:pt x="64852" y="713362"/>
                </a:lnTo>
                <a:cubicBezTo>
                  <a:pt x="29035" y="713362"/>
                  <a:pt x="0" y="684327"/>
                  <a:pt x="0" y="648510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31" name="Shape 29"/>
          <p:cNvSpPr/>
          <p:nvPr/>
        </p:nvSpPr>
        <p:spPr>
          <a:xfrm>
            <a:off x="5350213" y="2366862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32" name="Text 30"/>
          <p:cNvSpPr/>
          <p:nvPr/>
        </p:nvSpPr>
        <p:spPr>
          <a:xfrm>
            <a:off x="5309681" y="2366862"/>
            <a:ext cx="470170" cy="3891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69021" y="2366862"/>
            <a:ext cx="2537298" cy="2269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实质性贡献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69305" y="2676525"/>
            <a:ext cx="362204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对研究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设计、数据获取或分析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有实质性贡献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220511" y="3047798"/>
            <a:ext cx="6485106" cy="713362"/>
          </a:xfrm>
          <a:custGeom>
            <a:avLst/>
            <a:gdLst/>
            <a:ahLst/>
            <a:cxnLst/>
            <a:rect l="l" t="t" r="r" b="b"/>
            <a:pathLst>
              <a:path w="6485106" h="713362">
                <a:moveTo>
                  <a:pt x="64852" y="0"/>
                </a:moveTo>
                <a:lnTo>
                  <a:pt x="6420255" y="0"/>
                </a:lnTo>
                <a:cubicBezTo>
                  <a:pt x="6456071" y="0"/>
                  <a:pt x="6485106" y="29035"/>
                  <a:pt x="6485106" y="64852"/>
                </a:cubicBezTo>
                <a:lnTo>
                  <a:pt x="6485106" y="648510"/>
                </a:lnTo>
                <a:cubicBezTo>
                  <a:pt x="6485106" y="684327"/>
                  <a:pt x="6456071" y="713362"/>
                  <a:pt x="6420255" y="713362"/>
                </a:cubicBezTo>
                <a:lnTo>
                  <a:pt x="64852" y="713362"/>
                </a:lnTo>
                <a:cubicBezTo>
                  <a:pt x="29035" y="713362"/>
                  <a:pt x="0" y="684327"/>
                  <a:pt x="0" y="648510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36" name="Shape 34"/>
          <p:cNvSpPr/>
          <p:nvPr/>
        </p:nvSpPr>
        <p:spPr>
          <a:xfrm>
            <a:off x="5350213" y="3177500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37" name="Text 35"/>
          <p:cNvSpPr/>
          <p:nvPr/>
        </p:nvSpPr>
        <p:spPr>
          <a:xfrm>
            <a:off x="5309681" y="3177500"/>
            <a:ext cx="470170" cy="3891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69021" y="3177500"/>
            <a:ext cx="1629383" cy="2269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参与写作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69305" y="3436620"/>
            <a:ext cx="2267585" cy="259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参与论文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起草或关键性修改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220511" y="3858436"/>
            <a:ext cx="6485106" cy="713362"/>
          </a:xfrm>
          <a:custGeom>
            <a:avLst/>
            <a:gdLst/>
            <a:ahLst/>
            <a:cxnLst/>
            <a:rect l="l" t="t" r="r" b="b"/>
            <a:pathLst>
              <a:path w="6485106" h="713362">
                <a:moveTo>
                  <a:pt x="64852" y="0"/>
                </a:moveTo>
                <a:lnTo>
                  <a:pt x="6420255" y="0"/>
                </a:lnTo>
                <a:cubicBezTo>
                  <a:pt x="6456071" y="0"/>
                  <a:pt x="6485106" y="29035"/>
                  <a:pt x="6485106" y="64852"/>
                </a:cubicBezTo>
                <a:lnTo>
                  <a:pt x="6485106" y="648510"/>
                </a:lnTo>
                <a:cubicBezTo>
                  <a:pt x="6485106" y="684327"/>
                  <a:pt x="6456071" y="713362"/>
                  <a:pt x="6420255" y="713362"/>
                </a:cubicBezTo>
                <a:lnTo>
                  <a:pt x="64852" y="713362"/>
                </a:lnTo>
                <a:cubicBezTo>
                  <a:pt x="29035" y="713362"/>
                  <a:pt x="0" y="684327"/>
                  <a:pt x="0" y="648510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41" name="Shape 39"/>
          <p:cNvSpPr/>
          <p:nvPr/>
        </p:nvSpPr>
        <p:spPr>
          <a:xfrm>
            <a:off x="5350213" y="3988139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42" name="Text 40"/>
          <p:cNvSpPr/>
          <p:nvPr/>
        </p:nvSpPr>
        <p:spPr>
          <a:xfrm>
            <a:off x="5309681" y="3988139"/>
            <a:ext cx="470170" cy="3891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69021" y="3988139"/>
            <a:ext cx="1110574" cy="2269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</a:t>
            </a:r>
            <a:r>
              <a:rPr lang="zh-CN" alt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定稿</a:t>
            </a:r>
            <a:endParaRPr lang="zh-CN" altLang="en-US" sz="1600" b="1" dirty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869305" y="4247515"/>
            <a:ext cx="4806315" cy="29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对最终发表的论文进行全面审核与把关, 并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作最终定稿者</a:t>
            </a:r>
            <a:endParaRPr lang="en-US" sz="1400" b="1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220511" y="4669075"/>
            <a:ext cx="6485106" cy="713362"/>
          </a:xfrm>
          <a:custGeom>
            <a:avLst/>
            <a:gdLst/>
            <a:ahLst/>
            <a:cxnLst/>
            <a:rect l="l" t="t" r="r" b="b"/>
            <a:pathLst>
              <a:path w="6485106" h="713362">
                <a:moveTo>
                  <a:pt x="64852" y="0"/>
                </a:moveTo>
                <a:lnTo>
                  <a:pt x="6420255" y="0"/>
                </a:lnTo>
                <a:cubicBezTo>
                  <a:pt x="6456071" y="0"/>
                  <a:pt x="6485106" y="29035"/>
                  <a:pt x="6485106" y="64852"/>
                </a:cubicBezTo>
                <a:lnTo>
                  <a:pt x="6485106" y="648510"/>
                </a:lnTo>
                <a:cubicBezTo>
                  <a:pt x="6485106" y="684327"/>
                  <a:pt x="6456071" y="713362"/>
                  <a:pt x="6420255" y="713362"/>
                </a:cubicBezTo>
                <a:lnTo>
                  <a:pt x="64852" y="713362"/>
                </a:lnTo>
                <a:cubicBezTo>
                  <a:pt x="29035" y="713362"/>
                  <a:pt x="0" y="684327"/>
                  <a:pt x="0" y="648510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46" name="Shape 44"/>
          <p:cNvSpPr/>
          <p:nvPr/>
        </p:nvSpPr>
        <p:spPr>
          <a:xfrm>
            <a:off x="5350213" y="4798777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194553" y="0"/>
                </a:moveTo>
                <a:lnTo>
                  <a:pt x="194553" y="0"/>
                </a:lnTo>
                <a:cubicBezTo>
                  <a:pt x="301930" y="0"/>
                  <a:pt x="389106" y="87176"/>
                  <a:pt x="389106" y="194553"/>
                </a:cubicBezTo>
                <a:lnTo>
                  <a:pt x="389106" y="194553"/>
                </a:lnTo>
                <a:cubicBezTo>
                  <a:pt x="389106" y="301930"/>
                  <a:pt x="301930" y="389106"/>
                  <a:pt x="194553" y="389106"/>
                </a:cubicBezTo>
                <a:lnTo>
                  <a:pt x="194553" y="389106"/>
                </a:lnTo>
                <a:cubicBezTo>
                  <a:pt x="87176" y="389106"/>
                  <a:pt x="0" y="301930"/>
                  <a:pt x="0" y="194553"/>
                </a:cubicBezTo>
                <a:lnTo>
                  <a:pt x="0" y="194553"/>
                </a:lnTo>
                <a:cubicBezTo>
                  <a:pt x="0" y="87176"/>
                  <a:pt x="87176" y="0"/>
                  <a:pt x="194553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47" name="Text 45"/>
          <p:cNvSpPr/>
          <p:nvPr/>
        </p:nvSpPr>
        <p:spPr>
          <a:xfrm>
            <a:off x="5309681" y="4798777"/>
            <a:ext cx="470170" cy="3891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69021" y="4798777"/>
            <a:ext cx="1499681" cy="2269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承担责任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69305" y="5122545"/>
            <a:ext cx="209105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同意对研究的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各方面负责</a:t>
            </a:r>
            <a:endParaRPr lang="en-US" sz="14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5220335" y="5541645"/>
            <a:ext cx="6484620" cy="486410"/>
            <a:chOff x="8221" y="8681"/>
            <a:chExt cx="10212" cy="766"/>
          </a:xfrm>
        </p:grpSpPr>
        <p:sp>
          <p:nvSpPr>
            <p:cNvPr id="50" name="Shape 48"/>
            <p:cNvSpPr/>
            <p:nvPr/>
          </p:nvSpPr>
          <p:spPr>
            <a:xfrm>
              <a:off x="8221" y="8681"/>
              <a:ext cx="10213" cy="766"/>
            </a:xfrm>
            <a:custGeom>
              <a:avLst/>
              <a:gdLst/>
              <a:ahLst/>
              <a:cxnLst/>
              <a:rect l="l" t="t" r="r" b="b"/>
              <a:pathLst>
                <a:path w="6485106" h="486383">
                  <a:moveTo>
                    <a:pt x="64849" y="0"/>
                  </a:moveTo>
                  <a:lnTo>
                    <a:pt x="6420257" y="0"/>
                  </a:lnTo>
                  <a:cubicBezTo>
                    <a:pt x="6456072" y="0"/>
                    <a:pt x="6485106" y="29034"/>
                    <a:pt x="6485106" y="64849"/>
                  </a:cubicBezTo>
                  <a:lnTo>
                    <a:pt x="6485106" y="421534"/>
                  </a:lnTo>
                  <a:cubicBezTo>
                    <a:pt x="6485106" y="457349"/>
                    <a:pt x="6456072" y="486383"/>
                    <a:pt x="6420257" y="486383"/>
                  </a:cubicBezTo>
                  <a:lnTo>
                    <a:pt x="64849" y="486383"/>
                  </a:lnTo>
                  <a:cubicBezTo>
                    <a:pt x="29058" y="486383"/>
                    <a:pt x="0" y="457325"/>
                    <a:pt x="0" y="421534"/>
                  </a:cubicBezTo>
                  <a:lnTo>
                    <a:pt x="0" y="64849"/>
                  </a:lnTo>
                  <a:cubicBezTo>
                    <a:pt x="0" y="29058"/>
                    <a:pt x="29058" y="0"/>
                    <a:pt x="64849" y="0"/>
                  </a:cubicBezTo>
                  <a:close/>
                </a:path>
              </a:pathLst>
            </a:custGeom>
            <a:solidFill>
              <a:srgbClr val="E7000B"/>
            </a:solidFill>
          </p:spPr>
        </p:sp>
        <p:sp>
          <p:nvSpPr>
            <p:cNvPr id="51" name="Shape 49"/>
            <p:cNvSpPr/>
            <p:nvPr/>
          </p:nvSpPr>
          <p:spPr>
            <a:xfrm>
              <a:off x="8532" y="8962"/>
              <a:ext cx="230" cy="230"/>
            </a:xfrm>
            <a:custGeom>
              <a:avLst/>
              <a:gdLst/>
              <a:ahLst/>
              <a:cxnLst/>
              <a:rect l="l" t="t" r="r" b="b"/>
              <a:pathLst>
                <a:path w="145915" h="145915">
                  <a:moveTo>
                    <a:pt x="72957" y="0"/>
                  </a:moveTo>
                  <a:cubicBezTo>
                    <a:pt x="77147" y="0"/>
                    <a:pt x="80994" y="2308"/>
                    <a:pt x="82989" y="5985"/>
                  </a:cubicBezTo>
                  <a:lnTo>
                    <a:pt x="144547" y="119981"/>
                  </a:lnTo>
                  <a:cubicBezTo>
                    <a:pt x="146456" y="123515"/>
                    <a:pt x="146371" y="127790"/>
                    <a:pt x="144319" y="131238"/>
                  </a:cubicBezTo>
                  <a:cubicBezTo>
                    <a:pt x="142267" y="134686"/>
                    <a:pt x="138534" y="136795"/>
                    <a:pt x="134515" y="136795"/>
                  </a:cubicBezTo>
                  <a:lnTo>
                    <a:pt x="11400" y="136795"/>
                  </a:lnTo>
                  <a:cubicBezTo>
                    <a:pt x="7381" y="136795"/>
                    <a:pt x="3676" y="134686"/>
                    <a:pt x="1596" y="131238"/>
                  </a:cubicBezTo>
                  <a:cubicBezTo>
                    <a:pt x="-484" y="127790"/>
                    <a:pt x="-541" y="123515"/>
                    <a:pt x="1368" y="119981"/>
                  </a:cubicBezTo>
                  <a:lnTo>
                    <a:pt x="62926" y="5985"/>
                  </a:lnTo>
                  <a:cubicBezTo>
                    <a:pt x="64921" y="2308"/>
                    <a:pt x="68768" y="0"/>
                    <a:pt x="72957" y="0"/>
                  </a:cubicBezTo>
                  <a:close/>
                  <a:moveTo>
                    <a:pt x="72957" y="47878"/>
                  </a:moveTo>
                  <a:cubicBezTo>
                    <a:pt x="69167" y="47878"/>
                    <a:pt x="66118" y="50928"/>
                    <a:pt x="66118" y="54718"/>
                  </a:cubicBezTo>
                  <a:lnTo>
                    <a:pt x="66118" y="86637"/>
                  </a:lnTo>
                  <a:cubicBezTo>
                    <a:pt x="66118" y="90427"/>
                    <a:pt x="69167" y="93477"/>
                    <a:pt x="72957" y="93477"/>
                  </a:cubicBezTo>
                  <a:cubicBezTo>
                    <a:pt x="76748" y="93477"/>
                    <a:pt x="79797" y="90427"/>
                    <a:pt x="79797" y="86637"/>
                  </a:cubicBezTo>
                  <a:lnTo>
                    <a:pt x="79797" y="54718"/>
                  </a:lnTo>
                  <a:cubicBezTo>
                    <a:pt x="79797" y="50928"/>
                    <a:pt x="76748" y="47878"/>
                    <a:pt x="72957" y="47878"/>
                  </a:cubicBezTo>
                  <a:close/>
                  <a:moveTo>
                    <a:pt x="80567" y="109436"/>
                  </a:moveTo>
                  <a:cubicBezTo>
                    <a:pt x="80740" y="106612"/>
                    <a:pt x="79331" y="103924"/>
                    <a:pt x="76910" y="102460"/>
                  </a:cubicBezTo>
                  <a:cubicBezTo>
                    <a:pt x="74489" y="100995"/>
                    <a:pt x="71455" y="100995"/>
                    <a:pt x="69033" y="102460"/>
                  </a:cubicBezTo>
                  <a:cubicBezTo>
                    <a:pt x="66612" y="103924"/>
                    <a:pt x="65204" y="106612"/>
                    <a:pt x="65377" y="109436"/>
                  </a:cubicBezTo>
                  <a:cubicBezTo>
                    <a:pt x="65204" y="112261"/>
                    <a:pt x="66612" y="114948"/>
                    <a:pt x="69033" y="116412"/>
                  </a:cubicBezTo>
                  <a:cubicBezTo>
                    <a:pt x="71455" y="117877"/>
                    <a:pt x="74489" y="117877"/>
                    <a:pt x="76910" y="116412"/>
                  </a:cubicBezTo>
                  <a:cubicBezTo>
                    <a:pt x="79331" y="114948"/>
                    <a:pt x="80740" y="112261"/>
                    <a:pt x="80567" y="1094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2" name="Text 50"/>
            <p:cNvSpPr/>
            <p:nvPr/>
          </p:nvSpPr>
          <p:spPr>
            <a:xfrm>
              <a:off x="8712" y="8885"/>
              <a:ext cx="9626" cy="35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必须同时满足这4条！缺少任何一条都属于"荣誉署名/人情署名"</a:t>
              </a:r>
              <a:endParaRPr lang="en-US" sz="1600" dirty="0"/>
            </a:p>
          </p:txBody>
        </p:sp>
      </p:grpSp>
      <p:sp>
        <p:nvSpPr>
          <p:cNvPr id="53" name="Shape 51"/>
          <p:cNvSpPr/>
          <p:nvPr/>
        </p:nvSpPr>
        <p:spPr>
          <a:xfrm>
            <a:off x="489585" y="5541645"/>
            <a:ext cx="4228465" cy="485140"/>
          </a:xfrm>
          <a:custGeom>
            <a:avLst/>
            <a:gdLst/>
            <a:ahLst/>
            <a:cxnLst/>
            <a:rect l="l" t="t" r="r" b="b"/>
            <a:pathLst>
              <a:path w="6475379" h="395591">
                <a:moveTo>
                  <a:pt x="64849" y="0"/>
                </a:moveTo>
                <a:lnTo>
                  <a:pt x="6410529" y="0"/>
                </a:lnTo>
                <a:cubicBezTo>
                  <a:pt x="6446345" y="0"/>
                  <a:pt x="6475379" y="29034"/>
                  <a:pt x="6475379" y="64849"/>
                </a:cubicBezTo>
                <a:lnTo>
                  <a:pt x="6475379" y="330742"/>
                </a:lnTo>
                <a:cubicBezTo>
                  <a:pt x="6475379" y="366557"/>
                  <a:pt x="6446345" y="395591"/>
                  <a:pt x="6410529" y="395591"/>
                </a:cubicBezTo>
                <a:lnTo>
                  <a:pt x="64849" y="395591"/>
                </a:lnTo>
                <a:cubicBezTo>
                  <a:pt x="29034" y="395591"/>
                  <a:pt x="0" y="366557"/>
                  <a:pt x="0" y="330742"/>
                </a:cubicBezTo>
                <a:lnTo>
                  <a:pt x="0" y="64849"/>
                </a:lnTo>
                <a:cubicBezTo>
                  <a:pt x="0" y="29034"/>
                  <a:pt x="29034" y="0"/>
                  <a:pt x="64849" y="0"/>
                </a:cubicBezTo>
                <a:close/>
              </a:path>
            </a:pathLst>
          </a:custGeom>
          <a:solidFill>
            <a:srgbClr val="C4A87A">
              <a:alpha val="10196"/>
            </a:srgbClr>
          </a:solidFill>
          <a:ln w="10160">
            <a:solidFill>
              <a:srgbClr val="C4A87A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5945" y="5668010"/>
            <a:ext cx="130175" cy="160020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74199" y="97277"/>
                </a:moveTo>
                <a:cubicBezTo>
                  <a:pt x="76048" y="91627"/>
                  <a:pt x="79747" y="86510"/>
                  <a:pt x="83926" y="82102"/>
                </a:cubicBezTo>
                <a:cubicBezTo>
                  <a:pt x="92210" y="73388"/>
                  <a:pt x="97277" y="61609"/>
                  <a:pt x="97277" y="48638"/>
                </a:cubicBezTo>
                <a:cubicBezTo>
                  <a:pt x="97277" y="21786"/>
                  <a:pt x="75491" y="0"/>
                  <a:pt x="48638" y="0"/>
                </a:cubicBezTo>
                <a:cubicBezTo>
                  <a:pt x="21786" y="0"/>
                  <a:pt x="0" y="21786"/>
                  <a:pt x="0" y="48638"/>
                </a:cubicBezTo>
                <a:cubicBezTo>
                  <a:pt x="0" y="61609"/>
                  <a:pt x="5066" y="73388"/>
                  <a:pt x="13350" y="82102"/>
                </a:cubicBezTo>
                <a:cubicBezTo>
                  <a:pt x="17530" y="86510"/>
                  <a:pt x="21254" y="91627"/>
                  <a:pt x="23078" y="97277"/>
                </a:cubicBezTo>
                <a:lnTo>
                  <a:pt x="74173" y="97277"/>
                </a:lnTo>
                <a:close/>
                <a:moveTo>
                  <a:pt x="72957" y="109436"/>
                </a:moveTo>
                <a:lnTo>
                  <a:pt x="24319" y="109436"/>
                </a:lnTo>
                <a:lnTo>
                  <a:pt x="24319" y="113489"/>
                </a:lnTo>
                <a:cubicBezTo>
                  <a:pt x="24319" y="124686"/>
                  <a:pt x="33388" y="133755"/>
                  <a:pt x="44585" y="133755"/>
                </a:cubicBezTo>
                <a:lnTo>
                  <a:pt x="52691" y="133755"/>
                </a:lnTo>
                <a:cubicBezTo>
                  <a:pt x="63888" y="133755"/>
                  <a:pt x="72957" y="124686"/>
                  <a:pt x="72957" y="113489"/>
                </a:cubicBezTo>
                <a:lnTo>
                  <a:pt x="72957" y="109436"/>
                </a:lnTo>
                <a:close/>
                <a:moveTo>
                  <a:pt x="46612" y="28372"/>
                </a:moveTo>
                <a:cubicBezTo>
                  <a:pt x="36529" y="28372"/>
                  <a:pt x="28372" y="36529"/>
                  <a:pt x="28372" y="46612"/>
                </a:cubicBezTo>
                <a:cubicBezTo>
                  <a:pt x="28372" y="49981"/>
                  <a:pt x="25662" y="52691"/>
                  <a:pt x="22293" y="52691"/>
                </a:cubicBezTo>
                <a:cubicBezTo>
                  <a:pt x="18923" y="52691"/>
                  <a:pt x="16213" y="49981"/>
                  <a:pt x="16213" y="46612"/>
                </a:cubicBezTo>
                <a:cubicBezTo>
                  <a:pt x="16213" y="29816"/>
                  <a:pt x="29816" y="16213"/>
                  <a:pt x="46612" y="16213"/>
                </a:cubicBezTo>
                <a:cubicBezTo>
                  <a:pt x="49981" y="16213"/>
                  <a:pt x="52691" y="18923"/>
                  <a:pt x="52691" y="22293"/>
                </a:cubicBezTo>
                <a:cubicBezTo>
                  <a:pt x="52691" y="25662"/>
                  <a:pt x="49981" y="28372"/>
                  <a:pt x="46612" y="28372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55" name="Text 53"/>
          <p:cNvSpPr/>
          <p:nvPr/>
        </p:nvSpPr>
        <p:spPr>
          <a:xfrm>
            <a:off x="898525" y="5673725"/>
            <a:ext cx="3355340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正确做法：</a:t>
            </a:r>
            <a:r>
              <a:rPr lang="en-US" sz="1400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借仪器只能在致谢里</a:t>
            </a:r>
            <a:r>
              <a:rPr lang="zh-CN" altLang="en-US" sz="1400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lang="en-US" sz="1400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，绝不能用来做人情交易</a:t>
            </a: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WRITING PITFALL 01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写作雷区</a:t>
            </a:r>
            <a:r>
              <a:rPr lang="zh-CN" alt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论文署名之"乱加名字"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42265" y="1214755"/>
            <a:ext cx="11471275" cy="5344795"/>
            <a:chOff x="568" y="2387"/>
            <a:chExt cx="18065" cy="8417"/>
          </a:xfrm>
        </p:grpSpPr>
        <p:sp>
          <p:nvSpPr>
            <p:cNvPr id="5" name="Shape 3"/>
            <p:cNvSpPr/>
            <p:nvPr/>
          </p:nvSpPr>
          <p:spPr>
            <a:xfrm>
              <a:off x="597" y="2387"/>
              <a:ext cx="7944" cy="5798"/>
            </a:xfrm>
            <a:custGeom>
              <a:avLst/>
              <a:gdLst/>
              <a:ahLst/>
              <a:cxnLst/>
              <a:rect l="l" t="t" r="r" b="b"/>
              <a:pathLst>
                <a:path w="5044654" h="3681966">
                  <a:moveTo>
                    <a:pt x="36098" y="0"/>
                  </a:moveTo>
                  <a:lnTo>
                    <a:pt x="4972451" y="0"/>
                  </a:lnTo>
                  <a:cubicBezTo>
                    <a:pt x="5012328" y="0"/>
                    <a:pt x="5044654" y="32327"/>
                    <a:pt x="5044654" y="72203"/>
                  </a:cubicBezTo>
                  <a:lnTo>
                    <a:pt x="5044654" y="3609763"/>
                  </a:lnTo>
                  <a:cubicBezTo>
                    <a:pt x="5044654" y="3649639"/>
                    <a:pt x="5012328" y="3681966"/>
                    <a:pt x="4972451" y="3681966"/>
                  </a:cubicBezTo>
                  <a:lnTo>
                    <a:pt x="36098" y="3681966"/>
                  </a:lnTo>
                  <a:cubicBezTo>
                    <a:pt x="16161" y="3681966"/>
                    <a:pt x="0" y="3665804"/>
                    <a:pt x="0" y="3645868"/>
                  </a:cubicBezTo>
                  <a:lnTo>
                    <a:pt x="0" y="36098"/>
                  </a:lnTo>
                  <a:cubicBezTo>
                    <a:pt x="0" y="16175"/>
                    <a:pt x="16175" y="0"/>
                    <a:pt x="36098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35366" dist="90244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597" y="2387"/>
              <a:ext cx="57" cy="5798"/>
            </a:xfrm>
            <a:custGeom>
              <a:avLst/>
              <a:gdLst/>
              <a:ahLst/>
              <a:cxnLst/>
              <a:rect l="l" t="t" r="r" b="b"/>
              <a:pathLst>
                <a:path w="36098" h="3681966">
                  <a:moveTo>
                    <a:pt x="36098" y="0"/>
                  </a:moveTo>
                  <a:lnTo>
                    <a:pt x="36098" y="0"/>
                  </a:lnTo>
                  <a:lnTo>
                    <a:pt x="36098" y="3681966"/>
                  </a:lnTo>
                  <a:lnTo>
                    <a:pt x="36098" y="3681966"/>
                  </a:lnTo>
                  <a:cubicBezTo>
                    <a:pt x="16161" y="3681966"/>
                    <a:pt x="0" y="3665804"/>
                    <a:pt x="0" y="3645868"/>
                  </a:cubicBezTo>
                  <a:lnTo>
                    <a:pt x="0" y="36098"/>
                  </a:lnTo>
                  <a:cubicBezTo>
                    <a:pt x="0" y="16161"/>
                    <a:pt x="16161" y="0"/>
                    <a:pt x="36098" y="0"/>
                  </a:cubicBezTo>
                  <a:close/>
                </a:path>
              </a:pathLst>
            </a:custGeom>
            <a:solidFill>
              <a:srgbClr val="5D7A96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52" y="2785"/>
              <a:ext cx="256" cy="341"/>
            </a:xfrm>
            <a:custGeom>
              <a:avLst/>
              <a:gdLst/>
              <a:ahLst/>
              <a:cxnLst/>
              <a:rect l="l" t="t" r="r" b="b"/>
              <a:pathLst>
                <a:path w="162440" h="216586">
                  <a:moveTo>
                    <a:pt x="16963" y="197593"/>
                  </a:moveTo>
                  <a:lnTo>
                    <a:pt x="12225" y="201400"/>
                  </a:lnTo>
                  <a:cubicBezTo>
                    <a:pt x="10872" y="202457"/>
                    <a:pt x="9222" y="203050"/>
                    <a:pt x="7530" y="203050"/>
                  </a:cubicBezTo>
                  <a:cubicBezTo>
                    <a:pt x="3384" y="203050"/>
                    <a:pt x="0" y="199665"/>
                    <a:pt x="0" y="195520"/>
                  </a:cubicBezTo>
                  <a:lnTo>
                    <a:pt x="0" y="81220"/>
                  </a:lnTo>
                  <a:cubicBezTo>
                    <a:pt x="0" y="36380"/>
                    <a:pt x="36380" y="0"/>
                    <a:pt x="81220" y="0"/>
                  </a:cubicBezTo>
                  <a:cubicBezTo>
                    <a:pt x="126060" y="0"/>
                    <a:pt x="162440" y="36380"/>
                    <a:pt x="162440" y="81220"/>
                  </a:cubicBezTo>
                  <a:lnTo>
                    <a:pt x="162440" y="195520"/>
                  </a:lnTo>
                  <a:cubicBezTo>
                    <a:pt x="162440" y="199665"/>
                    <a:pt x="159056" y="203050"/>
                    <a:pt x="154910" y="203050"/>
                  </a:cubicBezTo>
                  <a:cubicBezTo>
                    <a:pt x="153218" y="203050"/>
                    <a:pt x="151568" y="202457"/>
                    <a:pt x="150214" y="201400"/>
                  </a:cubicBezTo>
                  <a:lnTo>
                    <a:pt x="145477" y="197593"/>
                  </a:lnTo>
                  <a:cubicBezTo>
                    <a:pt x="139808" y="193066"/>
                    <a:pt x="131602" y="193785"/>
                    <a:pt x="126821" y="199242"/>
                  </a:cubicBezTo>
                  <a:lnTo>
                    <a:pt x="113919" y="214048"/>
                  </a:lnTo>
                  <a:cubicBezTo>
                    <a:pt x="112523" y="215656"/>
                    <a:pt x="110451" y="216586"/>
                    <a:pt x="108293" y="216586"/>
                  </a:cubicBezTo>
                  <a:cubicBezTo>
                    <a:pt x="106136" y="216586"/>
                    <a:pt x="104105" y="215656"/>
                    <a:pt x="102667" y="214048"/>
                  </a:cubicBezTo>
                  <a:lnTo>
                    <a:pt x="91415" y="201146"/>
                  </a:lnTo>
                  <a:cubicBezTo>
                    <a:pt x="86042" y="194970"/>
                    <a:pt x="76440" y="194970"/>
                    <a:pt x="71025" y="201146"/>
                  </a:cubicBezTo>
                  <a:lnTo>
                    <a:pt x="59773" y="214048"/>
                  </a:lnTo>
                  <a:cubicBezTo>
                    <a:pt x="58377" y="215656"/>
                    <a:pt x="56304" y="216586"/>
                    <a:pt x="54147" y="216586"/>
                  </a:cubicBezTo>
                  <a:cubicBezTo>
                    <a:pt x="51989" y="216586"/>
                    <a:pt x="49959" y="215656"/>
                    <a:pt x="48520" y="214048"/>
                  </a:cubicBezTo>
                  <a:lnTo>
                    <a:pt x="35618" y="199242"/>
                  </a:lnTo>
                  <a:cubicBezTo>
                    <a:pt x="30838" y="193785"/>
                    <a:pt x="22632" y="193066"/>
                    <a:pt x="16963" y="197593"/>
                  </a:cubicBezTo>
                  <a:close/>
                  <a:moveTo>
                    <a:pt x="67683" y="81220"/>
                  </a:moveTo>
                  <a:cubicBezTo>
                    <a:pt x="67683" y="73749"/>
                    <a:pt x="61618" y="67683"/>
                    <a:pt x="54147" y="67683"/>
                  </a:cubicBezTo>
                  <a:cubicBezTo>
                    <a:pt x="46675" y="67683"/>
                    <a:pt x="40610" y="73749"/>
                    <a:pt x="40610" y="81220"/>
                  </a:cubicBezTo>
                  <a:cubicBezTo>
                    <a:pt x="40610" y="88691"/>
                    <a:pt x="46675" y="94756"/>
                    <a:pt x="54147" y="94756"/>
                  </a:cubicBezTo>
                  <a:cubicBezTo>
                    <a:pt x="61618" y="94756"/>
                    <a:pt x="67683" y="88691"/>
                    <a:pt x="67683" y="81220"/>
                  </a:cubicBezTo>
                  <a:close/>
                  <a:moveTo>
                    <a:pt x="108293" y="94756"/>
                  </a:moveTo>
                  <a:cubicBezTo>
                    <a:pt x="115764" y="94756"/>
                    <a:pt x="121830" y="88691"/>
                    <a:pt x="121830" y="81220"/>
                  </a:cubicBezTo>
                  <a:cubicBezTo>
                    <a:pt x="121830" y="73749"/>
                    <a:pt x="115764" y="67683"/>
                    <a:pt x="108293" y="67683"/>
                  </a:cubicBezTo>
                  <a:cubicBezTo>
                    <a:pt x="100822" y="67683"/>
                    <a:pt x="94756" y="73749"/>
                    <a:pt x="94756" y="81220"/>
                  </a:cubicBezTo>
                  <a:cubicBezTo>
                    <a:pt x="94756" y="88691"/>
                    <a:pt x="100822" y="94756"/>
                    <a:pt x="108293" y="94756"/>
                  </a:cubicBezTo>
                  <a:close/>
                </a:path>
              </a:pathLst>
            </a:custGeom>
            <a:solidFill>
              <a:srgbClr val="5D7A96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393" y="2728"/>
              <a:ext cx="6978" cy="45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什么是幽灵署名？</a:t>
              </a:r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972" y="6372"/>
              <a:ext cx="7231" cy="1305"/>
            </a:xfrm>
            <a:custGeom>
              <a:avLst/>
              <a:gdLst/>
              <a:ahLst/>
              <a:cxnLst/>
              <a:rect l="l" t="t" r="r" b="b"/>
              <a:pathLst>
                <a:path w="4591628" h="828442">
                  <a:moveTo>
                    <a:pt x="72199" y="0"/>
                  </a:moveTo>
                  <a:lnTo>
                    <a:pt x="4519429" y="0"/>
                  </a:lnTo>
                  <a:cubicBezTo>
                    <a:pt x="4559304" y="0"/>
                    <a:pt x="4591628" y="32324"/>
                    <a:pt x="4591628" y="72199"/>
                  </a:cubicBezTo>
                  <a:lnTo>
                    <a:pt x="4591628" y="756244"/>
                  </a:lnTo>
                  <a:cubicBezTo>
                    <a:pt x="4591628" y="796118"/>
                    <a:pt x="4559304" y="828442"/>
                    <a:pt x="4519429" y="828442"/>
                  </a:cubicBezTo>
                  <a:lnTo>
                    <a:pt x="72199" y="828442"/>
                  </a:lnTo>
                  <a:cubicBezTo>
                    <a:pt x="32324" y="828442"/>
                    <a:pt x="0" y="796118"/>
                    <a:pt x="0" y="756244"/>
                  </a:cubicBezTo>
                  <a:lnTo>
                    <a:pt x="0" y="72199"/>
                  </a:lnTo>
                  <a:cubicBezTo>
                    <a:pt x="0" y="32351"/>
                    <a:pt x="32351" y="0"/>
                    <a:pt x="72199" y="0"/>
                  </a:cubicBezTo>
                  <a:close/>
                </a:path>
              </a:pathLst>
            </a:custGeom>
            <a:solidFill>
              <a:srgbClr val="5D7A96">
                <a:alpha val="10196"/>
              </a:srgbClr>
            </a:solidFill>
            <a:ln w="10160">
              <a:solidFill>
                <a:srgbClr val="5D7A96">
                  <a:alpha val="30196"/>
                </a:srgbClr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205" y="6605"/>
              <a:ext cx="6893" cy="83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600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明明实验是你做的，初稿是你写的，但在最终定稿时，</a:t>
              </a:r>
              <a:r>
                <a:rPr lang="en-US" sz="1600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你的名字却"消失"了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68" y="8416"/>
              <a:ext cx="7973" cy="2388"/>
            </a:xfrm>
            <a:custGeom>
              <a:avLst/>
              <a:gdLst/>
              <a:ahLst/>
              <a:cxnLst/>
              <a:rect l="l" t="t" r="r" b="b"/>
              <a:pathLst>
                <a:path w="5062703" h="1516104">
                  <a:moveTo>
                    <a:pt x="72197" y="0"/>
                  </a:moveTo>
                  <a:lnTo>
                    <a:pt x="4990506" y="0"/>
                  </a:lnTo>
                  <a:cubicBezTo>
                    <a:pt x="5030380" y="0"/>
                    <a:pt x="5062703" y="32324"/>
                    <a:pt x="5062703" y="72197"/>
                  </a:cubicBezTo>
                  <a:lnTo>
                    <a:pt x="5062703" y="1443907"/>
                  </a:lnTo>
                  <a:cubicBezTo>
                    <a:pt x="5062703" y="1483780"/>
                    <a:pt x="5030380" y="1516104"/>
                    <a:pt x="4990506" y="1516104"/>
                  </a:cubicBezTo>
                  <a:lnTo>
                    <a:pt x="72197" y="1516104"/>
                  </a:lnTo>
                  <a:cubicBezTo>
                    <a:pt x="32324" y="1516104"/>
                    <a:pt x="0" y="1483780"/>
                    <a:pt x="0" y="1443907"/>
                  </a:cubicBezTo>
                  <a:lnTo>
                    <a:pt x="0" y="72197"/>
                  </a:lnTo>
                  <a:cubicBezTo>
                    <a:pt x="0" y="32350"/>
                    <a:pt x="32350" y="0"/>
                    <a:pt x="72197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35366" dist="90244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888" y="8757"/>
              <a:ext cx="284" cy="284"/>
            </a:xfrm>
            <a:custGeom>
              <a:avLst/>
              <a:gdLst/>
              <a:ahLst/>
              <a:cxnLst/>
              <a:rect l="l" t="t" r="r" b="b"/>
              <a:pathLst>
                <a:path w="180489" h="180489">
                  <a:moveTo>
                    <a:pt x="16921" y="50762"/>
                  </a:moveTo>
                  <a:cubicBezTo>
                    <a:pt x="26260" y="50762"/>
                    <a:pt x="33842" y="43180"/>
                    <a:pt x="33842" y="33842"/>
                  </a:cubicBezTo>
                  <a:cubicBezTo>
                    <a:pt x="33842" y="24503"/>
                    <a:pt x="26260" y="16921"/>
                    <a:pt x="16921" y="16921"/>
                  </a:cubicBezTo>
                  <a:cubicBezTo>
                    <a:pt x="7582" y="16921"/>
                    <a:pt x="0" y="24503"/>
                    <a:pt x="0" y="33842"/>
                  </a:cubicBezTo>
                  <a:cubicBezTo>
                    <a:pt x="0" y="43180"/>
                    <a:pt x="7582" y="50762"/>
                    <a:pt x="16921" y="50762"/>
                  </a:cubicBezTo>
                  <a:close/>
                  <a:moveTo>
                    <a:pt x="67683" y="22561"/>
                  </a:moveTo>
                  <a:cubicBezTo>
                    <a:pt x="61444" y="22561"/>
                    <a:pt x="56403" y="27602"/>
                    <a:pt x="56403" y="33842"/>
                  </a:cubicBezTo>
                  <a:cubicBezTo>
                    <a:pt x="56403" y="40081"/>
                    <a:pt x="61444" y="45122"/>
                    <a:pt x="67683" y="45122"/>
                  </a:cubicBezTo>
                  <a:lnTo>
                    <a:pt x="169208" y="45122"/>
                  </a:lnTo>
                  <a:cubicBezTo>
                    <a:pt x="175448" y="45122"/>
                    <a:pt x="180489" y="40081"/>
                    <a:pt x="180489" y="33842"/>
                  </a:cubicBezTo>
                  <a:cubicBezTo>
                    <a:pt x="180489" y="27602"/>
                    <a:pt x="175448" y="22561"/>
                    <a:pt x="169208" y="22561"/>
                  </a:cubicBezTo>
                  <a:lnTo>
                    <a:pt x="67683" y="22561"/>
                  </a:lnTo>
                  <a:close/>
                  <a:moveTo>
                    <a:pt x="67683" y="78964"/>
                  </a:moveTo>
                  <a:cubicBezTo>
                    <a:pt x="61444" y="78964"/>
                    <a:pt x="56403" y="84005"/>
                    <a:pt x="56403" y="90244"/>
                  </a:cubicBezTo>
                  <a:cubicBezTo>
                    <a:pt x="56403" y="96484"/>
                    <a:pt x="61444" y="101525"/>
                    <a:pt x="67683" y="101525"/>
                  </a:cubicBezTo>
                  <a:lnTo>
                    <a:pt x="169208" y="101525"/>
                  </a:lnTo>
                  <a:cubicBezTo>
                    <a:pt x="175448" y="101525"/>
                    <a:pt x="180489" y="96484"/>
                    <a:pt x="180489" y="90244"/>
                  </a:cubicBezTo>
                  <a:cubicBezTo>
                    <a:pt x="180489" y="84005"/>
                    <a:pt x="175448" y="78964"/>
                    <a:pt x="169208" y="78964"/>
                  </a:cubicBezTo>
                  <a:lnTo>
                    <a:pt x="67683" y="78964"/>
                  </a:lnTo>
                  <a:close/>
                  <a:moveTo>
                    <a:pt x="67683" y="135366"/>
                  </a:moveTo>
                  <a:cubicBezTo>
                    <a:pt x="61444" y="135366"/>
                    <a:pt x="56403" y="140407"/>
                    <a:pt x="56403" y="146647"/>
                  </a:cubicBezTo>
                  <a:cubicBezTo>
                    <a:pt x="56403" y="152886"/>
                    <a:pt x="61444" y="157927"/>
                    <a:pt x="67683" y="157927"/>
                  </a:cubicBezTo>
                  <a:lnTo>
                    <a:pt x="169208" y="157927"/>
                  </a:lnTo>
                  <a:cubicBezTo>
                    <a:pt x="175448" y="157927"/>
                    <a:pt x="180489" y="152886"/>
                    <a:pt x="180489" y="146647"/>
                  </a:cubicBezTo>
                  <a:cubicBezTo>
                    <a:pt x="180489" y="140407"/>
                    <a:pt x="175448" y="135366"/>
                    <a:pt x="169208" y="135366"/>
                  </a:cubicBezTo>
                  <a:lnTo>
                    <a:pt x="67683" y="135366"/>
                  </a:lnTo>
                  <a:close/>
                  <a:moveTo>
                    <a:pt x="16921" y="163568"/>
                  </a:moveTo>
                  <a:cubicBezTo>
                    <a:pt x="26260" y="163568"/>
                    <a:pt x="33842" y="155986"/>
                    <a:pt x="33842" y="146647"/>
                  </a:cubicBezTo>
                  <a:cubicBezTo>
                    <a:pt x="33842" y="137308"/>
                    <a:pt x="26260" y="129726"/>
                    <a:pt x="16921" y="129726"/>
                  </a:cubicBezTo>
                  <a:cubicBezTo>
                    <a:pt x="7582" y="129726"/>
                    <a:pt x="0" y="137308"/>
                    <a:pt x="0" y="146647"/>
                  </a:cubicBezTo>
                  <a:cubicBezTo>
                    <a:pt x="0" y="155986"/>
                    <a:pt x="7582" y="163568"/>
                    <a:pt x="16921" y="163568"/>
                  </a:cubicBezTo>
                  <a:close/>
                  <a:moveTo>
                    <a:pt x="33842" y="90244"/>
                  </a:moveTo>
                  <a:cubicBezTo>
                    <a:pt x="33842" y="80905"/>
                    <a:pt x="26260" y="73323"/>
                    <a:pt x="16921" y="73323"/>
                  </a:cubicBezTo>
                  <a:cubicBezTo>
                    <a:pt x="7582" y="73323"/>
                    <a:pt x="0" y="80905"/>
                    <a:pt x="0" y="90244"/>
                  </a:cubicBezTo>
                  <a:cubicBezTo>
                    <a:pt x="0" y="99583"/>
                    <a:pt x="7582" y="107165"/>
                    <a:pt x="16921" y="107165"/>
                  </a:cubicBezTo>
                  <a:cubicBezTo>
                    <a:pt x="26260" y="107165"/>
                    <a:pt x="33842" y="99583"/>
                    <a:pt x="33842" y="90244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1307" y="8643"/>
              <a:ext cx="7191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常见场景</a:t>
              </a:r>
              <a:endParaRPr lang="en-US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24" y="9325"/>
              <a:ext cx="142" cy="227"/>
            </a:xfrm>
            <a:custGeom>
              <a:avLst/>
              <a:gdLst/>
              <a:ahLst/>
              <a:cxnLst/>
              <a:rect l="l" t="t" r="r" b="b"/>
              <a:pathLst>
                <a:path w="90244" h="144391">
                  <a:moveTo>
                    <a:pt x="87734" y="65822"/>
                  </a:moveTo>
                  <a:cubicBezTo>
                    <a:pt x="91260" y="69347"/>
                    <a:pt x="91260" y="75072"/>
                    <a:pt x="87734" y="78597"/>
                  </a:cubicBezTo>
                  <a:lnTo>
                    <a:pt x="33588" y="132744"/>
                  </a:lnTo>
                  <a:cubicBezTo>
                    <a:pt x="30063" y="136269"/>
                    <a:pt x="24338" y="136269"/>
                    <a:pt x="20813" y="132744"/>
                  </a:cubicBezTo>
                  <a:cubicBezTo>
                    <a:pt x="17287" y="129219"/>
                    <a:pt x="17287" y="123494"/>
                    <a:pt x="20813" y="119968"/>
                  </a:cubicBezTo>
                  <a:lnTo>
                    <a:pt x="68586" y="72195"/>
                  </a:lnTo>
                  <a:lnTo>
                    <a:pt x="20841" y="24422"/>
                  </a:lnTo>
                  <a:cubicBezTo>
                    <a:pt x="17316" y="20897"/>
                    <a:pt x="17316" y="15172"/>
                    <a:pt x="20841" y="11647"/>
                  </a:cubicBezTo>
                  <a:cubicBezTo>
                    <a:pt x="24366" y="8122"/>
                    <a:pt x="30091" y="8122"/>
                    <a:pt x="33616" y="11647"/>
                  </a:cubicBezTo>
                  <a:lnTo>
                    <a:pt x="87763" y="65794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1307" y="9200"/>
              <a:ext cx="3241" cy="4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因"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资历浅</a:t>
              </a: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"被剥夺署名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924" y="9780"/>
              <a:ext cx="142" cy="227"/>
            </a:xfrm>
            <a:custGeom>
              <a:avLst/>
              <a:gdLst/>
              <a:ahLst/>
              <a:cxnLst/>
              <a:rect l="l" t="t" r="r" b="b"/>
              <a:pathLst>
                <a:path w="90244" h="144391">
                  <a:moveTo>
                    <a:pt x="87734" y="65822"/>
                  </a:moveTo>
                  <a:cubicBezTo>
                    <a:pt x="91260" y="69347"/>
                    <a:pt x="91260" y="75072"/>
                    <a:pt x="87734" y="78597"/>
                  </a:cubicBezTo>
                  <a:lnTo>
                    <a:pt x="33588" y="132744"/>
                  </a:lnTo>
                  <a:cubicBezTo>
                    <a:pt x="30063" y="136269"/>
                    <a:pt x="24338" y="136269"/>
                    <a:pt x="20813" y="132744"/>
                  </a:cubicBezTo>
                  <a:cubicBezTo>
                    <a:pt x="17287" y="129219"/>
                    <a:pt x="17287" y="123494"/>
                    <a:pt x="20813" y="119968"/>
                  </a:cubicBezTo>
                  <a:lnTo>
                    <a:pt x="68586" y="72195"/>
                  </a:lnTo>
                  <a:lnTo>
                    <a:pt x="20841" y="24422"/>
                  </a:lnTo>
                  <a:cubicBezTo>
                    <a:pt x="17316" y="20897"/>
                    <a:pt x="17316" y="15172"/>
                    <a:pt x="20841" y="11647"/>
                  </a:cubicBezTo>
                  <a:cubicBezTo>
                    <a:pt x="24366" y="8122"/>
                    <a:pt x="30091" y="8122"/>
                    <a:pt x="33616" y="11647"/>
                  </a:cubicBezTo>
                  <a:lnTo>
                    <a:pt x="87763" y="65794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1307" y="9655"/>
              <a:ext cx="414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因"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导师评职称需要</a:t>
              </a: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"被拿走一作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924" y="10235"/>
              <a:ext cx="142" cy="227"/>
            </a:xfrm>
            <a:custGeom>
              <a:avLst/>
              <a:gdLst/>
              <a:ahLst/>
              <a:cxnLst/>
              <a:rect l="l" t="t" r="r" b="b"/>
              <a:pathLst>
                <a:path w="90244" h="144391">
                  <a:moveTo>
                    <a:pt x="87734" y="65822"/>
                  </a:moveTo>
                  <a:cubicBezTo>
                    <a:pt x="91260" y="69347"/>
                    <a:pt x="91260" y="75072"/>
                    <a:pt x="87734" y="78597"/>
                  </a:cubicBezTo>
                  <a:lnTo>
                    <a:pt x="33588" y="132744"/>
                  </a:lnTo>
                  <a:cubicBezTo>
                    <a:pt x="30063" y="136269"/>
                    <a:pt x="24338" y="136269"/>
                    <a:pt x="20813" y="132744"/>
                  </a:cubicBezTo>
                  <a:cubicBezTo>
                    <a:pt x="17287" y="129219"/>
                    <a:pt x="17287" y="123494"/>
                    <a:pt x="20813" y="119968"/>
                  </a:cubicBezTo>
                  <a:lnTo>
                    <a:pt x="68586" y="72195"/>
                  </a:lnTo>
                  <a:lnTo>
                    <a:pt x="20841" y="24422"/>
                  </a:lnTo>
                  <a:cubicBezTo>
                    <a:pt x="17316" y="20897"/>
                    <a:pt x="17316" y="15172"/>
                    <a:pt x="20841" y="11647"/>
                  </a:cubicBezTo>
                  <a:cubicBezTo>
                    <a:pt x="24366" y="8122"/>
                    <a:pt x="30091" y="8122"/>
                    <a:pt x="33616" y="11647"/>
                  </a:cubicBezTo>
                  <a:lnTo>
                    <a:pt x="87763" y="65794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1307" y="10178"/>
              <a:ext cx="4185" cy="2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因"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同门需要评奖学金</a:t>
              </a: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"被调整顺序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885" y="2416"/>
              <a:ext cx="9749" cy="8385"/>
            </a:xfrm>
            <a:custGeom>
              <a:avLst/>
              <a:gdLst/>
              <a:ahLst/>
              <a:cxnLst/>
              <a:rect l="l" t="t" r="r" b="b"/>
              <a:pathLst>
                <a:path w="6190756" h="5324412">
                  <a:moveTo>
                    <a:pt x="36098" y="0"/>
                  </a:moveTo>
                  <a:lnTo>
                    <a:pt x="6154659" y="0"/>
                  </a:lnTo>
                  <a:cubicBezTo>
                    <a:pt x="6174595" y="0"/>
                    <a:pt x="6190756" y="16161"/>
                    <a:pt x="6190756" y="36098"/>
                  </a:cubicBezTo>
                  <a:lnTo>
                    <a:pt x="6190756" y="5252213"/>
                  </a:lnTo>
                  <a:cubicBezTo>
                    <a:pt x="6190756" y="5292087"/>
                    <a:pt x="6158432" y="5324412"/>
                    <a:pt x="6118557" y="5324412"/>
                  </a:cubicBezTo>
                  <a:lnTo>
                    <a:pt x="72199" y="5324412"/>
                  </a:lnTo>
                  <a:cubicBezTo>
                    <a:pt x="32325" y="5324412"/>
                    <a:pt x="0" y="5292087"/>
                    <a:pt x="0" y="5252213"/>
                  </a:cubicBezTo>
                  <a:lnTo>
                    <a:pt x="0" y="36098"/>
                  </a:lnTo>
                  <a:cubicBezTo>
                    <a:pt x="0" y="16175"/>
                    <a:pt x="16175" y="0"/>
                    <a:pt x="36098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35366" dist="90244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8885" y="2416"/>
              <a:ext cx="9749" cy="57"/>
            </a:xfrm>
            <a:custGeom>
              <a:avLst/>
              <a:gdLst/>
              <a:ahLst/>
              <a:cxnLst/>
              <a:rect l="l" t="t" r="r" b="b"/>
              <a:pathLst>
                <a:path w="6190756" h="36098">
                  <a:moveTo>
                    <a:pt x="36098" y="0"/>
                  </a:moveTo>
                  <a:lnTo>
                    <a:pt x="6154659" y="0"/>
                  </a:lnTo>
                  <a:cubicBezTo>
                    <a:pt x="6174595" y="0"/>
                    <a:pt x="6190756" y="16161"/>
                    <a:pt x="6190756" y="36098"/>
                  </a:cubicBezTo>
                  <a:lnTo>
                    <a:pt x="6190756" y="36098"/>
                  </a:lnTo>
                  <a:lnTo>
                    <a:pt x="0" y="36098"/>
                  </a:lnTo>
                  <a:lnTo>
                    <a:pt x="0" y="36098"/>
                  </a:lnTo>
                  <a:cubicBezTo>
                    <a:pt x="0" y="16161"/>
                    <a:pt x="16161" y="0"/>
                    <a:pt x="36098" y="0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6" name="Shape 24"/>
            <p:cNvSpPr/>
            <p:nvPr/>
          </p:nvSpPr>
          <p:spPr>
            <a:xfrm>
              <a:off x="9269" y="2842"/>
              <a:ext cx="341" cy="341"/>
            </a:xfrm>
            <a:custGeom>
              <a:avLst/>
              <a:gdLst/>
              <a:ahLst/>
              <a:cxnLst/>
              <a:rect l="l" t="t" r="r" b="b"/>
              <a:pathLst>
                <a:path w="216586" h="216586">
                  <a:moveTo>
                    <a:pt x="108293" y="0"/>
                  </a:moveTo>
                  <a:cubicBezTo>
                    <a:pt x="110239" y="0"/>
                    <a:pt x="112185" y="423"/>
                    <a:pt x="113962" y="1227"/>
                  </a:cubicBezTo>
                  <a:lnTo>
                    <a:pt x="193659" y="35026"/>
                  </a:lnTo>
                  <a:cubicBezTo>
                    <a:pt x="202965" y="38960"/>
                    <a:pt x="209903" y="48140"/>
                    <a:pt x="209860" y="59223"/>
                  </a:cubicBezTo>
                  <a:cubicBezTo>
                    <a:pt x="209649" y="101186"/>
                    <a:pt x="192389" y="177965"/>
                    <a:pt x="119503" y="212864"/>
                  </a:cubicBezTo>
                  <a:cubicBezTo>
                    <a:pt x="112439" y="216248"/>
                    <a:pt x="104232" y="216248"/>
                    <a:pt x="97168" y="212864"/>
                  </a:cubicBezTo>
                  <a:cubicBezTo>
                    <a:pt x="24239" y="177965"/>
                    <a:pt x="7022" y="101186"/>
                    <a:pt x="6811" y="59223"/>
                  </a:cubicBezTo>
                  <a:cubicBezTo>
                    <a:pt x="6768" y="48140"/>
                    <a:pt x="13706" y="38960"/>
                    <a:pt x="23012" y="35026"/>
                  </a:cubicBezTo>
                  <a:lnTo>
                    <a:pt x="102667" y="1227"/>
                  </a:lnTo>
                  <a:cubicBezTo>
                    <a:pt x="104444" y="423"/>
                    <a:pt x="106347" y="0"/>
                    <a:pt x="108293" y="0"/>
                  </a:cubicBezTo>
                  <a:close/>
                  <a:moveTo>
                    <a:pt x="108293" y="28258"/>
                  </a:moveTo>
                  <a:lnTo>
                    <a:pt x="108293" y="188202"/>
                  </a:lnTo>
                  <a:cubicBezTo>
                    <a:pt x="166670" y="159944"/>
                    <a:pt x="182364" y="97337"/>
                    <a:pt x="182745" y="59857"/>
                  </a:cubicBezTo>
                  <a:lnTo>
                    <a:pt x="108293" y="28300"/>
                  </a:lnTo>
                  <a:lnTo>
                    <a:pt x="108293" y="28300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9652" y="2785"/>
              <a:ext cx="8811" cy="45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规范底线原则</a:t>
              </a:r>
              <a:endParaRPr lang="en-US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9226" y="3467"/>
              <a:ext cx="9067" cy="1521"/>
            </a:xfrm>
            <a:custGeom>
              <a:avLst/>
              <a:gdLst/>
              <a:ahLst/>
              <a:cxnLst/>
              <a:rect l="l" t="t" r="r" b="b"/>
              <a:pathLst>
                <a:path w="5757584" h="965614">
                  <a:moveTo>
                    <a:pt x="72199" y="0"/>
                  </a:moveTo>
                  <a:lnTo>
                    <a:pt x="5685385" y="0"/>
                  </a:lnTo>
                  <a:cubicBezTo>
                    <a:pt x="5725259" y="0"/>
                    <a:pt x="5757584" y="32325"/>
                    <a:pt x="5757584" y="72199"/>
                  </a:cubicBezTo>
                  <a:lnTo>
                    <a:pt x="5757584" y="893415"/>
                  </a:lnTo>
                  <a:cubicBezTo>
                    <a:pt x="5757584" y="933289"/>
                    <a:pt x="5725259" y="965614"/>
                    <a:pt x="5685385" y="965614"/>
                  </a:cubicBezTo>
                  <a:lnTo>
                    <a:pt x="72199" y="965614"/>
                  </a:lnTo>
                  <a:cubicBezTo>
                    <a:pt x="32325" y="965614"/>
                    <a:pt x="0" y="933289"/>
                    <a:pt x="0" y="893415"/>
                  </a:cubicBezTo>
                  <a:lnTo>
                    <a:pt x="0" y="72199"/>
                  </a:lnTo>
                  <a:cubicBezTo>
                    <a:pt x="0" y="32351"/>
                    <a:pt x="32351" y="0"/>
                    <a:pt x="72199" y="0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29" name="Text 27"/>
            <p:cNvSpPr/>
            <p:nvPr/>
          </p:nvSpPr>
          <p:spPr>
            <a:xfrm>
              <a:off x="9439" y="3752"/>
              <a:ext cx="8641" cy="95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贡献与署名顺序</a:t>
              </a:r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40000"/>
                </a:lnSpc>
              </a:pPr>
              <a:r>
                <a:rPr lang="en-US" b="1" dirty="0">
                  <a:solidFill>
                    <a:srgbClr val="C4A8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必须严格匹配</a:t>
              </a:r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9254" y="5210"/>
              <a:ext cx="9039" cy="1251"/>
            </a:xfrm>
            <a:custGeom>
              <a:avLst/>
              <a:gdLst/>
              <a:ahLst/>
              <a:cxnLst/>
              <a:rect l="l" t="t" r="r" b="b"/>
              <a:pathLst>
                <a:path w="5739535" h="794150">
                  <a:moveTo>
                    <a:pt x="36098" y="0"/>
                  </a:moveTo>
                  <a:lnTo>
                    <a:pt x="5667339" y="0"/>
                  </a:lnTo>
                  <a:cubicBezTo>
                    <a:pt x="5707212" y="0"/>
                    <a:pt x="5739535" y="32323"/>
                    <a:pt x="5739535" y="72196"/>
                  </a:cubicBezTo>
                  <a:lnTo>
                    <a:pt x="5739535" y="721953"/>
                  </a:lnTo>
                  <a:cubicBezTo>
                    <a:pt x="5739535" y="761826"/>
                    <a:pt x="5707212" y="794150"/>
                    <a:pt x="5667339" y="794150"/>
                  </a:cubicBezTo>
                  <a:lnTo>
                    <a:pt x="36098" y="794150"/>
                  </a:lnTo>
                  <a:cubicBezTo>
                    <a:pt x="16161" y="794150"/>
                    <a:pt x="0" y="777988"/>
                    <a:pt x="0" y="758052"/>
                  </a:cubicBezTo>
                  <a:lnTo>
                    <a:pt x="0" y="36098"/>
                  </a:lnTo>
                  <a:cubicBezTo>
                    <a:pt x="0" y="16175"/>
                    <a:pt x="16175" y="0"/>
                    <a:pt x="36098" y="0"/>
                  </a:cubicBez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id="31" name="Shape 29"/>
            <p:cNvSpPr/>
            <p:nvPr/>
          </p:nvSpPr>
          <p:spPr>
            <a:xfrm>
              <a:off x="9254" y="5210"/>
              <a:ext cx="57" cy="1251"/>
            </a:xfrm>
            <a:custGeom>
              <a:avLst/>
              <a:gdLst/>
              <a:ahLst/>
              <a:cxnLst/>
              <a:rect l="l" t="t" r="r" b="b"/>
              <a:pathLst>
                <a:path w="36098" h="794150">
                  <a:moveTo>
                    <a:pt x="36098" y="0"/>
                  </a:moveTo>
                  <a:lnTo>
                    <a:pt x="36098" y="0"/>
                  </a:lnTo>
                  <a:lnTo>
                    <a:pt x="36098" y="794150"/>
                  </a:lnTo>
                  <a:lnTo>
                    <a:pt x="36098" y="794150"/>
                  </a:lnTo>
                  <a:cubicBezTo>
                    <a:pt x="16161" y="794150"/>
                    <a:pt x="0" y="777988"/>
                    <a:pt x="0" y="758052"/>
                  </a:cubicBezTo>
                  <a:lnTo>
                    <a:pt x="0" y="36098"/>
                  </a:lnTo>
                  <a:cubicBezTo>
                    <a:pt x="0" y="16161"/>
                    <a:pt x="16161" y="0"/>
                    <a:pt x="36098" y="0"/>
                  </a:cubicBezTo>
                  <a:close/>
                </a:path>
              </a:pathLst>
            </a:custGeom>
            <a:solidFill>
              <a:srgbClr val="E7000B"/>
            </a:solidFill>
          </p:spPr>
        </p:sp>
        <p:sp>
          <p:nvSpPr>
            <p:cNvPr id="32" name="Shape 30"/>
            <p:cNvSpPr/>
            <p:nvPr/>
          </p:nvSpPr>
          <p:spPr>
            <a:xfrm>
              <a:off x="9553" y="5437"/>
              <a:ext cx="341" cy="341"/>
            </a:xfrm>
            <a:custGeom>
              <a:avLst/>
              <a:gdLst/>
              <a:ahLst/>
              <a:cxnLst/>
              <a:rect l="l" t="t" r="r" b="b"/>
              <a:pathLst>
                <a:path w="216586" h="216586">
                  <a:moveTo>
                    <a:pt x="108293" y="216586"/>
                  </a:moveTo>
                  <a:cubicBezTo>
                    <a:pt x="168062" y="216586"/>
                    <a:pt x="216586" y="168062"/>
                    <a:pt x="216586" y="108293"/>
                  </a:cubicBezTo>
                  <a:cubicBezTo>
                    <a:pt x="216586" y="48525"/>
                    <a:pt x="168062" y="0"/>
                    <a:pt x="108293" y="0"/>
                  </a:cubicBezTo>
                  <a:cubicBezTo>
                    <a:pt x="48525" y="0"/>
                    <a:pt x="0" y="48525"/>
                    <a:pt x="0" y="108293"/>
                  </a:cubicBezTo>
                  <a:cubicBezTo>
                    <a:pt x="0" y="168062"/>
                    <a:pt x="48525" y="216586"/>
                    <a:pt x="108293" y="216586"/>
                  </a:cubicBezTo>
                  <a:close/>
                  <a:moveTo>
                    <a:pt x="70644" y="70644"/>
                  </a:moveTo>
                  <a:cubicBezTo>
                    <a:pt x="74621" y="66668"/>
                    <a:pt x="81051" y="66668"/>
                    <a:pt x="84985" y="70644"/>
                  </a:cubicBezTo>
                  <a:lnTo>
                    <a:pt x="108251" y="93910"/>
                  </a:lnTo>
                  <a:lnTo>
                    <a:pt x="131517" y="70644"/>
                  </a:lnTo>
                  <a:cubicBezTo>
                    <a:pt x="135493" y="66668"/>
                    <a:pt x="141923" y="66668"/>
                    <a:pt x="145857" y="70644"/>
                  </a:cubicBezTo>
                  <a:cubicBezTo>
                    <a:pt x="149791" y="74621"/>
                    <a:pt x="149834" y="81051"/>
                    <a:pt x="145857" y="84985"/>
                  </a:cubicBezTo>
                  <a:lnTo>
                    <a:pt x="122591" y="108251"/>
                  </a:lnTo>
                  <a:lnTo>
                    <a:pt x="145857" y="131517"/>
                  </a:lnTo>
                  <a:cubicBezTo>
                    <a:pt x="149834" y="135493"/>
                    <a:pt x="149834" y="141923"/>
                    <a:pt x="145857" y="145857"/>
                  </a:cubicBezTo>
                  <a:cubicBezTo>
                    <a:pt x="141881" y="149791"/>
                    <a:pt x="135451" y="149834"/>
                    <a:pt x="131517" y="145857"/>
                  </a:cubicBezTo>
                  <a:lnTo>
                    <a:pt x="108251" y="122591"/>
                  </a:lnTo>
                  <a:lnTo>
                    <a:pt x="84985" y="145857"/>
                  </a:lnTo>
                  <a:cubicBezTo>
                    <a:pt x="81008" y="149834"/>
                    <a:pt x="74578" y="149834"/>
                    <a:pt x="70644" y="145857"/>
                  </a:cubicBezTo>
                  <a:cubicBezTo>
                    <a:pt x="66710" y="141881"/>
                    <a:pt x="66668" y="135451"/>
                    <a:pt x="70644" y="131517"/>
                  </a:cubicBezTo>
                  <a:lnTo>
                    <a:pt x="93910" y="108251"/>
                  </a:lnTo>
                  <a:lnTo>
                    <a:pt x="70644" y="84985"/>
                  </a:lnTo>
                  <a:cubicBezTo>
                    <a:pt x="66668" y="81008"/>
                    <a:pt x="66668" y="74578"/>
                    <a:pt x="70644" y="70644"/>
                  </a:cubicBezTo>
                  <a:close/>
                </a:path>
              </a:pathLst>
            </a:custGeom>
            <a:solidFill>
              <a:srgbClr val="E7000B"/>
            </a:solidFill>
          </p:spPr>
        </p:sp>
        <p:sp>
          <p:nvSpPr>
            <p:cNvPr id="33" name="Text 31"/>
            <p:cNvSpPr/>
            <p:nvPr/>
          </p:nvSpPr>
          <p:spPr>
            <a:xfrm>
              <a:off x="10062" y="5380"/>
              <a:ext cx="5813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C1000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严重违规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107" y="5700"/>
              <a:ext cx="7537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任何人，哪怕是导师，利用权力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剥夺实质贡献者的署名权</a:t>
              </a:r>
              <a:endParaRPr lang="en-US" sz="14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9254" y="6688"/>
              <a:ext cx="9039" cy="1251"/>
            </a:xfrm>
            <a:custGeom>
              <a:avLst/>
              <a:gdLst/>
              <a:ahLst/>
              <a:cxnLst/>
              <a:rect l="l" t="t" r="r" b="b"/>
              <a:pathLst>
                <a:path w="5739535" h="794150">
                  <a:moveTo>
                    <a:pt x="36098" y="0"/>
                  </a:moveTo>
                  <a:lnTo>
                    <a:pt x="5667339" y="0"/>
                  </a:lnTo>
                  <a:cubicBezTo>
                    <a:pt x="5707212" y="0"/>
                    <a:pt x="5739535" y="32323"/>
                    <a:pt x="5739535" y="72196"/>
                  </a:cubicBezTo>
                  <a:lnTo>
                    <a:pt x="5739535" y="721953"/>
                  </a:lnTo>
                  <a:cubicBezTo>
                    <a:pt x="5739535" y="761826"/>
                    <a:pt x="5707212" y="794150"/>
                    <a:pt x="5667339" y="794150"/>
                  </a:cubicBezTo>
                  <a:lnTo>
                    <a:pt x="36098" y="794150"/>
                  </a:lnTo>
                  <a:cubicBezTo>
                    <a:pt x="16161" y="794150"/>
                    <a:pt x="0" y="777988"/>
                    <a:pt x="0" y="758052"/>
                  </a:cubicBezTo>
                  <a:lnTo>
                    <a:pt x="0" y="36098"/>
                  </a:lnTo>
                  <a:cubicBezTo>
                    <a:pt x="0" y="16175"/>
                    <a:pt x="16175" y="0"/>
                    <a:pt x="36098" y="0"/>
                  </a:cubicBezTo>
                  <a:close/>
                </a:path>
              </a:pathLst>
            </a:custGeom>
            <a:solidFill>
              <a:srgbClr val="C4A87A">
                <a:alpha val="10196"/>
              </a:srgbClr>
            </a:solidFill>
          </p:spPr>
        </p:sp>
        <p:sp>
          <p:nvSpPr>
            <p:cNvPr id="36" name="Shape 34"/>
            <p:cNvSpPr/>
            <p:nvPr/>
          </p:nvSpPr>
          <p:spPr>
            <a:xfrm>
              <a:off x="9254" y="6688"/>
              <a:ext cx="57" cy="1251"/>
            </a:xfrm>
            <a:custGeom>
              <a:avLst/>
              <a:gdLst/>
              <a:ahLst/>
              <a:cxnLst/>
              <a:rect l="l" t="t" r="r" b="b"/>
              <a:pathLst>
                <a:path w="36098" h="794150">
                  <a:moveTo>
                    <a:pt x="36098" y="0"/>
                  </a:moveTo>
                  <a:lnTo>
                    <a:pt x="36098" y="0"/>
                  </a:lnTo>
                  <a:lnTo>
                    <a:pt x="36098" y="794150"/>
                  </a:lnTo>
                  <a:lnTo>
                    <a:pt x="36098" y="794150"/>
                  </a:lnTo>
                  <a:cubicBezTo>
                    <a:pt x="16161" y="794150"/>
                    <a:pt x="0" y="777988"/>
                    <a:pt x="0" y="758052"/>
                  </a:cubicBezTo>
                  <a:lnTo>
                    <a:pt x="0" y="36098"/>
                  </a:lnTo>
                  <a:cubicBezTo>
                    <a:pt x="0" y="16161"/>
                    <a:pt x="16161" y="0"/>
                    <a:pt x="36098" y="0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37" name="Shape 35"/>
            <p:cNvSpPr/>
            <p:nvPr/>
          </p:nvSpPr>
          <p:spPr>
            <a:xfrm>
              <a:off x="9510" y="6915"/>
              <a:ext cx="426" cy="341"/>
            </a:xfrm>
            <a:custGeom>
              <a:avLst/>
              <a:gdLst/>
              <a:ahLst/>
              <a:cxnLst/>
              <a:rect l="l" t="t" r="r" b="b"/>
              <a:pathLst>
                <a:path w="270733" h="216586">
                  <a:moveTo>
                    <a:pt x="162440" y="13537"/>
                  </a:moveTo>
                  <a:lnTo>
                    <a:pt x="216586" y="13537"/>
                  </a:lnTo>
                  <a:cubicBezTo>
                    <a:pt x="224074" y="13537"/>
                    <a:pt x="230123" y="19586"/>
                    <a:pt x="230123" y="27073"/>
                  </a:cubicBezTo>
                  <a:cubicBezTo>
                    <a:pt x="230123" y="34561"/>
                    <a:pt x="224074" y="40610"/>
                    <a:pt x="216586" y="40610"/>
                  </a:cubicBezTo>
                  <a:lnTo>
                    <a:pt x="168531" y="40610"/>
                  </a:lnTo>
                  <a:cubicBezTo>
                    <a:pt x="166331" y="51524"/>
                    <a:pt x="158844" y="60534"/>
                    <a:pt x="148903" y="64849"/>
                  </a:cubicBezTo>
                  <a:lnTo>
                    <a:pt x="148903" y="189513"/>
                  </a:lnTo>
                  <a:lnTo>
                    <a:pt x="216586" y="189513"/>
                  </a:lnTo>
                  <a:cubicBezTo>
                    <a:pt x="224074" y="189513"/>
                    <a:pt x="230123" y="195562"/>
                    <a:pt x="230123" y="203050"/>
                  </a:cubicBezTo>
                  <a:cubicBezTo>
                    <a:pt x="230123" y="210537"/>
                    <a:pt x="224074" y="216586"/>
                    <a:pt x="216586" y="216586"/>
                  </a:cubicBezTo>
                  <a:lnTo>
                    <a:pt x="54147" y="216586"/>
                  </a:lnTo>
                  <a:cubicBezTo>
                    <a:pt x="46659" y="216586"/>
                    <a:pt x="40610" y="210537"/>
                    <a:pt x="40610" y="203050"/>
                  </a:cubicBezTo>
                  <a:cubicBezTo>
                    <a:pt x="40610" y="195562"/>
                    <a:pt x="46659" y="189513"/>
                    <a:pt x="54147" y="189513"/>
                  </a:cubicBezTo>
                  <a:lnTo>
                    <a:pt x="121830" y="189513"/>
                  </a:lnTo>
                  <a:lnTo>
                    <a:pt x="121830" y="64849"/>
                  </a:lnTo>
                  <a:cubicBezTo>
                    <a:pt x="111889" y="60492"/>
                    <a:pt x="104401" y="51482"/>
                    <a:pt x="102202" y="40610"/>
                  </a:cubicBezTo>
                  <a:lnTo>
                    <a:pt x="54147" y="40610"/>
                  </a:lnTo>
                  <a:cubicBezTo>
                    <a:pt x="46659" y="40610"/>
                    <a:pt x="40610" y="34561"/>
                    <a:pt x="40610" y="27073"/>
                  </a:cubicBezTo>
                  <a:cubicBezTo>
                    <a:pt x="40610" y="19586"/>
                    <a:pt x="46659" y="13537"/>
                    <a:pt x="54147" y="13537"/>
                  </a:cubicBezTo>
                  <a:lnTo>
                    <a:pt x="108293" y="13537"/>
                  </a:lnTo>
                  <a:cubicBezTo>
                    <a:pt x="114469" y="5330"/>
                    <a:pt x="124283" y="0"/>
                    <a:pt x="135366" y="0"/>
                  </a:cubicBezTo>
                  <a:cubicBezTo>
                    <a:pt x="146450" y="0"/>
                    <a:pt x="156264" y="5330"/>
                    <a:pt x="162440" y="13537"/>
                  </a:cubicBezTo>
                  <a:close/>
                  <a:moveTo>
                    <a:pt x="185960" y="135366"/>
                  </a:moveTo>
                  <a:lnTo>
                    <a:pt x="247213" y="135366"/>
                  </a:lnTo>
                  <a:lnTo>
                    <a:pt x="216586" y="82827"/>
                  </a:lnTo>
                  <a:lnTo>
                    <a:pt x="185960" y="135366"/>
                  </a:lnTo>
                  <a:close/>
                  <a:moveTo>
                    <a:pt x="216586" y="175976"/>
                  </a:moveTo>
                  <a:cubicBezTo>
                    <a:pt x="189978" y="175976"/>
                    <a:pt x="167854" y="161594"/>
                    <a:pt x="163286" y="142600"/>
                  </a:cubicBezTo>
                  <a:cubicBezTo>
                    <a:pt x="162186" y="137947"/>
                    <a:pt x="163709" y="133167"/>
                    <a:pt x="166120" y="129021"/>
                  </a:cubicBezTo>
                  <a:lnTo>
                    <a:pt x="206391" y="59984"/>
                  </a:lnTo>
                  <a:cubicBezTo>
                    <a:pt x="208507" y="56346"/>
                    <a:pt x="212398" y="54147"/>
                    <a:pt x="216586" y="54147"/>
                  </a:cubicBezTo>
                  <a:cubicBezTo>
                    <a:pt x="220774" y="54147"/>
                    <a:pt x="224666" y="56389"/>
                    <a:pt x="226781" y="59984"/>
                  </a:cubicBezTo>
                  <a:lnTo>
                    <a:pt x="267053" y="129021"/>
                  </a:lnTo>
                  <a:cubicBezTo>
                    <a:pt x="269464" y="133167"/>
                    <a:pt x="270987" y="137947"/>
                    <a:pt x="269887" y="142600"/>
                  </a:cubicBezTo>
                  <a:cubicBezTo>
                    <a:pt x="265318" y="161551"/>
                    <a:pt x="243194" y="175976"/>
                    <a:pt x="216586" y="175976"/>
                  </a:cubicBezTo>
                  <a:close/>
                  <a:moveTo>
                    <a:pt x="53639" y="82827"/>
                  </a:moveTo>
                  <a:lnTo>
                    <a:pt x="23012" y="135366"/>
                  </a:lnTo>
                  <a:lnTo>
                    <a:pt x="84308" y="135366"/>
                  </a:lnTo>
                  <a:lnTo>
                    <a:pt x="53639" y="82827"/>
                  </a:lnTo>
                  <a:close/>
                  <a:moveTo>
                    <a:pt x="381" y="142600"/>
                  </a:moveTo>
                  <a:cubicBezTo>
                    <a:pt x="-719" y="137947"/>
                    <a:pt x="804" y="133167"/>
                    <a:pt x="3215" y="129021"/>
                  </a:cubicBezTo>
                  <a:lnTo>
                    <a:pt x="43486" y="59984"/>
                  </a:lnTo>
                  <a:cubicBezTo>
                    <a:pt x="45602" y="56346"/>
                    <a:pt x="49493" y="54147"/>
                    <a:pt x="53681" y="54147"/>
                  </a:cubicBezTo>
                  <a:cubicBezTo>
                    <a:pt x="57869" y="54147"/>
                    <a:pt x="61761" y="56389"/>
                    <a:pt x="63876" y="59984"/>
                  </a:cubicBezTo>
                  <a:lnTo>
                    <a:pt x="104148" y="129021"/>
                  </a:lnTo>
                  <a:cubicBezTo>
                    <a:pt x="106559" y="133167"/>
                    <a:pt x="108082" y="137947"/>
                    <a:pt x="106982" y="142600"/>
                  </a:cubicBezTo>
                  <a:cubicBezTo>
                    <a:pt x="102413" y="161551"/>
                    <a:pt x="80289" y="175976"/>
                    <a:pt x="53681" y="175976"/>
                  </a:cubicBezTo>
                  <a:cubicBezTo>
                    <a:pt x="27073" y="175976"/>
                    <a:pt x="4949" y="161594"/>
                    <a:pt x="381" y="142600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38" name="Text 36"/>
            <p:cNvSpPr/>
            <p:nvPr/>
          </p:nvSpPr>
          <p:spPr>
            <a:xfrm>
              <a:off x="10107" y="6858"/>
              <a:ext cx="5130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本质问题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0107" y="7370"/>
              <a:ext cx="6541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不仅违背学术道德，本质上也是对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知识产权的侵犯</a:t>
              </a:r>
              <a:endParaRPr lang="en-US" sz="14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9232" y="8171"/>
              <a:ext cx="9050" cy="1262"/>
            </a:xfrm>
            <a:custGeom>
              <a:avLst/>
              <a:gdLst/>
              <a:ahLst/>
              <a:cxnLst/>
              <a:rect l="l" t="t" r="r" b="b"/>
              <a:pathLst>
                <a:path w="5746755" h="801369">
                  <a:moveTo>
                    <a:pt x="72195" y="0"/>
                  </a:moveTo>
                  <a:lnTo>
                    <a:pt x="5674559" y="0"/>
                  </a:lnTo>
                  <a:cubicBezTo>
                    <a:pt x="5714432" y="0"/>
                    <a:pt x="5746755" y="32323"/>
                    <a:pt x="5746755" y="72195"/>
                  </a:cubicBezTo>
                  <a:lnTo>
                    <a:pt x="5746755" y="729174"/>
                  </a:lnTo>
                  <a:cubicBezTo>
                    <a:pt x="5746755" y="769046"/>
                    <a:pt x="5714432" y="801369"/>
                    <a:pt x="5674559" y="801369"/>
                  </a:cubicBezTo>
                  <a:lnTo>
                    <a:pt x="72195" y="801369"/>
                  </a:lnTo>
                  <a:cubicBezTo>
                    <a:pt x="32323" y="801369"/>
                    <a:pt x="0" y="769046"/>
                    <a:pt x="0" y="729174"/>
                  </a:cubicBezTo>
                  <a:lnTo>
                    <a:pt x="0" y="72195"/>
                  </a:lnTo>
                  <a:cubicBezTo>
                    <a:pt x="0" y="32350"/>
                    <a:pt x="32350" y="0"/>
                    <a:pt x="72195" y="0"/>
                  </a:cubicBezTo>
                  <a:close/>
                </a:path>
              </a:pathLst>
            </a:custGeom>
            <a:solidFill>
              <a:srgbClr val="F8F9FA"/>
            </a:solidFill>
            <a:ln w="10160">
              <a:solidFill>
                <a:srgbClr val="1A3A5C">
                  <a:alpha val="20000"/>
                </a:srgbClr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9529" y="8404"/>
              <a:ext cx="298" cy="341"/>
            </a:xfrm>
            <a:custGeom>
              <a:avLst/>
              <a:gdLst/>
              <a:ahLst/>
              <a:cxnLst/>
              <a:rect l="l" t="t" r="r" b="b"/>
              <a:pathLst>
                <a:path w="189513" h="216586">
                  <a:moveTo>
                    <a:pt x="102075" y="-5499"/>
                  </a:moveTo>
                  <a:cubicBezTo>
                    <a:pt x="97252" y="-6472"/>
                    <a:pt x="92303" y="-6472"/>
                    <a:pt x="87481" y="-5499"/>
                  </a:cubicBezTo>
                  <a:lnTo>
                    <a:pt x="8164" y="10364"/>
                  </a:lnTo>
                  <a:cubicBezTo>
                    <a:pt x="3426" y="11295"/>
                    <a:pt x="0" y="15483"/>
                    <a:pt x="0" y="20305"/>
                  </a:cubicBezTo>
                  <a:cubicBezTo>
                    <a:pt x="0" y="24662"/>
                    <a:pt x="2750" y="28469"/>
                    <a:pt x="6768" y="29865"/>
                  </a:cubicBezTo>
                  <a:lnTo>
                    <a:pt x="6768" y="60915"/>
                  </a:lnTo>
                  <a:lnTo>
                    <a:pt x="127" y="94164"/>
                  </a:lnTo>
                  <a:cubicBezTo>
                    <a:pt x="42" y="94545"/>
                    <a:pt x="0" y="94968"/>
                    <a:pt x="0" y="95391"/>
                  </a:cubicBezTo>
                  <a:cubicBezTo>
                    <a:pt x="0" y="98775"/>
                    <a:pt x="2750" y="101567"/>
                    <a:pt x="6176" y="101567"/>
                  </a:cubicBezTo>
                  <a:lnTo>
                    <a:pt x="20939" y="101567"/>
                  </a:lnTo>
                  <a:cubicBezTo>
                    <a:pt x="24324" y="101567"/>
                    <a:pt x="27116" y="98817"/>
                    <a:pt x="27116" y="95391"/>
                  </a:cubicBezTo>
                  <a:cubicBezTo>
                    <a:pt x="27116" y="94968"/>
                    <a:pt x="27073" y="94587"/>
                    <a:pt x="26989" y="94164"/>
                  </a:cubicBezTo>
                  <a:lnTo>
                    <a:pt x="20305" y="60915"/>
                  </a:lnTo>
                  <a:lnTo>
                    <a:pt x="20305" y="32699"/>
                  </a:lnTo>
                  <a:lnTo>
                    <a:pt x="40610" y="36760"/>
                  </a:lnTo>
                  <a:lnTo>
                    <a:pt x="40610" y="60915"/>
                  </a:lnTo>
                  <a:cubicBezTo>
                    <a:pt x="40610" y="90822"/>
                    <a:pt x="64849" y="115061"/>
                    <a:pt x="94756" y="115061"/>
                  </a:cubicBezTo>
                  <a:cubicBezTo>
                    <a:pt x="124664" y="115061"/>
                    <a:pt x="148903" y="90822"/>
                    <a:pt x="148903" y="60915"/>
                  </a:cubicBezTo>
                  <a:lnTo>
                    <a:pt x="148903" y="36760"/>
                  </a:lnTo>
                  <a:lnTo>
                    <a:pt x="181349" y="30288"/>
                  </a:lnTo>
                  <a:cubicBezTo>
                    <a:pt x="186086" y="29315"/>
                    <a:pt x="189513" y="25127"/>
                    <a:pt x="189513" y="20305"/>
                  </a:cubicBezTo>
                  <a:cubicBezTo>
                    <a:pt x="189513" y="15483"/>
                    <a:pt x="186086" y="11295"/>
                    <a:pt x="181349" y="10364"/>
                  </a:cubicBezTo>
                  <a:lnTo>
                    <a:pt x="102075" y="-5499"/>
                  </a:lnTo>
                  <a:close/>
                  <a:moveTo>
                    <a:pt x="94756" y="94756"/>
                  </a:moveTo>
                  <a:cubicBezTo>
                    <a:pt x="76059" y="94756"/>
                    <a:pt x="60915" y="79612"/>
                    <a:pt x="60915" y="60915"/>
                  </a:cubicBezTo>
                  <a:lnTo>
                    <a:pt x="128598" y="60915"/>
                  </a:lnTo>
                  <a:cubicBezTo>
                    <a:pt x="128598" y="79612"/>
                    <a:pt x="113454" y="94756"/>
                    <a:pt x="94756" y="94756"/>
                  </a:cubicBezTo>
                  <a:close/>
                  <a:moveTo>
                    <a:pt x="50805" y="135409"/>
                  </a:moveTo>
                  <a:cubicBezTo>
                    <a:pt x="24831" y="147338"/>
                    <a:pt x="6768" y="173565"/>
                    <a:pt x="6768" y="204023"/>
                  </a:cubicBezTo>
                  <a:cubicBezTo>
                    <a:pt x="6768" y="210960"/>
                    <a:pt x="12394" y="216586"/>
                    <a:pt x="19332" y="216586"/>
                  </a:cubicBezTo>
                  <a:lnTo>
                    <a:pt x="84604" y="216586"/>
                  </a:lnTo>
                  <a:lnTo>
                    <a:pt x="84604" y="154825"/>
                  </a:lnTo>
                  <a:lnTo>
                    <a:pt x="60323" y="136635"/>
                  </a:lnTo>
                  <a:cubicBezTo>
                    <a:pt x="57573" y="134563"/>
                    <a:pt x="53893" y="134013"/>
                    <a:pt x="50762" y="135451"/>
                  </a:cubicBezTo>
                  <a:close/>
                  <a:moveTo>
                    <a:pt x="104909" y="216586"/>
                  </a:moveTo>
                  <a:lnTo>
                    <a:pt x="170181" y="216586"/>
                  </a:lnTo>
                  <a:cubicBezTo>
                    <a:pt x="177118" y="216586"/>
                    <a:pt x="182745" y="210960"/>
                    <a:pt x="182745" y="204023"/>
                  </a:cubicBezTo>
                  <a:cubicBezTo>
                    <a:pt x="182745" y="173565"/>
                    <a:pt x="164682" y="147338"/>
                    <a:pt x="138708" y="135451"/>
                  </a:cubicBezTo>
                  <a:cubicBezTo>
                    <a:pt x="135578" y="134013"/>
                    <a:pt x="131898" y="134563"/>
                    <a:pt x="129148" y="136635"/>
                  </a:cubicBezTo>
                  <a:lnTo>
                    <a:pt x="104867" y="154825"/>
                  </a:lnTo>
                  <a:lnTo>
                    <a:pt x="104867" y="216586"/>
                  </a:ln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42" name="Text 40"/>
            <p:cNvSpPr/>
            <p:nvPr/>
          </p:nvSpPr>
          <p:spPr>
            <a:xfrm>
              <a:off x="10062" y="8348"/>
              <a:ext cx="5287" cy="3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学生困境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10062" y="8746"/>
              <a:ext cx="7381" cy="5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辛辛苦苦干活的同学，最终成了论文背后的"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隐形人</a:t>
              </a: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"</a:t>
              </a:r>
              <a:endParaRPr lang="en-US" sz="14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9226" y="9666"/>
              <a:ext cx="9067" cy="796"/>
            </a:xfrm>
            <a:custGeom>
              <a:avLst/>
              <a:gdLst/>
              <a:ahLst/>
              <a:cxnLst/>
              <a:rect l="l" t="t" r="r" b="b"/>
              <a:pathLst>
                <a:path w="5757584" h="505368">
                  <a:moveTo>
                    <a:pt x="72197" y="0"/>
                  </a:moveTo>
                  <a:lnTo>
                    <a:pt x="5685387" y="0"/>
                  </a:lnTo>
                  <a:cubicBezTo>
                    <a:pt x="5725260" y="0"/>
                    <a:pt x="5757584" y="32324"/>
                    <a:pt x="5757584" y="72197"/>
                  </a:cubicBezTo>
                  <a:lnTo>
                    <a:pt x="5757584" y="433171"/>
                  </a:lnTo>
                  <a:cubicBezTo>
                    <a:pt x="5757584" y="473044"/>
                    <a:pt x="5725260" y="505368"/>
                    <a:pt x="5685387" y="505368"/>
                  </a:cubicBezTo>
                  <a:lnTo>
                    <a:pt x="72197" y="505368"/>
                  </a:lnTo>
                  <a:cubicBezTo>
                    <a:pt x="32324" y="505368"/>
                    <a:pt x="0" y="473044"/>
                    <a:pt x="0" y="433171"/>
                  </a:cubicBezTo>
                  <a:lnTo>
                    <a:pt x="0" y="72197"/>
                  </a:lnTo>
                  <a:cubicBezTo>
                    <a:pt x="0" y="32350"/>
                    <a:pt x="32350" y="0"/>
                    <a:pt x="72197" y="0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45" name="Shape 43"/>
            <p:cNvSpPr/>
            <p:nvPr/>
          </p:nvSpPr>
          <p:spPr>
            <a:xfrm>
              <a:off x="9681" y="9951"/>
              <a:ext cx="256" cy="227"/>
            </a:xfrm>
            <a:custGeom>
              <a:avLst/>
              <a:gdLst/>
              <a:ahLst/>
              <a:cxnLst/>
              <a:rect l="l" t="t" r="r" b="b"/>
              <a:pathLst>
                <a:path w="162440" h="144391">
                  <a:moveTo>
                    <a:pt x="47829" y="43261"/>
                  </a:moveTo>
                  <a:lnTo>
                    <a:pt x="42556" y="37987"/>
                  </a:lnTo>
                  <a:cubicBezTo>
                    <a:pt x="39031" y="34462"/>
                    <a:pt x="39031" y="28737"/>
                    <a:pt x="42556" y="25212"/>
                  </a:cubicBezTo>
                  <a:lnTo>
                    <a:pt x="74903" y="-7163"/>
                  </a:lnTo>
                  <a:cubicBezTo>
                    <a:pt x="78428" y="-10688"/>
                    <a:pt x="84153" y="-10688"/>
                    <a:pt x="87678" y="-7163"/>
                  </a:cubicBezTo>
                  <a:lnTo>
                    <a:pt x="92952" y="-1861"/>
                  </a:lnTo>
                  <a:cubicBezTo>
                    <a:pt x="96477" y="1664"/>
                    <a:pt x="96477" y="7389"/>
                    <a:pt x="92952" y="10914"/>
                  </a:cubicBezTo>
                  <a:lnTo>
                    <a:pt x="60605" y="43261"/>
                  </a:lnTo>
                  <a:cubicBezTo>
                    <a:pt x="57079" y="46786"/>
                    <a:pt x="51355" y="46786"/>
                    <a:pt x="47829" y="43261"/>
                  </a:cubicBezTo>
                  <a:close/>
                  <a:moveTo>
                    <a:pt x="77836" y="59702"/>
                  </a:moveTo>
                  <a:lnTo>
                    <a:pt x="68980" y="50847"/>
                  </a:lnTo>
                  <a:lnTo>
                    <a:pt x="100566" y="19262"/>
                  </a:lnTo>
                  <a:lnTo>
                    <a:pt x="134238" y="52934"/>
                  </a:lnTo>
                  <a:lnTo>
                    <a:pt x="102653" y="84519"/>
                  </a:lnTo>
                  <a:lnTo>
                    <a:pt x="93798" y="75664"/>
                  </a:lnTo>
                  <a:lnTo>
                    <a:pt x="28371" y="141091"/>
                  </a:lnTo>
                  <a:cubicBezTo>
                    <a:pt x="23971" y="145491"/>
                    <a:pt x="16836" y="145491"/>
                    <a:pt x="12409" y="141091"/>
                  </a:cubicBezTo>
                  <a:cubicBezTo>
                    <a:pt x="7981" y="136692"/>
                    <a:pt x="8009" y="129557"/>
                    <a:pt x="12409" y="125129"/>
                  </a:cubicBezTo>
                  <a:lnTo>
                    <a:pt x="77836" y="59702"/>
                  </a:lnTo>
                  <a:close/>
                  <a:moveTo>
                    <a:pt x="110239" y="105642"/>
                  </a:moveTo>
                  <a:cubicBezTo>
                    <a:pt x="106714" y="102117"/>
                    <a:pt x="106714" y="96392"/>
                    <a:pt x="110239" y="92867"/>
                  </a:cubicBezTo>
                  <a:lnTo>
                    <a:pt x="142586" y="60520"/>
                  </a:lnTo>
                  <a:cubicBezTo>
                    <a:pt x="146111" y="56995"/>
                    <a:pt x="151836" y="56995"/>
                    <a:pt x="155361" y="60520"/>
                  </a:cubicBezTo>
                  <a:lnTo>
                    <a:pt x="160635" y="65794"/>
                  </a:lnTo>
                  <a:cubicBezTo>
                    <a:pt x="164160" y="69319"/>
                    <a:pt x="164160" y="75044"/>
                    <a:pt x="160635" y="78569"/>
                  </a:cubicBezTo>
                  <a:lnTo>
                    <a:pt x="128288" y="110944"/>
                  </a:lnTo>
                  <a:cubicBezTo>
                    <a:pt x="124763" y="114469"/>
                    <a:pt x="119038" y="114469"/>
                    <a:pt x="115513" y="110944"/>
                  </a:cubicBezTo>
                  <a:lnTo>
                    <a:pt x="110239" y="105670"/>
                  </a:ln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9827" y="9894"/>
              <a:ext cx="8442" cy="3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署名权是学术工作者的基本权利，不容侵犯！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7" name="图片 46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239" y="3397"/>
              <a:ext cx="4670" cy="2381"/>
            </a:xfrm>
            <a:prstGeom prst="rect">
              <a:avLst/>
            </a:prstGeom>
          </p:spPr>
        </p:pic>
      </p:grpSp>
      <p:sp>
        <p:nvSpPr>
          <p:cNvPr id="10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写作雷区</a:t>
            </a:r>
            <a:r>
              <a:rPr lang="zh-CN" alt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论文署名之"剥夺名字"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WRITING PITFALL 02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WRITING PITFALL 03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写作雷区三：科研数据的"所有权"之争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00050" y="1609725"/>
            <a:ext cx="5581650" cy="1800225"/>
          </a:xfrm>
          <a:custGeom>
            <a:avLst/>
            <a:gdLst/>
            <a:ahLst/>
            <a:cxnLst/>
            <a:rect l="l" t="t" r="r" b="b"/>
            <a:pathLst>
              <a:path w="5581650" h="2190750">
                <a:moveTo>
                  <a:pt x="38100" y="0"/>
                </a:moveTo>
                <a:lnTo>
                  <a:pt x="5505456" y="0"/>
                </a:lnTo>
                <a:cubicBezTo>
                  <a:pt x="5547508" y="0"/>
                  <a:pt x="5581650" y="34142"/>
                  <a:pt x="5581650" y="76194"/>
                </a:cubicBezTo>
                <a:lnTo>
                  <a:pt x="5581650" y="2114556"/>
                </a:lnTo>
                <a:cubicBezTo>
                  <a:pt x="5581650" y="2156637"/>
                  <a:pt x="5547537" y="2190750"/>
                  <a:pt x="5505456" y="2190750"/>
                </a:cubicBez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609725"/>
            <a:ext cx="38100" cy="1800000"/>
          </a:xfrm>
          <a:custGeom>
            <a:avLst/>
            <a:gdLst/>
            <a:ahLst/>
            <a:cxnLst/>
            <a:rect l="l" t="t" r="r" b="b"/>
            <a:pathLst>
              <a:path w="38100" h="2190750">
                <a:moveTo>
                  <a:pt x="38100" y="0"/>
                </a:moveTo>
                <a:lnTo>
                  <a:pt x="38100" y="0"/>
                </a:lnTo>
                <a:lnTo>
                  <a:pt x="38100" y="2190750"/>
                </a:ln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6" name="Shape 4"/>
          <p:cNvSpPr/>
          <p:nvPr/>
        </p:nvSpPr>
        <p:spPr>
          <a:xfrm>
            <a:off x="671830" y="17315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7" name="Text 5"/>
          <p:cNvSpPr/>
          <p:nvPr/>
        </p:nvSpPr>
        <p:spPr>
          <a:xfrm>
            <a:off x="933450" y="1685925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100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常见误区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9765" y="2178569"/>
            <a:ext cx="5105400" cy="866775"/>
          </a:xfrm>
          <a:custGeom>
            <a:avLst/>
            <a:gdLst/>
            <a:ahLst/>
            <a:cxnLst/>
            <a:rect l="l" t="t" r="r" b="b"/>
            <a:pathLst>
              <a:path w="5105400" h="866775">
                <a:moveTo>
                  <a:pt x="76198" y="0"/>
                </a:moveTo>
                <a:lnTo>
                  <a:pt x="5029202" y="0"/>
                </a:lnTo>
                <a:cubicBezTo>
                  <a:pt x="5071285" y="0"/>
                  <a:pt x="5105400" y="34115"/>
                  <a:pt x="5105400" y="76198"/>
                </a:cubicBezTo>
                <a:lnTo>
                  <a:pt x="5105400" y="790577"/>
                </a:lnTo>
                <a:cubicBezTo>
                  <a:pt x="5105400" y="832660"/>
                  <a:pt x="5071285" y="866775"/>
                  <a:pt x="5029202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9" name="Text 7"/>
          <p:cNvSpPr/>
          <p:nvPr/>
        </p:nvSpPr>
        <p:spPr>
          <a:xfrm>
            <a:off x="800100" y="2316364"/>
            <a:ext cx="48863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"这三年实验全是我一个人起早贪黑做的，</a:t>
            </a: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数据当然归我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！我毕业后带到新单位去发表，有什么问题？"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566795"/>
            <a:ext cx="5581650" cy="2937510"/>
          </a:xfrm>
          <a:custGeom>
            <a:avLst/>
            <a:gdLst/>
            <a:ahLst/>
            <a:cxnLst/>
            <a:rect l="l" t="t" r="r" b="b"/>
            <a:pathLst>
              <a:path w="5581650" h="3067050">
                <a:moveTo>
                  <a:pt x="38100" y="0"/>
                </a:moveTo>
                <a:lnTo>
                  <a:pt x="5505464" y="0"/>
                </a:lnTo>
                <a:cubicBezTo>
                  <a:pt x="5547541" y="0"/>
                  <a:pt x="5581650" y="34109"/>
                  <a:pt x="5581650" y="76186"/>
                </a:cubicBezTo>
                <a:lnTo>
                  <a:pt x="5581650" y="2990864"/>
                </a:lnTo>
                <a:cubicBezTo>
                  <a:pt x="5581650" y="3032941"/>
                  <a:pt x="5547541" y="3067050"/>
                  <a:pt x="5505464" y="3067050"/>
                </a:cubicBezTo>
                <a:lnTo>
                  <a:pt x="38100" y="3067050"/>
                </a:lnTo>
                <a:cubicBezTo>
                  <a:pt x="17058" y="3067050"/>
                  <a:pt x="0" y="3049992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566996"/>
            <a:ext cx="38100" cy="295200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3810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38100" y="3067050"/>
                </a:lnTo>
                <a:cubicBezTo>
                  <a:pt x="17072" y="3067050"/>
                  <a:pt x="0" y="3049978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14" name="Shape 12"/>
          <p:cNvSpPr/>
          <p:nvPr/>
        </p:nvSpPr>
        <p:spPr>
          <a:xfrm>
            <a:off x="676275" y="3833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15" name="Text 13"/>
          <p:cNvSpPr/>
          <p:nvPr/>
        </p:nvSpPr>
        <p:spPr>
          <a:xfrm>
            <a:off x="933450" y="3795596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规范判定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1513" y="4290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7" name="Text 15"/>
          <p:cNvSpPr/>
          <p:nvPr/>
        </p:nvSpPr>
        <p:spPr>
          <a:xfrm>
            <a:off x="1000125" y="4252595"/>
            <a:ext cx="387731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所有权归属：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项目依托单位（学校/课题组）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513" y="47041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6121"/>
                </a:moveTo>
                <a:lnTo>
                  <a:pt x="0" y="40742"/>
                </a:lnTo>
                <a:cubicBezTo>
                  <a:pt x="0" y="32110"/>
                  <a:pt x="8967" y="26380"/>
                  <a:pt x="17227" y="28835"/>
                </a:cubicBezTo>
                <a:cubicBezTo>
                  <a:pt x="49857" y="38584"/>
                  <a:pt x="72926" y="30882"/>
                  <a:pt x="96143" y="23143"/>
                </a:cubicBezTo>
                <a:cubicBezTo>
                  <a:pt x="120142" y="15143"/>
                  <a:pt x="144289" y="7107"/>
                  <a:pt x="179226" y="18269"/>
                </a:cubicBezTo>
                <a:cubicBezTo>
                  <a:pt x="186110" y="20464"/>
                  <a:pt x="190500" y="27124"/>
                  <a:pt x="190500" y="34379"/>
                </a:cubicBezTo>
                <a:lnTo>
                  <a:pt x="190500" y="149758"/>
                </a:lnTo>
                <a:cubicBezTo>
                  <a:pt x="190500" y="158390"/>
                  <a:pt x="181533" y="164120"/>
                  <a:pt x="173310" y="161665"/>
                </a:cubicBezTo>
                <a:cubicBezTo>
                  <a:pt x="140680" y="151916"/>
                  <a:pt x="117574" y="159618"/>
                  <a:pt x="94394" y="167357"/>
                </a:cubicBezTo>
                <a:cubicBezTo>
                  <a:pt x="70396" y="175357"/>
                  <a:pt x="46248" y="183393"/>
                  <a:pt x="11311" y="172231"/>
                </a:cubicBezTo>
                <a:cubicBezTo>
                  <a:pt x="4428" y="170036"/>
                  <a:pt x="37" y="163376"/>
                  <a:pt x="37" y="156121"/>
                </a:cubicBezTo>
                <a:close/>
                <a:moveTo>
                  <a:pt x="125016" y="95250"/>
                </a:moveTo>
                <a:cubicBezTo>
                  <a:pt x="125016" y="75530"/>
                  <a:pt x="111696" y="59531"/>
                  <a:pt x="95250" y="59531"/>
                </a:cubicBezTo>
                <a:cubicBezTo>
                  <a:pt x="78804" y="59531"/>
                  <a:pt x="65484" y="75530"/>
                  <a:pt x="65484" y="95250"/>
                </a:cubicBezTo>
                <a:cubicBezTo>
                  <a:pt x="65484" y="114970"/>
                  <a:pt x="78804" y="130969"/>
                  <a:pt x="95250" y="130969"/>
                </a:cubicBezTo>
                <a:cubicBezTo>
                  <a:pt x="111696" y="130969"/>
                  <a:pt x="125016" y="114970"/>
                  <a:pt x="125016" y="95250"/>
                </a:cubicBezTo>
                <a:close/>
                <a:moveTo>
                  <a:pt x="44648" y="153888"/>
                </a:moveTo>
                <a:cubicBezTo>
                  <a:pt x="46286" y="153888"/>
                  <a:pt x="47588" y="152474"/>
                  <a:pt x="47327" y="150875"/>
                </a:cubicBezTo>
                <a:cubicBezTo>
                  <a:pt x="45616" y="140531"/>
                  <a:pt x="37281" y="132457"/>
                  <a:pt x="26789" y="131155"/>
                </a:cubicBezTo>
                <a:cubicBezTo>
                  <a:pt x="25152" y="130969"/>
                  <a:pt x="23812" y="132308"/>
                  <a:pt x="23812" y="133945"/>
                </a:cubicBezTo>
                <a:lnTo>
                  <a:pt x="23812" y="148791"/>
                </a:lnTo>
                <a:cubicBezTo>
                  <a:pt x="23812" y="150130"/>
                  <a:pt x="24705" y="151321"/>
                  <a:pt x="26045" y="151656"/>
                </a:cubicBezTo>
                <a:cubicBezTo>
                  <a:pt x="32705" y="153219"/>
                  <a:pt x="38807" y="153925"/>
                  <a:pt x="44648" y="153925"/>
                </a:cubicBezTo>
                <a:close/>
                <a:moveTo>
                  <a:pt x="163153" y="134875"/>
                </a:moveTo>
                <a:cubicBezTo>
                  <a:pt x="165013" y="135173"/>
                  <a:pt x="166688" y="133759"/>
                  <a:pt x="166688" y="131899"/>
                </a:cubicBezTo>
                <a:lnTo>
                  <a:pt x="166688" y="116049"/>
                </a:lnTo>
                <a:cubicBezTo>
                  <a:pt x="166688" y="114412"/>
                  <a:pt x="165348" y="113035"/>
                  <a:pt x="163711" y="113258"/>
                </a:cubicBezTo>
                <a:cubicBezTo>
                  <a:pt x="154335" y="114412"/>
                  <a:pt x="146633" y="121034"/>
                  <a:pt x="143917" y="129853"/>
                </a:cubicBezTo>
                <a:cubicBezTo>
                  <a:pt x="143396" y="131601"/>
                  <a:pt x="144773" y="133238"/>
                  <a:pt x="146596" y="133276"/>
                </a:cubicBezTo>
                <a:cubicBezTo>
                  <a:pt x="151879" y="133424"/>
                  <a:pt x="157386" y="133908"/>
                  <a:pt x="163116" y="134875"/>
                </a:cubicBezTo>
                <a:close/>
                <a:moveTo>
                  <a:pt x="166688" y="56555"/>
                </a:moveTo>
                <a:lnTo>
                  <a:pt x="166688" y="41709"/>
                </a:lnTo>
                <a:cubicBezTo>
                  <a:pt x="166688" y="40370"/>
                  <a:pt x="165757" y="39179"/>
                  <a:pt x="164455" y="38844"/>
                </a:cubicBezTo>
                <a:cubicBezTo>
                  <a:pt x="157795" y="37281"/>
                  <a:pt x="151693" y="36575"/>
                  <a:pt x="145852" y="36575"/>
                </a:cubicBezTo>
                <a:cubicBezTo>
                  <a:pt x="144214" y="36575"/>
                  <a:pt x="142912" y="37988"/>
                  <a:pt x="143173" y="39588"/>
                </a:cubicBezTo>
                <a:cubicBezTo>
                  <a:pt x="144884" y="49932"/>
                  <a:pt x="153219" y="58006"/>
                  <a:pt x="163711" y="59308"/>
                </a:cubicBezTo>
                <a:cubicBezTo>
                  <a:pt x="165348" y="59494"/>
                  <a:pt x="166688" y="58155"/>
                  <a:pt x="166688" y="56517"/>
                </a:cubicBezTo>
                <a:close/>
                <a:moveTo>
                  <a:pt x="46583" y="60610"/>
                </a:moveTo>
                <a:cubicBezTo>
                  <a:pt x="47104" y="58862"/>
                  <a:pt x="45727" y="57224"/>
                  <a:pt x="43904" y="57187"/>
                </a:cubicBezTo>
                <a:cubicBezTo>
                  <a:pt x="38621" y="57038"/>
                  <a:pt x="33114" y="56555"/>
                  <a:pt x="27384" y="55587"/>
                </a:cubicBezTo>
                <a:cubicBezTo>
                  <a:pt x="25524" y="55290"/>
                  <a:pt x="23850" y="56704"/>
                  <a:pt x="23850" y="58564"/>
                </a:cubicBezTo>
                <a:lnTo>
                  <a:pt x="23812" y="74414"/>
                </a:lnTo>
                <a:cubicBezTo>
                  <a:pt x="23812" y="76051"/>
                  <a:pt x="25152" y="77428"/>
                  <a:pt x="26789" y="77205"/>
                </a:cubicBezTo>
                <a:cubicBezTo>
                  <a:pt x="36165" y="76051"/>
                  <a:pt x="43867" y="69428"/>
                  <a:pt x="46583" y="6061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9" name="Text 17"/>
          <p:cNvSpPr/>
          <p:nvPr/>
        </p:nvSpPr>
        <p:spPr>
          <a:xfrm>
            <a:off x="1000125" y="4671695"/>
            <a:ext cx="4523105" cy="208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判定标准：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利用学校资源、导师经费产生的数据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9606" y="508198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1A3A5C"/>
          </a:solidFill>
        </p:spPr>
      </p:sp>
      <p:sp>
        <p:nvSpPr>
          <p:cNvPr id="21" name="Text 19"/>
          <p:cNvSpPr/>
          <p:nvPr/>
        </p:nvSpPr>
        <p:spPr>
          <a:xfrm>
            <a:off x="1000125" y="4967605"/>
            <a:ext cx="4311650" cy="410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法律性质：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属于职务成果，知识产权归单位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609725"/>
            <a:ext cx="5600700" cy="4893945"/>
          </a:xfrm>
          <a:custGeom>
            <a:avLst/>
            <a:gdLst/>
            <a:ahLst/>
            <a:cxnLst/>
            <a:rect l="l" t="t" r="r" b="b"/>
            <a:pathLst>
              <a:path w="5600700" h="540067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5324471"/>
                </a:lnTo>
                <a:cubicBezTo>
                  <a:pt x="5600700" y="5366558"/>
                  <a:pt x="5566583" y="5400675"/>
                  <a:pt x="5524496" y="5400675"/>
                </a:cubicBezTo>
                <a:lnTo>
                  <a:pt x="76204" y="5400675"/>
                </a:lnTo>
                <a:cubicBezTo>
                  <a:pt x="34117" y="5400675"/>
                  <a:pt x="0" y="5366558"/>
                  <a:pt x="0" y="532447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0300" y="155257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4" name="Shape 22"/>
          <p:cNvSpPr/>
          <p:nvPr/>
        </p:nvSpPr>
        <p:spPr>
          <a:xfrm>
            <a:off x="6496050" y="176073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25" name="Text 23"/>
          <p:cNvSpPr/>
          <p:nvPr/>
        </p:nvSpPr>
        <p:spPr>
          <a:xfrm>
            <a:off x="6724650" y="1722755"/>
            <a:ext cx="4972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正确做法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6496050" y="2668789"/>
            <a:ext cx="5132070" cy="2781297"/>
            <a:chOff x="10146" y="5706"/>
            <a:chExt cx="8082" cy="4380"/>
          </a:xfrm>
        </p:grpSpPr>
        <p:sp>
          <p:nvSpPr>
            <p:cNvPr id="30" name="Shape 28"/>
            <p:cNvSpPr/>
            <p:nvPr/>
          </p:nvSpPr>
          <p:spPr>
            <a:xfrm>
              <a:off x="10146" y="5706"/>
              <a:ext cx="8082" cy="1332"/>
            </a:xfrm>
            <a:custGeom>
              <a:avLst/>
              <a:gdLst/>
              <a:ahLst/>
              <a:cxnLst/>
              <a:rect l="l" t="t" r="r" b="b"/>
              <a:pathLst>
                <a:path w="5132070" h="845820">
                  <a:moveTo>
                    <a:pt x="76200" y="0"/>
                  </a:moveTo>
                  <a:lnTo>
                    <a:pt x="5055870" y="0"/>
                  </a:lnTo>
                  <a:cubicBezTo>
                    <a:pt x="5097954" y="0"/>
                    <a:pt x="5132070" y="34116"/>
                    <a:pt x="5132070" y="76200"/>
                  </a:cubicBezTo>
                  <a:lnTo>
                    <a:pt x="5132070" y="769620"/>
                  </a:lnTo>
                  <a:cubicBezTo>
                    <a:pt x="5132070" y="811704"/>
                    <a:pt x="5097954" y="845820"/>
                    <a:pt x="5055870" y="845820"/>
                  </a:cubicBezTo>
                  <a:lnTo>
                    <a:pt x="76200" y="845820"/>
                  </a:lnTo>
                  <a:cubicBezTo>
                    <a:pt x="34116" y="845820"/>
                    <a:pt x="0" y="811704"/>
                    <a:pt x="0" y="76962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C4A87A">
                <a:alpha val="10196"/>
              </a:srgbClr>
            </a:solidFill>
            <a:ln w="10160">
              <a:solidFill>
                <a:srgbClr val="C4A87A">
                  <a:alpha val="30196"/>
                </a:srgbClr>
              </a:solidFill>
              <a:prstDash val="solid"/>
            </a:ln>
          </p:spPr>
        </p:sp>
        <p:grpSp>
          <p:nvGrpSpPr>
            <p:cNvPr id="26" name="组合 25"/>
            <p:cNvGrpSpPr/>
            <p:nvPr/>
          </p:nvGrpSpPr>
          <p:grpSpPr>
            <a:xfrm>
              <a:off x="10146" y="5952"/>
              <a:ext cx="8082" cy="4134"/>
              <a:chOff x="10146" y="5952"/>
              <a:chExt cx="8082" cy="4134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10392" y="5952"/>
                <a:ext cx="480" cy="48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lnTo>
                      <a:pt x="152400" y="0"/>
                    </a:lnTo>
                    <a:cubicBezTo>
                      <a:pt x="236512" y="0"/>
                      <a:pt x="304800" y="68288"/>
                      <a:pt x="304800" y="152400"/>
                    </a:cubicBezTo>
                    <a:lnTo>
                      <a:pt x="304800" y="152400"/>
                    </a:lnTo>
                    <a:cubicBezTo>
                      <a:pt x="304800" y="236512"/>
                      <a:pt x="236512" y="304800"/>
                      <a:pt x="152400" y="304800"/>
                    </a:cubicBezTo>
                    <a:lnTo>
                      <a:pt x="152400" y="304800"/>
                    </a:lnTo>
                    <a:cubicBezTo>
                      <a:pt x="68288" y="304800"/>
                      <a:pt x="0" y="236512"/>
                      <a:pt x="0" y="152400"/>
                    </a:cubicBezTo>
                    <a:lnTo>
                      <a:pt x="0" y="152400"/>
                    </a:lnTo>
                    <a:cubicBezTo>
                      <a:pt x="0" y="68288"/>
                      <a:pt x="68288" y="0"/>
                      <a:pt x="152400" y="0"/>
                    </a:cubicBezTo>
                    <a:close/>
                  </a:path>
                </a:pathLst>
              </a:custGeom>
              <a:solidFill>
                <a:srgbClr val="C4A87A"/>
              </a:solidFill>
            </p:spPr>
          </p:sp>
          <p:sp>
            <p:nvSpPr>
              <p:cNvPr id="32" name="Text 30"/>
              <p:cNvSpPr/>
              <p:nvPr/>
            </p:nvSpPr>
            <p:spPr>
              <a:xfrm>
                <a:off x="10332" y="5952"/>
                <a:ext cx="600" cy="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</a:t>
                </a:r>
                <a:endParaRPr lang="en-US" sz="160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11052" y="5952"/>
                <a:ext cx="6105" cy="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3A5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获得知情同意</a:t>
                </a:r>
                <a:endParaRPr lang="en-US" sz="16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11052" y="6432"/>
                <a:ext cx="6368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400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离校后发表相关数据，</a:t>
                </a:r>
                <a:r>
                  <a:rPr lang="en-US" sz="1400" b="1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必须获得原导师的知情同意</a:t>
                </a:r>
                <a:endParaRPr lang="en-US" sz="1400" dirty="0"/>
              </a:p>
            </p:txBody>
          </p:sp>
          <p:sp>
            <p:nvSpPr>
              <p:cNvPr id="35" name="Shape 33"/>
              <p:cNvSpPr/>
              <p:nvPr/>
            </p:nvSpPr>
            <p:spPr>
              <a:xfrm>
                <a:off x="10146" y="7230"/>
                <a:ext cx="8082" cy="1332"/>
              </a:xfrm>
              <a:custGeom>
                <a:avLst/>
                <a:gdLst/>
                <a:ahLst/>
                <a:cxnLst/>
                <a:rect l="l" t="t" r="r" b="b"/>
                <a:pathLst>
                  <a:path w="5132070" h="845820">
                    <a:moveTo>
                      <a:pt x="76200" y="0"/>
                    </a:moveTo>
                    <a:lnTo>
                      <a:pt x="5055870" y="0"/>
                    </a:lnTo>
                    <a:cubicBezTo>
                      <a:pt x="5097954" y="0"/>
                      <a:pt x="5132070" y="34116"/>
                      <a:pt x="5132070" y="76200"/>
                    </a:cubicBezTo>
                    <a:lnTo>
                      <a:pt x="5132070" y="769620"/>
                    </a:lnTo>
                    <a:cubicBezTo>
                      <a:pt x="5132070" y="811704"/>
                      <a:pt x="5097954" y="845820"/>
                      <a:pt x="5055870" y="845820"/>
                    </a:cubicBezTo>
                    <a:lnTo>
                      <a:pt x="76200" y="845820"/>
                    </a:lnTo>
                    <a:cubicBezTo>
                      <a:pt x="34116" y="845820"/>
                      <a:pt x="0" y="811704"/>
                      <a:pt x="0" y="76962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C4A87A">
                  <a:alpha val="10196"/>
                </a:srgbClr>
              </a:solidFill>
              <a:ln w="10160">
                <a:solidFill>
                  <a:srgbClr val="C4A87A">
                    <a:alpha val="30196"/>
                  </a:srgbClr>
                </a:solidFill>
                <a:prstDash val="solid"/>
              </a:ln>
            </p:spPr>
          </p:sp>
          <p:sp>
            <p:nvSpPr>
              <p:cNvPr id="36" name="Shape 34"/>
              <p:cNvSpPr/>
              <p:nvPr/>
            </p:nvSpPr>
            <p:spPr>
              <a:xfrm>
                <a:off x="10392" y="7476"/>
                <a:ext cx="480" cy="48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lnTo>
                      <a:pt x="152400" y="0"/>
                    </a:lnTo>
                    <a:cubicBezTo>
                      <a:pt x="236512" y="0"/>
                      <a:pt x="304800" y="68288"/>
                      <a:pt x="304800" y="152400"/>
                    </a:cubicBezTo>
                    <a:lnTo>
                      <a:pt x="304800" y="152400"/>
                    </a:lnTo>
                    <a:cubicBezTo>
                      <a:pt x="304800" y="236512"/>
                      <a:pt x="236512" y="304800"/>
                      <a:pt x="152400" y="304800"/>
                    </a:cubicBezTo>
                    <a:lnTo>
                      <a:pt x="152400" y="304800"/>
                    </a:lnTo>
                    <a:cubicBezTo>
                      <a:pt x="68288" y="304800"/>
                      <a:pt x="0" y="236512"/>
                      <a:pt x="0" y="152400"/>
                    </a:cubicBezTo>
                    <a:lnTo>
                      <a:pt x="0" y="152400"/>
                    </a:lnTo>
                    <a:cubicBezTo>
                      <a:pt x="0" y="68288"/>
                      <a:pt x="68288" y="0"/>
                      <a:pt x="152400" y="0"/>
                    </a:cubicBezTo>
                    <a:close/>
                  </a:path>
                </a:pathLst>
              </a:custGeom>
              <a:solidFill>
                <a:srgbClr val="C4A87A"/>
              </a:solidFill>
            </p:spPr>
          </p:sp>
          <p:sp>
            <p:nvSpPr>
              <p:cNvPr id="37" name="Text 35"/>
              <p:cNvSpPr/>
              <p:nvPr/>
            </p:nvSpPr>
            <p:spPr>
              <a:xfrm>
                <a:off x="10332" y="7476"/>
                <a:ext cx="600" cy="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endParaRPr lang="en-US" sz="160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11052" y="7476"/>
                <a:ext cx="4215" cy="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1A3A5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正确署名致谢</a:t>
                </a:r>
                <a:endParaRPr lang="en-US" sz="160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11052" y="7917"/>
                <a:ext cx="5051" cy="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400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在文章中</a:t>
                </a:r>
                <a:r>
                  <a:rPr lang="en-US" sz="1400" b="1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标注原单位</a:t>
                </a:r>
                <a:r>
                  <a:rPr lang="en-US" sz="1400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并给予正确的致谢</a:t>
                </a:r>
                <a:endParaRPr lang="en-US" sz="1400" dirty="0"/>
              </a:p>
            </p:txBody>
          </p:sp>
          <p:sp>
            <p:nvSpPr>
              <p:cNvPr id="40" name="Shape 38"/>
              <p:cNvSpPr/>
              <p:nvPr/>
            </p:nvSpPr>
            <p:spPr>
              <a:xfrm>
                <a:off x="10146" y="8754"/>
                <a:ext cx="8082" cy="1332"/>
              </a:xfrm>
              <a:custGeom>
                <a:avLst/>
                <a:gdLst/>
                <a:ahLst/>
                <a:cxnLst/>
                <a:rect l="l" t="t" r="r" b="b"/>
                <a:pathLst>
                  <a:path w="5132070" h="845820">
                    <a:moveTo>
                      <a:pt x="76200" y="0"/>
                    </a:moveTo>
                    <a:lnTo>
                      <a:pt x="5055870" y="0"/>
                    </a:lnTo>
                    <a:cubicBezTo>
                      <a:pt x="5097954" y="0"/>
                      <a:pt x="5132070" y="34116"/>
                      <a:pt x="5132070" y="76200"/>
                    </a:cubicBezTo>
                    <a:lnTo>
                      <a:pt x="5132070" y="769620"/>
                    </a:lnTo>
                    <a:cubicBezTo>
                      <a:pt x="5132070" y="811704"/>
                      <a:pt x="5097954" y="845820"/>
                      <a:pt x="5055870" y="845820"/>
                    </a:cubicBezTo>
                    <a:lnTo>
                      <a:pt x="76200" y="845820"/>
                    </a:lnTo>
                    <a:cubicBezTo>
                      <a:pt x="34116" y="845820"/>
                      <a:pt x="0" y="811704"/>
                      <a:pt x="0" y="76962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FEF2F2"/>
              </a:solidFill>
              <a:ln w="10160">
                <a:solidFill>
                  <a:srgbClr val="FFA2A2"/>
                </a:solidFill>
                <a:prstDash val="solid"/>
              </a:ln>
            </p:spPr>
          </p:sp>
          <p:sp>
            <p:nvSpPr>
              <p:cNvPr id="41" name="Shape 39"/>
              <p:cNvSpPr/>
              <p:nvPr/>
            </p:nvSpPr>
            <p:spPr>
              <a:xfrm>
                <a:off x="10392" y="9000"/>
                <a:ext cx="480" cy="48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lnTo>
                      <a:pt x="152400" y="0"/>
                    </a:lnTo>
                    <a:cubicBezTo>
                      <a:pt x="236512" y="0"/>
                      <a:pt x="304800" y="68288"/>
                      <a:pt x="304800" y="152400"/>
                    </a:cubicBezTo>
                    <a:lnTo>
                      <a:pt x="304800" y="152400"/>
                    </a:lnTo>
                    <a:cubicBezTo>
                      <a:pt x="304800" y="236512"/>
                      <a:pt x="236512" y="304800"/>
                      <a:pt x="152400" y="304800"/>
                    </a:cubicBezTo>
                    <a:lnTo>
                      <a:pt x="152400" y="304800"/>
                    </a:lnTo>
                    <a:cubicBezTo>
                      <a:pt x="68288" y="304800"/>
                      <a:pt x="0" y="236512"/>
                      <a:pt x="0" y="152400"/>
                    </a:cubicBezTo>
                    <a:lnTo>
                      <a:pt x="0" y="152400"/>
                    </a:lnTo>
                    <a:cubicBezTo>
                      <a:pt x="0" y="68288"/>
                      <a:pt x="68288" y="0"/>
                      <a:pt x="152400" y="0"/>
                    </a:cubicBezTo>
                    <a:close/>
                  </a:path>
                </a:pathLst>
              </a:custGeom>
              <a:solidFill>
                <a:srgbClr val="E7000B"/>
              </a:solidFill>
            </p:spPr>
          </p:sp>
          <p:sp>
            <p:nvSpPr>
              <p:cNvPr id="42" name="Text 40"/>
              <p:cNvSpPr/>
              <p:nvPr/>
            </p:nvSpPr>
            <p:spPr>
              <a:xfrm>
                <a:off x="10332" y="9000"/>
                <a:ext cx="600" cy="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!</a:t>
                </a:r>
                <a:endParaRPr lang="en-US" sz="16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11052" y="9000"/>
                <a:ext cx="4695" cy="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600" b="1" dirty="0">
                    <a:solidFill>
                      <a:srgbClr val="C1000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严禁行为</a:t>
                </a:r>
                <a:endParaRPr lang="en-US" sz="1600" dirty="0"/>
              </a:p>
            </p:txBody>
          </p:sp>
          <p:sp>
            <p:nvSpPr>
              <p:cNvPr id="44" name="Text 42"/>
              <p:cNvSpPr/>
              <p:nvPr/>
            </p:nvSpPr>
            <p:spPr>
              <a:xfrm>
                <a:off x="11052" y="9420"/>
                <a:ext cx="5773" cy="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400" b="1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私自把数据带走发表</a:t>
                </a:r>
                <a:r>
                  <a:rPr lang="en-US" sz="1400" dirty="0">
                    <a:solidFill>
                      <a:srgbClr val="21252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，属于严重的侵权行为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WRITING PITFALL 04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写作雷区四：成果继承中的"自我剽窃"与抄袭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5038725" cy="3695700"/>
          </a:xfrm>
          <a:custGeom>
            <a:avLst/>
            <a:gdLst/>
            <a:ahLst/>
            <a:cxnLst/>
            <a:rect l="l" t="t" r="r" b="b"/>
            <a:pathLst>
              <a:path w="5038725" h="3695700">
                <a:moveTo>
                  <a:pt x="76205" y="0"/>
                </a:moveTo>
                <a:lnTo>
                  <a:pt x="4962520" y="0"/>
                </a:lnTo>
                <a:cubicBezTo>
                  <a:pt x="5004607" y="0"/>
                  <a:pt x="5038725" y="34118"/>
                  <a:pt x="5038725" y="76205"/>
                </a:cubicBezTo>
                <a:lnTo>
                  <a:pt x="5038725" y="3619495"/>
                </a:lnTo>
                <a:cubicBezTo>
                  <a:pt x="5038725" y="3661582"/>
                  <a:pt x="5004607" y="3695700"/>
                  <a:pt x="4962520" y="3695700"/>
                </a:cubicBezTo>
                <a:lnTo>
                  <a:pt x="76205" y="3695700"/>
                </a:lnTo>
                <a:cubicBezTo>
                  <a:pt x="34118" y="3695700"/>
                  <a:pt x="0" y="3661582"/>
                  <a:pt x="0" y="3619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2463" y="148578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523" y="-14287"/>
                </a:moveTo>
                <a:cubicBezTo>
                  <a:pt x="128323" y="-14287"/>
                  <a:pt x="139526" y="-3084"/>
                  <a:pt x="139526" y="10716"/>
                </a:cubicBezTo>
                <a:cubicBezTo>
                  <a:pt x="139526" y="24515"/>
                  <a:pt x="128323" y="35719"/>
                  <a:pt x="114523" y="35719"/>
                </a:cubicBezTo>
                <a:cubicBezTo>
                  <a:pt x="100724" y="35719"/>
                  <a:pt x="89520" y="24515"/>
                  <a:pt x="89520" y="10716"/>
                </a:cubicBezTo>
                <a:cubicBezTo>
                  <a:pt x="89520" y="-3084"/>
                  <a:pt x="100724" y="-14287"/>
                  <a:pt x="114523" y="-14287"/>
                </a:cubicBezTo>
                <a:close/>
                <a:moveTo>
                  <a:pt x="55185" y="78581"/>
                </a:moveTo>
                <a:cubicBezTo>
                  <a:pt x="53712" y="78581"/>
                  <a:pt x="52417" y="79474"/>
                  <a:pt x="51881" y="80814"/>
                </a:cubicBezTo>
                <a:lnTo>
                  <a:pt x="42059" y="105326"/>
                </a:lnTo>
                <a:cubicBezTo>
                  <a:pt x="39112" y="112648"/>
                  <a:pt x="30807" y="116220"/>
                  <a:pt x="23485" y="113273"/>
                </a:cubicBezTo>
                <a:cubicBezTo>
                  <a:pt x="16163" y="110326"/>
                  <a:pt x="12591" y="102022"/>
                  <a:pt x="15538" y="94699"/>
                </a:cubicBezTo>
                <a:lnTo>
                  <a:pt x="25316" y="70187"/>
                </a:lnTo>
                <a:cubicBezTo>
                  <a:pt x="30227" y="57998"/>
                  <a:pt x="42014" y="50006"/>
                  <a:pt x="55185" y="50006"/>
                </a:cubicBezTo>
                <a:lnTo>
                  <a:pt x="98628" y="50006"/>
                </a:lnTo>
                <a:cubicBezTo>
                  <a:pt x="111353" y="50006"/>
                  <a:pt x="123096" y="56748"/>
                  <a:pt x="129480" y="67732"/>
                </a:cubicBezTo>
                <a:lnTo>
                  <a:pt x="144125" y="92869"/>
                </a:lnTo>
                <a:lnTo>
                  <a:pt x="171629" y="92869"/>
                </a:lnTo>
                <a:cubicBezTo>
                  <a:pt x="179531" y="92869"/>
                  <a:pt x="185916" y="99253"/>
                  <a:pt x="185916" y="107156"/>
                </a:cubicBezTo>
                <a:cubicBezTo>
                  <a:pt x="185916" y="115059"/>
                  <a:pt x="179531" y="121444"/>
                  <a:pt x="171629" y="121444"/>
                </a:cubicBezTo>
                <a:lnTo>
                  <a:pt x="144125" y="121444"/>
                </a:lnTo>
                <a:cubicBezTo>
                  <a:pt x="133945" y="121444"/>
                  <a:pt x="124569" y="116041"/>
                  <a:pt x="119435" y="107246"/>
                </a:cubicBezTo>
                <a:lnTo>
                  <a:pt x="114970" y="99611"/>
                </a:lnTo>
                <a:lnTo>
                  <a:pt x="105728" y="131043"/>
                </a:lnTo>
                <a:lnTo>
                  <a:pt x="139392" y="141134"/>
                </a:lnTo>
                <a:cubicBezTo>
                  <a:pt x="151760" y="144840"/>
                  <a:pt x="158055" y="158547"/>
                  <a:pt x="152832" y="170378"/>
                </a:cubicBezTo>
                <a:lnTo>
                  <a:pt x="127561" y="227261"/>
                </a:lnTo>
                <a:cubicBezTo>
                  <a:pt x="124346" y="234494"/>
                  <a:pt x="115907" y="237708"/>
                  <a:pt x="108719" y="234494"/>
                </a:cubicBezTo>
                <a:cubicBezTo>
                  <a:pt x="101531" y="231279"/>
                  <a:pt x="98271" y="222840"/>
                  <a:pt x="101486" y="215652"/>
                </a:cubicBezTo>
                <a:lnTo>
                  <a:pt x="123453" y="166181"/>
                </a:lnTo>
                <a:lnTo>
                  <a:pt x="80635" y="153323"/>
                </a:lnTo>
                <a:cubicBezTo>
                  <a:pt x="66035" y="148947"/>
                  <a:pt x="57418" y="133811"/>
                  <a:pt x="61124" y="119033"/>
                </a:cubicBezTo>
                <a:lnTo>
                  <a:pt x="71259" y="78581"/>
                </a:lnTo>
                <a:lnTo>
                  <a:pt x="55230" y="78581"/>
                </a:lnTo>
                <a:close/>
                <a:moveTo>
                  <a:pt x="51614" y="159395"/>
                </a:moveTo>
                <a:cubicBezTo>
                  <a:pt x="57552" y="166048"/>
                  <a:pt x="65321" y="171137"/>
                  <a:pt x="74474" y="173861"/>
                </a:cubicBezTo>
                <a:lnTo>
                  <a:pt x="76572" y="174486"/>
                </a:lnTo>
                <a:lnTo>
                  <a:pt x="73491" y="183103"/>
                </a:lnTo>
                <a:cubicBezTo>
                  <a:pt x="70902" y="190381"/>
                  <a:pt x="66348" y="196855"/>
                  <a:pt x="60409" y="201766"/>
                </a:cubicBezTo>
                <a:lnTo>
                  <a:pt x="23619" y="232083"/>
                </a:lnTo>
                <a:cubicBezTo>
                  <a:pt x="17547" y="237083"/>
                  <a:pt x="8528" y="236235"/>
                  <a:pt x="3527" y="230163"/>
                </a:cubicBezTo>
                <a:cubicBezTo>
                  <a:pt x="-1473" y="224091"/>
                  <a:pt x="-625" y="215072"/>
                  <a:pt x="5447" y="210071"/>
                </a:cubicBezTo>
                <a:lnTo>
                  <a:pt x="42237" y="179755"/>
                </a:lnTo>
                <a:cubicBezTo>
                  <a:pt x="44247" y="178103"/>
                  <a:pt x="45720" y="175959"/>
                  <a:pt x="46613" y="173548"/>
                </a:cubicBezTo>
                <a:lnTo>
                  <a:pt x="51614" y="159395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6" name="Text 4"/>
          <p:cNvSpPr/>
          <p:nvPr/>
        </p:nvSpPr>
        <p:spPr>
          <a:xfrm>
            <a:off x="895350" y="1447800"/>
            <a:ext cx="4410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接力赛场景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3886200"/>
            <a:ext cx="4601210" cy="722630"/>
          </a:xfrm>
          <a:custGeom>
            <a:avLst/>
            <a:gdLst/>
            <a:ahLst/>
            <a:cxnLst/>
            <a:rect l="l" t="t" r="r" b="b"/>
            <a:pathLst>
              <a:path w="4562475" h="552450">
                <a:moveTo>
                  <a:pt x="38100" y="0"/>
                </a:moveTo>
                <a:lnTo>
                  <a:pt x="4486276" y="0"/>
                </a:lnTo>
                <a:cubicBezTo>
                  <a:pt x="4528359" y="0"/>
                  <a:pt x="4562475" y="34116"/>
                  <a:pt x="4562475" y="76199"/>
                </a:cubicBezTo>
                <a:lnTo>
                  <a:pt x="4562475" y="476251"/>
                </a:lnTo>
                <a:cubicBezTo>
                  <a:pt x="4562475" y="518334"/>
                  <a:pt x="4528359" y="552450"/>
                  <a:pt x="4486276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12" name="Shape 10"/>
          <p:cNvSpPr/>
          <p:nvPr/>
        </p:nvSpPr>
        <p:spPr>
          <a:xfrm>
            <a:off x="628650" y="3886084"/>
            <a:ext cx="38100" cy="72000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13" name="Text 11"/>
          <p:cNvSpPr/>
          <p:nvPr/>
        </p:nvSpPr>
        <p:spPr>
          <a:xfrm>
            <a:off x="1249680" y="4111625"/>
            <a:ext cx="3086100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科研就像接力赛，导师经常让我们</a:t>
            </a:r>
            <a:r>
              <a:rPr 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接手毕业师兄师姐的课题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5066109"/>
            <a:ext cx="5019675" cy="1562100"/>
          </a:xfrm>
          <a:custGeom>
            <a:avLst/>
            <a:gdLst/>
            <a:ahLst/>
            <a:cxnLst/>
            <a:rect l="l" t="t" r="r" b="b"/>
            <a:pathLst>
              <a:path w="5019675" h="1562100">
                <a:moveTo>
                  <a:pt x="38100" y="0"/>
                </a:moveTo>
                <a:lnTo>
                  <a:pt x="4943476" y="0"/>
                </a:lnTo>
                <a:cubicBezTo>
                  <a:pt x="4985559" y="0"/>
                  <a:pt x="5019675" y="34116"/>
                  <a:pt x="5019675" y="76199"/>
                </a:cubicBezTo>
                <a:lnTo>
                  <a:pt x="5019675" y="1485901"/>
                </a:lnTo>
                <a:cubicBezTo>
                  <a:pt x="5019675" y="1527984"/>
                  <a:pt x="4985559" y="1562100"/>
                  <a:pt x="494347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5066109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16" name="Shape 14"/>
          <p:cNvSpPr/>
          <p:nvPr/>
        </p:nvSpPr>
        <p:spPr>
          <a:xfrm>
            <a:off x="633413" y="52947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10007"/>
          </a:solidFill>
        </p:spPr>
      </p:sp>
      <p:sp>
        <p:nvSpPr>
          <p:cNvPr id="17" name="Text 15"/>
          <p:cNvSpPr/>
          <p:nvPr/>
        </p:nvSpPr>
        <p:spPr>
          <a:xfrm>
            <a:off x="847725" y="5256609"/>
            <a:ext cx="447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100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省事的做法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9600" y="5637609"/>
            <a:ext cx="4619625" cy="800100"/>
          </a:xfrm>
          <a:custGeom>
            <a:avLst/>
            <a:gdLst/>
            <a:ahLst/>
            <a:cxnLst/>
            <a:rect l="l" t="t" r="r" b="b"/>
            <a:pathLst>
              <a:path w="4619625" h="800100">
                <a:moveTo>
                  <a:pt x="76202" y="0"/>
                </a:moveTo>
                <a:lnTo>
                  <a:pt x="4543423" y="0"/>
                </a:lnTo>
                <a:cubicBezTo>
                  <a:pt x="4585508" y="0"/>
                  <a:pt x="4619625" y="34117"/>
                  <a:pt x="4619625" y="76202"/>
                </a:cubicBezTo>
                <a:lnTo>
                  <a:pt x="4619625" y="723898"/>
                </a:lnTo>
                <a:cubicBezTo>
                  <a:pt x="4619625" y="765983"/>
                  <a:pt x="4585508" y="800100"/>
                  <a:pt x="45434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9" name="Text 17"/>
          <p:cNvSpPr/>
          <p:nvPr/>
        </p:nvSpPr>
        <p:spPr>
          <a:xfrm>
            <a:off x="762000" y="5789930"/>
            <a:ext cx="44100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为了省事，你可能会把师兄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未发表的毕业论文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里的"文献综述"或者"实验方法"</a:t>
            </a:r>
            <a:r>
              <a:rPr lang="en-US" sz="1400" b="1" dirty="0">
                <a:solidFill>
                  <a:srgbClr val="E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直接复制粘贴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进你自己的小论文里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50230" y="1238250"/>
            <a:ext cx="6162675" cy="5391150"/>
          </a:xfrm>
          <a:custGeom>
            <a:avLst/>
            <a:gdLst/>
            <a:ahLst/>
            <a:cxnLst/>
            <a:rect l="l" t="t" r="r" b="b"/>
            <a:pathLst>
              <a:path w="6162675" h="5391150">
                <a:moveTo>
                  <a:pt x="38100" y="0"/>
                </a:moveTo>
                <a:lnTo>
                  <a:pt x="6124575" y="0"/>
                </a:lnTo>
                <a:cubicBezTo>
                  <a:pt x="6145603" y="0"/>
                  <a:pt x="6162675" y="17072"/>
                  <a:pt x="6162675" y="38100"/>
                </a:cubicBezTo>
                <a:lnTo>
                  <a:pt x="6162675" y="5314973"/>
                </a:lnTo>
                <a:cubicBezTo>
                  <a:pt x="6162675" y="5357044"/>
                  <a:pt x="6128569" y="5391150"/>
                  <a:pt x="6086498" y="5391150"/>
                </a:cubicBezTo>
                <a:lnTo>
                  <a:pt x="76177" y="5391150"/>
                </a:lnTo>
                <a:cubicBezTo>
                  <a:pt x="34106" y="5391150"/>
                  <a:pt x="0" y="5357044"/>
                  <a:pt x="0" y="531497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50230" y="1238250"/>
            <a:ext cx="6162675" cy="38100"/>
          </a:xfrm>
          <a:custGeom>
            <a:avLst/>
            <a:gdLst/>
            <a:ahLst/>
            <a:cxnLst/>
            <a:rect l="l" t="t" r="r" b="b"/>
            <a:pathLst>
              <a:path w="6162675" h="38100">
                <a:moveTo>
                  <a:pt x="38100" y="0"/>
                </a:moveTo>
                <a:lnTo>
                  <a:pt x="6124575" y="0"/>
                </a:lnTo>
                <a:cubicBezTo>
                  <a:pt x="6145603" y="0"/>
                  <a:pt x="6162675" y="17072"/>
                  <a:pt x="6162675" y="38100"/>
                </a:cubicBezTo>
                <a:lnTo>
                  <a:pt x="61626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2" name="Shape 20"/>
          <p:cNvSpPr/>
          <p:nvPr/>
        </p:nvSpPr>
        <p:spPr>
          <a:xfrm>
            <a:off x="5893118" y="152388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5724" y="68491"/>
                </a:moveTo>
                <a:lnTo>
                  <a:pt x="67374" y="60141"/>
                </a:lnTo>
                <a:cubicBezTo>
                  <a:pt x="61793" y="54560"/>
                  <a:pt x="61793" y="45497"/>
                  <a:pt x="67374" y="39916"/>
                </a:cubicBezTo>
                <a:lnTo>
                  <a:pt x="118586" y="-11341"/>
                </a:lnTo>
                <a:cubicBezTo>
                  <a:pt x="124167" y="-16922"/>
                  <a:pt x="133231" y="-16922"/>
                  <a:pt x="138812" y="-11341"/>
                </a:cubicBezTo>
                <a:lnTo>
                  <a:pt x="147161" y="-2947"/>
                </a:lnTo>
                <a:cubicBezTo>
                  <a:pt x="152742" y="2634"/>
                  <a:pt x="152742" y="11698"/>
                  <a:pt x="147161" y="17279"/>
                </a:cubicBezTo>
                <a:lnTo>
                  <a:pt x="95949" y="68491"/>
                </a:lnTo>
                <a:cubicBezTo>
                  <a:pt x="90368" y="74072"/>
                  <a:pt x="81305" y="74072"/>
                  <a:pt x="75724" y="68491"/>
                </a:cubicBezTo>
                <a:close/>
                <a:moveTo>
                  <a:pt x="123230" y="94521"/>
                </a:moveTo>
                <a:lnTo>
                  <a:pt x="109210" y="80501"/>
                </a:lnTo>
                <a:lnTo>
                  <a:pt x="159216" y="30495"/>
                </a:lnTo>
                <a:lnTo>
                  <a:pt x="212527" y="83805"/>
                </a:lnTo>
                <a:lnTo>
                  <a:pt x="162520" y="133811"/>
                </a:lnTo>
                <a:lnTo>
                  <a:pt x="148501" y="119792"/>
                </a:lnTo>
                <a:lnTo>
                  <a:pt x="44916" y="223376"/>
                </a:lnTo>
                <a:cubicBezTo>
                  <a:pt x="37951" y="230341"/>
                  <a:pt x="26655" y="230341"/>
                  <a:pt x="19645" y="223376"/>
                </a:cubicBezTo>
                <a:cubicBezTo>
                  <a:pt x="12636" y="216411"/>
                  <a:pt x="12680" y="205115"/>
                  <a:pt x="19645" y="198105"/>
                </a:cubicBezTo>
                <a:lnTo>
                  <a:pt x="123230" y="94521"/>
                </a:lnTo>
                <a:close/>
                <a:moveTo>
                  <a:pt x="174531" y="167253"/>
                </a:moveTo>
                <a:cubicBezTo>
                  <a:pt x="168950" y="161672"/>
                  <a:pt x="168950" y="152608"/>
                  <a:pt x="174531" y="147027"/>
                </a:cubicBezTo>
                <a:lnTo>
                  <a:pt x="225743" y="95816"/>
                </a:lnTo>
                <a:cubicBezTo>
                  <a:pt x="231324" y="90234"/>
                  <a:pt x="240387" y="90234"/>
                  <a:pt x="245968" y="95816"/>
                </a:cubicBezTo>
                <a:lnTo>
                  <a:pt x="254318" y="104165"/>
                </a:lnTo>
                <a:cubicBezTo>
                  <a:pt x="259899" y="109746"/>
                  <a:pt x="259899" y="118809"/>
                  <a:pt x="254318" y="124391"/>
                </a:cubicBezTo>
                <a:lnTo>
                  <a:pt x="203106" y="175647"/>
                </a:lnTo>
                <a:cubicBezTo>
                  <a:pt x="197525" y="181228"/>
                  <a:pt x="188461" y="181228"/>
                  <a:pt x="182880" y="175647"/>
                </a:cubicBezTo>
                <a:lnTo>
                  <a:pt x="174531" y="167298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23" name="Text 21"/>
          <p:cNvSpPr/>
          <p:nvPr/>
        </p:nvSpPr>
        <p:spPr>
          <a:xfrm>
            <a:off x="6164580" y="1485900"/>
            <a:ext cx="5534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规范判定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78830" y="1942984"/>
            <a:ext cx="5705475" cy="1323975"/>
          </a:xfrm>
          <a:custGeom>
            <a:avLst/>
            <a:gdLst/>
            <a:ahLst/>
            <a:cxnLst/>
            <a:rect l="l" t="t" r="r" b="b"/>
            <a:pathLst>
              <a:path w="5705475" h="1323975">
                <a:moveTo>
                  <a:pt x="76195" y="0"/>
                </a:moveTo>
                <a:lnTo>
                  <a:pt x="5629280" y="0"/>
                </a:lnTo>
                <a:cubicBezTo>
                  <a:pt x="5671361" y="0"/>
                  <a:pt x="5705475" y="34114"/>
                  <a:pt x="5705475" y="76195"/>
                </a:cubicBezTo>
                <a:lnTo>
                  <a:pt x="5705475" y="1247780"/>
                </a:lnTo>
                <a:cubicBezTo>
                  <a:pt x="5705475" y="1289861"/>
                  <a:pt x="5671361" y="1323975"/>
                  <a:pt x="5629280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5" name="Shape 23"/>
          <p:cNvSpPr/>
          <p:nvPr/>
        </p:nvSpPr>
        <p:spPr>
          <a:xfrm>
            <a:off x="7104222" y="24625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489825" y="2133600"/>
            <a:ext cx="3086100" cy="942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即便是同一课题组、哪怕导师同意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这种未经授权或未加引用的照搬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依然构成"剽窃"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882640" y="3424118"/>
            <a:ext cx="5694045" cy="541020"/>
          </a:xfrm>
          <a:custGeom>
            <a:avLst/>
            <a:gdLst/>
            <a:ahLst/>
            <a:cxnLst/>
            <a:rect l="l" t="t" r="r" b="b"/>
            <a:pathLst>
              <a:path w="5694045" h="541020">
                <a:moveTo>
                  <a:pt x="76203" y="0"/>
                </a:moveTo>
                <a:lnTo>
                  <a:pt x="5617842" y="0"/>
                </a:lnTo>
                <a:cubicBezTo>
                  <a:pt x="5659928" y="0"/>
                  <a:pt x="5694045" y="34117"/>
                  <a:pt x="5694045" y="76203"/>
                </a:cubicBezTo>
                <a:lnTo>
                  <a:pt x="5694045" y="464817"/>
                </a:lnTo>
                <a:cubicBezTo>
                  <a:pt x="5694045" y="506903"/>
                  <a:pt x="5659928" y="541020"/>
                  <a:pt x="5617842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D7A96">
              <a:alpha val="10196"/>
            </a:srgbClr>
          </a:solidFill>
          <a:ln w="10160">
            <a:solidFill>
              <a:srgbClr val="5D7A9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7900" y="36108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29" name="Text 27"/>
          <p:cNvSpPr/>
          <p:nvPr/>
        </p:nvSpPr>
        <p:spPr>
          <a:xfrm>
            <a:off x="6349365" y="3611245"/>
            <a:ext cx="4894580" cy="182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学术界不认"同一师门就可以随便抄"这种潜规则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07405" y="41593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31" name="Text 29"/>
          <p:cNvSpPr/>
          <p:nvPr/>
        </p:nvSpPr>
        <p:spPr>
          <a:xfrm>
            <a:off x="6164580" y="4121348"/>
            <a:ext cx="5534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防雷指南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82640" y="4582242"/>
            <a:ext cx="5694045" cy="845820"/>
          </a:xfrm>
          <a:custGeom>
            <a:avLst/>
            <a:gdLst/>
            <a:ahLst/>
            <a:cxnLst/>
            <a:rect l="l" t="t" r="r" b="b"/>
            <a:pathLst>
              <a:path w="5694045" h="845820">
                <a:moveTo>
                  <a:pt x="76200" y="0"/>
                </a:moveTo>
                <a:lnTo>
                  <a:pt x="5617845" y="0"/>
                </a:lnTo>
                <a:cubicBezTo>
                  <a:pt x="5659929" y="0"/>
                  <a:pt x="5694045" y="34116"/>
                  <a:pt x="5694045" y="76200"/>
                </a:cubicBezTo>
                <a:lnTo>
                  <a:pt x="5694045" y="769620"/>
                </a:lnTo>
                <a:cubicBezTo>
                  <a:pt x="5694045" y="811704"/>
                  <a:pt x="5659929" y="845820"/>
                  <a:pt x="5617845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4A87A">
              <a:alpha val="10196"/>
            </a:srgbClr>
          </a:solidFill>
          <a:ln w="10160">
            <a:solidFill>
              <a:srgbClr val="C4A87A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62663" y="4776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1304" y="7888"/>
                </a:moveTo>
                <a:lnTo>
                  <a:pt x="114598" y="24594"/>
                </a:lnTo>
                <a:lnTo>
                  <a:pt x="165906" y="75902"/>
                </a:lnTo>
                <a:lnTo>
                  <a:pt x="182612" y="59196"/>
                </a:lnTo>
                <a:cubicBezTo>
                  <a:pt x="187672" y="54173"/>
                  <a:pt x="190500" y="47327"/>
                  <a:pt x="190500" y="40184"/>
                </a:cubicBezTo>
                <a:cubicBezTo>
                  <a:pt x="190500" y="33040"/>
                  <a:pt x="187672" y="26194"/>
                  <a:pt x="182612" y="21171"/>
                </a:cubicBezTo>
                <a:lnTo>
                  <a:pt x="169329" y="7888"/>
                </a:lnTo>
                <a:cubicBezTo>
                  <a:pt x="164306" y="2828"/>
                  <a:pt x="157460" y="0"/>
                  <a:pt x="150316" y="0"/>
                </a:cubicBezTo>
                <a:cubicBezTo>
                  <a:pt x="143173" y="0"/>
                  <a:pt x="136327" y="2828"/>
                  <a:pt x="131304" y="7888"/>
                </a:cubicBezTo>
                <a:close/>
                <a:moveTo>
                  <a:pt x="101984" y="37207"/>
                </a:moveTo>
                <a:lnTo>
                  <a:pt x="21915" y="117239"/>
                </a:lnTo>
                <a:cubicBezTo>
                  <a:pt x="17934" y="121221"/>
                  <a:pt x="15032" y="126206"/>
                  <a:pt x="13506" y="131638"/>
                </a:cubicBezTo>
                <a:lnTo>
                  <a:pt x="335" y="179189"/>
                </a:lnTo>
                <a:cubicBezTo>
                  <a:pt x="-521" y="182277"/>
                  <a:pt x="335" y="185626"/>
                  <a:pt x="2642" y="187896"/>
                </a:cubicBezTo>
                <a:cubicBezTo>
                  <a:pt x="4949" y="190165"/>
                  <a:pt x="8260" y="191058"/>
                  <a:pt x="11348" y="190202"/>
                </a:cubicBezTo>
                <a:lnTo>
                  <a:pt x="58899" y="176994"/>
                </a:lnTo>
                <a:cubicBezTo>
                  <a:pt x="64331" y="175468"/>
                  <a:pt x="69279" y="172603"/>
                  <a:pt x="73298" y="168585"/>
                </a:cubicBezTo>
                <a:lnTo>
                  <a:pt x="153293" y="88516"/>
                </a:lnTo>
                <a:lnTo>
                  <a:pt x="101984" y="37207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34" name="Text 32"/>
          <p:cNvSpPr/>
          <p:nvPr/>
        </p:nvSpPr>
        <p:spPr>
          <a:xfrm>
            <a:off x="6391275" y="4738450"/>
            <a:ext cx="3009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重新组织语言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91275" y="5043250"/>
            <a:ext cx="3000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用自己的语言重新</a:t>
            </a:r>
            <a:r>
              <a:rPr lang="zh-CN" alt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叙述</a:t>
            </a:r>
            <a:endParaRPr lang="zh-CN" altLang="en-US" sz="1400" b="1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82640" y="5549978"/>
            <a:ext cx="5694045" cy="845820"/>
          </a:xfrm>
          <a:custGeom>
            <a:avLst/>
            <a:gdLst/>
            <a:ahLst/>
            <a:cxnLst/>
            <a:rect l="l" t="t" r="r" b="b"/>
            <a:pathLst>
              <a:path w="5694045" h="845820">
                <a:moveTo>
                  <a:pt x="76200" y="0"/>
                </a:moveTo>
                <a:lnTo>
                  <a:pt x="5617845" y="0"/>
                </a:lnTo>
                <a:cubicBezTo>
                  <a:pt x="5659929" y="0"/>
                  <a:pt x="5694045" y="34116"/>
                  <a:pt x="5694045" y="76200"/>
                </a:cubicBezTo>
                <a:lnTo>
                  <a:pt x="5694045" y="769620"/>
                </a:lnTo>
                <a:cubicBezTo>
                  <a:pt x="5694045" y="811704"/>
                  <a:pt x="5659929" y="845820"/>
                  <a:pt x="5617845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4A87A">
              <a:alpha val="10196"/>
            </a:srgbClr>
          </a:solidFill>
          <a:ln w="10160">
            <a:solidFill>
              <a:srgbClr val="C4A87A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74569" y="574429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110133"/>
                </a:moveTo>
                <a:cubicBezTo>
                  <a:pt x="166688" y="134801"/>
                  <a:pt x="146707" y="154781"/>
                  <a:pt x="122039" y="154781"/>
                </a:cubicBezTo>
                <a:lnTo>
                  <a:pt x="119063" y="154781"/>
                </a:lnTo>
                <a:cubicBezTo>
                  <a:pt x="112477" y="154781"/>
                  <a:pt x="107156" y="149461"/>
                  <a:pt x="107156" y="142875"/>
                </a:cubicBezTo>
                <a:cubicBezTo>
                  <a:pt x="107156" y="136289"/>
                  <a:pt x="112477" y="130969"/>
                  <a:pt x="119063" y="130969"/>
                </a:cubicBezTo>
                <a:lnTo>
                  <a:pt x="122039" y="130969"/>
                </a:lnTo>
                <a:cubicBezTo>
                  <a:pt x="133536" y="130969"/>
                  <a:pt x="142875" y="121630"/>
                  <a:pt x="142875" y="110133"/>
                </a:cubicBezTo>
                <a:lnTo>
                  <a:pt x="142875" y="107156"/>
                </a:lnTo>
                <a:lnTo>
                  <a:pt x="119063" y="107156"/>
                </a:lnTo>
                <a:cubicBezTo>
                  <a:pt x="105928" y="107156"/>
                  <a:pt x="95250" y="96478"/>
                  <a:pt x="95250" y="83344"/>
                </a:cubicBezTo>
                <a:lnTo>
                  <a:pt x="95250" y="59531"/>
                </a:lnTo>
                <a:cubicBezTo>
                  <a:pt x="95250" y="46397"/>
                  <a:pt x="105928" y="35719"/>
                  <a:pt x="119063" y="35719"/>
                </a:cubicBezTo>
                <a:lnTo>
                  <a:pt x="142875" y="35719"/>
                </a:lnTo>
                <a:cubicBezTo>
                  <a:pt x="156009" y="35719"/>
                  <a:pt x="166688" y="46397"/>
                  <a:pt x="166688" y="59531"/>
                </a:cubicBezTo>
                <a:lnTo>
                  <a:pt x="166688" y="110133"/>
                </a:lnTo>
                <a:close/>
                <a:moveTo>
                  <a:pt x="71438" y="110133"/>
                </a:moveTo>
                <a:cubicBezTo>
                  <a:pt x="71438" y="134801"/>
                  <a:pt x="51457" y="154781"/>
                  <a:pt x="26789" y="154781"/>
                </a:cubicBezTo>
                <a:lnTo>
                  <a:pt x="23812" y="154781"/>
                </a:lnTo>
                <a:cubicBezTo>
                  <a:pt x="17227" y="154781"/>
                  <a:pt x="11906" y="149461"/>
                  <a:pt x="11906" y="142875"/>
                </a:cubicBezTo>
                <a:cubicBezTo>
                  <a:pt x="11906" y="136289"/>
                  <a:pt x="17227" y="130969"/>
                  <a:pt x="23812" y="130969"/>
                </a:cubicBezTo>
                <a:lnTo>
                  <a:pt x="26789" y="130969"/>
                </a:lnTo>
                <a:cubicBezTo>
                  <a:pt x="38286" y="130969"/>
                  <a:pt x="47625" y="121630"/>
                  <a:pt x="47625" y="110133"/>
                </a:cubicBezTo>
                <a:lnTo>
                  <a:pt x="47625" y="107156"/>
                </a:lnTo>
                <a:lnTo>
                  <a:pt x="23812" y="107156"/>
                </a:lnTo>
                <a:cubicBezTo>
                  <a:pt x="10678" y="107156"/>
                  <a:pt x="0" y="96478"/>
                  <a:pt x="0" y="83344"/>
                </a:cubicBezTo>
                <a:lnTo>
                  <a:pt x="0" y="59531"/>
                </a:lnTo>
                <a:cubicBezTo>
                  <a:pt x="0" y="46397"/>
                  <a:pt x="10678" y="35719"/>
                  <a:pt x="23812" y="35719"/>
                </a:cubicBezTo>
                <a:lnTo>
                  <a:pt x="47625" y="35719"/>
                </a:lnTo>
                <a:cubicBezTo>
                  <a:pt x="60759" y="35719"/>
                  <a:pt x="71438" y="46397"/>
                  <a:pt x="71438" y="59531"/>
                </a:cubicBezTo>
                <a:lnTo>
                  <a:pt x="71438" y="110133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38" name="Text 36"/>
          <p:cNvSpPr/>
          <p:nvPr/>
        </p:nvSpPr>
        <p:spPr>
          <a:xfrm>
            <a:off x="6391275" y="5706191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标明引用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1275" y="5934710"/>
            <a:ext cx="276161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在必要的地方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引用或致谢前人工作</a:t>
            </a:r>
            <a:endParaRPr lang="en-US" sz="1400" dirty="0"/>
          </a:p>
        </p:txBody>
      </p:sp>
      <p:pic>
        <p:nvPicPr>
          <p:cNvPr id="40" name="图片 39"/>
          <p:cNvPicPr/>
          <p:nvPr/>
        </p:nvPicPr>
        <p:blipFill>
          <a:blip r:embed="rId1"/>
          <a:stretch>
            <a:fillRect/>
          </a:stretch>
        </p:blipFill>
        <p:spPr>
          <a:xfrm>
            <a:off x="1622425" y="1802765"/>
            <a:ext cx="2593975" cy="19958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WRITING PITFALL 05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8928" y="682070"/>
            <a:ext cx="11604662" cy="378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写作雷区五：隐蔽的违规——"代写审稿意见"</a:t>
            </a:r>
            <a:endParaRPr lang="en-US"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1640" y="1269365"/>
            <a:ext cx="4462145" cy="5087620"/>
          </a:xfrm>
          <a:custGeom>
            <a:avLst/>
            <a:gdLst/>
            <a:ahLst/>
            <a:cxnLst/>
            <a:rect l="l" t="t" r="r" b="b"/>
            <a:pathLst>
              <a:path w="4461874" h="4945007">
                <a:moveTo>
                  <a:pt x="37893" y="0"/>
                </a:moveTo>
                <a:lnTo>
                  <a:pt x="4386067" y="0"/>
                </a:lnTo>
                <a:cubicBezTo>
                  <a:pt x="4427934" y="0"/>
                  <a:pt x="4461874" y="33940"/>
                  <a:pt x="4461874" y="75807"/>
                </a:cubicBezTo>
                <a:lnTo>
                  <a:pt x="4461874" y="4869200"/>
                </a:lnTo>
                <a:cubicBezTo>
                  <a:pt x="4461874" y="4911067"/>
                  <a:pt x="4427934" y="4945007"/>
                  <a:pt x="4386067" y="4945007"/>
                </a:cubicBezTo>
                <a:lnTo>
                  <a:pt x="37893" y="4945007"/>
                </a:lnTo>
                <a:cubicBezTo>
                  <a:pt x="16965" y="4945007"/>
                  <a:pt x="0" y="4928042"/>
                  <a:pt x="0" y="4907114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098" dist="947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9939" y="1269084"/>
            <a:ext cx="37893" cy="5112000"/>
          </a:xfrm>
          <a:custGeom>
            <a:avLst/>
            <a:gdLst/>
            <a:ahLst/>
            <a:cxnLst/>
            <a:rect l="l" t="t" r="r" b="b"/>
            <a:pathLst>
              <a:path w="37893" h="4945007">
                <a:moveTo>
                  <a:pt x="37893" y="0"/>
                </a:moveTo>
                <a:lnTo>
                  <a:pt x="37893" y="0"/>
                </a:lnTo>
                <a:lnTo>
                  <a:pt x="37893" y="4945007"/>
                </a:lnTo>
                <a:lnTo>
                  <a:pt x="37893" y="4945007"/>
                </a:lnTo>
                <a:cubicBezTo>
                  <a:pt x="16965" y="4945007"/>
                  <a:pt x="0" y="4928042"/>
                  <a:pt x="0" y="4907114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6" name="Shape 4"/>
          <p:cNvSpPr/>
          <p:nvPr/>
        </p:nvSpPr>
        <p:spPr>
          <a:xfrm>
            <a:off x="686807" y="1477703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75934" y="-7105"/>
                </a:moveTo>
                <a:cubicBezTo>
                  <a:pt x="59770" y="-7105"/>
                  <a:pt x="50267" y="18784"/>
                  <a:pt x="45605" y="42629"/>
                </a:cubicBezTo>
                <a:lnTo>
                  <a:pt x="31972" y="42629"/>
                </a:lnTo>
                <a:cubicBezTo>
                  <a:pt x="26066" y="42629"/>
                  <a:pt x="21315" y="47381"/>
                  <a:pt x="21315" y="53287"/>
                </a:cubicBezTo>
                <a:cubicBezTo>
                  <a:pt x="21315" y="59193"/>
                  <a:pt x="26066" y="63944"/>
                  <a:pt x="31972" y="63944"/>
                </a:cubicBezTo>
                <a:lnTo>
                  <a:pt x="42629" y="63944"/>
                </a:lnTo>
                <a:lnTo>
                  <a:pt x="42629" y="78154"/>
                </a:lnTo>
                <a:cubicBezTo>
                  <a:pt x="42629" y="85703"/>
                  <a:pt x="44095" y="92897"/>
                  <a:pt x="46759" y="99469"/>
                </a:cubicBezTo>
                <a:lnTo>
                  <a:pt x="42629" y="99469"/>
                </a:lnTo>
                <a:lnTo>
                  <a:pt x="42629" y="99469"/>
                </a:lnTo>
                <a:lnTo>
                  <a:pt x="33526" y="99469"/>
                </a:lnTo>
                <a:cubicBezTo>
                  <a:pt x="26777" y="99469"/>
                  <a:pt x="21315" y="104930"/>
                  <a:pt x="21315" y="111680"/>
                </a:cubicBezTo>
                <a:cubicBezTo>
                  <a:pt x="21315" y="113012"/>
                  <a:pt x="21537" y="114300"/>
                  <a:pt x="21936" y="115543"/>
                </a:cubicBezTo>
                <a:lnTo>
                  <a:pt x="34770" y="153999"/>
                </a:lnTo>
                <a:cubicBezTo>
                  <a:pt x="17851" y="168564"/>
                  <a:pt x="7105" y="190100"/>
                  <a:pt x="7105" y="214168"/>
                </a:cubicBezTo>
                <a:cubicBezTo>
                  <a:pt x="7105" y="221451"/>
                  <a:pt x="13011" y="227357"/>
                  <a:pt x="20293" y="227357"/>
                </a:cubicBezTo>
                <a:lnTo>
                  <a:pt x="178644" y="227357"/>
                </a:lnTo>
                <a:cubicBezTo>
                  <a:pt x="185926" y="227357"/>
                  <a:pt x="191832" y="221451"/>
                  <a:pt x="191832" y="214168"/>
                </a:cubicBezTo>
                <a:cubicBezTo>
                  <a:pt x="191832" y="190100"/>
                  <a:pt x="181086" y="168564"/>
                  <a:pt x="164167" y="154043"/>
                </a:cubicBezTo>
                <a:lnTo>
                  <a:pt x="177001" y="115588"/>
                </a:lnTo>
                <a:cubicBezTo>
                  <a:pt x="177400" y="114344"/>
                  <a:pt x="177622" y="113057"/>
                  <a:pt x="177622" y="111724"/>
                </a:cubicBezTo>
                <a:cubicBezTo>
                  <a:pt x="177622" y="104975"/>
                  <a:pt x="172160" y="99513"/>
                  <a:pt x="165411" y="99513"/>
                </a:cubicBezTo>
                <a:lnTo>
                  <a:pt x="156308" y="99513"/>
                </a:lnTo>
                <a:lnTo>
                  <a:pt x="156308" y="99513"/>
                </a:lnTo>
                <a:lnTo>
                  <a:pt x="152178" y="99513"/>
                </a:lnTo>
                <a:cubicBezTo>
                  <a:pt x="154842" y="92941"/>
                  <a:pt x="156308" y="85747"/>
                  <a:pt x="156308" y="78198"/>
                </a:cubicBezTo>
                <a:lnTo>
                  <a:pt x="156308" y="63988"/>
                </a:lnTo>
                <a:lnTo>
                  <a:pt x="166965" y="63988"/>
                </a:lnTo>
                <a:cubicBezTo>
                  <a:pt x="172871" y="63988"/>
                  <a:pt x="177622" y="59237"/>
                  <a:pt x="177622" y="53331"/>
                </a:cubicBezTo>
                <a:cubicBezTo>
                  <a:pt x="177622" y="47425"/>
                  <a:pt x="172871" y="42674"/>
                  <a:pt x="166965" y="42674"/>
                </a:cubicBezTo>
                <a:lnTo>
                  <a:pt x="153333" y="42674"/>
                </a:lnTo>
                <a:cubicBezTo>
                  <a:pt x="148714" y="18828"/>
                  <a:pt x="139167" y="-7060"/>
                  <a:pt x="123003" y="-7060"/>
                </a:cubicBezTo>
                <a:cubicBezTo>
                  <a:pt x="118741" y="-7060"/>
                  <a:pt x="114566" y="-5329"/>
                  <a:pt x="110792" y="-3419"/>
                </a:cubicBezTo>
                <a:cubicBezTo>
                  <a:pt x="107151" y="-1599"/>
                  <a:pt x="102621" y="44"/>
                  <a:pt x="99469" y="44"/>
                </a:cubicBezTo>
                <a:cubicBezTo>
                  <a:pt x="96316" y="44"/>
                  <a:pt x="91786" y="-1599"/>
                  <a:pt x="88145" y="-3419"/>
                </a:cubicBezTo>
                <a:cubicBezTo>
                  <a:pt x="84371" y="-5373"/>
                  <a:pt x="80197" y="-7105"/>
                  <a:pt x="75934" y="-7105"/>
                </a:cubicBezTo>
                <a:close/>
                <a:moveTo>
                  <a:pt x="117542" y="207996"/>
                </a:moveTo>
                <a:lnTo>
                  <a:pt x="106529" y="176512"/>
                </a:lnTo>
                <a:lnTo>
                  <a:pt x="118918" y="162080"/>
                </a:lnTo>
                <a:cubicBezTo>
                  <a:pt x="120117" y="160659"/>
                  <a:pt x="120783" y="158883"/>
                  <a:pt x="120783" y="157018"/>
                </a:cubicBezTo>
                <a:cubicBezTo>
                  <a:pt x="120783" y="152711"/>
                  <a:pt x="117320" y="149247"/>
                  <a:pt x="113012" y="149247"/>
                </a:cubicBezTo>
                <a:lnTo>
                  <a:pt x="85925" y="149247"/>
                </a:lnTo>
                <a:cubicBezTo>
                  <a:pt x="81617" y="149247"/>
                  <a:pt x="78154" y="152711"/>
                  <a:pt x="78154" y="157018"/>
                </a:cubicBezTo>
                <a:cubicBezTo>
                  <a:pt x="78154" y="158883"/>
                  <a:pt x="78820" y="160659"/>
                  <a:pt x="80019" y="162080"/>
                </a:cubicBezTo>
                <a:lnTo>
                  <a:pt x="92408" y="176512"/>
                </a:lnTo>
                <a:lnTo>
                  <a:pt x="81395" y="207996"/>
                </a:lnTo>
                <a:lnTo>
                  <a:pt x="56084" y="127888"/>
                </a:lnTo>
                <a:lnTo>
                  <a:pt x="71937" y="127888"/>
                </a:lnTo>
                <a:cubicBezTo>
                  <a:pt x="80108" y="132417"/>
                  <a:pt x="89477" y="134993"/>
                  <a:pt x="99469" y="134993"/>
                </a:cubicBezTo>
                <a:cubicBezTo>
                  <a:pt x="109460" y="134993"/>
                  <a:pt x="118829" y="132417"/>
                  <a:pt x="127000" y="127888"/>
                </a:cubicBezTo>
                <a:lnTo>
                  <a:pt x="142853" y="127888"/>
                </a:lnTo>
                <a:lnTo>
                  <a:pt x="117542" y="207996"/>
                </a:lnTo>
                <a:close/>
                <a:moveTo>
                  <a:pt x="99469" y="113678"/>
                </a:moveTo>
                <a:cubicBezTo>
                  <a:pt x="84060" y="113678"/>
                  <a:pt x="70960" y="103865"/>
                  <a:pt x="66031" y="90143"/>
                </a:cubicBezTo>
                <a:cubicBezTo>
                  <a:pt x="68562" y="91564"/>
                  <a:pt x="71493" y="92364"/>
                  <a:pt x="74601" y="92364"/>
                </a:cubicBezTo>
                <a:lnTo>
                  <a:pt x="80108" y="92364"/>
                </a:lnTo>
                <a:cubicBezTo>
                  <a:pt x="87435" y="92364"/>
                  <a:pt x="93918" y="87657"/>
                  <a:pt x="96227" y="80729"/>
                </a:cubicBezTo>
                <a:cubicBezTo>
                  <a:pt x="97248" y="77621"/>
                  <a:pt x="101644" y="77621"/>
                  <a:pt x="102666" y="80729"/>
                </a:cubicBezTo>
                <a:cubicBezTo>
                  <a:pt x="104975" y="87657"/>
                  <a:pt x="111502" y="92364"/>
                  <a:pt x="118785" y="92364"/>
                </a:cubicBezTo>
                <a:lnTo>
                  <a:pt x="124291" y="92364"/>
                </a:lnTo>
                <a:cubicBezTo>
                  <a:pt x="127400" y="92364"/>
                  <a:pt x="130330" y="91564"/>
                  <a:pt x="132862" y="90143"/>
                </a:cubicBezTo>
                <a:cubicBezTo>
                  <a:pt x="127933" y="103865"/>
                  <a:pt x="114833" y="113678"/>
                  <a:pt x="99424" y="113678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7" name="Text 5"/>
          <p:cNvSpPr/>
          <p:nvPr/>
        </p:nvSpPr>
        <p:spPr>
          <a:xfrm>
            <a:off x="928373" y="1439925"/>
            <a:ext cx="3817697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隐秘场景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7700" y="3565525"/>
            <a:ext cx="4098925" cy="1381125"/>
          </a:xfrm>
          <a:custGeom>
            <a:avLst/>
            <a:gdLst/>
            <a:ahLst/>
            <a:cxnLst/>
            <a:rect l="l" t="t" r="r" b="b"/>
            <a:pathLst>
              <a:path w="3986320" h="1087523">
                <a:moveTo>
                  <a:pt x="75789" y="0"/>
                </a:moveTo>
                <a:lnTo>
                  <a:pt x="3910530" y="0"/>
                </a:lnTo>
                <a:cubicBezTo>
                  <a:pt x="3952388" y="0"/>
                  <a:pt x="3986320" y="33932"/>
                  <a:pt x="3986320" y="75789"/>
                </a:cubicBezTo>
                <a:lnTo>
                  <a:pt x="3986320" y="1011733"/>
                </a:lnTo>
                <a:cubicBezTo>
                  <a:pt x="3986320" y="1053591"/>
                  <a:pt x="3952388" y="1087523"/>
                  <a:pt x="3910530" y="1087523"/>
                </a:cubicBezTo>
                <a:lnTo>
                  <a:pt x="75789" y="1087523"/>
                </a:lnTo>
                <a:cubicBezTo>
                  <a:pt x="33932" y="1087523"/>
                  <a:pt x="0" y="1053591"/>
                  <a:pt x="0" y="1011733"/>
                </a:cubicBezTo>
                <a:lnTo>
                  <a:pt x="0" y="75789"/>
                </a:lnTo>
                <a:cubicBezTo>
                  <a:pt x="0" y="33932"/>
                  <a:pt x="33932" y="0"/>
                  <a:pt x="75789" y="0"/>
                </a:cubicBezTo>
                <a:close/>
              </a:path>
            </a:pathLst>
          </a:custGeom>
          <a:solidFill>
            <a:srgbClr val="F8F9FA"/>
          </a:solidFill>
          <a:ln w="10160">
            <a:solidFill>
              <a:srgbClr val="5D7A96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327" y="3720953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189464" y="0"/>
                </a:moveTo>
                <a:lnTo>
                  <a:pt x="189464" y="0"/>
                </a:lnTo>
                <a:cubicBezTo>
                  <a:pt x="294102" y="0"/>
                  <a:pt x="378928" y="84826"/>
                  <a:pt x="378928" y="189464"/>
                </a:cubicBezTo>
                <a:lnTo>
                  <a:pt x="378928" y="189464"/>
                </a:lnTo>
                <a:cubicBezTo>
                  <a:pt x="378928" y="294102"/>
                  <a:pt x="294102" y="378928"/>
                  <a:pt x="189464" y="378928"/>
                </a:cubicBezTo>
                <a:lnTo>
                  <a:pt x="189464" y="378928"/>
                </a:lnTo>
                <a:cubicBezTo>
                  <a:pt x="84826" y="378928"/>
                  <a:pt x="0" y="294102"/>
                  <a:pt x="0" y="189464"/>
                </a:cubicBezTo>
                <a:lnTo>
                  <a:pt x="0" y="189464"/>
                </a:lnTo>
                <a:cubicBezTo>
                  <a:pt x="0" y="84826"/>
                  <a:pt x="84826" y="0"/>
                  <a:pt x="189464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4" name="Text 12"/>
          <p:cNvSpPr/>
          <p:nvPr/>
        </p:nvSpPr>
        <p:spPr>
          <a:xfrm>
            <a:off x="765434" y="3720953"/>
            <a:ext cx="454713" cy="378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99845" y="3646805"/>
            <a:ext cx="3333750" cy="634365"/>
          </a:xfrm>
          <a:custGeom>
            <a:avLst/>
            <a:gdLst/>
            <a:ahLst/>
            <a:cxnLst/>
            <a:rect l="l" t="t" r="r" b="b"/>
            <a:pathLst>
              <a:path w="3171625" h="462292">
                <a:moveTo>
                  <a:pt x="75784" y="0"/>
                </a:moveTo>
                <a:lnTo>
                  <a:pt x="3095842" y="0"/>
                </a:lnTo>
                <a:cubicBezTo>
                  <a:pt x="3137696" y="0"/>
                  <a:pt x="3171625" y="33929"/>
                  <a:pt x="3171625" y="75784"/>
                </a:cubicBezTo>
                <a:lnTo>
                  <a:pt x="3171625" y="386508"/>
                </a:lnTo>
                <a:cubicBezTo>
                  <a:pt x="3171625" y="428362"/>
                  <a:pt x="3137696" y="462292"/>
                  <a:pt x="3095842" y="462292"/>
                </a:cubicBezTo>
                <a:lnTo>
                  <a:pt x="75784" y="462292"/>
                </a:lnTo>
                <a:cubicBezTo>
                  <a:pt x="33957" y="462292"/>
                  <a:pt x="0" y="428334"/>
                  <a:pt x="0" y="386508"/>
                </a:cubicBezTo>
                <a:lnTo>
                  <a:pt x="0" y="75784"/>
                </a:lnTo>
                <a:cubicBezTo>
                  <a:pt x="0" y="33957"/>
                  <a:pt x="33957" y="0"/>
                  <a:pt x="7578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190" y="3842208"/>
            <a:ext cx="3012476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"你帮我看</a:t>
            </a:r>
            <a:r>
              <a:rPr lang="zh-CN" alt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看这篇论文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，写个</a:t>
            </a:r>
            <a:r>
              <a:rPr lang="zh-CN" alt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审稿</a:t>
            </a:r>
            <a:r>
              <a:rPr 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意见给我。"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5825" y="4544060"/>
            <a:ext cx="189865" cy="188595"/>
          </a:xfrm>
          <a:custGeom>
            <a:avLst/>
            <a:gdLst/>
            <a:ahLst/>
            <a:cxnLst/>
            <a:rect l="l" t="t" r="r" b="b"/>
            <a:pathLst>
              <a:path w="132625" h="132625">
                <a:moveTo>
                  <a:pt x="66312" y="132625"/>
                </a:moveTo>
                <a:cubicBezTo>
                  <a:pt x="102911" y="132625"/>
                  <a:pt x="132625" y="102911"/>
                  <a:pt x="132625" y="66312"/>
                </a:cubicBezTo>
                <a:cubicBezTo>
                  <a:pt x="132625" y="29714"/>
                  <a:pt x="102911" y="0"/>
                  <a:pt x="66312" y="0"/>
                </a:cubicBezTo>
                <a:cubicBezTo>
                  <a:pt x="29714" y="0"/>
                  <a:pt x="0" y="29714"/>
                  <a:pt x="0" y="66312"/>
                </a:cubicBezTo>
                <a:cubicBezTo>
                  <a:pt x="0" y="102911"/>
                  <a:pt x="29714" y="132625"/>
                  <a:pt x="66312" y="132625"/>
                </a:cubicBezTo>
                <a:close/>
                <a:moveTo>
                  <a:pt x="58023" y="41445"/>
                </a:moveTo>
                <a:cubicBezTo>
                  <a:pt x="58023" y="36870"/>
                  <a:pt x="61738" y="33156"/>
                  <a:pt x="66312" y="33156"/>
                </a:cubicBezTo>
                <a:cubicBezTo>
                  <a:pt x="70887" y="33156"/>
                  <a:pt x="74601" y="36870"/>
                  <a:pt x="74601" y="41445"/>
                </a:cubicBezTo>
                <a:cubicBezTo>
                  <a:pt x="74601" y="46020"/>
                  <a:pt x="70887" y="49734"/>
                  <a:pt x="66312" y="49734"/>
                </a:cubicBezTo>
                <a:cubicBezTo>
                  <a:pt x="61738" y="49734"/>
                  <a:pt x="58023" y="46020"/>
                  <a:pt x="58023" y="41445"/>
                </a:cubicBezTo>
                <a:close/>
                <a:moveTo>
                  <a:pt x="55951" y="58023"/>
                </a:moveTo>
                <a:lnTo>
                  <a:pt x="68385" y="58023"/>
                </a:lnTo>
                <a:cubicBezTo>
                  <a:pt x="71830" y="58023"/>
                  <a:pt x="74601" y="60795"/>
                  <a:pt x="74601" y="64240"/>
                </a:cubicBezTo>
                <a:lnTo>
                  <a:pt x="74601" y="87035"/>
                </a:lnTo>
                <a:lnTo>
                  <a:pt x="76674" y="87035"/>
                </a:lnTo>
                <a:cubicBezTo>
                  <a:pt x="80119" y="87035"/>
                  <a:pt x="82890" y="89807"/>
                  <a:pt x="82890" y="93252"/>
                </a:cubicBezTo>
                <a:cubicBezTo>
                  <a:pt x="82890" y="96697"/>
                  <a:pt x="80119" y="99469"/>
                  <a:pt x="76674" y="99469"/>
                </a:cubicBezTo>
                <a:lnTo>
                  <a:pt x="55951" y="99469"/>
                </a:lnTo>
                <a:cubicBezTo>
                  <a:pt x="52506" y="99469"/>
                  <a:pt x="49734" y="96697"/>
                  <a:pt x="49734" y="93252"/>
                </a:cubicBezTo>
                <a:cubicBezTo>
                  <a:pt x="49734" y="89807"/>
                  <a:pt x="52506" y="87035"/>
                  <a:pt x="55951" y="87035"/>
                </a:cubicBezTo>
                <a:lnTo>
                  <a:pt x="62168" y="87035"/>
                </a:lnTo>
                <a:lnTo>
                  <a:pt x="62168" y="70457"/>
                </a:lnTo>
                <a:lnTo>
                  <a:pt x="55951" y="70457"/>
                </a:lnTo>
                <a:cubicBezTo>
                  <a:pt x="52506" y="70457"/>
                  <a:pt x="49734" y="67685"/>
                  <a:pt x="49734" y="64240"/>
                </a:cubicBezTo>
                <a:cubicBezTo>
                  <a:pt x="49734" y="60795"/>
                  <a:pt x="52506" y="58023"/>
                  <a:pt x="55951" y="58023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18" name="Text 16"/>
          <p:cNvSpPr/>
          <p:nvPr/>
        </p:nvSpPr>
        <p:spPr>
          <a:xfrm>
            <a:off x="1299845" y="4442460"/>
            <a:ext cx="3180715" cy="2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很多大牛导师收到顶刊审稿邀请，转手发给学生</a:t>
            </a:r>
            <a:endParaRPr lang="en-US" sz="1400" dirty="0"/>
          </a:p>
        </p:txBody>
      </p:sp>
      <p:grpSp>
        <p:nvGrpSpPr>
          <p:cNvPr id="8" name="组合 7"/>
          <p:cNvGrpSpPr/>
          <p:nvPr/>
        </p:nvGrpSpPr>
        <p:grpSpPr>
          <a:xfrm>
            <a:off x="616756" y="5300980"/>
            <a:ext cx="4016839" cy="537845"/>
            <a:chOff x="833" y="9941"/>
            <a:chExt cx="6822" cy="847"/>
          </a:xfrm>
        </p:grpSpPr>
        <p:sp>
          <p:nvSpPr>
            <p:cNvPr id="19" name="Shape 17"/>
            <p:cNvSpPr/>
            <p:nvPr/>
          </p:nvSpPr>
          <p:spPr>
            <a:xfrm>
              <a:off x="833" y="9941"/>
              <a:ext cx="6822" cy="847"/>
            </a:xfrm>
            <a:custGeom>
              <a:avLst/>
              <a:gdLst/>
              <a:ahLst/>
              <a:cxnLst/>
              <a:rect l="l" t="t" r="r" b="b"/>
              <a:pathLst>
                <a:path w="4478926" h="538077">
                  <a:moveTo>
                    <a:pt x="75788" y="0"/>
                  </a:moveTo>
                  <a:lnTo>
                    <a:pt x="4403138" y="0"/>
                  </a:lnTo>
                  <a:cubicBezTo>
                    <a:pt x="4444994" y="0"/>
                    <a:pt x="4478926" y="33932"/>
                    <a:pt x="4478926" y="75788"/>
                  </a:cubicBezTo>
                  <a:lnTo>
                    <a:pt x="4478926" y="462289"/>
                  </a:lnTo>
                  <a:cubicBezTo>
                    <a:pt x="4478926" y="504146"/>
                    <a:pt x="4444994" y="538077"/>
                    <a:pt x="4403138" y="538077"/>
                  </a:cubicBezTo>
                  <a:lnTo>
                    <a:pt x="75788" y="538077"/>
                  </a:lnTo>
                  <a:cubicBezTo>
                    <a:pt x="33932" y="538077"/>
                    <a:pt x="0" y="504146"/>
                    <a:pt x="0" y="462289"/>
                  </a:cubicBezTo>
                  <a:lnTo>
                    <a:pt x="0" y="75788"/>
                  </a:lnTo>
                  <a:cubicBezTo>
                    <a:pt x="0" y="33932"/>
                    <a:pt x="33932" y="0"/>
                    <a:pt x="75788" y="0"/>
                  </a:cubicBezTo>
                  <a:close/>
                </a:path>
              </a:pathLst>
            </a:custGeom>
            <a:solidFill>
              <a:srgbClr val="C4A87A">
                <a:alpha val="10196"/>
              </a:srgbClr>
            </a:solidFill>
            <a:ln w="10160">
              <a:solidFill>
                <a:srgbClr val="C4A87A">
                  <a:alpha val="30196"/>
                </a:srgbClr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922" y="10186"/>
              <a:ext cx="224" cy="298"/>
            </a:xfrm>
            <a:custGeom>
              <a:avLst/>
              <a:gdLst/>
              <a:ahLst/>
              <a:cxnLst/>
              <a:rect l="l" t="t" r="r" b="b"/>
              <a:pathLst>
                <a:path w="142098" h="189464">
                  <a:moveTo>
                    <a:pt x="108387" y="142098"/>
                  </a:moveTo>
                  <a:cubicBezTo>
                    <a:pt x="111088" y="133846"/>
                    <a:pt x="116491" y="126371"/>
                    <a:pt x="122596" y="119932"/>
                  </a:cubicBezTo>
                  <a:cubicBezTo>
                    <a:pt x="134697" y="107203"/>
                    <a:pt x="142098" y="89995"/>
                    <a:pt x="142098" y="71049"/>
                  </a:cubicBezTo>
                  <a:cubicBezTo>
                    <a:pt x="142098" y="31824"/>
                    <a:pt x="110274" y="0"/>
                    <a:pt x="71049" y="0"/>
                  </a:cubicBezTo>
                  <a:cubicBezTo>
                    <a:pt x="31824" y="0"/>
                    <a:pt x="0" y="31824"/>
                    <a:pt x="0" y="71049"/>
                  </a:cubicBezTo>
                  <a:cubicBezTo>
                    <a:pt x="0" y="89995"/>
                    <a:pt x="7401" y="107203"/>
                    <a:pt x="19501" y="119932"/>
                  </a:cubicBezTo>
                  <a:cubicBezTo>
                    <a:pt x="25607" y="126371"/>
                    <a:pt x="31047" y="133846"/>
                    <a:pt x="33711" y="142098"/>
                  </a:cubicBezTo>
                  <a:lnTo>
                    <a:pt x="108350" y="142098"/>
                  </a:lnTo>
                  <a:close/>
                  <a:moveTo>
                    <a:pt x="106573" y="159860"/>
                  </a:moveTo>
                  <a:lnTo>
                    <a:pt x="35524" y="159860"/>
                  </a:lnTo>
                  <a:lnTo>
                    <a:pt x="35524" y="165781"/>
                  </a:lnTo>
                  <a:cubicBezTo>
                    <a:pt x="35524" y="182137"/>
                    <a:pt x="48772" y="195385"/>
                    <a:pt x="65128" y="195385"/>
                  </a:cubicBezTo>
                  <a:lnTo>
                    <a:pt x="76970" y="195385"/>
                  </a:lnTo>
                  <a:cubicBezTo>
                    <a:pt x="93326" y="195385"/>
                    <a:pt x="106573" y="182137"/>
                    <a:pt x="106573" y="165781"/>
                  </a:cubicBezTo>
                  <a:lnTo>
                    <a:pt x="106573" y="159860"/>
                  </a:lnTo>
                  <a:close/>
                  <a:moveTo>
                    <a:pt x="68089" y="41445"/>
                  </a:moveTo>
                  <a:cubicBezTo>
                    <a:pt x="53361" y="41445"/>
                    <a:pt x="41445" y="53361"/>
                    <a:pt x="41445" y="68089"/>
                  </a:cubicBezTo>
                  <a:cubicBezTo>
                    <a:pt x="41445" y="73010"/>
                    <a:pt x="37486" y="76970"/>
                    <a:pt x="32564" y="76970"/>
                  </a:cubicBezTo>
                  <a:cubicBezTo>
                    <a:pt x="27642" y="76970"/>
                    <a:pt x="23683" y="73010"/>
                    <a:pt x="23683" y="68089"/>
                  </a:cubicBezTo>
                  <a:cubicBezTo>
                    <a:pt x="23683" y="43554"/>
                    <a:pt x="43554" y="23683"/>
                    <a:pt x="68089" y="23683"/>
                  </a:cubicBezTo>
                  <a:cubicBezTo>
                    <a:pt x="73010" y="23683"/>
                    <a:pt x="76970" y="27642"/>
                    <a:pt x="76970" y="32564"/>
                  </a:cubicBezTo>
                  <a:cubicBezTo>
                    <a:pt x="76970" y="37486"/>
                    <a:pt x="73010" y="41445"/>
                    <a:pt x="68089" y="41445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1340" y="10186"/>
              <a:ext cx="6254" cy="35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这看似是导师在"锻炼你"，但实际上</a:t>
              </a:r>
              <a:r>
                <a:rPr lang="en-US" sz="1400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严重违规</a:t>
              </a:r>
              <a:r>
                <a:rPr lang="en-US" sz="1400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！</a:t>
              </a:r>
              <a:endParaRPr lang="en-US" sz="140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5089525" y="1231265"/>
            <a:ext cx="6725920" cy="5149215"/>
          </a:xfrm>
          <a:custGeom>
            <a:avLst/>
            <a:gdLst/>
            <a:ahLst/>
            <a:cxnLst/>
            <a:rect l="l" t="t" r="r" b="b"/>
            <a:pathLst>
              <a:path w="6725967" h="5627077">
                <a:moveTo>
                  <a:pt x="37893" y="0"/>
                </a:moveTo>
                <a:lnTo>
                  <a:pt x="6688075" y="0"/>
                </a:lnTo>
                <a:cubicBezTo>
                  <a:pt x="6709002" y="0"/>
                  <a:pt x="6725967" y="16965"/>
                  <a:pt x="6725967" y="37893"/>
                </a:cubicBezTo>
                <a:lnTo>
                  <a:pt x="6725967" y="5551280"/>
                </a:lnTo>
                <a:cubicBezTo>
                  <a:pt x="6725967" y="5593142"/>
                  <a:pt x="6692032" y="5627077"/>
                  <a:pt x="6650171" y="5627077"/>
                </a:cubicBezTo>
                <a:lnTo>
                  <a:pt x="75797" y="5627077"/>
                </a:lnTo>
                <a:cubicBezTo>
                  <a:pt x="33935" y="5627077"/>
                  <a:pt x="0" y="5593142"/>
                  <a:pt x="0" y="5551280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098" dist="947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89355" y="1231515"/>
            <a:ext cx="6725967" cy="37893"/>
          </a:xfrm>
          <a:custGeom>
            <a:avLst/>
            <a:gdLst/>
            <a:ahLst/>
            <a:cxnLst/>
            <a:rect l="l" t="t" r="r" b="b"/>
            <a:pathLst>
              <a:path w="6725967" h="37893">
                <a:moveTo>
                  <a:pt x="37893" y="0"/>
                </a:moveTo>
                <a:lnTo>
                  <a:pt x="6688075" y="0"/>
                </a:lnTo>
                <a:cubicBezTo>
                  <a:pt x="6709002" y="0"/>
                  <a:pt x="6725967" y="16965"/>
                  <a:pt x="6725967" y="37893"/>
                </a:cubicBezTo>
                <a:lnTo>
                  <a:pt x="6725967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4" name="Shape 22"/>
          <p:cNvSpPr/>
          <p:nvPr/>
        </p:nvSpPr>
        <p:spPr>
          <a:xfrm>
            <a:off x="5359341" y="1515595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170517" y="227357"/>
                </a:moveTo>
                <a:lnTo>
                  <a:pt x="42629" y="227357"/>
                </a:lnTo>
                <a:cubicBezTo>
                  <a:pt x="19094" y="227357"/>
                  <a:pt x="0" y="208262"/>
                  <a:pt x="0" y="184727"/>
                </a:cubicBezTo>
                <a:lnTo>
                  <a:pt x="0" y="42629"/>
                </a:lnTo>
                <a:cubicBezTo>
                  <a:pt x="0" y="19094"/>
                  <a:pt x="19094" y="0"/>
                  <a:pt x="42629" y="0"/>
                </a:cubicBezTo>
                <a:lnTo>
                  <a:pt x="177622" y="0"/>
                </a:lnTo>
                <a:cubicBezTo>
                  <a:pt x="189390" y="0"/>
                  <a:pt x="198937" y="9547"/>
                  <a:pt x="198937" y="21315"/>
                </a:cubicBezTo>
                <a:lnTo>
                  <a:pt x="198937" y="149203"/>
                </a:lnTo>
                <a:cubicBezTo>
                  <a:pt x="198937" y="158484"/>
                  <a:pt x="192987" y="166388"/>
                  <a:pt x="184727" y="169319"/>
                </a:cubicBezTo>
                <a:lnTo>
                  <a:pt x="184727" y="198937"/>
                </a:lnTo>
                <a:cubicBezTo>
                  <a:pt x="192587" y="198937"/>
                  <a:pt x="198937" y="205287"/>
                  <a:pt x="198937" y="213147"/>
                </a:cubicBezTo>
                <a:cubicBezTo>
                  <a:pt x="198937" y="221007"/>
                  <a:pt x="192587" y="227357"/>
                  <a:pt x="184727" y="227357"/>
                </a:cubicBezTo>
                <a:lnTo>
                  <a:pt x="170517" y="227357"/>
                </a:lnTo>
                <a:close/>
                <a:moveTo>
                  <a:pt x="42629" y="170517"/>
                </a:moveTo>
                <a:cubicBezTo>
                  <a:pt x="34770" y="170517"/>
                  <a:pt x="28420" y="176867"/>
                  <a:pt x="28420" y="184727"/>
                </a:cubicBezTo>
                <a:cubicBezTo>
                  <a:pt x="28420" y="192587"/>
                  <a:pt x="34770" y="198937"/>
                  <a:pt x="42629" y="198937"/>
                </a:cubicBezTo>
                <a:lnTo>
                  <a:pt x="156308" y="198937"/>
                </a:lnTo>
                <a:lnTo>
                  <a:pt x="156308" y="170517"/>
                </a:lnTo>
                <a:lnTo>
                  <a:pt x="42629" y="170517"/>
                </a:lnTo>
                <a:close/>
                <a:moveTo>
                  <a:pt x="56839" y="67497"/>
                </a:moveTo>
                <a:cubicBezTo>
                  <a:pt x="56839" y="73402"/>
                  <a:pt x="61591" y="78154"/>
                  <a:pt x="67497" y="78154"/>
                </a:cubicBezTo>
                <a:lnTo>
                  <a:pt x="145650" y="78154"/>
                </a:lnTo>
                <a:cubicBezTo>
                  <a:pt x="151556" y="78154"/>
                  <a:pt x="156308" y="73402"/>
                  <a:pt x="156308" y="67497"/>
                </a:cubicBezTo>
                <a:cubicBezTo>
                  <a:pt x="156308" y="61591"/>
                  <a:pt x="151556" y="56839"/>
                  <a:pt x="145650" y="56839"/>
                </a:cubicBezTo>
                <a:lnTo>
                  <a:pt x="67497" y="56839"/>
                </a:lnTo>
                <a:cubicBezTo>
                  <a:pt x="61591" y="56839"/>
                  <a:pt x="56839" y="61591"/>
                  <a:pt x="56839" y="67497"/>
                </a:cubicBezTo>
                <a:close/>
                <a:moveTo>
                  <a:pt x="67497" y="99469"/>
                </a:moveTo>
                <a:cubicBezTo>
                  <a:pt x="61591" y="99469"/>
                  <a:pt x="56839" y="104220"/>
                  <a:pt x="56839" y="110126"/>
                </a:cubicBezTo>
                <a:cubicBezTo>
                  <a:pt x="56839" y="116032"/>
                  <a:pt x="61591" y="120783"/>
                  <a:pt x="67497" y="120783"/>
                </a:cubicBezTo>
                <a:lnTo>
                  <a:pt x="145650" y="120783"/>
                </a:lnTo>
                <a:cubicBezTo>
                  <a:pt x="151556" y="120783"/>
                  <a:pt x="156308" y="116032"/>
                  <a:pt x="156308" y="110126"/>
                </a:cubicBezTo>
                <a:cubicBezTo>
                  <a:pt x="156308" y="104220"/>
                  <a:pt x="151556" y="99469"/>
                  <a:pt x="145650" y="99469"/>
                </a:cubicBezTo>
                <a:lnTo>
                  <a:pt x="67497" y="99469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25" name="Text 23"/>
          <p:cNvSpPr/>
          <p:nvPr/>
        </p:nvSpPr>
        <p:spPr>
          <a:xfrm>
            <a:off x="5600907" y="1477818"/>
            <a:ext cx="6100737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国际规范：COPE指南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16711" y="1894523"/>
            <a:ext cx="6347040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国际出版伦理委员会（Committee on Publication Ethics）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16855" y="2273300"/>
            <a:ext cx="6271260" cy="1019810"/>
          </a:xfrm>
          <a:custGeom>
            <a:avLst/>
            <a:gdLst/>
            <a:ahLst/>
            <a:cxnLst/>
            <a:rect l="l" t="t" r="r" b="b"/>
            <a:pathLst>
              <a:path w="6271254" h="1477818">
                <a:moveTo>
                  <a:pt x="75783" y="0"/>
                </a:moveTo>
                <a:lnTo>
                  <a:pt x="6195472" y="0"/>
                </a:lnTo>
                <a:cubicBezTo>
                  <a:pt x="6237325" y="0"/>
                  <a:pt x="6271254" y="33929"/>
                  <a:pt x="6271254" y="75783"/>
                </a:cubicBezTo>
                <a:lnTo>
                  <a:pt x="6271254" y="1402036"/>
                </a:lnTo>
                <a:cubicBezTo>
                  <a:pt x="6271254" y="1443889"/>
                  <a:pt x="6237325" y="1477818"/>
                  <a:pt x="6195472" y="1477818"/>
                </a:cubicBezTo>
                <a:lnTo>
                  <a:pt x="75783" y="1477818"/>
                </a:lnTo>
                <a:cubicBezTo>
                  <a:pt x="33929" y="1477818"/>
                  <a:pt x="0" y="1443889"/>
                  <a:pt x="0" y="1402036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8" name="Text 26"/>
          <p:cNvSpPr/>
          <p:nvPr/>
        </p:nvSpPr>
        <p:spPr>
          <a:xfrm>
            <a:off x="5458809" y="2462915"/>
            <a:ext cx="5987058" cy="634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同行评审具有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绝对的保密性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306060" y="3438525"/>
            <a:ext cx="6252210" cy="833755"/>
          </a:xfrm>
          <a:custGeom>
            <a:avLst/>
            <a:gdLst/>
            <a:ahLst/>
            <a:cxnLst/>
            <a:rect l="l" t="t" r="r" b="b"/>
            <a:pathLst>
              <a:path w="6252308" h="833641">
                <a:moveTo>
                  <a:pt x="37893" y="0"/>
                </a:moveTo>
                <a:lnTo>
                  <a:pt x="6176521" y="0"/>
                </a:lnTo>
                <a:cubicBezTo>
                  <a:pt x="6218377" y="0"/>
                  <a:pt x="6252308" y="33931"/>
                  <a:pt x="6252308" y="75786"/>
                </a:cubicBezTo>
                <a:lnTo>
                  <a:pt x="6252308" y="757855"/>
                </a:lnTo>
                <a:cubicBezTo>
                  <a:pt x="6252308" y="799710"/>
                  <a:pt x="6218377" y="833641"/>
                  <a:pt x="6176521" y="833641"/>
                </a:cubicBezTo>
                <a:lnTo>
                  <a:pt x="37893" y="833641"/>
                </a:lnTo>
                <a:cubicBezTo>
                  <a:pt x="16965" y="833641"/>
                  <a:pt x="0" y="816676"/>
                  <a:pt x="0" y="795748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2" name="Shape 30"/>
          <p:cNvSpPr/>
          <p:nvPr/>
        </p:nvSpPr>
        <p:spPr>
          <a:xfrm>
            <a:off x="5306060" y="3438525"/>
            <a:ext cx="38100" cy="833755"/>
          </a:xfrm>
          <a:custGeom>
            <a:avLst/>
            <a:gdLst/>
            <a:ahLst/>
            <a:cxnLst/>
            <a:rect l="l" t="t" r="r" b="b"/>
            <a:pathLst>
              <a:path w="37893" h="833641">
                <a:moveTo>
                  <a:pt x="37893" y="0"/>
                </a:moveTo>
                <a:lnTo>
                  <a:pt x="37893" y="0"/>
                </a:lnTo>
                <a:lnTo>
                  <a:pt x="37893" y="833641"/>
                </a:lnTo>
                <a:lnTo>
                  <a:pt x="37893" y="833641"/>
                </a:lnTo>
                <a:cubicBezTo>
                  <a:pt x="16965" y="833641"/>
                  <a:pt x="0" y="816676"/>
                  <a:pt x="0" y="795748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3" name="Shape 31"/>
          <p:cNvSpPr/>
          <p:nvPr/>
        </p:nvSpPr>
        <p:spPr>
          <a:xfrm>
            <a:off x="5499735" y="3628390"/>
            <a:ext cx="189230" cy="189230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35881" y="152644"/>
                </a:moveTo>
                <a:lnTo>
                  <a:pt x="36820" y="53583"/>
                </a:lnTo>
                <a:cubicBezTo>
                  <a:pt x="28531" y="65202"/>
                  <a:pt x="23683" y="79412"/>
                  <a:pt x="23683" y="94732"/>
                </a:cubicBezTo>
                <a:cubicBezTo>
                  <a:pt x="23683" y="133957"/>
                  <a:pt x="55507" y="165781"/>
                  <a:pt x="94732" y="165781"/>
                </a:cubicBezTo>
                <a:cubicBezTo>
                  <a:pt x="110089" y="165781"/>
                  <a:pt x="124299" y="160933"/>
                  <a:pt x="135881" y="152644"/>
                </a:cubicBezTo>
                <a:close/>
                <a:moveTo>
                  <a:pt x="152644" y="135881"/>
                </a:moveTo>
                <a:cubicBezTo>
                  <a:pt x="160933" y="124262"/>
                  <a:pt x="165781" y="110052"/>
                  <a:pt x="165781" y="94732"/>
                </a:cubicBezTo>
                <a:cubicBezTo>
                  <a:pt x="165781" y="55507"/>
                  <a:pt x="133957" y="23683"/>
                  <a:pt x="94732" y="23683"/>
                </a:cubicBezTo>
                <a:cubicBezTo>
                  <a:pt x="79375" y="23683"/>
                  <a:pt x="65165" y="28531"/>
                  <a:pt x="53583" y="36820"/>
                </a:cubicBezTo>
                <a:lnTo>
                  <a:pt x="152644" y="135881"/>
                </a:lnTo>
                <a:close/>
                <a:moveTo>
                  <a:pt x="0" y="94732"/>
                </a:moveTo>
                <a:cubicBezTo>
                  <a:pt x="0" y="42448"/>
                  <a:pt x="42448" y="0"/>
                  <a:pt x="94732" y="0"/>
                </a:cubicBezTo>
                <a:cubicBezTo>
                  <a:pt x="147016" y="0"/>
                  <a:pt x="189464" y="42448"/>
                  <a:pt x="189464" y="94732"/>
                </a:cubicBezTo>
                <a:cubicBezTo>
                  <a:pt x="189464" y="147016"/>
                  <a:pt x="147016" y="189464"/>
                  <a:pt x="94732" y="189464"/>
                </a:cubicBezTo>
                <a:cubicBezTo>
                  <a:pt x="42448" y="189464"/>
                  <a:pt x="0" y="147016"/>
                  <a:pt x="0" y="94732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4" name="Text 32"/>
          <p:cNvSpPr/>
          <p:nvPr/>
        </p:nvSpPr>
        <p:spPr>
          <a:xfrm>
            <a:off x="5826760" y="3590290"/>
            <a:ext cx="4025900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100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严禁分享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26760" y="3785235"/>
            <a:ext cx="4887595" cy="335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未经期刊编辑的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明确许可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，审稿人严禁将稿件分享给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306060" y="4385945"/>
            <a:ext cx="6252210" cy="634365"/>
          </a:xfrm>
          <a:custGeom>
            <a:avLst/>
            <a:gdLst/>
            <a:ahLst/>
            <a:cxnLst/>
            <a:rect l="l" t="t" r="r" b="b"/>
            <a:pathLst>
              <a:path w="6252308" h="833641">
                <a:moveTo>
                  <a:pt x="37893" y="0"/>
                </a:moveTo>
                <a:lnTo>
                  <a:pt x="6176521" y="0"/>
                </a:lnTo>
                <a:cubicBezTo>
                  <a:pt x="6218377" y="0"/>
                  <a:pt x="6252308" y="33931"/>
                  <a:pt x="6252308" y="75786"/>
                </a:cubicBezTo>
                <a:lnTo>
                  <a:pt x="6252308" y="757855"/>
                </a:lnTo>
                <a:cubicBezTo>
                  <a:pt x="6252308" y="799710"/>
                  <a:pt x="6218377" y="833641"/>
                  <a:pt x="6176521" y="833641"/>
                </a:cubicBezTo>
                <a:lnTo>
                  <a:pt x="37893" y="833641"/>
                </a:lnTo>
                <a:cubicBezTo>
                  <a:pt x="16965" y="833641"/>
                  <a:pt x="0" y="816676"/>
                  <a:pt x="0" y="795748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7" name="Shape 35"/>
          <p:cNvSpPr/>
          <p:nvPr/>
        </p:nvSpPr>
        <p:spPr>
          <a:xfrm>
            <a:off x="5306060" y="438594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7893" h="833641">
                <a:moveTo>
                  <a:pt x="37893" y="0"/>
                </a:moveTo>
                <a:lnTo>
                  <a:pt x="37893" y="0"/>
                </a:lnTo>
                <a:lnTo>
                  <a:pt x="37893" y="833641"/>
                </a:lnTo>
                <a:lnTo>
                  <a:pt x="37893" y="833641"/>
                </a:lnTo>
                <a:cubicBezTo>
                  <a:pt x="16965" y="833641"/>
                  <a:pt x="0" y="816676"/>
                  <a:pt x="0" y="795748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8" name="Shape 36"/>
          <p:cNvSpPr/>
          <p:nvPr/>
        </p:nvSpPr>
        <p:spPr>
          <a:xfrm>
            <a:off x="5488305" y="4575175"/>
            <a:ext cx="213360" cy="189230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15172" y="-9214"/>
                </a:moveTo>
                <a:cubicBezTo>
                  <a:pt x="11693" y="-12693"/>
                  <a:pt x="6069" y="-12693"/>
                  <a:pt x="2627" y="-9214"/>
                </a:cubicBezTo>
                <a:cubicBezTo>
                  <a:pt x="-814" y="-5736"/>
                  <a:pt x="-851" y="-111"/>
                  <a:pt x="2590" y="3367"/>
                </a:cubicBezTo>
                <a:lnTo>
                  <a:pt x="197975" y="198752"/>
                </a:lnTo>
                <a:cubicBezTo>
                  <a:pt x="201453" y="202230"/>
                  <a:pt x="207078" y="202230"/>
                  <a:pt x="210520" y="198752"/>
                </a:cubicBezTo>
                <a:cubicBezTo>
                  <a:pt x="213961" y="195274"/>
                  <a:pt x="213998" y="189649"/>
                  <a:pt x="210520" y="186207"/>
                </a:cubicBezTo>
                <a:lnTo>
                  <a:pt x="115270" y="90920"/>
                </a:lnTo>
                <a:cubicBezTo>
                  <a:pt x="135622" y="86887"/>
                  <a:pt x="150979" y="68903"/>
                  <a:pt x="150979" y="47366"/>
                </a:cubicBezTo>
                <a:cubicBezTo>
                  <a:pt x="150979" y="22832"/>
                  <a:pt x="131108" y="2960"/>
                  <a:pt x="106573" y="2960"/>
                </a:cubicBezTo>
                <a:cubicBezTo>
                  <a:pt x="85037" y="2960"/>
                  <a:pt x="67052" y="18317"/>
                  <a:pt x="63019" y="38670"/>
                </a:cubicBezTo>
                <a:lnTo>
                  <a:pt x="15172" y="-9214"/>
                </a:lnTo>
                <a:close/>
                <a:moveTo>
                  <a:pt x="87183" y="113012"/>
                </a:moveTo>
                <a:cubicBezTo>
                  <a:pt x="54730" y="117157"/>
                  <a:pt x="29604" y="144873"/>
                  <a:pt x="29604" y="178473"/>
                </a:cubicBezTo>
                <a:cubicBezTo>
                  <a:pt x="29604" y="184542"/>
                  <a:pt x="34525" y="189464"/>
                  <a:pt x="40594" y="189464"/>
                </a:cubicBezTo>
                <a:lnTo>
                  <a:pt x="163635" y="189464"/>
                </a:lnTo>
                <a:lnTo>
                  <a:pt x="87183" y="113012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39" name="Text 37"/>
          <p:cNvSpPr/>
          <p:nvPr/>
        </p:nvSpPr>
        <p:spPr>
          <a:xfrm>
            <a:off x="5826760" y="4537710"/>
            <a:ext cx="2055495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100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包括自己的学生</a:t>
            </a:r>
            <a:endParaRPr 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5306060" y="5168265"/>
            <a:ext cx="6252210" cy="833755"/>
            <a:chOff x="8356" y="8399"/>
            <a:chExt cx="9846" cy="1313"/>
          </a:xfrm>
        </p:grpSpPr>
        <p:sp>
          <p:nvSpPr>
            <p:cNvPr id="41" name="Shape 39"/>
            <p:cNvSpPr/>
            <p:nvPr/>
          </p:nvSpPr>
          <p:spPr>
            <a:xfrm>
              <a:off x="8356" y="8399"/>
              <a:ext cx="9846" cy="1313"/>
            </a:xfrm>
            <a:custGeom>
              <a:avLst/>
              <a:gdLst/>
              <a:ahLst/>
              <a:cxnLst/>
              <a:rect l="l" t="t" r="r" b="b"/>
              <a:pathLst>
                <a:path w="6252308" h="833641">
                  <a:moveTo>
                    <a:pt x="37893" y="0"/>
                  </a:moveTo>
                  <a:lnTo>
                    <a:pt x="6176521" y="0"/>
                  </a:lnTo>
                  <a:cubicBezTo>
                    <a:pt x="6218377" y="0"/>
                    <a:pt x="6252308" y="33931"/>
                    <a:pt x="6252308" y="75786"/>
                  </a:cubicBezTo>
                  <a:lnTo>
                    <a:pt x="6252308" y="757855"/>
                  </a:lnTo>
                  <a:cubicBezTo>
                    <a:pt x="6252308" y="799710"/>
                    <a:pt x="6218377" y="833641"/>
                    <a:pt x="6176521" y="833641"/>
                  </a:cubicBezTo>
                  <a:lnTo>
                    <a:pt x="37893" y="833641"/>
                  </a:lnTo>
                  <a:cubicBezTo>
                    <a:pt x="16965" y="833641"/>
                    <a:pt x="0" y="816676"/>
                    <a:pt x="0" y="795748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C4A87A">
                <a:alpha val="10196"/>
              </a:srgbClr>
            </a:solidFill>
          </p:spPr>
        </p:sp>
        <p:sp>
          <p:nvSpPr>
            <p:cNvPr id="42" name="Shape 40"/>
            <p:cNvSpPr/>
            <p:nvPr/>
          </p:nvSpPr>
          <p:spPr>
            <a:xfrm>
              <a:off x="8356" y="8399"/>
              <a:ext cx="60" cy="1313"/>
            </a:xfrm>
            <a:custGeom>
              <a:avLst/>
              <a:gdLst/>
              <a:ahLst/>
              <a:cxnLst/>
              <a:rect l="l" t="t" r="r" b="b"/>
              <a:pathLst>
                <a:path w="37893" h="833641">
                  <a:moveTo>
                    <a:pt x="37893" y="0"/>
                  </a:moveTo>
                  <a:lnTo>
                    <a:pt x="37893" y="0"/>
                  </a:lnTo>
                  <a:lnTo>
                    <a:pt x="37893" y="833641"/>
                  </a:lnTo>
                  <a:lnTo>
                    <a:pt x="37893" y="833641"/>
                  </a:lnTo>
                  <a:cubicBezTo>
                    <a:pt x="16965" y="833641"/>
                    <a:pt x="0" y="816676"/>
                    <a:pt x="0" y="795748"/>
                  </a:cubicBezTo>
                  <a:lnTo>
                    <a:pt x="0" y="37893"/>
                  </a:lnTo>
                  <a:cubicBezTo>
                    <a:pt x="0" y="16965"/>
                    <a:pt x="16965" y="0"/>
                    <a:pt x="37893" y="0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43" name="Shape 41"/>
            <p:cNvSpPr/>
            <p:nvPr/>
          </p:nvSpPr>
          <p:spPr>
            <a:xfrm>
              <a:off x="8661" y="8697"/>
              <a:ext cx="298" cy="298"/>
            </a:xfrm>
            <a:custGeom>
              <a:avLst/>
              <a:gdLst/>
              <a:ahLst/>
              <a:cxnLst/>
              <a:rect l="l" t="t" r="r" b="b"/>
              <a:pathLst>
                <a:path w="189464" h="189464">
                  <a:moveTo>
                    <a:pt x="94732" y="0"/>
                  </a:moveTo>
                  <a:cubicBezTo>
                    <a:pt x="100172" y="0"/>
                    <a:pt x="105167" y="2997"/>
                    <a:pt x="107758" y="7771"/>
                  </a:cubicBezTo>
                  <a:lnTo>
                    <a:pt x="187688" y="155790"/>
                  </a:lnTo>
                  <a:cubicBezTo>
                    <a:pt x="190167" y="160378"/>
                    <a:pt x="190056" y="165929"/>
                    <a:pt x="187392" y="170406"/>
                  </a:cubicBezTo>
                  <a:cubicBezTo>
                    <a:pt x="184727" y="174884"/>
                    <a:pt x="179880" y="177622"/>
                    <a:pt x="174662" y="177622"/>
                  </a:cubicBezTo>
                  <a:lnTo>
                    <a:pt x="14802" y="177622"/>
                  </a:lnTo>
                  <a:cubicBezTo>
                    <a:pt x="9584" y="177622"/>
                    <a:pt x="4774" y="174884"/>
                    <a:pt x="2072" y="170406"/>
                  </a:cubicBezTo>
                  <a:cubicBezTo>
                    <a:pt x="-629" y="165929"/>
                    <a:pt x="-703" y="160378"/>
                    <a:pt x="1776" y="155790"/>
                  </a:cubicBezTo>
                  <a:lnTo>
                    <a:pt x="81706" y="7771"/>
                  </a:lnTo>
                  <a:cubicBezTo>
                    <a:pt x="84297" y="2997"/>
                    <a:pt x="89292" y="0"/>
                    <a:pt x="94732" y="0"/>
                  </a:cubicBezTo>
                  <a:close/>
                  <a:moveTo>
                    <a:pt x="94732" y="62168"/>
                  </a:moveTo>
                  <a:cubicBezTo>
                    <a:pt x="89810" y="62168"/>
                    <a:pt x="85851" y="66127"/>
                    <a:pt x="85851" y="71049"/>
                  </a:cubicBezTo>
                  <a:lnTo>
                    <a:pt x="85851" y="112494"/>
                  </a:lnTo>
                  <a:cubicBezTo>
                    <a:pt x="85851" y="117416"/>
                    <a:pt x="89810" y="121375"/>
                    <a:pt x="94732" y="121375"/>
                  </a:cubicBezTo>
                  <a:cubicBezTo>
                    <a:pt x="99654" y="121375"/>
                    <a:pt x="103613" y="117416"/>
                    <a:pt x="103613" y="112494"/>
                  </a:cubicBezTo>
                  <a:lnTo>
                    <a:pt x="103613" y="71049"/>
                  </a:lnTo>
                  <a:cubicBezTo>
                    <a:pt x="103613" y="66127"/>
                    <a:pt x="99654" y="62168"/>
                    <a:pt x="94732" y="62168"/>
                  </a:cubicBezTo>
                  <a:close/>
                  <a:moveTo>
                    <a:pt x="104612" y="142098"/>
                  </a:moveTo>
                  <a:cubicBezTo>
                    <a:pt x="104837" y="138430"/>
                    <a:pt x="103008" y="134941"/>
                    <a:pt x="99864" y="133040"/>
                  </a:cubicBezTo>
                  <a:cubicBezTo>
                    <a:pt x="96720" y="131138"/>
                    <a:pt x="92781" y="131138"/>
                    <a:pt x="89637" y="133040"/>
                  </a:cubicBezTo>
                  <a:cubicBezTo>
                    <a:pt x="86493" y="134941"/>
                    <a:pt x="84664" y="138430"/>
                    <a:pt x="84889" y="142098"/>
                  </a:cubicBezTo>
                  <a:cubicBezTo>
                    <a:pt x="84664" y="145765"/>
                    <a:pt x="86493" y="149255"/>
                    <a:pt x="89637" y="151156"/>
                  </a:cubicBezTo>
                  <a:cubicBezTo>
                    <a:pt x="92781" y="153058"/>
                    <a:pt x="96720" y="153058"/>
                    <a:pt x="99864" y="151156"/>
                  </a:cubicBezTo>
                  <a:cubicBezTo>
                    <a:pt x="103008" y="149255"/>
                    <a:pt x="104837" y="145765"/>
                    <a:pt x="104612" y="142098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44" name="Text 42"/>
            <p:cNvSpPr/>
            <p:nvPr/>
          </p:nvSpPr>
          <p:spPr>
            <a:xfrm>
              <a:off x="9176" y="8638"/>
              <a:ext cx="6818" cy="4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严重后果</a:t>
              </a:r>
              <a:endParaRPr lang="en-US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9176" y="9115"/>
              <a:ext cx="8396" cy="35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学生代审且不署名，构成了对期刊的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欺瞒</a:t>
              </a:r>
              <a:r>
                <a:rPr lang="en-US" sz="14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，更是严重的</a:t>
              </a:r>
              <a:r>
                <a:rPr lang="en-US" sz="14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学术越界</a:t>
              </a:r>
              <a:endParaRPr lang="en-US" sz="1400" dirty="0"/>
            </a:p>
          </p:txBody>
        </p:sp>
      </p:grpSp>
      <p:pic>
        <p:nvPicPr>
          <p:cNvPr id="46" name="图片 45"/>
          <p:cNvPicPr/>
          <p:nvPr/>
        </p:nvPicPr>
        <p:blipFill>
          <a:blip r:embed="rId1"/>
          <a:stretch>
            <a:fillRect/>
          </a:stretch>
        </p:blipFill>
        <p:spPr>
          <a:xfrm>
            <a:off x="1613535" y="1704975"/>
            <a:ext cx="2054860" cy="18046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DEEP REFLECTION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追问：为什么面对不端，学生往往选择"沉默"？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4476750" cy="5257800"/>
          </a:xfrm>
          <a:custGeom>
            <a:avLst/>
            <a:gdLst/>
            <a:ahLst/>
            <a:cxnLst/>
            <a:rect l="l" t="t" r="r" b="b"/>
            <a:pathLst>
              <a:path w="4476750" h="5257800">
                <a:moveTo>
                  <a:pt x="76194" y="0"/>
                </a:moveTo>
                <a:lnTo>
                  <a:pt x="4400556" y="0"/>
                </a:lnTo>
                <a:cubicBezTo>
                  <a:pt x="4442608" y="0"/>
                  <a:pt x="4476750" y="34142"/>
                  <a:pt x="4476750" y="76194"/>
                </a:cubicBezTo>
                <a:lnTo>
                  <a:pt x="4476750" y="5181606"/>
                </a:lnTo>
                <a:cubicBezTo>
                  <a:pt x="4476750" y="5223687"/>
                  <a:pt x="4442637" y="5257800"/>
                  <a:pt x="4400556" y="5257800"/>
                </a:cubicBezTo>
                <a:lnTo>
                  <a:pt x="76194" y="5257800"/>
                </a:lnTo>
                <a:cubicBezTo>
                  <a:pt x="34142" y="5257800"/>
                  <a:pt x="0" y="5223658"/>
                  <a:pt x="0" y="51816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3875" y="1409700"/>
            <a:ext cx="4191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冰山模型</a:t>
            </a:r>
            <a:endParaRPr lang="en-US" b="1" dirty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09210" y="1219200"/>
            <a:ext cx="6705600" cy="1504950"/>
          </a:xfrm>
          <a:custGeom>
            <a:avLst/>
            <a:gdLst/>
            <a:ahLst/>
            <a:cxnLst/>
            <a:rect l="l" t="t" r="r" b="b"/>
            <a:pathLst>
              <a:path w="6705600" h="1504950">
                <a:moveTo>
                  <a:pt x="38100" y="0"/>
                </a:moveTo>
                <a:lnTo>
                  <a:pt x="6629404" y="0"/>
                </a:lnTo>
                <a:cubicBezTo>
                  <a:pt x="6671486" y="0"/>
                  <a:pt x="6705600" y="34114"/>
                  <a:pt x="6705600" y="76196"/>
                </a:cubicBezTo>
                <a:lnTo>
                  <a:pt x="6705600" y="1428754"/>
                </a:lnTo>
                <a:cubicBezTo>
                  <a:pt x="6705600" y="1470836"/>
                  <a:pt x="6671486" y="1504950"/>
                  <a:pt x="6629404" y="1504950"/>
                </a:cubicBezTo>
                <a:lnTo>
                  <a:pt x="38100" y="1504950"/>
                </a:lnTo>
                <a:cubicBezTo>
                  <a:pt x="17058" y="1504950"/>
                  <a:pt x="0" y="1487892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09210" y="12192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381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2" name="Shape 10"/>
          <p:cNvSpPr/>
          <p:nvPr/>
        </p:nvSpPr>
        <p:spPr>
          <a:xfrm>
            <a:off x="5385435" y="14857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3326" y="55409"/>
                </a:moveTo>
                <a:cubicBezTo>
                  <a:pt x="192569" y="62374"/>
                  <a:pt x="203865" y="69116"/>
                  <a:pt x="216456" y="70812"/>
                </a:cubicBezTo>
                <a:cubicBezTo>
                  <a:pt x="222305" y="71616"/>
                  <a:pt x="227707" y="67464"/>
                  <a:pt x="228511" y="61615"/>
                </a:cubicBezTo>
                <a:cubicBezTo>
                  <a:pt x="229314" y="55766"/>
                  <a:pt x="225162" y="50363"/>
                  <a:pt x="219313" y="49560"/>
                </a:cubicBezTo>
                <a:cubicBezTo>
                  <a:pt x="212214" y="48622"/>
                  <a:pt x="204490" y="44514"/>
                  <a:pt x="196230" y="38308"/>
                </a:cubicBezTo>
                <a:cubicBezTo>
                  <a:pt x="179085" y="25360"/>
                  <a:pt x="155823" y="25360"/>
                  <a:pt x="138633" y="38308"/>
                </a:cubicBezTo>
                <a:cubicBezTo>
                  <a:pt x="127918" y="46390"/>
                  <a:pt x="120461" y="50051"/>
                  <a:pt x="114300" y="50051"/>
                </a:cubicBezTo>
                <a:cubicBezTo>
                  <a:pt x="108139" y="50051"/>
                  <a:pt x="100682" y="46390"/>
                  <a:pt x="89967" y="38308"/>
                </a:cubicBezTo>
                <a:cubicBezTo>
                  <a:pt x="72822" y="25360"/>
                  <a:pt x="49560" y="25360"/>
                  <a:pt x="32370" y="38308"/>
                </a:cubicBezTo>
                <a:cubicBezTo>
                  <a:pt x="24110" y="44514"/>
                  <a:pt x="16386" y="48622"/>
                  <a:pt x="9287" y="49560"/>
                </a:cubicBezTo>
                <a:cubicBezTo>
                  <a:pt x="3438" y="50363"/>
                  <a:pt x="-714" y="55721"/>
                  <a:pt x="89" y="61615"/>
                </a:cubicBezTo>
                <a:cubicBezTo>
                  <a:pt x="893" y="67508"/>
                  <a:pt x="6251" y="71616"/>
                  <a:pt x="12144" y="70812"/>
                </a:cubicBezTo>
                <a:cubicBezTo>
                  <a:pt x="24735" y="69116"/>
                  <a:pt x="36076" y="62374"/>
                  <a:pt x="45274" y="55409"/>
                </a:cubicBezTo>
                <a:cubicBezTo>
                  <a:pt x="54784" y="48220"/>
                  <a:pt x="67553" y="48220"/>
                  <a:pt x="77063" y="55409"/>
                </a:cubicBezTo>
                <a:cubicBezTo>
                  <a:pt x="87868" y="63579"/>
                  <a:pt x="100414" y="71438"/>
                  <a:pt x="114300" y="71438"/>
                </a:cubicBezTo>
                <a:cubicBezTo>
                  <a:pt x="128186" y="71438"/>
                  <a:pt x="140687" y="63535"/>
                  <a:pt x="151537" y="55409"/>
                </a:cubicBezTo>
                <a:cubicBezTo>
                  <a:pt x="161047" y="48220"/>
                  <a:pt x="173816" y="48220"/>
                  <a:pt x="183326" y="55409"/>
                </a:cubicBezTo>
                <a:close/>
                <a:moveTo>
                  <a:pt x="183326" y="119702"/>
                </a:moveTo>
                <a:cubicBezTo>
                  <a:pt x="192569" y="126668"/>
                  <a:pt x="203865" y="133410"/>
                  <a:pt x="216456" y="135106"/>
                </a:cubicBezTo>
                <a:cubicBezTo>
                  <a:pt x="222305" y="135910"/>
                  <a:pt x="227707" y="131758"/>
                  <a:pt x="228511" y="125909"/>
                </a:cubicBezTo>
                <a:cubicBezTo>
                  <a:pt x="229314" y="120060"/>
                  <a:pt x="225162" y="114657"/>
                  <a:pt x="219313" y="113854"/>
                </a:cubicBezTo>
                <a:cubicBezTo>
                  <a:pt x="212214" y="112916"/>
                  <a:pt x="204490" y="108808"/>
                  <a:pt x="196230" y="102602"/>
                </a:cubicBezTo>
                <a:cubicBezTo>
                  <a:pt x="179085" y="89654"/>
                  <a:pt x="155823" y="89654"/>
                  <a:pt x="138633" y="102602"/>
                </a:cubicBezTo>
                <a:cubicBezTo>
                  <a:pt x="127918" y="110683"/>
                  <a:pt x="120461" y="114345"/>
                  <a:pt x="114300" y="114345"/>
                </a:cubicBezTo>
                <a:cubicBezTo>
                  <a:pt x="108139" y="114345"/>
                  <a:pt x="100682" y="110683"/>
                  <a:pt x="89967" y="102602"/>
                </a:cubicBezTo>
                <a:cubicBezTo>
                  <a:pt x="72822" y="89654"/>
                  <a:pt x="49560" y="89654"/>
                  <a:pt x="32370" y="102602"/>
                </a:cubicBezTo>
                <a:cubicBezTo>
                  <a:pt x="24110" y="108808"/>
                  <a:pt x="16386" y="112916"/>
                  <a:pt x="9287" y="113854"/>
                </a:cubicBezTo>
                <a:cubicBezTo>
                  <a:pt x="3438" y="114613"/>
                  <a:pt x="-714" y="120015"/>
                  <a:pt x="89" y="125909"/>
                </a:cubicBezTo>
                <a:cubicBezTo>
                  <a:pt x="893" y="131802"/>
                  <a:pt x="6251" y="135910"/>
                  <a:pt x="12144" y="135106"/>
                </a:cubicBezTo>
                <a:cubicBezTo>
                  <a:pt x="24735" y="133410"/>
                  <a:pt x="36076" y="126668"/>
                  <a:pt x="45274" y="119702"/>
                </a:cubicBezTo>
                <a:cubicBezTo>
                  <a:pt x="54784" y="112514"/>
                  <a:pt x="67553" y="112514"/>
                  <a:pt x="77063" y="119702"/>
                </a:cubicBezTo>
                <a:cubicBezTo>
                  <a:pt x="87868" y="127873"/>
                  <a:pt x="100414" y="135731"/>
                  <a:pt x="114300" y="135731"/>
                </a:cubicBezTo>
                <a:cubicBezTo>
                  <a:pt x="128186" y="135731"/>
                  <a:pt x="140687" y="127828"/>
                  <a:pt x="151537" y="119702"/>
                </a:cubicBezTo>
                <a:cubicBezTo>
                  <a:pt x="161047" y="112514"/>
                  <a:pt x="173816" y="112514"/>
                  <a:pt x="183326" y="119702"/>
                </a:cubicBezTo>
                <a:close/>
                <a:moveTo>
                  <a:pt x="151537" y="183996"/>
                </a:moveTo>
                <a:cubicBezTo>
                  <a:pt x="161047" y="176808"/>
                  <a:pt x="173816" y="176808"/>
                  <a:pt x="183326" y="183996"/>
                </a:cubicBezTo>
                <a:cubicBezTo>
                  <a:pt x="192569" y="190961"/>
                  <a:pt x="203865" y="197703"/>
                  <a:pt x="216456" y="199400"/>
                </a:cubicBezTo>
                <a:cubicBezTo>
                  <a:pt x="222305" y="200204"/>
                  <a:pt x="227707" y="196051"/>
                  <a:pt x="228511" y="190202"/>
                </a:cubicBezTo>
                <a:cubicBezTo>
                  <a:pt x="229314" y="184353"/>
                  <a:pt x="225162" y="178951"/>
                  <a:pt x="219313" y="178147"/>
                </a:cubicBezTo>
                <a:cubicBezTo>
                  <a:pt x="212214" y="177210"/>
                  <a:pt x="204490" y="173102"/>
                  <a:pt x="196230" y="166896"/>
                </a:cubicBezTo>
                <a:cubicBezTo>
                  <a:pt x="179085" y="153948"/>
                  <a:pt x="155823" y="153948"/>
                  <a:pt x="138633" y="166896"/>
                </a:cubicBezTo>
                <a:cubicBezTo>
                  <a:pt x="127918" y="174977"/>
                  <a:pt x="120461" y="178638"/>
                  <a:pt x="114300" y="178638"/>
                </a:cubicBezTo>
                <a:cubicBezTo>
                  <a:pt x="108139" y="178638"/>
                  <a:pt x="100682" y="174977"/>
                  <a:pt x="89967" y="166896"/>
                </a:cubicBezTo>
                <a:cubicBezTo>
                  <a:pt x="72822" y="153948"/>
                  <a:pt x="49560" y="153948"/>
                  <a:pt x="32370" y="166896"/>
                </a:cubicBezTo>
                <a:cubicBezTo>
                  <a:pt x="24110" y="173102"/>
                  <a:pt x="16386" y="177210"/>
                  <a:pt x="9287" y="178147"/>
                </a:cubicBezTo>
                <a:cubicBezTo>
                  <a:pt x="3438" y="178951"/>
                  <a:pt x="-714" y="184309"/>
                  <a:pt x="89" y="190202"/>
                </a:cubicBezTo>
                <a:cubicBezTo>
                  <a:pt x="893" y="196096"/>
                  <a:pt x="6251" y="200204"/>
                  <a:pt x="12144" y="199400"/>
                </a:cubicBezTo>
                <a:cubicBezTo>
                  <a:pt x="24735" y="197703"/>
                  <a:pt x="36076" y="190961"/>
                  <a:pt x="45274" y="183996"/>
                </a:cubicBezTo>
                <a:cubicBezTo>
                  <a:pt x="54784" y="176808"/>
                  <a:pt x="67553" y="176808"/>
                  <a:pt x="77063" y="183996"/>
                </a:cubicBezTo>
                <a:cubicBezTo>
                  <a:pt x="87868" y="192167"/>
                  <a:pt x="100414" y="200025"/>
                  <a:pt x="114300" y="200025"/>
                </a:cubicBezTo>
                <a:cubicBezTo>
                  <a:pt x="128186" y="200025"/>
                  <a:pt x="140687" y="192122"/>
                  <a:pt x="151537" y="183996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3" name="Text 11"/>
          <p:cNvSpPr/>
          <p:nvPr/>
        </p:nvSpPr>
        <p:spPr>
          <a:xfrm>
            <a:off x="5642610" y="1447800"/>
            <a:ext cx="605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海面之上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60670" y="1908694"/>
            <a:ext cx="6217920" cy="579120"/>
          </a:xfrm>
          <a:custGeom>
            <a:avLst/>
            <a:gdLst/>
            <a:ahLst/>
            <a:cxnLst/>
            <a:rect l="l" t="t" r="r" b="b"/>
            <a:pathLst>
              <a:path w="6217920" h="579120">
                <a:moveTo>
                  <a:pt x="76201" y="0"/>
                </a:moveTo>
                <a:lnTo>
                  <a:pt x="6141719" y="0"/>
                </a:lnTo>
                <a:cubicBezTo>
                  <a:pt x="6183804" y="0"/>
                  <a:pt x="6217920" y="34116"/>
                  <a:pt x="6217920" y="76201"/>
                </a:cubicBezTo>
                <a:lnTo>
                  <a:pt x="6217920" y="502919"/>
                </a:lnTo>
                <a:cubicBezTo>
                  <a:pt x="6217920" y="545004"/>
                  <a:pt x="6183804" y="579120"/>
                  <a:pt x="6141719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 w="10160">
            <a:solidFill>
              <a:srgbClr val="1A3A5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9255" y="2064902"/>
            <a:ext cx="6000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沉默与同流合污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9210" y="2872620"/>
            <a:ext cx="6705600" cy="2876550"/>
          </a:xfrm>
          <a:custGeom>
            <a:avLst/>
            <a:gdLst/>
            <a:ahLst/>
            <a:cxnLst/>
            <a:rect l="l" t="t" r="r" b="b"/>
            <a:pathLst>
              <a:path w="6705600" h="2876550">
                <a:moveTo>
                  <a:pt x="38100" y="0"/>
                </a:moveTo>
                <a:lnTo>
                  <a:pt x="6629400" y="0"/>
                </a:lnTo>
                <a:cubicBezTo>
                  <a:pt x="6671484" y="0"/>
                  <a:pt x="6705600" y="34116"/>
                  <a:pt x="6705600" y="76200"/>
                </a:cubicBezTo>
                <a:lnTo>
                  <a:pt x="6705600" y="2800350"/>
                </a:lnTo>
                <a:cubicBezTo>
                  <a:pt x="6705600" y="2842434"/>
                  <a:pt x="6671484" y="2876550"/>
                  <a:pt x="6629400" y="2876550"/>
                </a:cubicBezTo>
                <a:lnTo>
                  <a:pt x="38100" y="2876550"/>
                </a:lnTo>
                <a:cubicBezTo>
                  <a:pt x="17072" y="2876550"/>
                  <a:pt x="0" y="2859478"/>
                  <a:pt x="0" y="2838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09210" y="2872620"/>
            <a:ext cx="38100" cy="2876550"/>
          </a:xfrm>
          <a:custGeom>
            <a:avLst/>
            <a:gdLst/>
            <a:ahLst/>
            <a:cxnLst/>
            <a:rect l="l" t="t" r="r" b="b"/>
            <a:pathLst>
              <a:path w="38100" h="2876550">
                <a:moveTo>
                  <a:pt x="38100" y="0"/>
                </a:moveTo>
                <a:lnTo>
                  <a:pt x="38100" y="0"/>
                </a:lnTo>
                <a:lnTo>
                  <a:pt x="38100" y="2876550"/>
                </a:lnTo>
                <a:lnTo>
                  <a:pt x="38100" y="2876550"/>
                </a:lnTo>
                <a:cubicBezTo>
                  <a:pt x="17072" y="2876550"/>
                  <a:pt x="0" y="2859478"/>
                  <a:pt x="0" y="2838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18" name="Shape 16"/>
          <p:cNvSpPr/>
          <p:nvPr/>
        </p:nvSpPr>
        <p:spPr>
          <a:xfrm>
            <a:off x="5414010" y="313920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19" name="Text 17"/>
          <p:cNvSpPr/>
          <p:nvPr/>
        </p:nvSpPr>
        <p:spPr>
          <a:xfrm>
            <a:off x="5642610" y="3101220"/>
            <a:ext cx="605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冰山之下：深层原因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56860" y="3558540"/>
            <a:ext cx="3072765" cy="1333500"/>
          </a:xfrm>
          <a:custGeom>
            <a:avLst/>
            <a:gdLst/>
            <a:ahLst/>
            <a:cxnLst/>
            <a:rect l="l" t="t" r="r" b="b"/>
            <a:pathLst>
              <a:path w="3038475" h="1333500">
                <a:moveTo>
                  <a:pt x="76196" y="0"/>
                </a:moveTo>
                <a:lnTo>
                  <a:pt x="2962279" y="0"/>
                </a:lnTo>
                <a:cubicBezTo>
                  <a:pt x="3004361" y="0"/>
                  <a:pt x="3038475" y="34114"/>
                  <a:pt x="3038475" y="76196"/>
                </a:cubicBezTo>
                <a:lnTo>
                  <a:pt x="3038475" y="1257304"/>
                </a:lnTo>
                <a:cubicBezTo>
                  <a:pt x="3038475" y="1299386"/>
                  <a:pt x="3004361" y="1333500"/>
                  <a:pt x="296227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1" name="Shape 19"/>
          <p:cNvSpPr/>
          <p:nvPr/>
        </p:nvSpPr>
        <p:spPr>
          <a:xfrm>
            <a:off x="5509260" y="37107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2" name="Shape 20"/>
          <p:cNvSpPr/>
          <p:nvPr/>
        </p:nvSpPr>
        <p:spPr>
          <a:xfrm>
            <a:off x="5614035" y="382500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2381"/>
                </a:move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lose/>
                <a:moveTo>
                  <a:pt x="57835" y="90488"/>
                </a:moveTo>
                <a:lnTo>
                  <a:pt x="75515" y="90488"/>
                </a:lnTo>
                <a:cubicBezTo>
                  <a:pt x="84356" y="90488"/>
                  <a:pt x="92690" y="92660"/>
                  <a:pt x="100013" y="96470"/>
                </a:cubicBezTo>
                <a:lnTo>
                  <a:pt x="100013" y="97750"/>
                </a:lnTo>
                <a:cubicBezTo>
                  <a:pt x="94178" y="102989"/>
                  <a:pt x="90488" y="110579"/>
                  <a:pt x="90488" y="119033"/>
                </a:cubicBezTo>
                <a:lnTo>
                  <a:pt x="90488" y="147608"/>
                </a:lnTo>
                <a:cubicBezTo>
                  <a:pt x="90488" y="149245"/>
                  <a:pt x="90636" y="150852"/>
                  <a:pt x="90874" y="152400"/>
                </a:cubicBezTo>
                <a:lnTo>
                  <a:pt x="13603" y="152400"/>
                </a:lnTo>
                <a:cubicBezTo>
                  <a:pt x="8721" y="152400"/>
                  <a:pt x="4763" y="148441"/>
                  <a:pt x="4763" y="143560"/>
                </a:cubicBezTo>
                <a:cubicBezTo>
                  <a:pt x="4763" y="114240"/>
                  <a:pt x="28515" y="90488"/>
                  <a:pt x="57835" y="90488"/>
                </a:cubicBezTo>
                <a:close/>
                <a:moveTo>
                  <a:pt x="147638" y="90517"/>
                </a:moveTo>
                <a:cubicBezTo>
                  <a:pt x="147638" y="85249"/>
                  <a:pt x="143381" y="80992"/>
                  <a:pt x="138113" y="80992"/>
                </a:cubicBezTo>
                <a:cubicBezTo>
                  <a:pt x="132844" y="80992"/>
                  <a:pt x="128588" y="85249"/>
                  <a:pt x="128588" y="90517"/>
                </a:cubicBezTo>
                <a:lnTo>
                  <a:pt x="128588" y="104775"/>
                </a:lnTo>
                <a:lnTo>
                  <a:pt x="147638" y="104775"/>
                </a:lnTo>
                <a:lnTo>
                  <a:pt x="147638" y="90517"/>
                </a:lnTo>
                <a:close/>
                <a:moveTo>
                  <a:pt x="104775" y="119062"/>
                </a:moveTo>
                <a:cubicBezTo>
                  <a:pt x="104775" y="112841"/>
                  <a:pt x="108764" y="107543"/>
                  <a:pt x="114300" y="105579"/>
                </a:cubicBezTo>
                <a:lnTo>
                  <a:pt x="114300" y="90517"/>
                </a:lnTo>
                <a:cubicBezTo>
                  <a:pt x="114300" y="77361"/>
                  <a:pt x="124956" y="66705"/>
                  <a:pt x="138113" y="66705"/>
                </a:cubicBezTo>
                <a:cubicBezTo>
                  <a:pt x="151269" y="66705"/>
                  <a:pt x="161925" y="77361"/>
                  <a:pt x="161925" y="90517"/>
                </a:cubicBezTo>
                <a:lnTo>
                  <a:pt x="161925" y="105579"/>
                </a:lnTo>
                <a:cubicBezTo>
                  <a:pt x="167461" y="107543"/>
                  <a:pt x="171450" y="112841"/>
                  <a:pt x="171450" y="119062"/>
                </a:cubicBezTo>
                <a:lnTo>
                  <a:pt x="171450" y="147638"/>
                </a:lnTo>
                <a:cubicBezTo>
                  <a:pt x="171450" y="155525"/>
                  <a:pt x="165050" y="161925"/>
                  <a:pt x="157163" y="161925"/>
                </a:cubicBezTo>
                <a:lnTo>
                  <a:pt x="119062" y="161925"/>
                </a:lnTo>
                <a:cubicBezTo>
                  <a:pt x="111175" y="161925"/>
                  <a:pt x="104775" y="155525"/>
                  <a:pt x="104775" y="147638"/>
                </a:cubicBezTo>
                <a:lnTo>
                  <a:pt x="104775" y="11906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5966460" y="3755390"/>
            <a:ext cx="941705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内部恐惧</a:t>
            </a:r>
            <a:endParaRPr lang="en-US" sz="1600" b="1" dirty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18785" y="424410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25" name="Text 23"/>
          <p:cNvSpPr/>
          <p:nvPr/>
        </p:nvSpPr>
        <p:spPr>
          <a:xfrm>
            <a:off x="5775960" y="4206004"/>
            <a:ext cx="2009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毕业压力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发表</a:t>
            </a:r>
            <a:r>
              <a:rPr lang="en-US" altLang="zh-CN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or </a:t>
            </a:r>
            <a:r>
              <a:rPr lang="zh-CN" alt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延毕</a:t>
            </a:r>
            <a:endParaRPr lang="zh-CN" altLang="en-US" sz="1400" dirty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47360" y="454890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525" y="0"/>
                </a:moveTo>
                <a:cubicBezTo>
                  <a:pt x="4256" y="0"/>
                  <a:pt x="0" y="4256"/>
                  <a:pt x="0" y="9525"/>
                </a:cubicBezTo>
                <a:cubicBezTo>
                  <a:pt x="0" y="14794"/>
                  <a:pt x="4256" y="19050"/>
                  <a:pt x="9525" y="19050"/>
                </a:cubicBezTo>
                <a:lnTo>
                  <a:pt x="9525" y="22324"/>
                </a:lnTo>
                <a:cubicBezTo>
                  <a:pt x="9525" y="34945"/>
                  <a:pt x="14555" y="47059"/>
                  <a:pt x="23485" y="55989"/>
                </a:cubicBezTo>
                <a:lnTo>
                  <a:pt x="43696" y="76200"/>
                </a:lnTo>
                <a:lnTo>
                  <a:pt x="23485" y="96411"/>
                </a:lnTo>
                <a:cubicBezTo>
                  <a:pt x="14555" y="105341"/>
                  <a:pt x="9525" y="117455"/>
                  <a:pt x="9525" y="130076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04775" y="152400"/>
                </a:lnTo>
                <a:cubicBezTo>
                  <a:pt x="110044" y="152400"/>
                  <a:pt x="114300" y="148144"/>
                  <a:pt x="114300" y="142875"/>
                </a:cubicBezTo>
                <a:cubicBezTo>
                  <a:pt x="114300" y="137606"/>
                  <a:pt x="110044" y="133350"/>
                  <a:pt x="104775" y="133350"/>
                </a:cubicBezTo>
                <a:lnTo>
                  <a:pt x="104775" y="130076"/>
                </a:lnTo>
                <a:cubicBezTo>
                  <a:pt x="104775" y="117455"/>
                  <a:pt x="99745" y="105341"/>
                  <a:pt x="90815" y="96411"/>
                </a:cubicBezTo>
                <a:lnTo>
                  <a:pt x="70604" y="76200"/>
                </a:lnTo>
                <a:lnTo>
                  <a:pt x="90815" y="55989"/>
                </a:lnTo>
                <a:cubicBezTo>
                  <a:pt x="99745" y="47059"/>
                  <a:pt x="104775" y="34945"/>
                  <a:pt x="104775" y="22324"/>
                </a:cubicBezTo>
                <a:lnTo>
                  <a:pt x="104775" y="19050"/>
                </a:lnTo>
                <a:cubicBezTo>
                  <a:pt x="110044" y="19050"/>
                  <a:pt x="114300" y="14794"/>
                  <a:pt x="114300" y="9525"/>
                </a:cubicBezTo>
                <a:cubicBezTo>
                  <a:pt x="114300" y="4256"/>
                  <a:pt x="110044" y="0"/>
                  <a:pt x="104775" y="0"/>
                </a:cubicBezTo>
                <a:lnTo>
                  <a:pt x="9525" y="0"/>
                </a:lnTo>
                <a:close/>
                <a:moveTo>
                  <a:pt x="28575" y="22324"/>
                </a:moveTo>
                <a:lnTo>
                  <a:pt x="28575" y="19050"/>
                </a:lnTo>
                <a:lnTo>
                  <a:pt x="85725" y="19050"/>
                </a:lnTo>
                <a:lnTo>
                  <a:pt x="85725" y="22324"/>
                </a:lnTo>
                <a:cubicBezTo>
                  <a:pt x="85725" y="27980"/>
                  <a:pt x="84058" y="33457"/>
                  <a:pt x="80962" y="38100"/>
                </a:cubicBezTo>
                <a:lnTo>
                  <a:pt x="33338" y="38100"/>
                </a:lnTo>
                <a:cubicBezTo>
                  <a:pt x="30272" y="33457"/>
                  <a:pt x="28575" y="27980"/>
                  <a:pt x="28575" y="22324"/>
                </a:cubicBezTo>
                <a:close/>
                <a:moveTo>
                  <a:pt x="33338" y="114300"/>
                </a:moveTo>
                <a:cubicBezTo>
                  <a:pt x="34379" y="112722"/>
                  <a:pt x="35600" y="111234"/>
                  <a:pt x="36939" y="109865"/>
                </a:cubicBezTo>
                <a:lnTo>
                  <a:pt x="57150" y="89654"/>
                </a:lnTo>
                <a:lnTo>
                  <a:pt x="77361" y="109865"/>
                </a:lnTo>
                <a:cubicBezTo>
                  <a:pt x="78730" y="111234"/>
                  <a:pt x="79921" y="112722"/>
                  <a:pt x="80992" y="114300"/>
                </a:cubicBezTo>
                <a:lnTo>
                  <a:pt x="33338" y="114300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27" name="Text 25"/>
          <p:cNvSpPr/>
          <p:nvPr/>
        </p:nvSpPr>
        <p:spPr>
          <a:xfrm>
            <a:off x="5763260" y="4528185"/>
            <a:ext cx="2680335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沉没成本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极高：换导师=重头再来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5830" y="3558304"/>
            <a:ext cx="3038475" cy="1333500"/>
          </a:xfrm>
          <a:custGeom>
            <a:avLst/>
            <a:gdLst/>
            <a:ahLst/>
            <a:cxnLst/>
            <a:rect l="l" t="t" r="r" b="b"/>
            <a:pathLst>
              <a:path w="3038475" h="1333500">
                <a:moveTo>
                  <a:pt x="76196" y="0"/>
                </a:moveTo>
                <a:lnTo>
                  <a:pt x="2962279" y="0"/>
                </a:lnTo>
                <a:cubicBezTo>
                  <a:pt x="3004361" y="0"/>
                  <a:pt x="3038475" y="34114"/>
                  <a:pt x="3038475" y="76196"/>
                </a:cubicBezTo>
                <a:lnTo>
                  <a:pt x="3038475" y="1257304"/>
                </a:lnTo>
                <a:cubicBezTo>
                  <a:pt x="3038475" y="1299386"/>
                  <a:pt x="3004361" y="1333500"/>
                  <a:pt x="296227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9" name="Shape 27"/>
          <p:cNvSpPr/>
          <p:nvPr/>
        </p:nvSpPr>
        <p:spPr>
          <a:xfrm>
            <a:off x="8698230" y="37107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30" name="Shape 28"/>
          <p:cNvSpPr/>
          <p:nvPr/>
        </p:nvSpPr>
        <p:spPr>
          <a:xfrm>
            <a:off x="8831580" y="382500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9155430" y="3787140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外部缺失</a:t>
            </a:r>
            <a:endParaRPr lang="en-US" sz="1600" b="1" dirty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707755" y="424410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140643" y="121087"/>
                </a:lnTo>
                <a:cubicBezTo>
                  <a:pt x="141446" y="120372"/>
                  <a:pt x="142250" y="119658"/>
                  <a:pt x="143024" y="118943"/>
                </a:cubicBezTo>
                <a:cubicBezTo>
                  <a:pt x="156954" y="105995"/>
                  <a:pt x="166271" y="90547"/>
                  <a:pt x="170706" y="79921"/>
                </a:cubicBezTo>
                <a:cubicBezTo>
                  <a:pt x="171688" y="77569"/>
                  <a:pt x="171688" y="74950"/>
                  <a:pt x="170706" y="72598"/>
                </a:cubicBezTo>
                <a:cubicBezTo>
                  <a:pt x="166271" y="61972"/>
                  <a:pt x="156954" y="46494"/>
                  <a:pt x="143024" y="33576"/>
                </a:cubicBezTo>
                <a:cubicBezTo>
                  <a:pt x="129004" y="20568"/>
                  <a:pt x="109746" y="9585"/>
                  <a:pt x="85695" y="9585"/>
                </a:cubicBezTo>
                <a:cubicBezTo>
                  <a:pt x="68788" y="9585"/>
                  <a:pt x="54263" y="15002"/>
                  <a:pt x="42237" y="22741"/>
                </a:cubicBezTo>
                <a:lnTo>
                  <a:pt x="12204" y="-7412"/>
                </a:lnTo>
                <a:close/>
                <a:moveTo>
                  <a:pt x="60871" y="41285"/>
                </a:moveTo>
                <a:cubicBezTo>
                  <a:pt x="67866" y="36284"/>
                  <a:pt x="76468" y="33337"/>
                  <a:pt x="85725" y="33337"/>
                </a:cubicBezTo>
                <a:cubicBezTo>
                  <a:pt x="109389" y="33337"/>
                  <a:pt x="128588" y="52536"/>
                  <a:pt x="128588" y="76200"/>
                </a:cubicBezTo>
                <a:cubicBezTo>
                  <a:pt x="128588" y="85457"/>
                  <a:pt x="125641" y="94030"/>
                  <a:pt x="120640" y="101054"/>
                </a:cubicBezTo>
                <a:lnTo>
                  <a:pt x="110311" y="90726"/>
                </a:lnTo>
                <a:cubicBezTo>
                  <a:pt x="114092" y="84356"/>
                  <a:pt x="115372" y="76527"/>
                  <a:pt x="113318" y="68788"/>
                </a:cubicBezTo>
                <a:cubicBezTo>
                  <a:pt x="109240" y="53548"/>
                  <a:pt x="93553" y="44500"/>
                  <a:pt x="78313" y="48578"/>
                </a:cubicBezTo>
                <a:cubicBezTo>
                  <a:pt x="75754" y="49262"/>
                  <a:pt x="73343" y="50274"/>
                  <a:pt x="71170" y="51554"/>
                </a:cubicBezTo>
                <a:lnTo>
                  <a:pt x="60841" y="41225"/>
                </a:lnTo>
                <a:close/>
                <a:moveTo>
                  <a:pt x="96828" y="117604"/>
                </a:moveTo>
                <a:cubicBezTo>
                  <a:pt x="93285" y="118556"/>
                  <a:pt x="89565" y="119062"/>
                  <a:pt x="85725" y="119062"/>
                </a:cubicBezTo>
                <a:cubicBezTo>
                  <a:pt x="62061" y="119062"/>
                  <a:pt x="42863" y="99864"/>
                  <a:pt x="42863" y="76200"/>
                </a:cubicBezTo>
                <a:cubicBezTo>
                  <a:pt x="42863" y="72360"/>
                  <a:pt x="43369" y="68640"/>
                  <a:pt x="44321" y="65097"/>
                </a:cubicBezTo>
                <a:lnTo>
                  <a:pt x="20657" y="41434"/>
                </a:lnTo>
                <a:cubicBezTo>
                  <a:pt x="10954" y="52388"/>
                  <a:pt x="4286" y="63996"/>
                  <a:pt x="744" y="72539"/>
                </a:cubicBezTo>
                <a:cubicBezTo>
                  <a:pt x="-238" y="74890"/>
                  <a:pt x="-238" y="77510"/>
                  <a:pt x="744" y="79861"/>
                </a:cubicBezTo>
                <a:cubicBezTo>
                  <a:pt x="5179" y="90488"/>
                  <a:pt x="14496" y="105966"/>
                  <a:pt x="28426" y="118884"/>
                </a:cubicBezTo>
                <a:cubicBezTo>
                  <a:pt x="42446" y="131891"/>
                  <a:pt x="61704" y="142875"/>
                  <a:pt x="85755" y="142875"/>
                </a:cubicBezTo>
                <a:cubicBezTo>
                  <a:pt x="96857" y="142875"/>
                  <a:pt x="106948" y="140524"/>
                  <a:pt x="115967" y="136743"/>
                </a:cubicBezTo>
                <a:lnTo>
                  <a:pt x="96857" y="117634"/>
                </a:lnTo>
                <a:close/>
              </a:path>
            </a:pathLst>
          </a:custGeom>
          <a:solidFill>
            <a:srgbClr val="5D7A96"/>
          </a:solidFill>
        </p:spPr>
      </p:sp>
      <p:sp>
        <p:nvSpPr>
          <p:cNvPr id="33" name="Text 31"/>
          <p:cNvSpPr/>
          <p:nvPr/>
        </p:nvSpPr>
        <p:spPr>
          <a:xfrm>
            <a:off x="8964930" y="4222750"/>
            <a:ext cx="1542415" cy="212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申诉渠道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不透明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726805" y="454890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899" y="-4762"/>
                </a:moveTo>
                <a:cubicBezTo>
                  <a:pt x="40065" y="-4762"/>
                  <a:pt x="33695" y="12591"/>
                  <a:pt x="30569" y="28575"/>
                </a:cubicBezTo>
                <a:lnTo>
                  <a:pt x="21431" y="28575"/>
                </a:lnTo>
                <a:cubicBezTo>
                  <a:pt x="17472" y="28575"/>
                  <a:pt x="14288" y="31760"/>
                  <a:pt x="14288" y="35719"/>
                </a:cubicBezTo>
                <a:cubicBezTo>
                  <a:pt x="14288" y="39678"/>
                  <a:pt x="17472" y="42863"/>
                  <a:pt x="21431" y="42863"/>
                </a:cubicBezTo>
                <a:lnTo>
                  <a:pt x="28575" y="42863"/>
                </a:lnTo>
                <a:lnTo>
                  <a:pt x="28575" y="52388"/>
                </a:lnTo>
                <a:cubicBezTo>
                  <a:pt x="28575" y="57448"/>
                  <a:pt x="29557" y="62270"/>
                  <a:pt x="31343" y="66675"/>
                </a:cubicBezTo>
                <a:lnTo>
                  <a:pt x="28575" y="66675"/>
                </a:lnTo>
                <a:lnTo>
                  <a:pt x="28575" y="66675"/>
                </a:lnTo>
                <a:lnTo>
                  <a:pt x="22473" y="66675"/>
                </a:lnTo>
                <a:cubicBezTo>
                  <a:pt x="17949" y="66675"/>
                  <a:pt x="14288" y="70336"/>
                  <a:pt x="14288" y="74861"/>
                </a:cubicBezTo>
                <a:cubicBezTo>
                  <a:pt x="14288" y="75754"/>
                  <a:pt x="14436" y="76617"/>
                  <a:pt x="14704" y="77450"/>
                </a:cubicBezTo>
                <a:lnTo>
                  <a:pt x="23306" y="103227"/>
                </a:lnTo>
                <a:cubicBezTo>
                  <a:pt x="11966" y="112990"/>
                  <a:pt x="4763" y="127427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7427"/>
                  <a:pt x="121384" y="112990"/>
                  <a:pt x="110044" y="103257"/>
                </a:cubicBezTo>
                <a:lnTo>
                  <a:pt x="118646" y="77480"/>
                </a:lnTo>
                <a:cubicBezTo>
                  <a:pt x="118914" y="76646"/>
                  <a:pt x="119062" y="75783"/>
                  <a:pt x="119062" y="74890"/>
                </a:cubicBezTo>
                <a:cubicBezTo>
                  <a:pt x="119062" y="70366"/>
                  <a:pt x="115401" y="66705"/>
                  <a:pt x="110877" y="66705"/>
                </a:cubicBezTo>
                <a:lnTo>
                  <a:pt x="104775" y="66705"/>
                </a:lnTo>
                <a:lnTo>
                  <a:pt x="104775" y="66705"/>
                </a:lnTo>
                <a:lnTo>
                  <a:pt x="102007" y="66705"/>
                </a:lnTo>
                <a:cubicBezTo>
                  <a:pt x="103793" y="62299"/>
                  <a:pt x="104775" y="57477"/>
                  <a:pt x="104775" y="52417"/>
                </a:cubicBezTo>
                <a:lnTo>
                  <a:pt x="104775" y="42892"/>
                </a:lnTo>
                <a:lnTo>
                  <a:pt x="111919" y="42892"/>
                </a:lnTo>
                <a:cubicBezTo>
                  <a:pt x="115878" y="42892"/>
                  <a:pt x="119062" y="39707"/>
                  <a:pt x="119062" y="35749"/>
                </a:cubicBezTo>
                <a:cubicBezTo>
                  <a:pt x="119062" y="31790"/>
                  <a:pt x="115878" y="28605"/>
                  <a:pt x="111919" y="28605"/>
                </a:cubicBezTo>
                <a:lnTo>
                  <a:pt x="102781" y="28605"/>
                </a:lnTo>
                <a:cubicBezTo>
                  <a:pt x="99685" y="12621"/>
                  <a:pt x="93285" y="-4733"/>
                  <a:pt x="82451" y="-4733"/>
                </a:cubicBezTo>
                <a:cubicBezTo>
                  <a:pt x="79593" y="-4733"/>
                  <a:pt x="76795" y="-3572"/>
                  <a:pt x="74265" y="-2292"/>
                </a:cubicBezTo>
                <a:cubicBezTo>
                  <a:pt x="71824" y="-1072"/>
                  <a:pt x="68788" y="30"/>
                  <a:pt x="66675" y="30"/>
                </a:cubicBezTo>
                <a:cubicBezTo>
                  <a:pt x="64562" y="30"/>
                  <a:pt x="61526" y="-1072"/>
                  <a:pt x="59085" y="-2292"/>
                </a:cubicBezTo>
                <a:cubicBezTo>
                  <a:pt x="56555" y="-3602"/>
                  <a:pt x="53757" y="-4762"/>
                  <a:pt x="50899" y="-4762"/>
                </a:cubicBezTo>
                <a:close/>
                <a:moveTo>
                  <a:pt x="78790" y="139422"/>
                </a:moveTo>
                <a:lnTo>
                  <a:pt x="71408" y="118318"/>
                </a:lnTo>
                <a:lnTo>
                  <a:pt x="79712" y="108645"/>
                </a:lnTo>
                <a:cubicBezTo>
                  <a:pt x="80516" y="107692"/>
                  <a:pt x="80962" y="106501"/>
                  <a:pt x="80962" y="105251"/>
                </a:cubicBezTo>
                <a:cubicBezTo>
                  <a:pt x="80962" y="102364"/>
                  <a:pt x="78641" y="100042"/>
                  <a:pt x="75754" y="100042"/>
                </a:cubicBezTo>
                <a:lnTo>
                  <a:pt x="57596" y="100042"/>
                </a:lnTo>
                <a:cubicBezTo>
                  <a:pt x="54709" y="100042"/>
                  <a:pt x="52387" y="102364"/>
                  <a:pt x="52387" y="105251"/>
                </a:cubicBezTo>
                <a:cubicBezTo>
                  <a:pt x="52387" y="106501"/>
                  <a:pt x="52834" y="107692"/>
                  <a:pt x="53638" y="108645"/>
                </a:cubicBezTo>
                <a:lnTo>
                  <a:pt x="61942" y="118318"/>
                </a:lnTo>
                <a:lnTo>
                  <a:pt x="54560" y="139422"/>
                </a:lnTo>
                <a:lnTo>
                  <a:pt x="37594" y="85725"/>
                </a:lnTo>
                <a:lnTo>
                  <a:pt x="48220" y="85725"/>
                </a:lnTo>
                <a:cubicBezTo>
                  <a:pt x="53697" y="88761"/>
                  <a:pt x="59978" y="90488"/>
                  <a:pt x="66675" y="90488"/>
                </a:cubicBezTo>
                <a:cubicBezTo>
                  <a:pt x="73372" y="90488"/>
                  <a:pt x="79653" y="88761"/>
                  <a:pt x="85130" y="85725"/>
                </a:cubicBezTo>
                <a:lnTo>
                  <a:pt x="95756" y="85725"/>
                </a:lnTo>
                <a:lnTo>
                  <a:pt x="78790" y="139422"/>
                </a:lnTo>
                <a:close/>
                <a:moveTo>
                  <a:pt x="66675" y="76200"/>
                </a:moveTo>
                <a:cubicBezTo>
                  <a:pt x="56346" y="76200"/>
                  <a:pt x="47565" y="69622"/>
                  <a:pt x="44261" y="60424"/>
                </a:cubicBezTo>
                <a:cubicBezTo>
                  <a:pt x="45958" y="61377"/>
                  <a:pt x="47923" y="61912"/>
                  <a:pt x="50006" y="61912"/>
                </a:cubicBezTo>
                <a:lnTo>
                  <a:pt x="53697" y="61912"/>
                </a:lnTo>
                <a:cubicBezTo>
                  <a:pt x="58609" y="61912"/>
                  <a:pt x="62954" y="58757"/>
                  <a:pt x="64502" y="54114"/>
                </a:cubicBezTo>
                <a:cubicBezTo>
                  <a:pt x="65187" y="52030"/>
                  <a:pt x="68134" y="52030"/>
                  <a:pt x="68818" y="54114"/>
                </a:cubicBezTo>
                <a:cubicBezTo>
                  <a:pt x="70366" y="58757"/>
                  <a:pt x="74741" y="61912"/>
                  <a:pt x="79623" y="61912"/>
                </a:cubicBezTo>
                <a:lnTo>
                  <a:pt x="83314" y="61912"/>
                </a:lnTo>
                <a:cubicBezTo>
                  <a:pt x="85398" y="61912"/>
                  <a:pt x="87362" y="61377"/>
                  <a:pt x="89059" y="60424"/>
                </a:cubicBezTo>
                <a:cubicBezTo>
                  <a:pt x="85755" y="69622"/>
                  <a:pt x="76974" y="76200"/>
                  <a:pt x="66645" y="76200"/>
                </a:cubicBezTo>
                <a:close/>
              </a:path>
            </a:pathLst>
          </a:custGeom>
          <a:solidFill>
            <a:srgbClr val="5D7A96"/>
          </a:solidFill>
        </p:spPr>
      </p:sp>
      <p:sp>
        <p:nvSpPr>
          <p:cNvPr id="35" name="Text 33"/>
          <p:cNvSpPr/>
          <p:nvPr/>
        </p:nvSpPr>
        <p:spPr>
          <a:xfrm>
            <a:off x="8964930" y="4511040"/>
            <a:ext cx="2537460" cy="236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缺乏对</a:t>
            </a:r>
            <a:r>
              <a:rPr lang="en-US" sz="14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举报者的隐私保护</a:t>
            </a:r>
            <a:r>
              <a:rPr lang="en-US" sz="14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90160" y="5905500"/>
            <a:ext cx="6724650" cy="571500"/>
          </a:xfrm>
          <a:custGeom>
            <a:avLst/>
            <a:gdLst/>
            <a:ahLst/>
            <a:cxnLst/>
            <a:rect l="l" t="t" r="r" b="b"/>
            <a:pathLst>
              <a:path w="6724650" h="571500">
                <a:moveTo>
                  <a:pt x="76198" y="0"/>
                </a:moveTo>
                <a:lnTo>
                  <a:pt x="6648452" y="0"/>
                </a:lnTo>
                <a:cubicBezTo>
                  <a:pt x="6690535" y="0"/>
                  <a:pt x="6724650" y="34115"/>
                  <a:pt x="6724650" y="76198"/>
                </a:cubicBezTo>
                <a:lnTo>
                  <a:pt x="6724650" y="495302"/>
                </a:lnTo>
                <a:cubicBezTo>
                  <a:pt x="6724650" y="537385"/>
                  <a:pt x="6690535" y="571500"/>
                  <a:pt x="66484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38" name="Text 36"/>
          <p:cNvSpPr/>
          <p:nvPr/>
        </p:nvSpPr>
        <p:spPr>
          <a:xfrm>
            <a:off x="5418773" y="6057900"/>
            <a:ext cx="6286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冰山之上是沉默，冰山之下，是令人窒息的现实</a:t>
            </a:r>
            <a:endParaRPr lang="en-US" sz="1600" dirty="0"/>
          </a:p>
        </p:txBody>
      </p:sp>
      <p:pic>
        <p:nvPicPr>
          <p:cNvPr id="39" name="图片 38"/>
          <p:cNvPicPr/>
          <p:nvPr/>
        </p:nvPicPr>
        <p:blipFill>
          <a:blip r:embed="rId1"/>
          <a:srcRect t="573" r="55485"/>
          <a:stretch>
            <a:fillRect/>
          </a:stretch>
        </p:blipFill>
        <p:spPr>
          <a:xfrm>
            <a:off x="1198880" y="1955165"/>
            <a:ext cx="2983865" cy="41535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1"/>
          <p:cNvSpPr/>
          <p:nvPr/>
        </p:nvSpPr>
        <p:spPr>
          <a:xfrm>
            <a:off x="6616390" y="2378809"/>
            <a:ext cx="446049" cy="446049"/>
          </a:xfrm>
          <a:custGeom>
            <a:avLst/>
            <a:gdLst/>
            <a:ahLst/>
            <a:cxnLst/>
            <a:rect l="l" t="t" r="r" b="b"/>
            <a:pathLst>
              <a:path w="446049" h="446049">
                <a:moveTo>
                  <a:pt x="223024" y="0"/>
                </a:moveTo>
                <a:lnTo>
                  <a:pt x="223024" y="0"/>
                </a:lnTo>
                <a:cubicBezTo>
                  <a:pt x="346197" y="0"/>
                  <a:pt x="446049" y="99851"/>
                  <a:pt x="446049" y="223024"/>
                </a:cubicBezTo>
                <a:lnTo>
                  <a:pt x="446049" y="223024"/>
                </a:lnTo>
                <a:cubicBezTo>
                  <a:pt x="446049" y="346197"/>
                  <a:pt x="346197" y="446049"/>
                  <a:pt x="223024" y="446049"/>
                </a:cubicBezTo>
                <a:lnTo>
                  <a:pt x="223024" y="446049"/>
                </a:lnTo>
                <a:cubicBezTo>
                  <a:pt x="99851" y="446049"/>
                  <a:pt x="0" y="346197"/>
                  <a:pt x="0" y="223024"/>
                </a:cubicBezTo>
                <a:lnTo>
                  <a:pt x="0" y="223024"/>
                </a:lnTo>
                <a:cubicBezTo>
                  <a:pt x="0" y="99851"/>
                  <a:pt x="99851" y="0"/>
                  <a:pt x="223024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" name="Text 0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59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SOLUTION</a:t>
            </a:r>
            <a:endParaRPr lang="en-US" sz="12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1707" y="669073"/>
            <a:ext cx="11615854" cy="371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破局：从"隐性期待"到"显性契约"</a:t>
            </a:r>
            <a:endParaRPr lang="en-US"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1475" y="1207770"/>
            <a:ext cx="5612765" cy="5341620"/>
          </a:xfrm>
          <a:custGeom>
            <a:avLst/>
            <a:gdLst/>
            <a:ahLst/>
            <a:cxnLst/>
            <a:rect l="l" t="t" r="r" b="b"/>
            <a:pathLst>
              <a:path w="5612780" h="5649951">
                <a:moveTo>
                  <a:pt x="37171" y="0"/>
                </a:moveTo>
                <a:lnTo>
                  <a:pt x="5575610" y="0"/>
                </a:lnTo>
                <a:cubicBezTo>
                  <a:pt x="5596139" y="0"/>
                  <a:pt x="5612780" y="16642"/>
                  <a:pt x="5612780" y="37171"/>
                </a:cubicBezTo>
                <a:lnTo>
                  <a:pt x="5612780" y="5575582"/>
                </a:lnTo>
                <a:cubicBezTo>
                  <a:pt x="5612780" y="5616655"/>
                  <a:pt x="5579484" y="5649951"/>
                  <a:pt x="5538411" y="5649951"/>
                </a:cubicBezTo>
                <a:lnTo>
                  <a:pt x="74369" y="5649951"/>
                </a:lnTo>
                <a:cubicBezTo>
                  <a:pt x="33296" y="5649951"/>
                  <a:pt x="0" y="5616655"/>
                  <a:pt x="0" y="557558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9390" dist="9292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1707" y="1208049"/>
            <a:ext cx="5612780" cy="37171"/>
          </a:xfrm>
          <a:custGeom>
            <a:avLst/>
            <a:gdLst/>
            <a:ahLst/>
            <a:cxnLst/>
            <a:rect l="l" t="t" r="r" b="b"/>
            <a:pathLst>
              <a:path w="5612780" h="37171">
                <a:moveTo>
                  <a:pt x="37171" y="0"/>
                </a:moveTo>
                <a:lnTo>
                  <a:pt x="5575610" y="0"/>
                </a:lnTo>
                <a:cubicBezTo>
                  <a:pt x="5596139" y="0"/>
                  <a:pt x="5612780" y="16642"/>
                  <a:pt x="5612780" y="37171"/>
                </a:cubicBezTo>
                <a:lnTo>
                  <a:pt x="5612780" y="37171"/>
                </a:lnTo>
                <a:lnTo>
                  <a:pt x="0" y="37171"/>
                </a:ln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6" name="Shape 4"/>
          <p:cNvSpPr/>
          <p:nvPr/>
        </p:nvSpPr>
        <p:spPr>
          <a:xfrm>
            <a:off x="650488" y="1486711"/>
            <a:ext cx="167268" cy="223024"/>
          </a:xfrm>
          <a:custGeom>
            <a:avLst/>
            <a:gdLst/>
            <a:ahLst/>
            <a:cxnLst/>
            <a:rect l="l" t="t" r="r" b="b"/>
            <a:pathLst>
              <a:path w="167268" h="223024">
                <a:moveTo>
                  <a:pt x="0" y="27878"/>
                </a:moveTo>
                <a:cubicBezTo>
                  <a:pt x="0" y="12502"/>
                  <a:pt x="12502" y="0"/>
                  <a:pt x="27878" y="0"/>
                </a:cubicBezTo>
                <a:lnTo>
                  <a:pt x="92999" y="0"/>
                </a:lnTo>
                <a:cubicBezTo>
                  <a:pt x="100405" y="0"/>
                  <a:pt x="107505" y="2918"/>
                  <a:pt x="112732" y="8146"/>
                </a:cubicBezTo>
                <a:lnTo>
                  <a:pt x="159123" y="54580"/>
                </a:lnTo>
                <a:cubicBezTo>
                  <a:pt x="164350" y="59807"/>
                  <a:pt x="167268" y="66907"/>
                  <a:pt x="167268" y="74312"/>
                </a:cubicBezTo>
                <a:lnTo>
                  <a:pt x="167268" y="195146"/>
                </a:lnTo>
                <a:cubicBezTo>
                  <a:pt x="167268" y="210523"/>
                  <a:pt x="154767" y="223024"/>
                  <a:pt x="139390" y="223024"/>
                </a:cubicBezTo>
                <a:lnTo>
                  <a:pt x="27878" y="223024"/>
                </a:lnTo>
                <a:cubicBezTo>
                  <a:pt x="12502" y="223024"/>
                  <a:pt x="0" y="210523"/>
                  <a:pt x="0" y="195146"/>
                </a:cubicBezTo>
                <a:lnTo>
                  <a:pt x="0" y="27878"/>
                </a:lnTo>
                <a:close/>
                <a:moveTo>
                  <a:pt x="90604" y="25482"/>
                </a:moveTo>
                <a:lnTo>
                  <a:pt x="90604" y="66210"/>
                </a:lnTo>
                <a:cubicBezTo>
                  <a:pt x="90604" y="72004"/>
                  <a:pt x="95265" y="76665"/>
                  <a:pt x="101058" y="76665"/>
                </a:cubicBezTo>
                <a:lnTo>
                  <a:pt x="141786" y="76665"/>
                </a:lnTo>
                <a:lnTo>
                  <a:pt x="90604" y="25482"/>
                </a:lnTo>
                <a:close/>
                <a:moveTo>
                  <a:pt x="38332" y="27878"/>
                </a:moveTo>
                <a:cubicBezTo>
                  <a:pt x="32539" y="27878"/>
                  <a:pt x="27878" y="32539"/>
                  <a:pt x="27878" y="38332"/>
                </a:cubicBezTo>
                <a:cubicBezTo>
                  <a:pt x="27878" y="44126"/>
                  <a:pt x="32539" y="48787"/>
                  <a:pt x="38332" y="48787"/>
                </a:cubicBezTo>
                <a:lnTo>
                  <a:pt x="59241" y="48787"/>
                </a:lnTo>
                <a:cubicBezTo>
                  <a:pt x="65034" y="48787"/>
                  <a:pt x="69695" y="44126"/>
                  <a:pt x="69695" y="38332"/>
                </a:cubicBezTo>
                <a:cubicBezTo>
                  <a:pt x="69695" y="32539"/>
                  <a:pt x="65034" y="27878"/>
                  <a:pt x="59241" y="27878"/>
                </a:cubicBezTo>
                <a:lnTo>
                  <a:pt x="38332" y="27878"/>
                </a:lnTo>
                <a:close/>
                <a:moveTo>
                  <a:pt x="38332" y="69695"/>
                </a:moveTo>
                <a:cubicBezTo>
                  <a:pt x="32539" y="69695"/>
                  <a:pt x="27878" y="74356"/>
                  <a:pt x="27878" y="80149"/>
                </a:cubicBezTo>
                <a:cubicBezTo>
                  <a:pt x="27878" y="85943"/>
                  <a:pt x="32539" y="90604"/>
                  <a:pt x="38332" y="90604"/>
                </a:cubicBezTo>
                <a:lnTo>
                  <a:pt x="59241" y="90604"/>
                </a:lnTo>
                <a:cubicBezTo>
                  <a:pt x="65034" y="90604"/>
                  <a:pt x="69695" y="85943"/>
                  <a:pt x="69695" y="80149"/>
                </a:cubicBezTo>
                <a:cubicBezTo>
                  <a:pt x="69695" y="74356"/>
                  <a:pt x="65034" y="69695"/>
                  <a:pt x="59241" y="69695"/>
                </a:cubicBezTo>
                <a:lnTo>
                  <a:pt x="38332" y="69695"/>
                </a:lnTo>
                <a:close/>
                <a:moveTo>
                  <a:pt x="68955" y="139390"/>
                </a:moveTo>
                <a:cubicBezTo>
                  <a:pt x="64032" y="139390"/>
                  <a:pt x="59415" y="141612"/>
                  <a:pt x="56366" y="145445"/>
                </a:cubicBezTo>
                <a:lnTo>
                  <a:pt x="30187" y="178158"/>
                </a:lnTo>
                <a:cubicBezTo>
                  <a:pt x="26571" y="182645"/>
                  <a:pt x="27312" y="189266"/>
                  <a:pt x="31798" y="192838"/>
                </a:cubicBezTo>
                <a:cubicBezTo>
                  <a:pt x="36285" y="196410"/>
                  <a:pt x="42906" y="195713"/>
                  <a:pt x="46478" y="191182"/>
                </a:cubicBezTo>
                <a:lnTo>
                  <a:pt x="66994" y="165569"/>
                </a:lnTo>
                <a:lnTo>
                  <a:pt x="73615" y="187654"/>
                </a:lnTo>
                <a:cubicBezTo>
                  <a:pt x="74922" y="192097"/>
                  <a:pt x="79017" y="195103"/>
                  <a:pt x="83634" y="195103"/>
                </a:cubicBezTo>
                <a:lnTo>
                  <a:pt x="128936" y="195103"/>
                </a:lnTo>
                <a:cubicBezTo>
                  <a:pt x="134729" y="195103"/>
                  <a:pt x="139390" y="190442"/>
                  <a:pt x="139390" y="184649"/>
                </a:cubicBezTo>
                <a:cubicBezTo>
                  <a:pt x="139390" y="178855"/>
                  <a:pt x="134729" y="174194"/>
                  <a:pt x="128936" y="174194"/>
                </a:cubicBezTo>
                <a:lnTo>
                  <a:pt x="91431" y="174194"/>
                </a:lnTo>
                <a:lnTo>
                  <a:pt x="84418" y="150846"/>
                </a:lnTo>
                <a:cubicBezTo>
                  <a:pt x="82371" y="144008"/>
                  <a:pt x="76098" y="139347"/>
                  <a:pt x="68955" y="139347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7" name="Text 5"/>
          <p:cNvSpPr/>
          <p:nvPr/>
        </p:nvSpPr>
        <p:spPr>
          <a:xfrm>
            <a:off x="873512" y="1449659"/>
            <a:ext cx="4999463" cy="2973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核心对策：</a:t>
            </a:r>
            <a:r>
              <a:rPr lang="zh-CN" alt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</a:t>
            </a: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课题组</a:t>
            </a:r>
            <a:r>
              <a:rPr lang="zh-CN" alt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规则</a:t>
            </a:r>
            <a:endParaRPr lang="zh-CN" altLang="en-US" b="1" dirty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357" y="5452484"/>
            <a:ext cx="5166732" cy="817756"/>
          </a:xfrm>
          <a:custGeom>
            <a:avLst/>
            <a:gdLst/>
            <a:ahLst/>
            <a:cxnLst/>
            <a:rect l="l" t="t" r="r" b="b"/>
            <a:pathLst>
              <a:path w="5166732" h="817756">
                <a:moveTo>
                  <a:pt x="74342" y="0"/>
                </a:moveTo>
                <a:lnTo>
                  <a:pt x="5092390" y="0"/>
                </a:lnTo>
                <a:cubicBezTo>
                  <a:pt x="5133448" y="0"/>
                  <a:pt x="5166732" y="33284"/>
                  <a:pt x="5166732" y="74342"/>
                </a:cubicBezTo>
                <a:lnTo>
                  <a:pt x="5166732" y="743414"/>
                </a:lnTo>
                <a:cubicBezTo>
                  <a:pt x="5166732" y="784472"/>
                  <a:pt x="5133448" y="817756"/>
                  <a:pt x="5092390" y="817756"/>
                </a:cubicBezTo>
                <a:lnTo>
                  <a:pt x="74342" y="817756"/>
                </a:lnTo>
                <a:cubicBezTo>
                  <a:pt x="33284" y="817756"/>
                  <a:pt x="0" y="784472"/>
                  <a:pt x="0" y="743414"/>
                </a:cubicBezTo>
                <a:lnTo>
                  <a:pt x="0" y="74342"/>
                </a:lnTo>
                <a:cubicBezTo>
                  <a:pt x="0" y="33312"/>
                  <a:pt x="33312" y="0"/>
                  <a:pt x="74342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6" name="Text 14"/>
          <p:cNvSpPr/>
          <p:nvPr/>
        </p:nvSpPr>
        <p:spPr>
          <a:xfrm>
            <a:off x="680008" y="5578941"/>
            <a:ext cx="4953000" cy="520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把丑话说在前面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将"人治"变成"法治"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69927" y="3270953"/>
            <a:ext cx="538976" cy="44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600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193078" y="1179830"/>
            <a:ext cx="5594427" cy="5404485"/>
            <a:chOff x="9805" y="1873"/>
            <a:chExt cx="8810" cy="8511"/>
          </a:xfrm>
        </p:grpSpPr>
        <p:sp>
          <p:nvSpPr>
            <p:cNvPr id="17" name="Shape 15"/>
            <p:cNvSpPr/>
            <p:nvPr/>
          </p:nvSpPr>
          <p:spPr>
            <a:xfrm>
              <a:off x="9805" y="1873"/>
              <a:ext cx="8810" cy="8511"/>
            </a:xfrm>
            <a:custGeom>
              <a:avLst/>
              <a:gdLst/>
              <a:ahLst/>
              <a:cxnLst/>
              <a:rect l="l" t="t" r="r" b="b"/>
              <a:pathLst>
                <a:path w="5594195" h="5668537">
                  <a:moveTo>
                    <a:pt x="37171" y="0"/>
                  </a:moveTo>
                  <a:lnTo>
                    <a:pt x="5519848" y="0"/>
                  </a:lnTo>
                  <a:cubicBezTo>
                    <a:pt x="5560909" y="0"/>
                    <a:pt x="5594195" y="33286"/>
                    <a:pt x="5594195" y="74347"/>
                  </a:cubicBezTo>
                  <a:lnTo>
                    <a:pt x="5594195" y="5594190"/>
                  </a:lnTo>
                  <a:cubicBezTo>
                    <a:pt x="5594195" y="5635250"/>
                    <a:pt x="5560909" y="5668537"/>
                    <a:pt x="5519848" y="5668537"/>
                  </a:cubicBezTo>
                  <a:lnTo>
                    <a:pt x="37171" y="5668537"/>
                  </a:lnTo>
                  <a:cubicBezTo>
                    <a:pt x="16642" y="5668537"/>
                    <a:pt x="0" y="5651895"/>
                    <a:pt x="0" y="5631366"/>
                  </a:cubicBezTo>
                  <a:lnTo>
                    <a:pt x="0" y="37171"/>
                  </a:lnTo>
                  <a:cubicBezTo>
                    <a:pt x="0" y="16642"/>
                    <a:pt x="16642" y="0"/>
                    <a:pt x="37171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39390" dist="92927" dir="5400000" algn="bl" rotWithShape="0">
                <a:srgbClr val="000000">
                  <a:alpha val="10196"/>
                </a:srgbClr>
              </a:outerShdw>
            </a:effectLst>
          </p:spPr>
        </p:sp>
        <p:grpSp>
          <p:nvGrpSpPr>
            <p:cNvPr id="51" name="组合 50"/>
            <p:cNvGrpSpPr/>
            <p:nvPr/>
          </p:nvGrpSpPr>
          <p:grpSpPr>
            <a:xfrm>
              <a:off x="9805" y="1873"/>
              <a:ext cx="8634" cy="8504"/>
              <a:chOff x="9805" y="1873"/>
              <a:chExt cx="8634" cy="8504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9805" y="1873"/>
                <a:ext cx="59" cy="8504"/>
              </a:xfrm>
              <a:custGeom>
                <a:avLst/>
                <a:gdLst/>
                <a:ahLst/>
                <a:cxnLst/>
                <a:rect l="l" t="t" r="r" b="b"/>
                <a:pathLst>
                  <a:path w="37171" h="5668537">
                    <a:moveTo>
                      <a:pt x="37171" y="0"/>
                    </a:moveTo>
                    <a:lnTo>
                      <a:pt x="37171" y="0"/>
                    </a:lnTo>
                    <a:lnTo>
                      <a:pt x="37171" y="5668537"/>
                    </a:lnTo>
                    <a:lnTo>
                      <a:pt x="37171" y="5668537"/>
                    </a:lnTo>
                    <a:cubicBezTo>
                      <a:pt x="16642" y="5668537"/>
                      <a:pt x="0" y="5651895"/>
                      <a:pt x="0" y="5631366"/>
                    </a:cubicBezTo>
                    <a:lnTo>
                      <a:pt x="0" y="37171"/>
                    </a:lnTo>
                    <a:cubicBezTo>
                      <a:pt x="0" y="16642"/>
                      <a:pt x="16642" y="0"/>
                      <a:pt x="37171" y="0"/>
                    </a:cubicBezTo>
                    <a:close/>
                  </a:path>
                </a:pathLst>
              </a:custGeom>
              <a:solidFill>
                <a:srgbClr val="1A3A5C"/>
              </a:solidFill>
            </p:spPr>
          </p:sp>
          <p:grpSp>
            <p:nvGrpSpPr>
              <p:cNvPr id="48" name="组合 47"/>
              <p:cNvGrpSpPr/>
              <p:nvPr/>
            </p:nvGrpSpPr>
            <p:grpSpPr>
              <a:xfrm>
                <a:off x="10172" y="2114"/>
                <a:ext cx="8267" cy="8088"/>
                <a:chOff x="10172" y="2114"/>
                <a:chExt cx="8267" cy="8088"/>
              </a:xfrm>
            </p:grpSpPr>
            <p:grpSp>
              <p:nvGrpSpPr>
                <p:cNvPr id="47" name="组合 46"/>
                <p:cNvGrpSpPr/>
                <p:nvPr/>
              </p:nvGrpSpPr>
              <p:grpSpPr>
                <a:xfrm>
                  <a:off x="10172" y="2114"/>
                  <a:ext cx="8267" cy="8088"/>
                  <a:chOff x="10172" y="2114"/>
                  <a:chExt cx="8267" cy="8088"/>
                </a:xfrm>
              </p:grpSpPr>
              <p:sp>
                <p:nvSpPr>
                  <p:cNvPr id="32" name="Shape 30"/>
                  <p:cNvSpPr/>
                  <p:nvPr/>
                </p:nvSpPr>
                <p:spPr>
                  <a:xfrm>
                    <a:off x="10185" y="6556"/>
                    <a:ext cx="8078" cy="1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9561" h="817756">
                        <a:moveTo>
                          <a:pt x="74342" y="0"/>
                        </a:moveTo>
                        <a:lnTo>
                          <a:pt x="5055219" y="0"/>
                        </a:lnTo>
                        <a:cubicBezTo>
                          <a:pt x="5096277" y="0"/>
                          <a:pt x="5129561" y="33284"/>
                          <a:pt x="5129561" y="74342"/>
                        </a:cubicBezTo>
                        <a:lnTo>
                          <a:pt x="5129561" y="743414"/>
                        </a:lnTo>
                        <a:cubicBezTo>
                          <a:pt x="5129561" y="784472"/>
                          <a:pt x="5096277" y="817756"/>
                          <a:pt x="5055219" y="817756"/>
                        </a:cubicBezTo>
                        <a:lnTo>
                          <a:pt x="74342" y="817756"/>
                        </a:lnTo>
                        <a:cubicBezTo>
                          <a:pt x="33284" y="817756"/>
                          <a:pt x="0" y="784472"/>
                          <a:pt x="0" y="743414"/>
                        </a:cubicBezTo>
                        <a:lnTo>
                          <a:pt x="0" y="74342"/>
                        </a:lnTo>
                        <a:cubicBezTo>
                          <a:pt x="0" y="33312"/>
                          <a:pt x="33312" y="0"/>
                          <a:pt x="74342" y="0"/>
                        </a:cubicBezTo>
                        <a:close/>
                      </a:path>
                    </a:pathLst>
                  </a:custGeom>
                  <a:solidFill>
                    <a:srgbClr val="F8F9FA"/>
                  </a:solidFill>
                </p:spPr>
              </p:sp>
              <p:grpSp>
                <p:nvGrpSpPr>
                  <p:cNvPr id="46" name="组合 45"/>
                  <p:cNvGrpSpPr/>
                  <p:nvPr/>
                </p:nvGrpSpPr>
                <p:grpSpPr>
                  <a:xfrm>
                    <a:off x="10172" y="2114"/>
                    <a:ext cx="8267" cy="8088"/>
                    <a:chOff x="10172" y="2224"/>
                    <a:chExt cx="8267" cy="8088"/>
                  </a:xfrm>
                </p:grpSpPr>
                <p:sp>
                  <p:nvSpPr>
                    <p:cNvPr id="19" name="Shape 17"/>
                    <p:cNvSpPr/>
                    <p:nvPr/>
                  </p:nvSpPr>
                  <p:spPr>
                    <a:xfrm>
                      <a:off x="10229" y="2283"/>
                      <a:ext cx="351" cy="3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024" h="223024">
                          <a:moveTo>
                            <a:pt x="58283" y="15812"/>
                          </a:moveTo>
                          <a:cubicBezTo>
                            <a:pt x="63031" y="19123"/>
                            <a:pt x="64163" y="25657"/>
                            <a:pt x="60853" y="30361"/>
                          </a:cubicBezTo>
                          <a:lnTo>
                            <a:pt x="36459" y="65208"/>
                          </a:lnTo>
                          <a:cubicBezTo>
                            <a:pt x="34673" y="67735"/>
                            <a:pt x="31886" y="69347"/>
                            <a:pt x="28793" y="69608"/>
                          </a:cubicBezTo>
                          <a:cubicBezTo>
                            <a:pt x="25700" y="69869"/>
                            <a:pt x="22651" y="68824"/>
                            <a:pt x="20473" y="66646"/>
                          </a:cubicBezTo>
                          <a:lnTo>
                            <a:pt x="3049" y="49222"/>
                          </a:lnTo>
                          <a:cubicBezTo>
                            <a:pt x="-1002" y="45128"/>
                            <a:pt x="-1002" y="38507"/>
                            <a:pt x="3049" y="34412"/>
                          </a:cubicBezTo>
                          <a:cubicBezTo>
                            <a:pt x="7100" y="30317"/>
                            <a:pt x="13765" y="30361"/>
                            <a:pt x="17859" y="34412"/>
                          </a:cubicBezTo>
                          <a:lnTo>
                            <a:pt x="26484" y="43037"/>
                          </a:lnTo>
                          <a:lnTo>
                            <a:pt x="43734" y="18382"/>
                          </a:lnTo>
                          <a:cubicBezTo>
                            <a:pt x="47044" y="13634"/>
                            <a:pt x="53578" y="12502"/>
                            <a:pt x="58283" y="15812"/>
                          </a:cubicBezTo>
                          <a:close/>
                          <a:moveTo>
                            <a:pt x="58283" y="85507"/>
                          </a:moveTo>
                          <a:cubicBezTo>
                            <a:pt x="63031" y="88818"/>
                            <a:pt x="64163" y="95352"/>
                            <a:pt x="60853" y="100056"/>
                          </a:cubicBezTo>
                          <a:lnTo>
                            <a:pt x="36459" y="134904"/>
                          </a:lnTo>
                          <a:cubicBezTo>
                            <a:pt x="34673" y="137430"/>
                            <a:pt x="31886" y="139042"/>
                            <a:pt x="28793" y="139303"/>
                          </a:cubicBezTo>
                          <a:cubicBezTo>
                            <a:pt x="25700" y="139564"/>
                            <a:pt x="22651" y="138519"/>
                            <a:pt x="20473" y="136341"/>
                          </a:cubicBezTo>
                          <a:lnTo>
                            <a:pt x="3049" y="118917"/>
                          </a:lnTo>
                          <a:cubicBezTo>
                            <a:pt x="-1045" y="114823"/>
                            <a:pt x="-1045" y="108202"/>
                            <a:pt x="3049" y="104151"/>
                          </a:cubicBezTo>
                          <a:cubicBezTo>
                            <a:pt x="7144" y="100100"/>
                            <a:pt x="13765" y="100056"/>
                            <a:pt x="17816" y="104151"/>
                          </a:cubicBezTo>
                          <a:lnTo>
                            <a:pt x="26441" y="112775"/>
                          </a:lnTo>
                          <a:lnTo>
                            <a:pt x="43690" y="88121"/>
                          </a:lnTo>
                          <a:cubicBezTo>
                            <a:pt x="47001" y="83373"/>
                            <a:pt x="53535" y="82240"/>
                            <a:pt x="58239" y="85551"/>
                          </a:cubicBezTo>
                          <a:close/>
                          <a:moveTo>
                            <a:pt x="97573" y="41817"/>
                          </a:moveTo>
                          <a:cubicBezTo>
                            <a:pt x="97573" y="34107"/>
                            <a:pt x="103802" y="27878"/>
                            <a:pt x="111512" y="27878"/>
                          </a:cubicBezTo>
                          <a:lnTo>
                            <a:pt x="209085" y="27878"/>
                          </a:lnTo>
                          <a:cubicBezTo>
                            <a:pt x="216795" y="27878"/>
                            <a:pt x="223024" y="34107"/>
                            <a:pt x="223024" y="41817"/>
                          </a:cubicBezTo>
                          <a:cubicBezTo>
                            <a:pt x="223024" y="49527"/>
                            <a:pt x="216795" y="55756"/>
                            <a:pt x="209085" y="55756"/>
                          </a:cubicBezTo>
                          <a:lnTo>
                            <a:pt x="111512" y="55756"/>
                          </a:lnTo>
                          <a:cubicBezTo>
                            <a:pt x="103802" y="55756"/>
                            <a:pt x="97573" y="49527"/>
                            <a:pt x="97573" y="41817"/>
                          </a:cubicBezTo>
                          <a:close/>
                          <a:moveTo>
                            <a:pt x="97573" y="111512"/>
                          </a:moveTo>
                          <a:cubicBezTo>
                            <a:pt x="97573" y="103802"/>
                            <a:pt x="103802" y="97573"/>
                            <a:pt x="111512" y="97573"/>
                          </a:cubicBezTo>
                          <a:lnTo>
                            <a:pt x="209085" y="97573"/>
                          </a:lnTo>
                          <a:cubicBezTo>
                            <a:pt x="216795" y="97573"/>
                            <a:pt x="223024" y="103802"/>
                            <a:pt x="223024" y="111512"/>
                          </a:cubicBezTo>
                          <a:cubicBezTo>
                            <a:pt x="223024" y="119222"/>
                            <a:pt x="216795" y="125451"/>
                            <a:pt x="209085" y="125451"/>
                          </a:cubicBezTo>
                          <a:lnTo>
                            <a:pt x="111512" y="125451"/>
                          </a:lnTo>
                          <a:cubicBezTo>
                            <a:pt x="103802" y="125451"/>
                            <a:pt x="97573" y="119222"/>
                            <a:pt x="97573" y="111512"/>
                          </a:cubicBezTo>
                          <a:close/>
                          <a:moveTo>
                            <a:pt x="69695" y="181207"/>
                          </a:moveTo>
                          <a:cubicBezTo>
                            <a:pt x="69695" y="173497"/>
                            <a:pt x="75924" y="167268"/>
                            <a:pt x="83634" y="167268"/>
                          </a:cubicBezTo>
                          <a:lnTo>
                            <a:pt x="209085" y="167268"/>
                          </a:lnTo>
                          <a:cubicBezTo>
                            <a:pt x="216795" y="167268"/>
                            <a:pt x="223024" y="173497"/>
                            <a:pt x="223024" y="181207"/>
                          </a:cubicBezTo>
                          <a:cubicBezTo>
                            <a:pt x="223024" y="188917"/>
                            <a:pt x="216795" y="195146"/>
                            <a:pt x="209085" y="195146"/>
                          </a:cubicBezTo>
                          <a:lnTo>
                            <a:pt x="83634" y="195146"/>
                          </a:lnTo>
                          <a:cubicBezTo>
                            <a:pt x="75924" y="195146"/>
                            <a:pt x="69695" y="188917"/>
                            <a:pt x="69695" y="181207"/>
                          </a:cubicBezTo>
                          <a:close/>
                          <a:moveTo>
                            <a:pt x="27878" y="163784"/>
                          </a:moveTo>
                          <a:cubicBezTo>
                            <a:pt x="37494" y="163784"/>
                            <a:pt x="45302" y="171591"/>
                            <a:pt x="45302" y="181207"/>
                          </a:cubicBezTo>
                          <a:cubicBezTo>
                            <a:pt x="45302" y="190824"/>
                            <a:pt x="37494" y="198631"/>
                            <a:pt x="27878" y="198631"/>
                          </a:cubicBezTo>
                          <a:cubicBezTo>
                            <a:pt x="18262" y="198631"/>
                            <a:pt x="10454" y="190824"/>
                            <a:pt x="10454" y="181207"/>
                          </a:cubicBezTo>
                          <a:cubicBezTo>
                            <a:pt x="10454" y="171591"/>
                            <a:pt x="18262" y="163784"/>
                            <a:pt x="27878" y="163784"/>
                          </a:cubicBezTo>
                          <a:close/>
                        </a:path>
                      </a:pathLst>
                    </a:custGeom>
                    <a:solidFill>
                      <a:srgbClr val="C4A87A"/>
                    </a:solidFill>
                  </p:spPr>
                </p:sp>
                <p:sp>
                  <p:nvSpPr>
                    <p:cNvPr id="20" name="Text 18"/>
                    <p:cNvSpPr/>
                    <p:nvPr/>
                  </p:nvSpPr>
                  <p:spPr>
                    <a:xfrm>
                      <a:off x="10624" y="2224"/>
                      <a:ext cx="7815" cy="4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b="1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期望清单内容</a:t>
                      </a:r>
                      <a:endParaRPr lang="en-US" dirty="0"/>
                    </a:p>
                  </p:txBody>
                </p:sp>
                <p:sp>
                  <p:nvSpPr>
                    <p:cNvPr id="21" name="Text 19"/>
                    <p:cNvSpPr/>
                    <p:nvPr/>
                  </p:nvSpPr>
                  <p:spPr>
                    <a:xfrm>
                      <a:off x="10185" y="2927"/>
                      <a:ext cx="8195" cy="35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dirty="0">
                          <a:solidFill>
                            <a:srgbClr val="5D7A9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在新生入组或开启新课题之前，师生之间应该明确：</a:t>
                      </a:r>
                      <a:endParaRPr lang="en-US" sz="1600" dirty="0"/>
                    </a:p>
                  </p:txBody>
                </p:sp>
                <p:sp>
                  <p:nvSpPr>
                    <p:cNvPr id="22" name="Shape 20"/>
                    <p:cNvSpPr/>
                    <p:nvPr/>
                  </p:nvSpPr>
                  <p:spPr>
                    <a:xfrm>
                      <a:off x="10185" y="3512"/>
                      <a:ext cx="8078" cy="12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29561" h="817756">
                          <a:moveTo>
                            <a:pt x="74342" y="0"/>
                          </a:moveTo>
                          <a:lnTo>
                            <a:pt x="5055219" y="0"/>
                          </a:lnTo>
                          <a:cubicBezTo>
                            <a:pt x="5096277" y="0"/>
                            <a:pt x="5129561" y="33284"/>
                            <a:pt x="5129561" y="74342"/>
                          </a:cubicBezTo>
                          <a:lnTo>
                            <a:pt x="5129561" y="743414"/>
                          </a:lnTo>
                          <a:cubicBezTo>
                            <a:pt x="5129561" y="784472"/>
                            <a:pt x="5096277" y="817756"/>
                            <a:pt x="5055219" y="817756"/>
                          </a:cubicBezTo>
                          <a:lnTo>
                            <a:pt x="74342" y="817756"/>
                          </a:lnTo>
                          <a:cubicBezTo>
                            <a:pt x="33284" y="817756"/>
                            <a:pt x="0" y="784472"/>
                            <a:pt x="0" y="743414"/>
                          </a:cubicBezTo>
                          <a:lnTo>
                            <a:pt x="0" y="74342"/>
                          </a:lnTo>
                          <a:cubicBezTo>
                            <a:pt x="0" y="33312"/>
                            <a:pt x="33312" y="0"/>
                            <a:pt x="74342" y="0"/>
                          </a:cubicBezTo>
                          <a:close/>
                        </a:path>
                      </a:pathLst>
                    </a:custGeom>
                    <a:solidFill>
                      <a:srgbClr val="F8F9FA"/>
                    </a:solidFill>
                  </p:spPr>
                </p:sp>
                <p:sp>
                  <p:nvSpPr>
                    <p:cNvPr id="24" name="Text 22"/>
                    <p:cNvSpPr/>
                    <p:nvPr/>
                  </p:nvSpPr>
                  <p:spPr>
                    <a:xfrm>
                      <a:off x="10346" y="3746"/>
                      <a:ext cx="849" cy="7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65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sz="1600" dirty="0"/>
                    </a:p>
                  </p:txBody>
                </p:sp>
                <p:sp>
                  <p:nvSpPr>
                    <p:cNvPr id="25" name="Text 23"/>
                    <p:cNvSpPr/>
                    <p:nvPr/>
                  </p:nvSpPr>
                  <p:spPr>
                    <a:xfrm>
                      <a:off x="11356" y="3746"/>
                      <a:ext cx="5049" cy="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b="1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数据归属与使用规则</a:t>
                      </a:r>
                      <a:endParaRPr lang="en-US" sz="1600" dirty="0"/>
                    </a:p>
                  </p:txBody>
                </p:sp>
                <p:sp>
                  <p:nvSpPr>
                    <p:cNvPr id="26" name="Text 24"/>
                    <p:cNvSpPr/>
                    <p:nvPr/>
                  </p:nvSpPr>
                  <p:spPr>
                    <a:xfrm>
                      <a:off x="11356" y="4272"/>
                      <a:ext cx="6126" cy="2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明确数据所有权、使用权限、离校后的发表规范</a:t>
                      </a:r>
                      <a:endParaRPr lang="en-US" sz="1400" dirty="0"/>
                    </a:p>
                  </p:txBody>
                </p:sp>
                <p:sp>
                  <p:nvSpPr>
                    <p:cNvPr id="27" name="Shape 25"/>
                    <p:cNvSpPr/>
                    <p:nvPr/>
                  </p:nvSpPr>
                  <p:spPr>
                    <a:xfrm>
                      <a:off x="10185" y="5034"/>
                      <a:ext cx="8078" cy="12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29561" h="817756">
                          <a:moveTo>
                            <a:pt x="74342" y="0"/>
                          </a:moveTo>
                          <a:lnTo>
                            <a:pt x="5055219" y="0"/>
                          </a:lnTo>
                          <a:cubicBezTo>
                            <a:pt x="5096277" y="0"/>
                            <a:pt x="5129561" y="33284"/>
                            <a:pt x="5129561" y="74342"/>
                          </a:cubicBezTo>
                          <a:lnTo>
                            <a:pt x="5129561" y="743414"/>
                          </a:lnTo>
                          <a:cubicBezTo>
                            <a:pt x="5129561" y="784472"/>
                            <a:pt x="5096277" y="817756"/>
                            <a:pt x="5055219" y="817756"/>
                          </a:cubicBezTo>
                          <a:lnTo>
                            <a:pt x="74342" y="817756"/>
                          </a:lnTo>
                          <a:cubicBezTo>
                            <a:pt x="33284" y="817756"/>
                            <a:pt x="0" y="784472"/>
                            <a:pt x="0" y="743414"/>
                          </a:cubicBezTo>
                          <a:lnTo>
                            <a:pt x="0" y="74342"/>
                          </a:lnTo>
                          <a:cubicBezTo>
                            <a:pt x="0" y="33312"/>
                            <a:pt x="33312" y="0"/>
                            <a:pt x="74342" y="0"/>
                          </a:cubicBezTo>
                          <a:close/>
                        </a:path>
                      </a:pathLst>
                    </a:custGeom>
                    <a:solidFill>
                      <a:srgbClr val="F8F9FA"/>
                    </a:solidFill>
                  </p:spPr>
                </p:sp>
                <p:sp>
                  <p:nvSpPr>
                    <p:cNvPr id="28" name="Shape 26"/>
                    <p:cNvSpPr/>
                    <p:nvPr/>
                  </p:nvSpPr>
                  <p:spPr>
                    <a:xfrm>
                      <a:off x="10393" y="5382"/>
                      <a:ext cx="702" cy="7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6049" h="446049">
                          <a:moveTo>
                            <a:pt x="223024" y="0"/>
                          </a:moveTo>
                          <a:lnTo>
                            <a:pt x="223024" y="0"/>
                          </a:lnTo>
                          <a:cubicBezTo>
                            <a:pt x="346197" y="0"/>
                            <a:pt x="446049" y="99851"/>
                            <a:pt x="446049" y="223024"/>
                          </a:cubicBezTo>
                          <a:lnTo>
                            <a:pt x="446049" y="223024"/>
                          </a:lnTo>
                          <a:cubicBezTo>
                            <a:pt x="446049" y="346197"/>
                            <a:pt x="346197" y="446049"/>
                            <a:pt x="223024" y="446049"/>
                          </a:cubicBezTo>
                          <a:lnTo>
                            <a:pt x="223024" y="446049"/>
                          </a:lnTo>
                          <a:cubicBezTo>
                            <a:pt x="99851" y="446049"/>
                            <a:pt x="0" y="346197"/>
                            <a:pt x="0" y="223024"/>
                          </a:cubicBezTo>
                          <a:lnTo>
                            <a:pt x="0" y="223024"/>
                          </a:lnTo>
                          <a:cubicBezTo>
                            <a:pt x="0" y="99851"/>
                            <a:pt x="99851" y="0"/>
                            <a:pt x="223024" y="0"/>
                          </a:cubicBezTo>
                          <a:close/>
                        </a:path>
                      </a:pathLst>
                    </a:custGeom>
                    <a:solidFill>
                      <a:srgbClr val="1A3A5C"/>
                    </a:solidFill>
                  </p:spPr>
                </p:sp>
                <p:sp>
                  <p:nvSpPr>
                    <p:cNvPr id="30" name="Text 28"/>
                    <p:cNvSpPr/>
                    <p:nvPr/>
                  </p:nvSpPr>
                  <p:spPr>
                    <a:xfrm>
                      <a:off x="11356" y="5268"/>
                      <a:ext cx="4346" cy="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b="1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论文署名顺序的评判标准</a:t>
                      </a:r>
                      <a:endParaRPr lang="en-US" sz="1600" dirty="0"/>
                    </a:p>
                  </p:txBody>
                </p:sp>
                <p:sp>
                  <p:nvSpPr>
                    <p:cNvPr id="31" name="Text 29"/>
                    <p:cNvSpPr/>
                    <p:nvPr/>
                  </p:nvSpPr>
                  <p:spPr>
                    <a:xfrm>
                      <a:off x="11356" y="5730"/>
                      <a:ext cx="5571" cy="3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根据贡献度确定署名规则，避免后续纠纷</a:t>
                      </a:r>
                      <a:endParaRPr lang="en-US" sz="1400" dirty="0"/>
                    </a:p>
                  </p:txBody>
                </p:sp>
                <p:sp>
                  <p:nvSpPr>
                    <p:cNvPr id="33" name="Shape 31"/>
                    <p:cNvSpPr/>
                    <p:nvPr/>
                  </p:nvSpPr>
                  <p:spPr>
                    <a:xfrm>
                      <a:off x="10393" y="6966"/>
                      <a:ext cx="702" cy="7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6049" h="446049">
                          <a:moveTo>
                            <a:pt x="223024" y="0"/>
                          </a:moveTo>
                          <a:lnTo>
                            <a:pt x="223024" y="0"/>
                          </a:lnTo>
                          <a:cubicBezTo>
                            <a:pt x="346197" y="0"/>
                            <a:pt x="446049" y="99851"/>
                            <a:pt x="446049" y="223024"/>
                          </a:cubicBezTo>
                          <a:lnTo>
                            <a:pt x="446049" y="223024"/>
                          </a:lnTo>
                          <a:cubicBezTo>
                            <a:pt x="446049" y="346197"/>
                            <a:pt x="346197" y="446049"/>
                            <a:pt x="223024" y="446049"/>
                          </a:cubicBezTo>
                          <a:lnTo>
                            <a:pt x="223024" y="446049"/>
                          </a:lnTo>
                          <a:cubicBezTo>
                            <a:pt x="99851" y="446049"/>
                            <a:pt x="0" y="346197"/>
                            <a:pt x="0" y="223024"/>
                          </a:cubicBezTo>
                          <a:lnTo>
                            <a:pt x="0" y="223024"/>
                          </a:lnTo>
                          <a:cubicBezTo>
                            <a:pt x="0" y="99851"/>
                            <a:pt x="99851" y="0"/>
                            <a:pt x="223024" y="0"/>
                          </a:cubicBezTo>
                          <a:close/>
                        </a:path>
                      </a:pathLst>
                    </a:custGeom>
                    <a:solidFill>
                      <a:srgbClr val="1A3A5C"/>
                    </a:solidFill>
                  </p:spPr>
                </p:sp>
                <p:sp>
                  <p:nvSpPr>
                    <p:cNvPr id="35" name="Text 33"/>
                    <p:cNvSpPr/>
                    <p:nvPr/>
                  </p:nvSpPr>
                  <p:spPr>
                    <a:xfrm>
                      <a:off x="11356" y="6790"/>
                      <a:ext cx="4112" cy="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b="1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导学的沟通频率与反馈机制</a:t>
                      </a:r>
                      <a:endParaRPr lang="en-US" sz="1600" dirty="0"/>
                    </a:p>
                  </p:txBody>
                </p:sp>
                <p:sp>
                  <p:nvSpPr>
                    <p:cNvPr id="36" name="Text 34"/>
                    <p:cNvSpPr/>
                    <p:nvPr/>
                  </p:nvSpPr>
                  <p:spPr>
                    <a:xfrm>
                      <a:off x="11356" y="7258"/>
                      <a:ext cx="5028" cy="2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约定组会频率、汇报方式、反馈时限等</a:t>
                      </a:r>
                      <a:endParaRPr lang="en-US" sz="1400" dirty="0"/>
                    </a:p>
                  </p:txBody>
                </p:sp>
                <p:sp>
                  <p:nvSpPr>
                    <p:cNvPr id="37" name="Shape 35"/>
                    <p:cNvSpPr/>
                    <p:nvPr/>
                  </p:nvSpPr>
                  <p:spPr>
                    <a:xfrm>
                      <a:off x="10185" y="8078"/>
                      <a:ext cx="8078" cy="12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29561" h="817756">
                          <a:moveTo>
                            <a:pt x="74342" y="0"/>
                          </a:moveTo>
                          <a:lnTo>
                            <a:pt x="5055219" y="0"/>
                          </a:lnTo>
                          <a:cubicBezTo>
                            <a:pt x="5096277" y="0"/>
                            <a:pt x="5129561" y="33284"/>
                            <a:pt x="5129561" y="74342"/>
                          </a:cubicBezTo>
                          <a:lnTo>
                            <a:pt x="5129561" y="743414"/>
                          </a:lnTo>
                          <a:cubicBezTo>
                            <a:pt x="5129561" y="784472"/>
                            <a:pt x="5096277" y="817756"/>
                            <a:pt x="5055219" y="817756"/>
                          </a:cubicBezTo>
                          <a:lnTo>
                            <a:pt x="74342" y="817756"/>
                          </a:lnTo>
                          <a:cubicBezTo>
                            <a:pt x="33284" y="817756"/>
                            <a:pt x="0" y="784472"/>
                            <a:pt x="0" y="743414"/>
                          </a:cubicBezTo>
                          <a:lnTo>
                            <a:pt x="0" y="74342"/>
                          </a:lnTo>
                          <a:cubicBezTo>
                            <a:pt x="0" y="33312"/>
                            <a:pt x="33312" y="0"/>
                            <a:pt x="74342" y="0"/>
                          </a:cubicBezTo>
                          <a:close/>
                        </a:path>
                      </a:pathLst>
                    </a:custGeom>
                    <a:solidFill>
                      <a:srgbClr val="F8F9FA"/>
                    </a:solidFill>
                  </p:spPr>
                </p:sp>
                <p:sp>
                  <p:nvSpPr>
                    <p:cNvPr id="39" name="Text 37"/>
                    <p:cNvSpPr/>
                    <p:nvPr/>
                  </p:nvSpPr>
                  <p:spPr>
                    <a:xfrm>
                      <a:off x="10346" y="8312"/>
                      <a:ext cx="849" cy="7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65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sz="1600" dirty="0"/>
                    </a:p>
                  </p:txBody>
                </p:sp>
                <p:sp>
                  <p:nvSpPr>
                    <p:cNvPr id="40" name="Text 38"/>
                    <p:cNvSpPr/>
                    <p:nvPr/>
                  </p:nvSpPr>
                  <p:spPr>
                    <a:xfrm>
                      <a:off x="11356" y="8312"/>
                      <a:ext cx="4580" cy="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b="1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工作时间的界限</a:t>
                      </a:r>
                      <a:endParaRPr lang="en-US" sz="1600" dirty="0"/>
                    </a:p>
                  </p:txBody>
                </p:sp>
                <p:sp>
                  <p:nvSpPr>
                    <p:cNvPr id="41" name="Text 39"/>
                    <p:cNvSpPr/>
                    <p:nvPr/>
                  </p:nvSpPr>
                  <p:spPr>
                    <a:xfrm>
                      <a:off x="11356" y="8705"/>
                      <a:ext cx="5534" cy="4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400" dirty="0">
                          <a:solidFill>
                            <a:srgbClr val="2125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明确工作时长、假期安排等，防止过度压榨</a:t>
                      </a:r>
                      <a:endParaRPr lang="en-US" sz="1400" dirty="0"/>
                    </a:p>
                  </p:txBody>
                </p:sp>
                <p:sp>
                  <p:nvSpPr>
                    <p:cNvPr id="42" name="Shape 40"/>
                    <p:cNvSpPr/>
                    <p:nvPr/>
                  </p:nvSpPr>
                  <p:spPr>
                    <a:xfrm>
                      <a:off x="10172" y="9482"/>
                      <a:ext cx="8060" cy="8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18410" h="527824">
                          <a:moveTo>
                            <a:pt x="74344" y="0"/>
                          </a:moveTo>
                          <a:lnTo>
                            <a:pt x="5044066" y="0"/>
                          </a:lnTo>
                          <a:cubicBezTo>
                            <a:pt x="5085125" y="0"/>
                            <a:pt x="5118410" y="33285"/>
                            <a:pt x="5118410" y="74344"/>
                          </a:cubicBezTo>
                          <a:lnTo>
                            <a:pt x="5118410" y="453480"/>
                          </a:lnTo>
                          <a:cubicBezTo>
                            <a:pt x="5118410" y="494539"/>
                            <a:pt x="5085125" y="527824"/>
                            <a:pt x="5044066" y="527824"/>
                          </a:cubicBezTo>
                          <a:lnTo>
                            <a:pt x="74344" y="527824"/>
                          </a:lnTo>
                          <a:cubicBezTo>
                            <a:pt x="33285" y="527824"/>
                            <a:pt x="0" y="494539"/>
                            <a:pt x="0" y="453480"/>
                          </a:cubicBezTo>
                          <a:lnTo>
                            <a:pt x="0" y="74344"/>
                          </a:lnTo>
                          <a:cubicBezTo>
                            <a:pt x="0" y="33312"/>
                            <a:pt x="33312" y="0"/>
                            <a:pt x="74344" y="0"/>
                          </a:cubicBezTo>
                          <a:close/>
                        </a:path>
                      </a:pathLst>
                    </a:custGeom>
                    <a:solidFill>
                      <a:srgbClr val="C4A87A">
                        <a:alpha val="10196"/>
                      </a:srgbClr>
                    </a:solidFill>
                    <a:ln w="10160">
                      <a:solidFill>
                        <a:srgbClr val="C4A87A">
                          <a:alpha val="30196"/>
                        </a:srgbClr>
                      </a:solidFill>
                      <a:prstDash val="solid"/>
                    </a:ln>
                  </p:spPr>
                </p:sp>
                <p:sp>
                  <p:nvSpPr>
                    <p:cNvPr id="43" name="Shape 41"/>
                    <p:cNvSpPr/>
                    <p:nvPr/>
                  </p:nvSpPr>
                  <p:spPr>
                    <a:xfrm>
                      <a:off x="10504" y="9783"/>
                      <a:ext cx="220" cy="2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9390" h="185854">
                          <a:moveTo>
                            <a:pt x="106321" y="139390"/>
                          </a:moveTo>
                          <a:cubicBezTo>
                            <a:pt x="108971" y="131295"/>
                            <a:pt x="114271" y="123963"/>
                            <a:pt x="120260" y="117647"/>
                          </a:cubicBezTo>
                          <a:cubicBezTo>
                            <a:pt x="132130" y="105160"/>
                            <a:pt x="139390" y="88280"/>
                            <a:pt x="139390" y="69695"/>
                          </a:cubicBezTo>
                          <a:cubicBezTo>
                            <a:pt x="139390" y="31218"/>
                            <a:pt x="108173" y="0"/>
                            <a:pt x="69695" y="0"/>
                          </a:cubicBezTo>
                          <a:cubicBezTo>
                            <a:pt x="31218" y="0"/>
                            <a:pt x="0" y="31218"/>
                            <a:pt x="0" y="69695"/>
                          </a:cubicBezTo>
                          <a:cubicBezTo>
                            <a:pt x="0" y="88280"/>
                            <a:pt x="7260" y="105160"/>
                            <a:pt x="19130" y="117647"/>
                          </a:cubicBezTo>
                          <a:cubicBezTo>
                            <a:pt x="25119" y="123963"/>
                            <a:pt x="30455" y="131295"/>
                            <a:pt x="33069" y="139390"/>
                          </a:cubicBezTo>
                          <a:lnTo>
                            <a:pt x="106285" y="139390"/>
                          </a:lnTo>
                          <a:close/>
                          <a:moveTo>
                            <a:pt x="104543" y="156814"/>
                          </a:moveTo>
                          <a:lnTo>
                            <a:pt x="34848" y="156814"/>
                          </a:lnTo>
                          <a:lnTo>
                            <a:pt x="34848" y="162622"/>
                          </a:lnTo>
                          <a:cubicBezTo>
                            <a:pt x="34848" y="178666"/>
                            <a:pt x="47843" y="191662"/>
                            <a:pt x="63887" y="191662"/>
                          </a:cubicBezTo>
                          <a:lnTo>
                            <a:pt x="75503" y="191662"/>
                          </a:lnTo>
                          <a:cubicBezTo>
                            <a:pt x="91547" y="191662"/>
                            <a:pt x="104543" y="178666"/>
                            <a:pt x="104543" y="162622"/>
                          </a:cubicBezTo>
                          <a:lnTo>
                            <a:pt x="104543" y="156814"/>
                          </a:lnTo>
                          <a:close/>
                          <a:moveTo>
                            <a:pt x="66791" y="40655"/>
                          </a:moveTo>
                          <a:cubicBezTo>
                            <a:pt x="52344" y="40655"/>
                            <a:pt x="40655" y="52344"/>
                            <a:pt x="40655" y="66791"/>
                          </a:cubicBezTo>
                          <a:cubicBezTo>
                            <a:pt x="40655" y="71619"/>
                            <a:pt x="36771" y="75503"/>
                            <a:pt x="31944" y="75503"/>
                          </a:cubicBezTo>
                          <a:cubicBezTo>
                            <a:pt x="27116" y="75503"/>
                            <a:pt x="23232" y="71619"/>
                            <a:pt x="23232" y="66791"/>
                          </a:cubicBezTo>
                          <a:cubicBezTo>
                            <a:pt x="23232" y="42725"/>
                            <a:pt x="42725" y="23232"/>
                            <a:pt x="66791" y="23232"/>
                          </a:cubicBezTo>
                          <a:cubicBezTo>
                            <a:pt x="71619" y="23232"/>
                            <a:pt x="75503" y="27116"/>
                            <a:pt x="75503" y="31944"/>
                          </a:cubicBezTo>
                          <a:cubicBezTo>
                            <a:pt x="75503" y="36771"/>
                            <a:pt x="71619" y="40655"/>
                            <a:pt x="66791" y="40655"/>
                          </a:cubicBezTo>
                          <a:close/>
                        </a:path>
                      </a:pathLst>
                    </a:custGeom>
                    <a:solidFill>
                      <a:srgbClr val="C4A87A"/>
                    </a:solidFill>
                  </p:spPr>
                </p:sp>
                <p:sp>
                  <p:nvSpPr>
                    <p:cNvPr id="44" name="Text 42"/>
                    <p:cNvSpPr/>
                    <p:nvPr/>
                  </p:nvSpPr>
                  <p:spPr>
                    <a:xfrm>
                      <a:off x="10797" y="9717"/>
                      <a:ext cx="7332" cy="35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600" b="1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关键原则：</a:t>
                      </a:r>
                      <a:r>
                        <a:rPr lang="en-US" sz="1600" dirty="0">
                          <a:solidFill>
                            <a:srgbClr val="1A3A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不要靠猜，要前置透明沟通</a:t>
                      </a:r>
                      <a:endParaRPr lang="en-US" sz="1600" dirty="0"/>
                    </a:p>
                  </p:txBody>
                </p:sp>
              </p:grpSp>
            </p:grpSp>
            <p:sp>
              <p:nvSpPr>
                <p:cNvPr id="34" name="Text 32"/>
                <p:cNvSpPr/>
                <p:nvPr/>
              </p:nvSpPr>
              <p:spPr>
                <a:xfrm>
                  <a:off x="10319" y="6848"/>
                  <a:ext cx="849" cy="7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1465" b="1" dirty="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3</a:t>
                  </a:r>
                  <a:endParaRPr lang="en-US" sz="1600" dirty="0"/>
                </a:p>
              </p:txBody>
            </p:sp>
          </p:grpSp>
        </p:grp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0" y="2081530"/>
            <a:ext cx="4653915" cy="3102610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6584640" y="2383192"/>
            <a:ext cx="446049" cy="446049"/>
          </a:xfrm>
          <a:custGeom>
            <a:avLst/>
            <a:gdLst/>
            <a:ahLst/>
            <a:cxnLst/>
            <a:rect l="l" t="t" r="r" b="b"/>
            <a:pathLst>
              <a:path w="446049" h="446049">
                <a:moveTo>
                  <a:pt x="223024" y="0"/>
                </a:moveTo>
                <a:lnTo>
                  <a:pt x="223024" y="0"/>
                </a:lnTo>
                <a:cubicBezTo>
                  <a:pt x="346197" y="0"/>
                  <a:pt x="446049" y="99851"/>
                  <a:pt x="446049" y="223024"/>
                </a:cubicBezTo>
                <a:lnTo>
                  <a:pt x="446049" y="223024"/>
                </a:lnTo>
                <a:cubicBezTo>
                  <a:pt x="446049" y="346197"/>
                  <a:pt x="346197" y="446049"/>
                  <a:pt x="223024" y="446049"/>
                </a:cubicBezTo>
                <a:lnTo>
                  <a:pt x="223024" y="446049"/>
                </a:lnTo>
                <a:cubicBezTo>
                  <a:pt x="99851" y="446049"/>
                  <a:pt x="0" y="346197"/>
                  <a:pt x="0" y="223024"/>
                </a:cubicBezTo>
                <a:lnTo>
                  <a:pt x="0" y="223024"/>
                </a:lnTo>
                <a:cubicBezTo>
                  <a:pt x="0" y="99851"/>
                  <a:pt x="99851" y="0"/>
                  <a:pt x="223024" y="0"/>
                </a:cubicBezTo>
                <a:close/>
              </a:path>
            </a:pathLst>
          </a:custGeom>
          <a:solidFill>
            <a:srgbClr val="1A3A5C"/>
          </a:solidFill>
        </p:spPr>
        <p:txBody>
          <a:bodyPr/>
          <a:p>
            <a:endParaRPr lang="en-US" altLang="zh-CN"/>
          </a:p>
        </p:txBody>
      </p:sp>
      <p:sp>
        <p:nvSpPr>
          <p:cNvPr id="38" name="Shape 36"/>
          <p:cNvSpPr/>
          <p:nvPr/>
        </p:nvSpPr>
        <p:spPr>
          <a:xfrm>
            <a:off x="6569400" y="5233676"/>
            <a:ext cx="446049" cy="446049"/>
          </a:xfrm>
          <a:custGeom>
            <a:avLst/>
            <a:gdLst/>
            <a:ahLst/>
            <a:cxnLst/>
            <a:rect l="l" t="t" r="r" b="b"/>
            <a:pathLst>
              <a:path w="446049" h="446049">
                <a:moveTo>
                  <a:pt x="223024" y="0"/>
                </a:moveTo>
                <a:lnTo>
                  <a:pt x="223024" y="0"/>
                </a:lnTo>
                <a:cubicBezTo>
                  <a:pt x="346197" y="0"/>
                  <a:pt x="446049" y="99851"/>
                  <a:pt x="446049" y="223024"/>
                </a:cubicBezTo>
                <a:lnTo>
                  <a:pt x="446049" y="223024"/>
                </a:lnTo>
                <a:cubicBezTo>
                  <a:pt x="446049" y="346197"/>
                  <a:pt x="346197" y="446049"/>
                  <a:pt x="223024" y="446049"/>
                </a:cubicBezTo>
                <a:lnTo>
                  <a:pt x="223024" y="446049"/>
                </a:lnTo>
                <a:cubicBezTo>
                  <a:pt x="99851" y="446049"/>
                  <a:pt x="0" y="346197"/>
                  <a:pt x="0" y="223024"/>
                </a:cubicBezTo>
                <a:lnTo>
                  <a:pt x="0" y="223024"/>
                </a:lnTo>
                <a:cubicBezTo>
                  <a:pt x="0" y="99851"/>
                  <a:pt x="99851" y="0"/>
                  <a:pt x="223024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53" name="Text 32"/>
          <p:cNvSpPr/>
          <p:nvPr/>
        </p:nvSpPr>
        <p:spPr>
          <a:xfrm>
            <a:off x="6536055" y="2383155"/>
            <a:ext cx="538976" cy="44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sz="1600" dirty="0"/>
          </a:p>
        </p:txBody>
      </p:sp>
      <p:sp>
        <p:nvSpPr>
          <p:cNvPr id="84" name="Text 32"/>
          <p:cNvSpPr/>
          <p:nvPr/>
        </p:nvSpPr>
        <p:spPr>
          <a:xfrm>
            <a:off x="6517640" y="3325495"/>
            <a:ext cx="538976" cy="44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sz="1600" dirty="0"/>
          </a:p>
        </p:txBody>
      </p:sp>
      <p:sp>
        <p:nvSpPr>
          <p:cNvPr id="85" name="Text 32"/>
          <p:cNvSpPr/>
          <p:nvPr/>
        </p:nvSpPr>
        <p:spPr>
          <a:xfrm>
            <a:off x="6534785" y="5218430"/>
            <a:ext cx="538976" cy="446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406" y="380406"/>
            <a:ext cx="11507270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kern="0" spc="60" dirty="0">
                <a:solidFill>
                  <a:srgbClr val="C4A87A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SELF-PROTECTION</a:t>
            </a: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0406" y="684730"/>
            <a:ext cx="11602371" cy="38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5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学生的"自我修养"与"自我保护"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365" y="1236345"/>
            <a:ext cx="11431270" cy="682625"/>
          </a:xfrm>
          <a:custGeom>
            <a:avLst/>
            <a:gdLst/>
            <a:ahLst/>
            <a:cxnLst/>
            <a:rect l="l" t="t" r="r" b="b"/>
            <a:pathLst>
              <a:path w="11431189" h="1046115">
                <a:moveTo>
                  <a:pt x="38041" y="0"/>
                </a:moveTo>
                <a:lnTo>
                  <a:pt x="11393148" y="0"/>
                </a:lnTo>
                <a:cubicBezTo>
                  <a:pt x="11414157" y="0"/>
                  <a:pt x="11431189" y="17031"/>
                  <a:pt x="11431189" y="38041"/>
                </a:cubicBezTo>
                <a:lnTo>
                  <a:pt x="11431189" y="970031"/>
                </a:lnTo>
                <a:cubicBezTo>
                  <a:pt x="11431189" y="1012051"/>
                  <a:pt x="11397125" y="1046115"/>
                  <a:pt x="11355105" y="1046115"/>
                </a:cubicBezTo>
                <a:lnTo>
                  <a:pt x="76084" y="1046115"/>
                </a:lnTo>
                <a:cubicBezTo>
                  <a:pt x="34092" y="1046115"/>
                  <a:pt x="0" y="1012023"/>
                  <a:pt x="0" y="97003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652" dist="9510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0406" y="1236318"/>
            <a:ext cx="11431189" cy="38041"/>
          </a:xfrm>
          <a:custGeom>
            <a:avLst/>
            <a:gdLst/>
            <a:ahLst/>
            <a:cxnLst/>
            <a:rect l="l" t="t" r="r" b="b"/>
            <a:pathLst>
              <a:path w="11431189" h="38041">
                <a:moveTo>
                  <a:pt x="38041" y="0"/>
                </a:moveTo>
                <a:lnTo>
                  <a:pt x="11393148" y="0"/>
                </a:lnTo>
                <a:cubicBezTo>
                  <a:pt x="11414157" y="0"/>
                  <a:pt x="11431189" y="17031"/>
                  <a:pt x="11431189" y="38041"/>
                </a:cubicBezTo>
                <a:lnTo>
                  <a:pt x="11431189" y="38041"/>
                </a:lnTo>
                <a:lnTo>
                  <a:pt x="0" y="38041"/>
                </a:ln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6" name="Shape 4"/>
          <p:cNvSpPr/>
          <p:nvPr/>
        </p:nvSpPr>
        <p:spPr>
          <a:xfrm>
            <a:off x="599139" y="1483461"/>
            <a:ext cx="228243" cy="228243"/>
          </a:xfrm>
          <a:custGeom>
            <a:avLst/>
            <a:gdLst/>
            <a:ahLst/>
            <a:cxnLst/>
            <a:rect l="l" t="t" r="r" b="b"/>
            <a:pathLst>
              <a:path w="228243" h="228243">
                <a:moveTo>
                  <a:pt x="114122" y="0"/>
                </a:moveTo>
                <a:cubicBezTo>
                  <a:pt x="116172" y="0"/>
                  <a:pt x="118223" y="446"/>
                  <a:pt x="120095" y="1293"/>
                </a:cubicBezTo>
                <a:lnTo>
                  <a:pt x="204082" y="36911"/>
                </a:lnTo>
                <a:cubicBezTo>
                  <a:pt x="213889" y="41057"/>
                  <a:pt x="221200" y="50731"/>
                  <a:pt x="221155" y="62410"/>
                </a:cubicBezTo>
                <a:cubicBezTo>
                  <a:pt x="220932" y="106632"/>
                  <a:pt x="202744" y="187543"/>
                  <a:pt x="125935" y="224320"/>
                </a:cubicBezTo>
                <a:cubicBezTo>
                  <a:pt x="118490" y="227887"/>
                  <a:pt x="109842" y="227887"/>
                  <a:pt x="102397" y="224320"/>
                </a:cubicBezTo>
                <a:cubicBezTo>
                  <a:pt x="25544" y="187543"/>
                  <a:pt x="7400" y="106632"/>
                  <a:pt x="7177" y="62410"/>
                </a:cubicBezTo>
                <a:cubicBezTo>
                  <a:pt x="7133" y="50731"/>
                  <a:pt x="14444" y="41057"/>
                  <a:pt x="24251" y="36911"/>
                </a:cubicBezTo>
                <a:lnTo>
                  <a:pt x="108193" y="1293"/>
                </a:lnTo>
                <a:cubicBezTo>
                  <a:pt x="110065" y="446"/>
                  <a:pt x="112071" y="0"/>
                  <a:pt x="114122" y="0"/>
                </a:cubicBezTo>
                <a:close/>
                <a:moveTo>
                  <a:pt x="114122" y="29779"/>
                </a:moveTo>
                <a:lnTo>
                  <a:pt x="114122" y="198331"/>
                </a:lnTo>
                <a:cubicBezTo>
                  <a:pt x="175640" y="168552"/>
                  <a:pt x="192179" y="102576"/>
                  <a:pt x="192580" y="63079"/>
                </a:cubicBezTo>
                <a:lnTo>
                  <a:pt x="114122" y="29823"/>
                </a:lnTo>
                <a:lnTo>
                  <a:pt x="114122" y="29823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7" name="Text 5"/>
          <p:cNvSpPr/>
          <p:nvPr/>
        </p:nvSpPr>
        <p:spPr>
          <a:xfrm>
            <a:off x="932113" y="1442366"/>
            <a:ext cx="10879601" cy="304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5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学术留痕</a:t>
            </a:r>
            <a:r>
              <a:rPr lang="en-US" sz="1795" b="1" dirty="0">
                <a:solidFill>
                  <a:srgbClr val="1A3A5C"/>
                </a:solidFill>
                <a:uFillTx/>
                <a:latin typeface="Times New Roman" panose="02020503050405090304" charset="0"/>
                <a:ea typeface="微软雅黑" panose="020B0503020204020204" charset="-122"/>
                <a:cs typeface="微软雅黑" panose="020B0503020204020204" charset="-122"/>
              </a:rPr>
              <a:t>（Traceability）</a:t>
            </a:r>
            <a:endParaRPr lang="en-US" sz="1795" b="1" dirty="0">
              <a:solidFill>
                <a:srgbClr val="1A3A5C"/>
              </a:solidFill>
              <a:uFillTx/>
              <a:latin typeface="Times New Roman" panose="0202050305040509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5695" y="1442085"/>
            <a:ext cx="2410460" cy="285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关键时刻的</a:t>
            </a:r>
            <a:r>
              <a:rPr lang="en-US" b="1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自我保护伞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71475" y="2131060"/>
            <a:ext cx="11431270" cy="4420235"/>
            <a:chOff x="599" y="3834"/>
            <a:chExt cx="18002" cy="6961"/>
          </a:xfrm>
        </p:grpSpPr>
        <p:sp>
          <p:nvSpPr>
            <p:cNvPr id="9" name="Shape 7"/>
            <p:cNvSpPr/>
            <p:nvPr/>
          </p:nvSpPr>
          <p:spPr>
            <a:xfrm>
              <a:off x="599" y="3834"/>
              <a:ext cx="5796" cy="5826"/>
            </a:xfrm>
            <a:custGeom>
              <a:avLst/>
              <a:gdLst/>
              <a:ahLst/>
              <a:cxnLst/>
              <a:rect l="l" t="t" r="r" b="b"/>
              <a:pathLst>
                <a:path w="3680424" h="3699445">
                  <a:moveTo>
                    <a:pt x="76074" y="0"/>
                  </a:moveTo>
                  <a:lnTo>
                    <a:pt x="3604350" y="0"/>
                  </a:lnTo>
                  <a:cubicBezTo>
                    <a:pt x="3646365" y="0"/>
                    <a:pt x="3680424" y="34060"/>
                    <a:pt x="3680424" y="76074"/>
                  </a:cubicBezTo>
                  <a:lnTo>
                    <a:pt x="3680424" y="3623370"/>
                  </a:lnTo>
                  <a:cubicBezTo>
                    <a:pt x="3680424" y="3665385"/>
                    <a:pt x="3646365" y="3699445"/>
                    <a:pt x="3604350" y="3699445"/>
                  </a:cubicBezTo>
                  <a:lnTo>
                    <a:pt x="76074" y="3699445"/>
                  </a:lnTo>
                  <a:cubicBezTo>
                    <a:pt x="34060" y="3699445"/>
                    <a:pt x="0" y="3665385"/>
                    <a:pt x="0" y="3623370"/>
                  </a:cubicBezTo>
                  <a:lnTo>
                    <a:pt x="0" y="76074"/>
                  </a:lnTo>
                  <a:cubicBezTo>
                    <a:pt x="0" y="34060"/>
                    <a:pt x="34060" y="0"/>
                    <a:pt x="76074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652" dist="95101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020" y="4005"/>
              <a:ext cx="959" cy="959"/>
            </a:xfrm>
            <a:custGeom>
              <a:avLst/>
              <a:gdLst/>
              <a:ahLst/>
              <a:cxnLst/>
              <a:rect l="l" t="t" r="r" b="b"/>
              <a:pathLst>
                <a:path w="608649" h="608649">
                  <a:moveTo>
                    <a:pt x="304324" y="0"/>
                  </a:moveTo>
                  <a:lnTo>
                    <a:pt x="304324" y="0"/>
                  </a:lnTo>
                  <a:cubicBezTo>
                    <a:pt x="472286" y="0"/>
                    <a:pt x="608649" y="136363"/>
                    <a:pt x="608649" y="304324"/>
                  </a:cubicBezTo>
                  <a:lnTo>
                    <a:pt x="608649" y="304324"/>
                  </a:lnTo>
                  <a:cubicBezTo>
                    <a:pt x="608649" y="472286"/>
                    <a:pt x="472286" y="608649"/>
                    <a:pt x="304324" y="608649"/>
                  </a:cubicBezTo>
                  <a:lnTo>
                    <a:pt x="304324" y="608649"/>
                  </a:lnTo>
                  <a:cubicBezTo>
                    <a:pt x="136363" y="608649"/>
                    <a:pt x="0" y="472286"/>
                    <a:pt x="0" y="304324"/>
                  </a:cubicBezTo>
                  <a:lnTo>
                    <a:pt x="0" y="304324"/>
                  </a:lnTo>
                  <a:cubicBezTo>
                    <a:pt x="0" y="136363"/>
                    <a:pt x="136363" y="0"/>
                    <a:pt x="304324" y="0"/>
                  </a:cubicBezTo>
                  <a:close/>
                </a:path>
              </a:pathLst>
            </a:custGeom>
            <a:solidFill>
              <a:srgbClr val="1A3A5C">
                <a:alpha val="1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3306" y="4260"/>
              <a:ext cx="393" cy="449"/>
            </a:xfrm>
            <a:custGeom>
              <a:avLst/>
              <a:gdLst/>
              <a:ahLst/>
              <a:cxnLst/>
              <a:rect l="l" t="t" r="r" b="b"/>
              <a:pathLst>
                <a:path w="249641" h="285304">
                  <a:moveTo>
                    <a:pt x="213978" y="285304"/>
                  </a:moveTo>
                  <a:lnTo>
                    <a:pt x="53495" y="285304"/>
                  </a:lnTo>
                  <a:cubicBezTo>
                    <a:pt x="23961" y="285304"/>
                    <a:pt x="0" y="261343"/>
                    <a:pt x="0" y="231810"/>
                  </a:cubicBezTo>
                  <a:lnTo>
                    <a:pt x="0" y="53495"/>
                  </a:lnTo>
                  <a:cubicBezTo>
                    <a:pt x="0" y="23961"/>
                    <a:pt x="23961" y="0"/>
                    <a:pt x="53495" y="0"/>
                  </a:cubicBezTo>
                  <a:lnTo>
                    <a:pt x="222894" y="0"/>
                  </a:lnTo>
                  <a:cubicBezTo>
                    <a:pt x="237661" y="0"/>
                    <a:pt x="249641" y="11981"/>
                    <a:pt x="249641" y="26747"/>
                  </a:cubicBezTo>
                  <a:lnTo>
                    <a:pt x="249641" y="187231"/>
                  </a:lnTo>
                  <a:cubicBezTo>
                    <a:pt x="249641" y="198877"/>
                    <a:pt x="242174" y="208796"/>
                    <a:pt x="231810" y="212474"/>
                  </a:cubicBezTo>
                  <a:lnTo>
                    <a:pt x="231810" y="249641"/>
                  </a:lnTo>
                  <a:cubicBezTo>
                    <a:pt x="241673" y="249641"/>
                    <a:pt x="249641" y="257610"/>
                    <a:pt x="249641" y="267473"/>
                  </a:cubicBezTo>
                  <a:cubicBezTo>
                    <a:pt x="249641" y="277336"/>
                    <a:pt x="241673" y="285304"/>
                    <a:pt x="231810" y="285304"/>
                  </a:cubicBezTo>
                  <a:lnTo>
                    <a:pt x="213978" y="285304"/>
                  </a:lnTo>
                  <a:close/>
                  <a:moveTo>
                    <a:pt x="53495" y="213978"/>
                  </a:moveTo>
                  <a:cubicBezTo>
                    <a:pt x="43631" y="213978"/>
                    <a:pt x="35663" y="221947"/>
                    <a:pt x="35663" y="231810"/>
                  </a:cubicBezTo>
                  <a:cubicBezTo>
                    <a:pt x="35663" y="241673"/>
                    <a:pt x="43631" y="249641"/>
                    <a:pt x="53495" y="249641"/>
                  </a:cubicBezTo>
                  <a:lnTo>
                    <a:pt x="196147" y="249641"/>
                  </a:lnTo>
                  <a:lnTo>
                    <a:pt x="196147" y="213978"/>
                  </a:lnTo>
                  <a:lnTo>
                    <a:pt x="53495" y="213978"/>
                  </a:lnTo>
                  <a:close/>
                  <a:moveTo>
                    <a:pt x="71326" y="84700"/>
                  </a:moveTo>
                  <a:cubicBezTo>
                    <a:pt x="71326" y="92111"/>
                    <a:pt x="77288" y="98073"/>
                    <a:pt x="84700" y="98073"/>
                  </a:cubicBezTo>
                  <a:lnTo>
                    <a:pt x="182773" y="98073"/>
                  </a:lnTo>
                  <a:cubicBezTo>
                    <a:pt x="190184" y="98073"/>
                    <a:pt x="196147" y="92111"/>
                    <a:pt x="196147" y="84700"/>
                  </a:cubicBezTo>
                  <a:cubicBezTo>
                    <a:pt x="196147" y="77288"/>
                    <a:pt x="190184" y="71326"/>
                    <a:pt x="182773" y="71326"/>
                  </a:cubicBezTo>
                  <a:lnTo>
                    <a:pt x="84700" y="71326"/>
                  </a:lnTo>
                  <a:cubicBezTo>
                    <a:pt x="77288" y="71326"/>
                    <a:pt x="71326" y="77288"/>
                    <a:pt x="71326" y="84700"/>
                  </a:cubicBezTo>
                  <a:close/>
                  <a:moveTo>
                    <a:pt x="84700" y="124821"/>
                  </a:moveTo>
                  <a:cubicBezTo>
                    <a:pt x="77288" y="124821"/>
                    <a:pt x="71326" y="130783"/>
                    <a:pt x="71326" y="138194"/>
                  </a:cubicBezTo>
                  <a:cubicBezTo>
                    <a:pt x="71326" y="145605"/>
                    <a:pt x="77288" y="151568"/>
                    <a:pt x="84700" y="151568"/>
                  </a:cubicBezTo>
                  <a:lnTo>
                    <a:pt x="182773" y="151568"/>
                  </a:lnTo>
                  <a:cubicBezTo>
                    <a:pt x="190184" y="151568"/>
                    <a:pt x="196147" y="145605"/>
                    <a:pt x="196147" y="138194"/>
                  </a:cubicBezTo>
                  <a:cubicBezTo>
                    <a:pt x="196147" y="130783"/>
                    <a:pt x="190184" y="124821"/>
                    <a:pt x="182773" y="124821"/>
                  </a:cubicBezTo>
                  <a:lnTo>
                    <a:pt x="84700" y="124821"/>
                  </a:ln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846" y="5092"/>
              <a:ext cx="5347" cy="41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实验留痕</a:t>
              </a:r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468" y="7959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142" h="152162">
                  <a:moveTo>
                    <a:pt x="129219" y="20833"/>
                  </a:moveTo>
                  <a:cubicBezTo>
                    <a:pt x="133469" y="23924"/>
                    <a:pt x="134420" y="29868"/>
                    <a:pt x="131329" y="34118"/>
                  </a:cubicBezTo>
                  <a:lnTo>
                    <a:pt x="55248" y="138729"/>
                  </a:lnTo>
                  <a:cubicBezTo>
                    <a:pt x="53613" y="140988"/>
                    <a:pt x="51087" y="142385"/>
                    <a:pt x="48294" y="142622"/>
                  </a:cubicBezTo>
                  <a:cubicBezTo>
                    <a:pt x="45500" y="142860"/>
                    <a:pt x="42796" y="141820"/>
                    <a:pt x="40834" y="139859"/>
                  </a:cubicBezTo>
                  <a:lnTo>
                    <a:pt x="2794" y="101818"/>
                  </a:lnTo>
                  <a:cubicBezTo>
                    <a:pt x="-921" y="98103"/>
                    <a:pt x="-921" y="92070"/>
                    <a:pt x="2794" y="88355"/>
                  </a:cubicBezTo>
                  <a:cubicBezTo>
                    <a:pt x="6509" y="84640"/>
                    <a:pt x="12541" y="84640"/>
                    <a:pt x="16256" y="88355"/>
                  </a:cubicBezTo>
                  <a:lnTo>
                    <a:pt x="46421" y="118520"/>
                  </a:lnTo>
                  <a:lnTo>
                    <a:pt x="115964" y="22913"/>
                  </a:lnTo>
                  <a:cubicBezTo>
                    <a:pt x="119055" y="18664"/>
                    <a:pt x="124999" y="17713"/>
                    <a:pt x="129249" y="2080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1961" y="7907"/>
              <a:ext cx="3288" cy="4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规范填写</a:t>
              </a:r>
              <a:r>
                <a:rPr lang="zh-CN" alt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实验记录</a:t>
              </a:r>
              <a:endParaRPr lang="zh-CN" alt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468" y="8446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142" h="152162">
                  <a:moveTo>
                    <a:pt x="129219" y="20833"/>
                  </a:moveTo>
                  <a:cubicBezTo>
                    <a:pt x="133469" y="23924"/>
                    <a:pt x="134420" y="29868"/>
                    <a:pt x="131329" y="34118"/>
                  </a:cubicBezTo>
                  <a:lnTo>
                    <a:pt x="55248" y="138729"/>
                  </a:lnTo>
                  <a:cubicBezTo>
                    <a:pt x="53613" y="140988"/>
                    <a:pt x="51087" y="142385"/>
                    <a:pt x="48294" y="142622"/>
                  </a:cubicBezTo>
                  <a:cubicBezTo>
                    <a:pt x="45500" y="142860"/>
                    <a:pt x="42796" y="141820"/>
                    <a:pt x="40834" y="139859"/>
                  </a:cubicBezTo>
                  <a:lnTo>
                    <a:pt x="2794" y="101818"/>
                  </a:lnTo>
                  <a:cubicBezTo>
                    <a:pt x="-921" y="98103"/>
                    <a:pt x="-921" y="92070"/>
                    <a:pt x="2794" y="88355"/>
                  </a:cubicBezTo>
                  <a:cubicBezTo>
                    <a:pt x="6509" y="84640"/>
                    <a:pt x="12541" y="84640"/>
                    <a:pt x="16256" y="88355"/>
                  </a:cubicBezTo>
                  <a:lnTo>
                    <a:pt x="46421" y="118520"/>
                  </a:lnTo>
                  <a:lnTo>
                    <a:pt x="115964" y="22913"/>
                  </a:lnTo>
                  <a:cubicBezTo>
                    <a:pt x="119055" y="18664"/>
                    <a:pt x="124999" y="17713"/>
                    <a:pt x="129249" y="2080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1961" y="8387"/>
              <a:ext cx="2606" cy="3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保留所有</a:t>
              </a:r>
              <a:r>
                <a:rPr lang="zh-CN" alt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原始数据</a:t>
              </a:r>
              <a:endParaRPr lang="zh-CN" alt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899" y="8872"/>
              <a:ext cx="5197" cy="12"/>
            </a:xfrm>
            <a:custGeom>
              <a:avLst/>
              <a:gdLst/>
              <a:ahLst/>
              <a:cxnLst/>
              <a:rect l="l" t="t" r="r" b="b"/>
              <a:pathLst>
                <a:path w="3300019" h="7608">
                  <a:moveTo>
                    <a:pt x="0" y="0"/>
                  </a:moveTo>
                  <a:lnTo>
                    <a:pt x="3300019" y="0"/>
                  </a:lnTo>
                  <a:lnTo>
                    <a:pt x="3300019" y="7608"/>
                  </a:lnTo>
                  <a:lnTo>
                    <a:pt x="0" y="7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846" y="9058"/>
              <a:ext cx="5302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5D7A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证明实质性贡献的最硬核证据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698" y="3834"/>
              <a:ext cx="5796" cy="5826"/>
            </a:xfrm>
            <a:custGeom>
              <a:avLst/>
              <a:gdLst/>
              <a:ahLst/>
              <a:cxnLst/>
              <a:rect l="l" t="t" r="r" b="b"/>
              <a:pathLst>
                <a:path w="3680424" h="3699445">
                  <a:moveTo>
                    <a:pt x="76074" y="0"/>
                  </a:moveTo>
                  <a:lnTo>
                    <a:pt x="3604350" y="0"/>
                  </a:lnTo>
                  <a:cubicBezTo>
                    <a:pt x="3646365" y="0"/>
                    <a:pt x="3680424" y="34060"/>
                    <a:pt x="3680424" y="76074"/>
                  </a:cubicBezTo>
                  <a:lnTo>
                    <a:pt x="3680424" y="3623370"/>
                  </a:lnTo>
                  <a:cubicBezTo>
                    <a:pt x="3680424" y="3665385"/>
                    <a:pt x="3646365" y="3699445"/>
                    <a:pt x="3604350" y="3699445"/>
                  </a:cubicBezTo>
                  <a:lnTo>
                    <a:pt x="76074" y="3699445"/>
                  </a:lnTo>
                  <a:cubicBezTo>
                    <a:pt x="34060" y="3699445"/>
                    <a:pt x="0" y="3665385"/>
                    <a:pt x="0" y="3623370"/>
                  </a:cubicBezTo>
                  <a:lnTo>
                    <a:pt x="0" y="76074"/>
                  </a:lnTo>
                  <a:cubicBezTo>
                    <a:pt x="0" y="34060"/>
                    <a:pt x="34060" y="0"/>
                    <a:pt x="76074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652" dist="95101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9119" y="4005"/>
              <a:ext cx="959" cy="959"/>
            </a:xfrm>
            <a:custGeom>
              <a:avLst/>
              <a:gdLst/>
              <a:ahLst/>
              <a:cxnLst/>
              <a:rect l="l" t="t" r="r" b="b"/>
              <a:pathLst>
                <a:path w="608649" h="608649">
                  <a:moveTo>
                    <a:pt x="304324" y="0"/>
                  </a:moveTo>
                  <a:lnTo>
                    <a:pt x="304324" y="0"/>
                  </a:lnTo>
                  <a:cubicBezTo>
                    <a:pt x="472286" y="0"/>
                    <a:pt x="608649" y="136363"/>
                    <a:pt x="608649" y="304324"/>
                  </a:cubicBezTo>
                  <a:lnTo>
                    <a:pt x="608649" y="304324"/>
                  </a:lnTo>
                  <a:cubicBezTo>
                    <a:pt x="608649" y="472286"/>
                    <a:pt x="472286" y="608649"/>
                    <a:pt x="304324" y="608649"/>
                  </a:cubicBezTo>
                  <a:lnTo>
                    <a:pt x="304324" y="608649"/>
                  </a:lnTo>
                  <a:cubicBezTo>
                    <a:pt x="136363" y="608649"/>
                    <a:pt x="0" y="472286"/>
                    <a:pt x="0" y="304324"/>
                  </a:cubicBezTo>
                  <a:lnTo>
                    <a:pt x="0" y="304324"/>
                  </a:lnTo>
                  <a:cubicBezTo>
                    <a:pt x="0" y="136363"/>
                    <a:pt x="136363" y="0"/>
                    <a:pt x="304324" y="0"/>
                  </a:cubicBezTo>
                  <a:close/>
                </a:path>
              </a:pathLst>
            </a:custGeom>
            <a:solidFill>
              <a:srgbClr val="C4A87A">
                <a:alpha val="10196"/>
              </a:srgbClr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9350" y="4260"/>
              <a:ext cx="505" cy="449"/>
            </a:xfrm>
            <a:custGeom>
              <a:avLst/>
              <a:gdLst/>
              <a:ahLst/>
              <a:cxnLst/>
              <a:rect l="l" t="t" r="r" b="b"/>
              <a:pathLst>
                <a:path w="320967" h="285304">
                  <a:moveTo>
                    <a:pt x="201050" y="669"/>
                  </a:moveTo>
                  <a:cubicBezTo>
                    <a:pt x="191577" y="-2062"/>
                    <a:pt x="181714" y="3455"/>
                    <a:pt x="178984" y="12928"/>
                  </a:cubicBezTo>
                  <a:lnTo>
                    <a:pt x="107658" y="262569"/>
                  </a:lnTo>
                  <a:cubicBezTo>
                    <a:pt x="104927" y="272042"/>
                    <a:pt x="110444" y="281905"/>
                    <a:pt x="119917" y="284636"/>
                  </a:cubicBezTo>
                  <a:cubicBezTo>
                    <a:pt x="129390" y="287366"/>
                    <a:pt x="139253" y="281849"/>
                    <a:pt x="141983" y="272376"/>
                  </a:cubicBezTo>
                  <a:lnTo>
                    <a:pt x="213309" y="22735"/>
                  </a:lnTo>
                  <a:cubicBezTo>
                    <a:pt x="216040" y="13262"/>
                    <a:pt x="210523" y="3399"/>
                    <a:pt x="201050" y="669"/>
                  </a:cubicBezTo>
                  <a:close/>
                  <a:moveTo>
                    <a:pt x="237048" y="76508"/>
                  </a:moveTo>
                  <a:cubicBezTo>
                    <a:pt x="230082" y="83474"/>
                    <a:pt x="230082" y="94786"/>
                    <a:pt x="237048" y="101751"/>
                  </a:cubicBezTo>
                  <a:lnTo>
                    <a:pt x="277949" y="142652"/>
                  </a:lnTo>
                  <a:lnTo>
                    <a:pt x="237048" y="183553"/>
                  </a:lnTo>
                  <a:cubicBezTo>
                    <a:pt x="230082" y="190519"/>
                    <a:pt x="230082" y="201830"/>
                    <a:pt x="237048" y="208796"/>
                  </a:cubicBezTo>
                  <a:cubicBezTo>
                    <a:pt x="244013" y="215761"/>
                    <a:pt x="255325" y="215761"/>
                    <a:pt x="262290" y="208796"/>
                  </a:cubicBezTo>
                  <a:lnTo>
                    <a:pt x="315785" y="155301"/>
                  </a:lnTo>
                  <a:cubicBezTo>
                    <a:pt x="322750" y="148336"/>
                    <a:pt x="322750" y="137024"/>
                    <a:pt x="315785" y="130059"/>
                  </a:cubicBezTo>
                  <a:lnTo>
                    <a:pt x="262290" y="76564"/>
                  </a:lnTo>
                  <a:cubicBezTo>
                    <a:pt x="255325" y="69599"/>
                    <a:pt x="244013" y="69599"/>
                    <a:pt x="237048" y="76564"/>
                  </a:cubicBezTo>
                  <a:close/>
                  <a:moveTo>
                    <a:pt x="83975" y="76508"/>
                  </a:moveTo>
                  <a:cubicBezTo>
                    <a:pt x="77010" y="69543"/>
                    <a:pt x="65698" y="69543"/>
                    <a:pt x="58733" y="76508"/>
                  </a:cubicBezTo>
                  <a:lnTo>
                    <a:pt x="5238" y="130003"/>
                  </a:lnTo>
                  <a:cubicBezTo>
                    <a:pt x="-1727" y="136968"/>
                    <a:pt x="-1727" y="148280"/>
                    <a:pt x="5238" y="155246"/>
                  </a:cubicBezTo>
                  <a:lnTo>
                    <a:pt x="58733" y="208740"/>
                  </a:lnTo>
                  <a:cubicBezTo>
                    <a:pt x="65698" y="215706"/>
                    <a:pt x="77010" y="215706"/>
                    <a:pt x="83975" y="208740"/>
                  </a:cubicBezTo>
                  <a:cubicBezTo>
                    <a:pt x="90941" y="201775"/>
                    <a:pt x="90941" y="190463"/>
                    <a:pt x="83975" y="183497"/>
                  </a:cubicBezTo>
                  <a:lnTo>
                    <a:pt x="43074" y="142652"/>
                  </a:lnTo>
                  <a:lnTo>
                    <a:pt x="83920" y="101751"/>
                  </a:lnTo>
                  <a:cubicBezTo>
                    <a:pt x="90885" y="94786"/>
                    <a:pt x="90885" y="83474"/>
                    <a:pt x="83920" y="76508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6900" y="5092"/>
              <a:ext cx="5347" cy="41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代码留痕</a:t>
              </a:r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7252" y="7959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142" h="152162">
                  <a:moveTo>
                    <a:pt x="129219" y="20833"/>
                  </a:moveTo>
                  <a:cubicBezTo>
                    <a:pt x="133469" y="23924"/>
                    <a:pt x="134420" y="29868"/>
                    <a:pt x="131329" y="34118"/>
                  </a:cubicBezTo>
                  <a:lnTo>
                    <a:pt x="55248" y="138729"/>
                  </a:lnTo>
                  <a:cubicBezTo>
                    <a:pt x="53613" y="140988"/>
                    <a:pt x="51087" y="142385"/>
                    <a:pt x="48294" y="142622"/>
                  </a:cubicBezTo>
                  <a:cubicBezTo>
                    <a:pt x="45500" y="142860"/>
                    <a:pt x="42796" y="141820"/>
                    <a:pt x="40834" y="139859"/>
                  </a:cubicBezTo>
                  <a:lnTo>
                    <a:pt x="2794" y="101818"/>
                  </a:lnTo>
                  <a:cubicBezTo>
                    <a:pt x="-921" y="98103"/>
                    <a:pt x="-921" y="92070"/>
                    <a:pt x="2794" y="88355"/>
                  </a:cubicBezTo>
                  <a:cubicBezTo>
                    <a:pt x="6509" y="84640"/>
                    <a:pt x="12541" y="84640"/>
                    <a:pt x="16256" y="88355"/>
                  </a:cubicBezTo>
                  <a:lnTo>
                    <a:pt x="46421" y="118520"/>
                  </a:lnTo>
                  <a:lnTo>
                    <a:pt x="115964" y="22913"/>
                  </a:lnTo>
                  <a:cubicBezTo>
                    <a:pt x="119055" y="18664"/>
                    <a:pt x="124999" y="17713"/>
                    <a:pt x="129249" y="2080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7967" y="7848"/>
              <a:ext cx="5078" cy="5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</a:t>
              </a:r>
              <a:r>
                <a:rPr lang="zh-CN" alt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Git</a:t>
              </a: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等版本控制工具</a:t>
              </a:r>
              <a:endParaRPr lang="zh-CN" altLang="en-US" sz="1600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7251" y="8446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142" h="152162">
                  <a:moveTo>
                    <a:pt x="129219" y="20833"/>
                  </a:moveTo>
                  <a:cubicBezTo>
                    <a:pt x="133469" y="23924"/>
                    <a:pt x="134420" y="29868"/>
                    <a:pt x="131329" y="34118"/>
                  </a:cubicBezTo>
                  <a:lnTo>
                    <a:pt x="55248" y="138729"/>
                  </a:lnTo>
                  <a:cubicBezTo>
                    <a:pt x="53613" y="140988"/>
                    <a:pt x="51087" y="142385"/>
                    <a:pt x="48294" y="142622"/>
                  </a:cubicBezTo>
                  <a:cubicBezTo>
                    <a:pt x="45500" y="142860"/>
                    <a:pt x="42796" y="141820"/>
                    <a:pt x="40834" y="139859"/>
                  </a:cubicBezTo>
                  <a:lnTo>
                    <a:pt x="2794" y="101818"/>
                  </a:lnTo>
                  <a:cubicBezTo>
                    <a:pt x="-921" y="98103"/>
                    <a:pt x="-921" y="92070"/>
                    <a:pt x="2794" y="88355"/>
                  </a:cubicBezTo>
                  <a:cubicBezTo>
                    <a:pt x="6509" y="84640"/>
                    <a:pt x="12541" y="84640"/>
                    <a:pt x="16256" y="88355"/>
                  </a:cubicBezTo>
                  <a:lnTo>
                    <a:pt x="46421" y="118520"/>
                  </a:lnTo>
                  <a:lnTo>
                    <a:pt x="115964" y="22913"/>
                  </a:lnTo>
                  <a:cubicBezTo>
                    <a:pt x="119055" y="18664"/>
                    <a:pt x="124999" y="17713"/>
                    <a:pt x="129249" y="2080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34" name="Text 32"/>
            <p:cNvSpPr/>
            <p:nvPr/>
          </p:nvSpPr>
          <p:spPr>
            <a:xfrm>
              <a:off x="7967" y="8446"/>
              <a:ext cx="4566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保留每一次</a:t>
              </a:r>
              <a:r>
                <a:rPr lang="zh-CN" alt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Commit记录</a:t>
              </a:r>
              <a:endParaRPr lang="zh-CN" alt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6998" y="8872"/>
              <a:ext cx="5197" cy="12"/>
            </a:xfrm>
            <a:custGeom>
              <a:avLst/>
              <a:gdLst/>
              <a:ahLst/>
              <a:cxnLst/>
              <a:rect l="l" t="t" r="r" b="b"/>
              <a:pathLst>
                <a:path w="3300019" h="7608">
                  <a:moveTo>
                    <a:pt x="0" y="0"/>
                  </a:moveTo>
                  <a:lnTo>
                    <a:pt x="3300019" y="0"/>
                  </a:lnTo>
                  <a:lnTo>
                    <a:pt x="3300019" y="7608"/>
                  </a:lnTo>
                  <a:lnTo>
                    <a:pt x="0" y="7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36" name="Text 34"/>
            <p:cNvSpPr/>
            <p:nvPr/>
          </p:nvSpPr>
          <p:spPr>
            <a:xfrm>
              <a:off x="6945" y="9058"/>
              <a:ext cx="5302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rgbClr val="5D7A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记录代码开发全过程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12798" y="3834"/>
              <a:ext cx="5796" cy="5826"/>
            </a:xfrm>
            <a:custGeom>
              <a:avLst/>
              <a:gdLst/>
              <a:ahLst/>
              <a:cxnLst/>
              <a:rect l="l" t="t" r="r" b="b"/>
              <a:pathLst>
                <a:path w="3680424" h="3699445">
                  <a:moveTo>
                    <a:pt x="76074" y="0"/>
                  </a:moveTo>
                  <a:lnTo>
                    <a:pt x="3604350" y="0"/>
                  </a:lnTo>
                  <a:cubicBezTo>
                    <a:pt x="3646365" y="0"/>
                    <a:pt x="3680424" y="34060"/>
                    <a:pt x="3680424" y="76074"/>
                  </a:cubicBezTo>
                  <a:lnTo>
                    <a:pt x="3680424" y="3623370"/>
                  </a:lnTo>
                  <a:cubicBezTo>
                    <a:pt x="3680424" y="3665385"/>
                    <a:pt x="3646365" y="3699445"/>
                    <a:pt x="3604350" y="3699445"/>
                  </a:cubicBezTo>
                  <a:lnTo>
                    <a:pt x="76074" y="3699445"/>
                  </a:lnTo>
                  <a:cubicBezTo>
                    <a:pt x="34060" y="3699445"/>
                    <a:pt x="0" y="3665385"/>
                    <a:pt x="0" y="3623370"/>
                  </a:cubicBezTo>
                  <a:lnTo>
                    <a:pt x="0" y="76074"/>
                  </a:lnTo>
                  <a:cubicBezTo>
                    <a:pt x="0" y="34060"/>
                    <a:pt x="34060" y="0"/>
                    <a:pt x="76074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142652" dist="95101" dir="5400000" algn="bl" rotWithShape="0">
                <a:srgbClr val="000000">
                  <a:alpha val="10196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15218" y="4005"/>
              <a:ext cx="959" cy="959"/>
            </a:xfrm>
            <a:custGeom>
              <a:avLst/>
              <a:gdLst/>
              <a:ahLst/>
              <a:cxnLst/>
              <a:rect l="l" t="t" r="r" b="b"/>
              <a:pathLst>
                <a:path w="608649" h="608649">
                  <a:moveTo>
                    <a:pt x="304324" y="0"/>
                  </a:moveTo>
                  <a:lnTo>
                    <a:pt x="304324" y="0"/>
                  </a:lnTo>
                  <a:cubicBezTo>
                    <a:pt x="472286" y="0"/>
                    <a:pt x="608649" y="136363"/>
                    <a:pt x="608649" y="304324"/>
                  </a:cubicBezTo>
                  <a:lnTo>
                    <a:pt x="608649" y="304324"/>
                  </a:lnTo>
                  <a:cubicBezTo>
                    <a:pt x="608649" y="472286"/>
                    <a:pt x="472286" y="608649"/>
                    <a:pt x="304324" y="608649"/>
                  </a:cubicBezTo>
                  <a:lnTo>
                    <a:pt x="304324" y="608649"/>
                  </a:lnTo>
                  <a:cubicBezTo>
                    <a:pt x="136363" y="608649"/>
                    <a:pt x="0" y="472286"/>
                    <a:pt x="0" y="304324"/>
                  </a:cubicBezTo>
                  <a:lnTo>
                    <a:pt x="0" y="304324"/>
                  </a:lnTo>
                  <a:cubicBezTo>
                    <a:pt x="0" y="136363"/>
                    <a:pt x="136363" y="0"/>
                    <a:pt x="304324" y="0"/>
                  </a:cubicBezTo>
                  <a:close/>
                </a:path>
              </a:pathLst>
            </a:custGeom>
            <a:solidFill>
              <a:srgbClr val="5D7A96">
                <a:alpha val="10196"/>
              </a:srgbClr>
            </a:solidFill>
          </p:spPr>
        </p:sp>
        <p:sp>
          <p:nvSpPr>
            <p:cNvPr id="39" name="Shape 37"/>
            <p:cNvSpPr/>
            <p:nvPr/>
          </p:nvSpPr>
          <p:spPr>
            <a:xfrm>
              <a:off x="15477" y="4260"/>
              <a:ext cx="449" cy="449"/>
            </a:xfrm>
            <a:custGeom>
              <a:avLst/>
              <a:gdLst/>
              <a:ahLst/>
              <a:cxnLst/>
              <a:rect l="l" t="t" r="r" b="b"/>
              <a:pathLst>
                <a:path w="285304" h="285304">
                  <a:moveTo>
                    <a:pt x="26747" y="35663"/>
                  </a:moveTo>
                  <a:cubicBezTo>
                    <a:pt x="11981" y="35663"/>
                    <a:pt x="0" y="47644"/>
                    <a:pt x="0" y="62410"/>
                  </a:cubicBezTo>
                  <a:cubicBezTo>
                    <a:pt x="0" y="70825"/>
                    <a:pt x="3956" y="78737"/>
                    <a:pt x="10699" y="83808"/>
                  </a:cubicBezTo>
                  <a:lnTo>
                    <a:pt x="126604" y="170737"/>
                  </a:lnTo>
                  <a:cubicBezTo>
                    <a:pt x="136132" y="177869"/>
                    <a:pt x="149172" y="177869"/>
                    <a:pt x="158700" y="170737"/>
                  </a:cubicBezTo>
                  <a:lnTo>
                    <a:pt x="274605" y="83808"/>
                  </a:lnTo>
                  <a:cubicBezTo>
                    <a:pt x="281348" y="78737"/>
                    <a:pt x="285304" y="70825"/>
                    <a:pt x="285304" y="62410"/>
                  </a:cubicBezTo>
                  <a:cubicBezTo>
                    <a:pt x="285304" y="47644"/>
                    <a:pt x="273324" y="35663"/>
                    <a:pt x="258557" y="35663"/>
                  </a:cubicBezTo>
                  <a:lnTo>
                    <a:pt x="26747" y="35663"/>
                  </a:lnTo>
                  <a:close/>
                  <a:moveTo>
                    <a:pt x="0" y="109218"/>
                  </a:moveTo>
                  <a:lnTo>
                    <a:pt x="0" y="213978"/>
                  </a:lnTo>
                  <a:cubicBezTo>
                    <a:pt x="0" y="233649"/>
                    <a:pt x="15993" y="249641"/>
                    <a:pt x="35663" y="249641"/>
                  </a:cubicBezTo>
                  <a:lnTo>
                    <a:pt x="249641" y="249641"/>
                  </a:lnTo>
                  <a:cubicBezTo>
                    <a:pt x="269312" y="249641"/>
                    <a:pt x="285304" y="233649"/>
                    <a:pt x="285304" y="213978"/>
                  </a:cubicBezTo>
                  <a:lnTo>
                    <a:pt x="285304" y="109218"/>
                  </a:lnTo>
                  <a:lnTo>
                    <a:pt x="174749" y="192135"/>
                  </a:lnTo>
                  <a:cubicBezTo>
                    <a:pt x="155747" y="206400"/>
                    <a:pt x="129557" y="206400"/>
                    <a:pt x="110555" y="192135"/>
                  </a:cubicBezTo>
                  <a:lnTo>
                    <a:pt x="0" y="109218"/>
                  </a:lnTo>
                  <a:close/>
                </a:path>
              </a:pathLst>
            </a:custGeom>
            <a:solidFill>
              <a:srgbClr val="5D7A96"/>
            </a:solidFill>
          </p:spPr>
        </p:sp>
        <p:sp>
          <p:nvSpPr>
            <p:cNvPr id="40" name="Text 38"/>
            <p:cNvSpPr/>
            <p:nvPr/>
          </p:nvSpPr>
          <p:spPr>
            <a:xfrm>
              <a:off x="13045" y="5092"/>
              <a:ext cx="5347" cy="41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b="1" dirty="0">
                  <a:solidFill>
                    <a:srgbClr val="1A3A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沟通留痕</a:t>
              </a:r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13642" y="8085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142" h="152162">
                  <a:moveTo>
                    <a:pt x="129219" y="20833"/>
                  </a:moveTo>
                  <a:cubicBezTo>
                    <a:pt x="133469" y="23924"/>
                    <a:pt x="134420" y="29868"/>
                    <a:pt x="131329" y="34118"/>
                  </a:cubicBezTo>
                  <a:lnTo>
                    <a:pt x="55248" y="138729"/>
                  </a:lnTo>
                  <a:cubicBezTo>
                    <a:pt x="53613" y="140988"/>
                    <a:pt x="51087" y="142385"/>
                    <a:pt x="48294" y="142622"/>
                  </a:cubicBezTo>
                  <a:cubicBezTo>
                    <a:pt x="45500" y="142860"/>
                    <a:pt x="42796" y="141820"/>
                    <a:pt x="40834" y="139859"/>
                  </a:cubicBezTo>
                  <a:lnTo>
                    <a:pt x="2794" y="101818"/>
                  </a:lnTo>
                  <a:cubicBezTo>
                    <a:pt x="-921" y="98103"/>
                    <a:pt x="-921" y="92070"/>
                    <a:pt x="2794" y="88355"/>
                  </a:cubicBezTo>
                  <a:cubicBezTo>
                    <a:pt x="6509" y="84640"/>
                    <a:pt x="12541" y="84640"/>
                    <a:pt x="16256" y="88355"/>
                  </a:cubicBezTo>
                  <a:lnTo>
                    <a:pt x="46421" y="118520"/>
                  </a:lnTo>
                  <a:lnTo>
                    <a:pt x="115964" y="22913"/>
                  </a:lnTo>
                  <a:cubicBezTo>
                    <a:pt x="119055" y="18664"/>
                    <a:pt x="124999" y="17713"/>
                    <a:pt x="129249" y="2080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14108" y="7907"/>
              <a:ext cx="3176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重要决定</a:t>
              </a:r>
              <a:r>
                <a:rPr lang="zh-CN" alt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邮件确认</a:t>
              </a:r>
              <a:endParaRPr lang="zh-CN" alt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13642" y="8506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142" h="152162">
                  <a:moveTo>
                    <a:pt x="129219" y="20833"/>
                  </a:moveTo>
                  <a:cubicBezTo>
                    <a:pt x="133469" y="23924"/>
                    <a:pt x="134420" y="29868"/>
                    <a:pt x="131329" y="34118"/>
                  </a:cubicBezTo>
                  <a:lnTo>
                    <a:pt x="55248" y="138729"/>
                  </a:lnTo>
                  <a:cubicBezTo>
                    <a:pt x="53613" y="140988"/>
                    <a:pt x="51087" y="142385"/>
                    <a:pt x="48294" y="142622"/>
                  </a:cubicBezTo>
                  <a:cubicBezTo>
                    <a:pt x="45500" y="142860"/>
                    <a:pt x="42796" y="141820"/>
                    <a:pt x="40834" y="139859"/>
                  </a:cubicBezTo>
                  <a:lnTo>
                    <a:pt x="2794" y="101818"/>
                  </a:lnTo>
                  <a:cubicBezTo>
                    <a:pt x="-921" y="98103"/>
                    <a:pt x="-921" y="92070"/>
                    <a:pt x="2794" y="88355"/>
                  </a:cubicBezTo>
                  <a:cubicBezTo>
                    <a:pt x="6509" y="84640"/>
                    <a:pt x="12541" y="84640"/>
                    <a:pt x="16256" y="88355"/>
                  </a:cubicBezTo>
                  <a:lnTo>
                    <a:pt x="46421" y="118520"/>
                  </a:lnTo>
                  <a:lnTo>
                    <a:pt x="115964" y="22913"/>
                  </a:lnTo>
                  <a:cubicBezTo>
                    <a:pt x="119055" y="18664"/>
                    <a:pt x="124999" y="17713"/>
                    <a:pt x="129249" y="20803"/>
                  </a:cubicBezTo>
                  <a:close/>
                </a:path>
              </a:pathLst>
            </a:custGeom>
            <a:solidFill>
              <a:srgbClr val="C4A87A"/>
            </a:solidFill>
          </p:spPr>
        </p:sp>
        <p:sp>
          <p:nvSpPr>
            <p:cNvPr id="48" name="Text 46"/>
            <p:cNvSpPr/>
            <p:nvPr/>
          </p:nvSpPr>
          <p:spPr>
            <a:xfrm>
              <a:off x="14108" y="8436"/>
              <a:ext cx="3289" cy="4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与导师进行</a:t>
              </a:r>
              <a:r>
                <a:rPr lang="zh-CN" altLang="en-US" sz="1600" b="1" dirty="0">
                  <a:solidFill>
                    <a:srgbClr val="21252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双向确认</a:t>
              </a:r>
              <a:endParaRPr lang="zh-CN" altLang="en-US" sz="1600" b="1" dirty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13097" y="8872"/>
              <a:ext cx="5197" cy="12"/>
            </a:xfrm>
            <a:custGeom>
              <a:avLst/>
              <a:gdLst/>
              <a:ahLst/>
              <a:cxnLst/>
              <a:rect l="l" t="t" r="r" b="b"/>
              <a:pathLst>
                <a:path w="3300019" h="7608">
                  <a:moveTo>
                    <a:pt x="0" y="0"/>
                  </a:moveTo>
                  <a:lnTo>
                    <a:pt x="3300019" y="0"/>
                  </a:lnTo>
                  <a:lnTo>
                    <a:pt x="3300019" y="7608"/>
                  </a:lnTo>
                  <a:lnTo>
                    <a:pt x="0" y="7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50" name="Text 48"/>
            <p:cNvSpPr/>
            <p:nvPr/>
          </p:nvSpPr>
          <p:spPr>
            <a:xfrm>
              <a:off x="13045" y="9058"/>
              <a:ext cx="5302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rgbClr val="5D7A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</a:t>
              </a:r>
              <a:r>
                <a:rPr lang="en-US" sz="1600" dirty="0">
                  <a:solidFill>
                    <a:srgbClr val="5D7A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署名等重要学术决定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599" y="9896"/>
              <a:ext cx="18002" cy="899"/>
            </a:xfrm>
            <a:custGeom>
              <a:avLst/>
              <a:gdLst/>
              <a:ahLst/>
              <a:cxnLst/>
              <a:rect l="l" t="t" r="r" b="b"/>
              <a:pathLst>
                <a:path w="11431189" h="570608">
                  <a:moveTo>
                    <a:pt x="76079" y="0"/>
                  </a:moveTo>
                  <a:lnTo>
                    <a:pt x="11355110" y="0"/>
                  </a:lnTo>
                  <a:cubicBezTo>
                    <a:pt x="11397127" y="0"/>
                    <a:pt x="11431189" y="34062"/>
                    <a:pt x="11431189" y="76079"/>
                  </a:cubicBezTo>
                  <a:lnTo>
                    <a:pt x="11431189" y="494529"/>
                  </a:lnTo>
                  <a:cubicBezTo>
                    <a:pt x="11431189" y="536547"/>
                    <a:pt x="11397127" y="570608"/>
                    <a:pt x="11355110" y="570608"/>
                  </a:cubicBezTo>
                  <a:lnTo>
                    <a:pt x="76079" y="570608"/>
                  </a:lnTo>
                  <a:cubicBezTo>
                    <a:pt x="34090" y="570608"/>
                    <a:pt x="0" y="536518"/>
                    <a:pt x="0" y="494529"/>
                  </a:cubicBezTo>
                  <a:lnTo>
                    <a:pt x="0" y="76079"/>
                  </a:lnTo>
                  <a:cubicBezTo>
                    <a:pt x="0" y="34090"/>
                    <a:pt x="34090" y="0"/>
                    <a:pt x="76079" y="0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id="53" name="Text 51"/>
            <p:cNvSpPr/>
            <p:nvPr/>
          </p:nvSpPr>
          <p:spPr>
            <a:xfrm>
              <a:off x="1116" y="10136"/>
              <a:ext cx="17313" cy="41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这绝不是为了"算计"导师，而是为了在未来万一出现分歧时，</a:t>
              </a:r>
              <a:r>
                <a:rPr lang="en-US" b="1" dirty="0">
                  <a:solidFill>
                    <a:srgbClr val="C4A8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有据可查</a:t>
              </a:r>
              <a:endPara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61" y="5661"/>
              <a:ext cx="3175" cy="2119"/>
            </a:xfrm>
            <a:prstGeom prst="rect">
              <a:avLst/>
            </a:prstGeom>
          </p:spPr>
        </p:pic>
        <p:pic>
          <p:nvPicPr>
            <p:cNvPr id="55" name="图片 54"/>
            <p:cNvPicPr/>
            <p:nvPr/>
          </p:nvPicPr>
          <p:blipFill>
            <a:blip r:embed="rId2"/>
            <a:srcRect t="225" r="40028"/>
            <a:stretch>
              <a:fillRect/>
            </a:stretch>
          </p:blipFill>
          <p:spPr>
            <a:xfrm>
              <a:off x="8006" y="5583"/>
              <a:ext cx="3175" cy="2265"/>
            </a:xfrm>
            <a:prstGeom prst="rect">
              <a:avLst/>
            </a:prstGeom>
          </p:spPr>
        </p:pic>
        <p:pic>
          <p:nvPicPr>
            <p:cNvPr id="56" name="图片 5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109" y="5583"/>
              <a:ext cx="3175" cy="2268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deaec024bbe600c527be2f3348531afbac2c46c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0000"/>
                </a:srgbClr>
              </a:gs>
              <a:gs pos="50000">
                <a:srgbClr val="1A3A5C">
                  <a:alpha val="95000"/>
                </a:srgbClr>
              </a:gs>
              <a:gs pos="100000">
                <a:srgbClr val="1A3A5C"/>
              </a:gs>
            </a:gsLst>
            <a:lin ang="5400000" scaled="1"/>
          </a:gradFill>
        </p:spPr>
      </p:sp>
      <p:sp>
        <p:nvSpPr>
          <p:cNvPr id="4" name="Shape 1"/>
          <p:cNvSpPr/>
          <p:nvPr/>
        </p:nvSpPr>
        <p:spPr>
          <a:xfrm>
            <a:off x="5657850" y="322427"/>
            <a:ext cx="876300" cy="790575"/>
          </a:xfrm>
          <a:custGeom>
            <a:avLst/>
            <a:gdLst/>
            <a:ahLst/>
            <a:cxnLst/>
            <a:rect l="l" t="t" r="r" b="b"/>
            <a:pathLst>
              <a:path w="876300" h="790575">
                <a:moveTo>
                  <a:pt x="395288" y="0"/>
                </a:moveTo>
                <a:lnTo>
                  <a:pt x="481012" y="0"/>
                </a:lnTo>
                <a:cubicBezTo>
                  <a:pt x="699178" y="0"/>
                  <a:pt x="876300" y="177122"/>
                  <a:pt x="876300" y="395288"/>
                </a:cubicBezTo>
                <a:lnTo>
                  <a:pt x="876300" y="395288"/>
                </a:lnTo>
                <a:cubicBezTo>
                  <a:pt x="876300" y="613453"/>
                  <a:pt x="699178" y="790575"/>
                  <a:pt x="481012" y="790575"/>
                </a:cubicBezTo>
                <a:lnTo>
                  <a:pt x="395288" y="790575"/>
                </a:lnTo>
                <a:cubicBezTo>
                  <a:pt x="177122" y="790575"/>
                  <a:pt x="0" y="613453"/>
                  <a:pt x="0" y="395288"/>
                </a:cubicBezTo>
                <a:lnTo>
                  <a:pt x="0" y="395288"/>
                </a:lnTo>
                <a:cubicBezTo>
                  <a:pt x="0" y="177122"/>
                  <a:pt x="177122" y="0"/>
                  <a:pt x="3952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924550" y="474827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6" name="Text 3"/>
          <p:cNvSpPr/>
          <p:nvPr/>
        </p:nvSpPr>
        <p:spPr>
          <a:xfrm>
            <a:off x="266700" y="1343499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结语：规范不是枷锁，而是护城河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0" y="202929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8" name="Shape 5"/>
          <p:cNvSpPr/>
          <p:nvPr/>
        </p:nvSpPr>
        <p:spPr>
          <a:xfrm>
            <a:off x="1832610" y="2680809"/>
            <a:ext cx="8522970" cy="1588770"/>
          </a:xfrm>
          <a:custGeom>
            <a:avLst/>
            <a:gdLst/>
            <a:ahLst/>
            <a:cxnLst/>
            <a:rect l="l" t="t" r="r" b="b"/>
            <a:pathLst>
              <a:path w="8522970" h="1588770">
                <a:moveTo>
                  <a:pt x="76197" y="0"/>
                </a:moveTo>
                <a:lnTo>
                  <a:pt x="8446773" y="0"/>
                </a:lnTo>
                <a:cubicBezTo>
                  <a:pt x="8488855" y="0"/>
                  <a:pt x="8522970" y="34115"/>
                  <a:pt x="8522970" y="76197"/>
                </a:cubicBezTo>
                <a:lnTo>
                  <a:pt x="8522970" y="1512573"/>
                </a:lnTo>
                <a:cubicBezTo>
                  <a:pt x="8522970" y="1554655"/>
                  <a:pt x="8488855" y="1588770"/>
                  <a:pt x="8446773" y="1588770"/>
                </a:cubicBezTo>
                <a:lnTo>
                  <a:pt x="76197" y="1588770"/>
                </a:lnTo>
                <a:cubicBezTo>
                  <a:pt x="34115" y="1588770"/>
                  <a:pt x="0" y="1554655"/>
                  <a:pt x="0" y="151257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07870" y="2913227"/>
            <a:ext cx="8172450" cy="1123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理想的师生关系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绝不是人身的依附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而是"导"与"学"的双向奔赴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32610" y="4503898"/>
            <a:ext cx="8522970" cy="2026920"/>
          </a:xfrm>
          <a:custGeom>
            <a:avLst/>
            <a:gdLst/>
            <a:ahLst/>
            <a:cxnLst/>
            <a:rect l="l" t="t" r="r" b="b"/>
            <a:pathLst>
              <a:path w="8522970" h="2026920">
                <a:moveTo>
                  <a:pt x="76192" y="0"/>
                </a:moveTo>
                <a:lnTo>
                  <a:pt x="8446778" y="0"/>
                </a:lnTo>
                <a:cubicBezTo>
                  <a:pt x="8488858" y="0"/>
                  <a:pt x="8522970" y="34112"/>
                  <a:pt x="8522970" y="76192"/>
                </a:cubicBezTo>
                <a:lnTo>
                  <a:pt x="8522970" y="1950728"/>
                </a:lnTo>
                <a:cubicBezTo>
                  <a:pt x="8522970" y="1992780"/>
                  <a:pt x="8488830" y="2026920"/>
                  <a:pt x="8446778" y="2026920"/>
                </a:cubicBezTo>
                <a:lnTo>
                  <a:pt x="76192" y="2026920"/>
                </a:lnTo>
                <a:cubicBezTo>
                  <a:pt x="34112" y="2026920"/>
                  <a:pt x="0" y="1992808"/>
                  <a:pt x="0" y="1950728"/>
                </a:cubicBezTo>
                <a:lnTo>
                  <a:pt x="0" y="76192"/>
                </a:lnTo>
                <a:cubicBezTo>
                  <a:pt x="0" y="34140"/>
                  <a:pt x="34140" y="0"/>
                  <a:pt x="7619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7395" y="4736306"/>
            <a:ext cx="8153400" cy="156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学术道德与写作规范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看起来是一些冷冰冰的、甚至有些繁琐的条条框框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但实质上，它们是在 </a:t>
            </a:r>
            <a:r>
              <a:rPr lang="en-US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权力天然不对等</a:t>
            </a:r>
            <a:r>
              <a:rPr lang="en-US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的现实环境中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保护师生双方、维持学术纯洁的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C4A8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最后一道坚固的护城河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1752" y="348094"/>
            <a:ext cx="587409" cy="522141"/>
          </a:xfrm>
          <a:custGeom>
            <a:avLst/>
            <a:gdLst/>
            <a:ahLst/>
            <a:cxnLst/>
            <a:rect l="l" t="t" r="r" b="b"/>
            <a:pathLst>
              <a:path w="587409" h="522141">
                <a:moveTo>
                  <a:pt x="391606" y="146852"/>
                </a:moveTo>
                <a:cubicBezTo>
                  <a:pt x="391606" y="245978"/>
                  <a:pt x="303903" y="326338"/>
                  <a:pt x="195803" y="326338"/>
                </a:cubicBezTo>
                <a:cubicBezTo>
                  <a:pt x="168574" y="326338"/>
                  <a:pt x="142671" y="321239"/>
                  <a:pt x="119113" y="312061"/>
                </a:cubicBezTo>
                <a:lnTo>
                  <a:pt x="35897" y="356117"/>
                </a:lnTo>
                <a:cubicBezTo>
                  <a:pt x="26413" y="361114"/>
                  <a:pt x="14787" y="359380"/>
                  <a:pt x="7139" y="351834"/>
                </a:cubicBezTo>
                <a:cubicBezTo>
                  <a:pt x="-510" y="344287"/>
                  <a:pt x="-2244" y="332559"/>
                  <a:pt x="2855" y="323075"/>
                </a:cubicBezTo>
                <a:lnTo>
                  <a:pt x="39161" y="254544"/>
                </a:lnTo>
                <a:cubicBezTo>
                  <a:pt x="14583" y="224562"/>
                  <a:pt x="0" y="187237"/>
                  <a:pt x="0" y="146852"/>
                </a:cubicBezTo>
                <a:cubicBezTo>
                  <a:pt x="0" y="47727"/>
                  <a:pt x="87703" y="-32634"/>
                  <a:pt x="195803" y="-32634"/>
                </a:cubicBezTo>
                <a:cubicBezTo>
                  <a:pt x="303903" y="-32634"/>
                  <a:pt x="391606" y="47727"/>
                  <a:pt x="391606" y="146852"/>
                </a:cubicBezTo>
                <a:close/>
                <a:moveTo>
                  <a:pt x="391606" y="522141"/>
                </a:moveTo>
                <a:cubicBezTo>
                  <a:pt x="295642" y="522141"/>
                  <a:pt x="215791" y="458811"/>
                  <a:pt x="199066" y="375289"/>
                </a:cubicBezTo>
                <a:cubicBezTo>
                  <a:pt x="321443" y="373759"/>
                  <a:pt x="427809" y="286668"/>
                  <a:pt x="439537" y="168574"/>
                </a:cubicBezTo>
                <a:cubicBezTo>
                  <a:pt x="524487" y="188154"/>
                  <a:pt x="587409" y="258623"/>
                  <a:pt x="587409" y="342655"/>
                </a:cubicBezTo>
                <a:cubicBezTo>
                  <a:pt x="587409" y="383040"/>
                  <a:pt x="572826" y="420365"/>
                  <a:pt x="548248" y="450347"/>
                </a:cubicBezTo>
                <a:lnTo>
                  <a:pt x="584554" y="518878"/>
                </a:lnTo>
                <a:cubicBezTo>
                  <a:pt x="589551" y="528362"/>
                  <a:pt x="587817" y="539988"/>
                  <a:pt x="580270" y="547637"/>
                </a:cubicBezTo>
                <a:cubicBezTo>
                  <a:pt x="572724" y="555285"/>
                  <a:pt x="560996" y="557019"/>
                  <a:pt x="551512" y="551920"/>
                </a:cubicBezTo>
                <a:lnTo>
                  <a:pt x="468296" y="507864"/>
                </a:lnTo>
                <a:cubicBezTo>
                  <a:pt x="444738" y="517042"/>
                  <a:pt x="418835" y="522141"/>
                  <a:pt x="391606" y="522141"/>
                </a:cubicBezTo>
                <a:close/>
              </a:path>
            </a:pathLst>
          </a:custGeom>
          <a:solidFill>
            <a:srgbClr val="C4A87A"/>
          </a:solidFill>
        </p:spPr>
      </p:sp>
      <p:sp>
        <p:nvSpPr>
          <p:cNvPr id="3" name="Text 1"/>
          <p:cNvSpPr/>
          <p:nvPr/>
        </p:nvSpPr>
        <p:spPr>
          <a:xfrm>
            <a:off x="4401185" y="1217930"/>
            <a:ext cx="3613150" cy="41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9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Thanks for Listening!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38505" y="2192883"/>
            <a:ext cx="1113901" cy="34809"/>
          </a:xfrm>
          <a:custGeom>
            <a:avLst/>
            <a:gdLst/>
            <a:ahLst/>
            <a:cxnLst/>
            <a:rect l="l" t="t" r="r" b="b"/>
            <a:pathLst>
              <a:path w="1113901" h="34809">
                <a:moveTo>
                  <a:pt x="0" y="0"/>
                </a:moveTo>
                <a:lnTo>
                  <a:pt x="1113901" y="0"/>
                </a:lnTo>
                <a:lnTo>
                  <a:pt x="1113901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6" name="Shape 4"/>
          <p:cNvSpPr/>
          <p:nvPr/>
        </p:nvSpPr>
        <p:spPr>
          <a:xfrm>
            <a:off x="2753752" y="2506168"/>
            <a:ext cx="6683409" cy="3620180"/>
          </a:xfrm>
          <a:custGeom>
            <a:avLst/>
            <a:gdLst/>
            <a:ahLst/>
            <a:cxnLst/>
            <a:rect l="l" t="t" r="r" b="b"/>
            <a:pathLst>
              <a:path w="6683409" h="3620180">
                <a:moveTo>
                  <a:pt x="69616" y="0"/>
                </a:moveTo>
                <a:lnTo>
                  <a:pt x="6613793" y="0"/>
                </a:lnTo>
                <a:cubicBezTo>
                  <a:pt x="6652241" y="0"/>
                  <a:pt x="6683409" y="31168"/>
                  <a:pt x="6683409" y="69616"/>
                </a:cubicBezTo>
                <a:lnTo>
                  <a:pt x="6683409" y="3550564"/>
                </a:lnTo>
                <a:cubicBezTo>
                  <a:pt x="6683409" y="3589012"/>
                  <a:pt x="6652241" y="3620180"/>
                  <a:pt x="6613793" y="3620180"/>
                </a:cubicBezTo>
                <a:lnTo>
                  <a:pt x="69616" y="3620180"/>
                </a:lnTo>
                <a:cubicBezTo>
                  <a:pt x="31194" y="3620180"/>
                  <a:pt x="0" y="3588986"/>
                  <a:pt x="0" y="3550564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71388" y="2819351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156642" y="208857"/>
                </a:moveTo>
                <a:lnTo>
                  <a:pt x="39161" y="208857"/>
                </a:lnTo>
                <a:cubicBezTo>
                  <a:pt x="17541" y="208857"/>
                  <a:pt x="0" y="191316"/>
                  <a:pt x="0" y="169696"/>
                </a:cubicBezTo>
                <a:lnTo>
                  <a:pt x="0" y="39161"/>
                </a:lnTo>
                <a:cubicBezTo>
                  <a:pt x="0" y="17541"/>
                  <a:pt x="17541" y="0"/>
                  <a:pt x="39161" y="0"/>
                </a:cubicBezTo>
                <a:lnTo>
                  <a:pt x="163169" y="0"/>
                </a:lnTo>
                <a:cubicBezTo>
                  <a:pt x="173979" y="0"/>
                  <a:pt x="182749" y="8770"/>
                  <a:pt x="182749" y="19580"/>
                </a:cubicBezTo>
                <a:lnTo>
                  <a:pt x="182749" y="137062"/>
                </a:lnTo>
                <a:cubicBezTo>
                  <a:pt x="182749" y="145588"/>
                  <a:pt x="177283" y="152849"/>
                  <a:pt x="169696" y="155541"/>
                </a:cubicBezTo>
                <a:lnTo>
                  <a:pt x="169696" y="182749"/>
                </a:lnTo>
                <a:cubicBezTo>
                  <a:pt x="176916" y="182749"/>
                  <a:pt x="182749" y="188583"/>
                  <a:pt x="182749" y="195803"/>
                </a:cubicBezTo>
                <a:cubicBezTo>
                  <a:pt x="182749" y="203023"/>
                  <a:pt x="176916" y="208857"/>
                  <a:pt x="169696" y="208857"/>
                </a:cubicBezTo>
                <a:lnTo>
                  <a:pt x="156642" y="208857"/>
                </a:lnTo>
                <a:close/>
                <a:moveTo>
                  <a:pt x="39161" y="156642"/>
                </a:moveTo>
                <a:cubicBezTo>
                  <a:pt x="31940" y="156642"/>
                  <a:pt x="26107" y="162476"/>
                  <a:pt x="26107" y="169696"/>
                </a:cubicBezTo>
                <a:cubicBezTo>
                  <a:pt x="26107" y="176916"/>
                  <a:pt x="31940" y="182749"/>
                  <a:pt x="39161" y="182749"/>
                </a:cubicBezTo>
                <a:lnTo>
                  <a:pt x="143589" y="182749"/>
                </a:lnTo>
                <a:lnTo>
                  <a:pt x="143589" y="156642"/>
                </a:lnTo>
                <a:lnTo>
                  <a:pt x="39161" y="156642"/>
                </a:lnTo>
                <a:close/>
                <a:moveTo>
                  <a:pt x="52214" y="62004"/>
                </a:moveTo>
                <a:cubicBezTo>
                  <a:pt x="52214" y="67430"/>
                  <a:pt x="56579" y="71794"/>
                  <a:pt x="62004" y="71794"/>
                </a:cubicBezTo>
                <a:lnTo>
                  <a:pt x="133799" y="71794"/>
                </a:lnTo>
                <a:cubicBezTo>
                  <a:pt x="139224" y="71794"/>
                  <a:pt x="143589" y="67430"/>
                  <a:pt x="143589" y="62004"/>
                </a:cubicBezTo>
                <a:cubicBezTo>
                  <a:pt x="143589" y="56579"/>
                  <a:pt x="139224" y="52214"/>
                  <a:pt x="133799" y="52214"/>
                </a:cubicBezTo>
                <a:lnTo>
                  <a:pt x="62004" y="52214"/>
                </a:lnTo>
                <a:cubicBezTo>
                  <a:pt x="56579" y="52214"/>
                  <a:pt x="52214" y="56579"/>
                  <a:pt x="52214" y="62004"/>
                </a:cubicBezTo>
                <a:close/>
                <a:moveTo>
                  <a:pt x="62004" y="91375"/>
                </a:moveTo>
                <a:cubicBezTo>
                  <a:pt x="56579" y="91375"/>
                  <a:pt x="52214" y="95740"/>
                  <a:pt x="52214" y="101165"/>
                </a:cubicBezTo>
                <a:cubicBezTo>
                  <a:pt x="52214" y="106590"/>
                  <a:pt x="56579" y="110955"/>
                  <a:pt x="62004" y="110955"/>
                </a:cubicBezTo>
                <a:lnTo>
                  <a:pt x="133799" y="110955"/>
                </a:lnTo>
                <a:cubicBezTo>
                  <a:pt x="139224" y="110955"/>
                  <a:pt x="143589" y="106590"/>
                  <a:pt x="143589" y="101165"/>
                </a:cubicBezTo>
                <a:cubicBezTo>
                  <a:pt x="143589" y="95740"/>
                  <a:pt x="139224" y="91375"/>
                  <a:pt x="133799" y="91375"/>
                </a:cubicBezTo>
                <a:lnTo>
                  <a:pt x="62004" y="91375"/>
                </a:lnTo>
                <a:close/>
              </a:path>
            </a:pathLst>
          </a:custGeom>
          <a:solidFill>
            <a:srgbClr val="C4A87A"/>
          </a:solidFill>
        </p:spPr>
      </p:sp>
      <p:sp>
        <p:nvSpPr>
          <p:cNvPr id="8" name="Text 6"/>
          <p:cNvSpPr/>
          <p:nvPr/>
        </p:nvSpPr>
        <p:spPr>
          <a:xfrm>
            <a:off x="3293298" y="2784643"/>
            <a:ext cx="5969816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主要参考文献/依据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032227" y="3271873"/>
            <a:ext cx="6126458" cy="765807"/>
          </a:xfrm>
          <a:custGeom>
            <a:avLst/>
            <a:gdLst/>
            <a:ahLst/>
            <a:cxnLst/>
            <a:rect l="l" t="t" r="r" b="b"/>
            <a:pathLst>
              <a:path w="6126458" h="765807">
                <a:moveTo>
                  <a:pt x="69620" y="0"/>
                </a:moveTo>
                <a:lnTo>
                  <a:pt x="6056839" y="0"/>
                </a:lnTo>
                <a:cubicBezTo>
                  <a:pt x="6095289" y="0"/>
                  <a:pt x="6126458" y="31170"/>
                  <a:pt x="6126458" y="69620"/>
                </a:cubicBezTo>
                <a:lnTo>
                  <a:pt x="6126458" y="696188"/>
                </a:lnTo>
                <a:cubicBezTo>
                  <a:pt x="6126458" y="734638"/>
                  <a:pt x="6095289" y="765807"/>
                  <a:pt x="6056839" y="765807"/>
                </a:cubicBezTo>
                <a:lnTo>
                  <a:pt x="69620" y="765807"/>
                </a:lnTo>
                <a:cubicBezTo>
                  <a:pt x="31170" y="765807"/>
                  <a:pt x="0" y="734638"/>
                  <a:pt x="0" y="696188"/>
                </a:cubicBezTo>
                <a:lnTo>
                  <a:pt x="0" y="69620"/>
                </a:lnTo>
                <a:cubicBezTo>
                  <a:pt x="0" y="31195"/>
                  <a:pt x="31195" y="0"/>
                  <a:pt x="6962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10" name="Shape 8"/>
          <p:cNvSpPr/>
          <p:nvPr/>
        </p:nvSpPr>
        <p:spPr>
          <a:xfrm>
            <a:off x="3171465" y="3411111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1" name="Text 9"/>
          <p:cNvSpPr/>
          <p:nvPr/>
        </p:nvSpPr>
        <p:spPr>
          <a:xfrm>
            <a:off x="3132304" y="3411111"/>
            <a:ext cx="496034" cy="417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28415" y="3411111"/>
            <a:ext cx="4586141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ICMJE 推荐规范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28720" y="3683000"/>
            <a:ext cx="4585970" cy="285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International Committee of Medical Journal Editors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32227" y="4176918"/>
            <a:ext cx="6126458" cy="765807"/>
          </a:xfrm>
          <a:custGeom>
            <a:avLst/>
            <a:gdLst/>
            <a:ahLst/>
            <a:cxnLst/>
            <a:rect l="l" t="t" r="r" b="b"/>
            <a:pathLst>
              <a:path w="6126458" h="765807">
                <a:moveTo>
                  <a:pt x="69620" y="0"/>
                </a:moveTo>
                <a:lnTo>
                  <a:pt x="6056839" y="0"/>
                </a:lnTo>
                <a:cubicBezTo>
                  <a:pt x="6095289" y="0"/>
                  <a:pt x="6126458" y="31170"/>
                  <a:pt x="6126458" y="69620"/>
                </a:cubicBezTo>
                <a:lnTo>
                  <a:pt x="6126458" y="696188"/>
                </a:lnTo>
                <a:cubicBezTo>
                  <a:pt x="6126458" y="734638"/>
                  <a:pt x="6095289" y="765807"/>
                  <a:pt x="6056839" y="765807"/>
                </a:cubicBezTo>
                <a:lnTo>
                  <a:pt x="69620" y="765807"/>
                </a:lnTo>
                <a:cubicBezTo>
                  <a:pt x="31170" y="765807"/>
                  <a:pt x="0" y="734638"/>
                  <a:pt x="0" y="696188"/>
                </a:cubicBezTo>
                <a:lnTo>
                  <a:pt x="0" y="69620"/>
                </a:lnTo>
                <a:cubicBezTo>
                  <a:pt x="0" y="31195"/>
                  <a:pt x="31195" y="0"/>
                  <a:pt x="6962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15" name="Shape 13"/>
          <p:cNvSpPr/>
          <p:nvPr/>
        </p:nvSpPr>
        <p:spPr>
          <a:xfrm>
            <a:off x="3171465" y="4316156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16" name="Text 14"/>
          <p:cNvSpPr/>
          <p:nvPr/>
        </p:nvSpPr>
        <p:spPr>
          <a:xfrm>
            <a:off x="3132304" y="4316156"/>
            <a:ext cx="496034" cy="417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28415" y="4316156"/>
            <a:ext cx="4394690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COPE 指南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28415" y="4594631"/>
            <a:ext cx="438598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Committee on Publication Ethics</a:t>
            </a:r>
            <a:r>
              <a:rPr lang="en-US" sz="1095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32227" y="5081963"/>
            <a:ext cx="6126458" cy="765807"/>
          </a:xfrm>
          <a:custGeom>
            <a:avLst/>
            <a:gdLst/>
            <a:ahLst/>
            <a:cxnLst/>
            <a:rect l="l" t="t" r="r" b="b"/>
            <a:pathLst>
              <a:path w="6126458" h="765807">
                <a:moveTo>
                  <a:pt x="69620" y="0"/>
                </a:moveTo>
                <a:lnTo>
                  <a:pt x="6056839" y="0"/>
                </a:lnTo>
                <a:cubicBezTo>
                  <a:pt x="6095289" y="0"/>
                  <a:pt x="6126458" y="31170"/>
                  <a:pt x="6126458" y="69620"/>
                </a:cubicBezTo>
                <a:lnTo>
                  <a:pt x="6126458" y="696188"/>
                </a:lnTo>
                <a:cubicBezTo>
                  <a:pt x="6126458" y="734638"/>
                  <a:pt x="6095289" y="765807"/>
                  <a:pt x="6056839" y="765807"/>
                </a:cubicBezTo>
                <a:lnTo>
                  <a:pt x="69620" y="765807"/>
                </a:lnTo>
                <a:cubicBezTo>
                  <a:pt x="31170" y="765807"/>
                  <a:pt x="0" y="734638"/>
                  <a:pt x="0" y="696188"/>
                </a:cubicBezTo>
                <a:lnTo>
                  <a:pt x="0" y="69620"/>
                </a:lnTo>
                <a:cubicBezTo>
                  <a:pt x="0" y="31195"/>
                  <a:pt x="31195" y="0"/>
                  <a:pt x="6962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0" name="Shape 18"/>
          <p:cNvSpPr/>
          <p:nvPr/>
        </p:nvSpPr>
        <p:spPr>
          <a:xfrm>
            <a:off x="3171465" y="5221201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1A3A5C"/>
          </a:solidFill>
        </p:spPr>
      </p:sp>
      <p:sp>
        <p:nvSpPr>
          <p:cNvPr id="21" name="Text 19"/>
          <p:cNvSpPr/>
          <p:nvPr/>
        </p:nvSpPr>
        <p:spPr>
          <a:xfrm>
            <a:off x="3132304" y="5221201"/>
            <a:ext cx="496034" cy="417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28415" y="5221201"/>
            <a:ext cx="2723837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教育部文件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28720" y="5499735"/>
            <a:ext cx="3502025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D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《高等学校预防与处理学术不端行为办法》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2832</Words>
  <Application>WPS 演示</Application>
  <PresentationFormat>On-screen Show (16:9)</PresentationFormat>
  <Paragraphs>462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汉仪旗黑</vt:lpstr>
      <vt:lpstr>Times New Roman</vt:lpstr>
      <vt:lpstr>汉仪书宋二KW</vt:lpstr>
      <vt:lpstr>宋体</vt:lpstr>
      <vt:lpstr>Arial Unicode MS</vt:lpstr>
      <vt:lpstr>Calibri</vt:lpstr>
      <vt:lpstr>等线</vt:lpstr>
      <vt:lpstr>汉仪中等线KW</vt:lpstr>
      <vt:lpstr>Apple Color Emoji</vt:lpstr>
      <vt:lpstr>儷宋 Pro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学术边界与共赢——学术道德视域下的师生关系探讨</dc:title>
  <dc:creator>Kimi</dc:creator>
  <dc:subject>学术边界与共赢——学术道德视域下的师生关系探讨</dc:subject>
  <cp:lastModifiedBy>幻象</cp:lastModifiedBy>
  <cp:revision>66</cp:revision>
  <dcterms:created xsi:type="dcterms:W3CDTF">2026-04-09T08:42:31Z</dcterms:created>
  <dcterms:modified xsi:type="dcterms:W3CDTF">2026-04-09T08:42:31Z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学术边界与共赢——学术道德视域下的师生关系探讨","ContentProducer":"001191110108MACG2KBH8F10000","ProduceID":"19d5da2c-1412-87a6-8000-0000ffa2f170","ReservedCode1":"","ContentPropagator":"001191110108MACG2KBH8F20000","PropagateID":"19d5da2c-1412-87a6-8000-0000ffa2f170","ReservedCode2":""}</vt:lpwstr>
  </property>
  <property fmtid="{D5CDD505-2E9C-101B-9397-08002B2CF9AE}" pid="3" name="KSOProductBuildVer">
    <vt:lpwstr>2052-12.1.24031.24031</vt:lpwstr>
  </property>
  <property fmtid="{D5CDD505-2E9C-101B-9397-08002B2CF9AE}" pid="4" name="ICV">
    <vt:lpwstr>2A7287AB7D9121729B84D469535C52A4_43</vt:lpwstr>
  </property>
</Properties>
</file>