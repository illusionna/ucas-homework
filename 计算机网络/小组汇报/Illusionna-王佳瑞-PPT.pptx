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260" r:id="rId3"/>
    <p:sldId id="295" r:id="rId5"/>
    <p:sldId id="291" r:id="rId6"/>
    <p:sldId id="327" r:id="rId7"/>
    <p:sldId id="323" r:id="rId8"/>
    <p:sldId id="324" r:id="rId9"/>
    <p:sldId id="325" r:id="rId10"/>
    <p:sldId id="326" r:id="rId11"/>
    <p:sldId id="328" r:id="rId12"/>
    <p:sldId id="329" r:id="rId13"/>
    <p:sldId id="330" r:id="rId14"/>
    <p:sldId id="331" r:id="rId15"/>
    <p:sldId id="332" r:id="rId16"/>
    <p:sldId id="333" r:id="rId17"/>
    <p:sldId id="338" r:id="rId18"/>
    <p:sldId id="341" r:id="rId19"/>
    <p:sldId id="342" r:id="rId20"/>
    <p:sldId id="343" r:id="rId21"/>
    <p:sldId id="335" r:id="rId22"/>
    <p:sldId id="336" r:id="rId23"/>
    <p:sldId id="337" r:id="rId24"/>
    <p:sldId id="334" r:id="rId25"/>
    <p:sldId id="322" r:id="rId26"/>
  </p:sldIdLst>
  <p:sldSz cx="18288000" cy="10288270"/>
  <p:notesSz cx="6858000" cy="9144000"/>
  <p:custDataLst>
    <p:tags r:id="rId3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90204" pitchFamily="3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78" userDrawn="1">
          <p15:clr>
            <a:srgbClr val="A4A3A4"/>
          </p15:clr>
        </p15:guide>
        <p15:guide id="2" pos="57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8ED973"/>
    <a:srgbClr val="CAEEFB"/>
    <a:srgbClr val="FF9999"/>
    <a:srgbClr val="F39620"/>
    <a:srgbClr val="64C39E"/>
    <a:srgbClr val="F5B7BF"/>
    <a:srgbClr val="DCEAF6"/>
    <a:srgbClr val="FCF7F0"/>
    <a:srgbClr val="2E3C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/>
    <p:restoredTop sz="86019" autoAdjust="0"/>
  </p:normalViewPr>
  <p:slideViewPr>
    <p:cSldViewPr snapToGrid="0" showGuides="1">
      <p:cViewPr varScale="1">
        <p:scale>
          <a:sx n="57" d="100"/>
          <a:sy n="57" d="100"/>
        </p:scale>
        <p:origin x="648" y="34"/>
      </p:cViewPr>
      <p:guideLst>
        <p:guide orient="horz" pos="3178"/>
        <p:guide pos="576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12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280" y="1143000"/>
            <a:ext cx="54854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zh-CN" sz="1800" kern="100" dirty="0">
              <a:effectLst/>
              <a:latin typeface="Times New Roman" panose="02020503050405090304" pitchFamily="18" charset="0"/>
              <a:ea typeface="楷体" panose="02010609060101010101" pitchFamily="49" charset="-122"/>
              <a:cs typeface="Times New Roman" panose="0202050305040509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98200" y="1371840"/>
            <a:ext cx="14698800" cy="385627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9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98200" y="5341534"/>
            <a:ext cx="14698800" cy="2208986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600" spc="2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8035" indent="0" algn="ctr">
              <a:buNone/>
              <a:defRPr sz="2400"/>
            </a:lvl4pPr>
            <a:lvl5pPr marL="2743835" indent="0" algn="ctr">
              <a:buNone/>
              <a:defRPr sz="2400"/>
            </a:lvl5pPr>
            <a:lvl6pPr marL="3429635" indent="0" algn="ctr">
              <a:buNone/>
              <a:defRPr sz="2400"/>
            </a:lvl6pPr>
            <a:lvl7pPr marL="4115435" indent="0" algn="ctr">
              <a:buNone/>
              <a:defRPr sz="2400"/>
            </a:lvl7pPr>
            <a:lvl8pPr marL="4801235" indent="0" algn="ctr">
              <a:buNone/>
              <a:defRPr sz="2400"/>
            </a:lvl8pPr>
            <a:lvl9pPr marL="5487670" indent="0" algn="ctr">
              <a:buNone/>
              <a:defRPr sz="24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2600" y="912760"/>
            <a:ext cx="16453800" cy="1058585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2600" y="2235991"/>
            <a:ext cx="16453800" cy="7140049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986200" y="5773610"/>
            <a:ext cx="11653200" cy="115040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6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2986200" y="6924011"/>
            <a:ext cx="11653200" cy="1301628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803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83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63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543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123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76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2600" y="912760"/>
            <a:ext cx="16453800" cy="1058585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2600" y="2252194"/>
            <a:ext cx="7765200" cy="7123846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617400" y="2252194"/>
            <a:ext cx="7765200" cy="7123846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2600" y="912760"/>
            <a:ext cx="16453800" cy="1058585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912600" y="2144175"/>
            <a:ext cx="8013600" cy="5725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8035" indent="0">
              <a:buNone/>
              <a:defRPr sz="2400" b="1"/>
            </a:lvl4pPr>
            <a:lvl5pPr marL="2743835" indent="0">
              <a:buNone/>
              <a:defRPr sz="2400" b="1"/>
            </a:lvl5pPr>
            <a:lvl6pPr marL="3429635" indent="0">
              <a:buNone/>
              <a:defRPr sz="2400" b="1"/>
            </a:lvl6pPr>
            <a:lvl7pPr marL="4115435" indent="0">
              <a:buNone/>
              <a:defRPr sz="2400" b="1"/>
            </a:lvl7pPr>
            <a:lvl8pPr marL="4801235" indent="0">
              <a:buNone/>
              <a:defRPr sz="2400" b="1"/>
            </a:lvl8pPr>
            <a:lvl9pPr marL="5487670" indent="0">
              <a:buNone/>
              <a:defRPr sz="24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12600" y="2781487"/>
            <a:ext cx="8013600" cy="6594553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9353625" y="2132967"/>
            <a:ext cx="8013600" cy="5725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8035" indent="0">
              <a:buNone/>
              <a:defRPr sz="2400" b="1"/>
            </a:lvl4pPr>
            <a:lvl5pPr marL="2743835" indent="0">
              <a:buNone/>
              <a:defRPr sz="2400" b="1"/>
            </a:lvl5pPr>
            <a:lvl6pPr marL="3429635" indent="0">
              <a:buNone/>
              <a:defRPr sz="2400" b="1"/>
            </a:lvl6pPr>
            <a:lvl7pPr marL="4115435" indent="0">
              <a:buNone/>
              <a:defRPr sz="2400" b="1"/>
            </a:lvl7pPr>
            <a:lvl8pPr marL="4801235" indent="0">
              <a:buNone/>
              <a:defRPr sz="2400" b="1"/>
            </a:lvl8pPr>
            <a:lvl9pPr marL="5487670" indent="0">
              <a:buNone/>
              <a:defRPr sz="24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9353625" y="2781487"/>
            <a:ext cx="8013600" cy="6594553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2600" y="912760"/>
            <a:ext cx="16453800" cy="1058585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2600" y="2333208"/>
            <a:ext cx="7849616" cy="691320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525600" y="2333208"/>
            <a:ext cx="7840800" cy="691320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5352200" y="1371840"/>
            <a:ext cx="1566000" cy="754512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2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371600" y="1371840"/>
            <a:ext cx="13753800" cy="7545120"/>
          </a:xfrm>
        </p:spPr>
        <p:txBody>
          <a:bodyPr vert="eaVert" lIns="46800" tIns="46800" rIns="46800" bIns="46800"/>
          <a:lstStyle>
            <a:lvl1pPr marL="342900" indent="-342900">
              <a:spcAft>
                <a:spcPts val="1000"/>
              </a:spcAft>
              <a:defRPr spc="300"/>
            </a:lvl1pPr>
            <a:lvl2pPr marL="1028700" indent="-342900">
              <a:defRPr spc="300"/>
            </a:lvl2pPr>
            <a:lvl3pPr marL="1714500" indent="-342900">
              <a:defRPr spc="300"/>
            </a:lvl3pPr>
            <a:lvl4pPr marL="2400935" indent="-342900">
              <a:defRPr spc="300"/>
            </a:lvl4pPr>
            <a:lvl5pPr marL="3086735" indent="-342900">
              <a:defRPr spc="3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912600" y="1161203"/>
            <a:ext cx="16459200" cy="8225639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798200" y="3726652"/>
            <a:ext cx="14698800" cy="152846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9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798200" y="5341534"/>
            <a:ext cx="14698800" cy="7075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600" spc="2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5.xml"/><Relationship Id="rId15" Type="http://schemas.openxmlformats.org/officeDocument/2006/relationships/tags" Target="../tags/tag4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912020" y="912179"/>
            <a:ext cx="16454438" cy="1059841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3"/>
            </p:custDataLst>
          </p:nvPr>
        </p:nvSpPr>
        <p:spPr>
          <a:xfrm>
            <a:off x="912020" y="2236386"/>
            <a:ext cx="16454438" cy="7140236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919163" y="9474270"/>
            <a:ext cx="4048125" cy="473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6174582" y="9474270"/>
            <a:ext cx="5938838" cy="473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13315950" y="9474270"/>
            <a:ext cx="4050507" cy="473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1371600" rtl="0" eaLnBrk="1" fontAlgn="auto" latinLnBrk="0" hangingPunct="1">
        <a:lnSpc>
          <a:spcPct val="100000"/>
        </a:lnSpc>
        <a:spcBef>
          <a:spcPct val="0"/>
        </a:spcBef>
        <a:buNone/>
        <a:defRPr sz="54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27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0287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2414905" algn="l"/>
          <a:tab pos="2414905" algn="l"/>
          <a:tab pos="2414905" algn="l"/>
          <a:tab pos="2414905" algn="l"/>
        </a:tabLst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7145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400935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3086735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772535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8335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4135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3057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8035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835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635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5435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1235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767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1.xml"/><Relationship Id="rId4" Type="http://schemas.openxmlformats.org/officeDocument/2006/relationships/image" Target="../media/image5.png"/><Relationship Id="rId3" Type="http://schemas.openxmlformats.org/officeDocument/2006/relationships/tags" Target="../tags/tag10.xml"/><Relationship Id="rId2" Type="http://schemas.openxmlformats.org/officeDocument/2006/relationships/image" Target="../media/image4.png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6.xml"/><Relationship Id="rId6" Type="http://schemas.openxmlformats.org/officeDocument/2006/relationships/image" Target="../media/image6.png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4.png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21.xml"/><Relationship Id="rId6" Type="http://schemas.openxmlformats.org/officeDocument/2006/relationships/image" Target="../media/image7.png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4.png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26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image" Target="../media/image4.png"/><Relationship Id="rId2" Type="http://schemas.openxmlformats.org/officeDocument/2006/relationships/tags" Target="../tags/tag23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image" Target="../media/image4.pn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35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tags" Target="../tags/tag2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7.xml"/><Relationship Id="rId1" Type="http://schemas.openxmlformats.org/officeDocument/2006/relationships/tags" Target="../tags/tag3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image" Target="../media/image4.png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51.xml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1" Type="http://schemas.openxmlformats.org/officeDocument/2006/relationships/image" Target="../media/image13.svg"/><Relationship Id="rId10" Type="http://schemas.openxmlformats.org/officeDocument/2006/relationships/image" Target="../media/image12.png"/><Relationship Id="rId1" Type="http://schemas.openxmlformats.org/officeDocument/2006/relationships/tags" Target="../tags/tag43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image" Target="../media/image4.png"/><Relationship Id="rId1" Type="http://schemas.openxmlformats.org/officeDocument/2006/relationships/tags" Target="../tags/tag52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57.xml"/><Relationship Id="rId4" Type="http://schemas.openxmlformats.org/officeDocument/2006/relationships/image" Target="../media/image16.png"/><Relationship Id="rId3" Type="http://schemas.openxmlformats.org/officeDocument/2006/relationships/tags" Target="../tags/tag56.xml"/><Relationship Id="rId2" Type="http://schemas.openxmlformats.org/officeDocument/2006/relationships/image" Target="../media/image4.png"/><Relationship Id="rId1" Type="http://schemas.openxmlformats.org/officeDocument/2006/relationships/tags" Target="../tags/tag5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62.xml"/><Relationship Id="rId6" Type="http://schemas.openxmlformats.org/officeDocument/2006/relationships/image" Target="../media/image17.png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image" Target="../media/image4.png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67.xml"/><Relationship Id="rId6" Type="http://schemas.openxmlformats.org/officeDocument/2006/relationships/image" Target="../media/image18.png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image" Target="../media/image4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72.xml"/><Relationship Id="rId6" Type="http://schemas.openxmlformats.org/officeDocument/2006/relationships/image" Target="../media/image19.png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image" Target="../media/image4.png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77.xml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image" Target="../media/image4.png"/><Relationship Id="rId2" Type="http://schemas.openxmlformats.org/officeDocument/2006/relationships/tags" Target="../tags/tag74.xml"/><Relationship Id="rId10" Type="http://schemas.openxmlformats.org/officeDocument/2006/relationships/notesSlide" Target="../notesSlides/notesSlide14.xml"/><Relationship Id="rId1" Type="http://schemas.openxmlformats.org/officeDocument/2006/relationships/tags" Target="../tags/tag7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image" Target="../media/image4.png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image" Target="../media/image23.pn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image" Target="../media/image4.png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image" Target="../media/image25.png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image" Target="../media/image4.png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image" Target="../media/image27.pn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image" Target="../media/image4.png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00.xml"/><Relationship Id="rId4" Type="http://schemas.openxmlformats.org/officeDocument/2006/relationships/image" Target="../media/image29.png"/><Relationship Id="rId3" Type="http://schemas.openxmlformats.org/officeDocument/2006/relationships/tags" Target="../tags/tag99.xml"/><Relationship Id="rId2" Type="http://schemas.openxmlformats.org/officeDocument/2006/relationships/image" Target="../media/image4.png"/><Relationship Id="rId1" Type="http://schemas.openxmlformats.org/officeDocument/2006/relationships/tags" Target="../tags/tag98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0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05.xml"/><Relationship Id="rId6" Type="http://schemas.openxmlformats.org/officeDocument/2006/relationships/image" Target="../media/image30.png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image" Target="../media/image4.png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10.xml"/><Relationship Id="rId6" Type="http://schemas.openxmlformats.org/officeDocument/2006/relationships/image" Target="../media/image31.png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image" Target="../media/image4.png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image" Target="../media/image29.png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image" Target="../media/image4.png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1" Type="http://schemas.openxmlformats.org/officeDocument/2006/relationships/notesSlide" Target="../notesSlides/notesSlide2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11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0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758262"/>
            <a:ext cx="18288000" cy="2855120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sp>
        <p:nvSpPr>
          <p:cNvPr id="2051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2259106"/>
            <a:ext cx="18288000" cy="1810870"/>
          </a:xfrm>
        </p:spPr>
        <p:txBody>
          <a:bodyPr vert="horz" lIns="135000" tIns="70200" rIns="135000" bIns="70200" anchor="b" anchorCtr="0">
            <a:noAutofit/>
          </a:bodyPr>
          <a:lstStyle/>
          <a:p>
            <a:pPr defTabSz="914400"/>
            <a:r>
              <a:rPr lang="en-US" altLang="zh-CN" sz="5400" dirty="0">
                <a:solidFill>
                  <a:schemeClr val="bg1"/>
                </a:solidFill>
              </a:rPr>
              <a:t>Enabling Portable and High-Performance </a:t>
            </a:r>
            <a:r>
              <a:rPr lang="en-US" altLang="zh-CN" sz="5400" dirty="0" err="1">
                <a:solidFill>
                  <a:schemeClr val="bg1"/>
                </a:solidFill>
              </a:rPr>
              <a:t>SmartNIC</a:t>
            </a:r>
            <a:r>
              <a:rPr lang="en-US" altLang="zh-CN" sz="5400" dirty="0">
                <a:solidFill>
                  <a:schemeClr val="bg1"/>
                </a:solidFill>
              </a:rPr>
              <a:t> Programs with Alkali</a:t>
            </a:r>
            <a:endParaRPr lang="zh-CN" altLang="zh-CN" sz="5400" b="0" kern="1200" normalizeH="0" baseline="0" dirty="0">
              <a:ln>
                <a:solidFill>
                  <a:schemeClr val="bg1"/>
                </a:solidFill>
              </a:ln>
              <a:solidFill>
                <a:schemeClr val="bg1"/>
              </a:solidFill>
              <a:ea typeface="+mj-ea"/>
              <a:cs typeface="Bauhaus 93" panose="04030905020B02020C02" charset="0"/>
            </a:endParaRPr>
          </a:p>
        </p:txBody>
      </p:sp>
      <p:sp>
        <p:nvSpPr>
          <p:cNvPr id="2052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794272" y="5022957"/>
            <a:ext cx="14699456" cy="1970194"/>
          </a:xfrm>
        </p:spPr>
        <p:txBody>
          <a:bodyPr vert="horz" lIns="135000" tIns="70200" rIns="135000" bIns="70200" anchor="t" anchorCtr="0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zh-CN" altLang="en-US" dirty="0"/>
              <a:t>作者：</a:t>
            </a:r>
            <a:r>
              <a:rPr lang="en-US" altLang="zh-CN" dirty="0"/>
              <a:t>Jiaxin Lin, Zhiyuan Guo </a:t>
            </a:r>
            <a:r>
              <a:rPr lang="zh-CN" altLang="en-US" dirty="0"/>
              <a:t>等</a:t>
            </a:r>
            <a:endParaRPr lang="en-US" altLang="zh-CN" dirty="0"/>
          </a:p>
          <a:p>
            <a:pPr defTabSz="914400">
              <a:lnSpc>
                <a:spcPct val="90000"/>
              </a:lnSpc>
            </a:pPr>
            <a:endParaRPr lang="en-US" altLang="zh-CN" kern="1200" normalizeH="0" baseline="0" dirty="0">
              <a:latin typeface="Arial" panose="020B0604020202090204" pitchFamily="34" charset="0"/>
              <a:ea typeface="+mn-ea"/>
              <a:cs typeface="Arial" panose="020B0604020202090204" pitchFamily="34" charset="0"/>
            </a:endParaRPr>
          </a:p>
          <a:p>
            <a:pPr defTabSz="914400">
              <a:lnSpc>
                <a:spcPct val="90000"/>
              </a:lnSpc>
            </a:pPr>
            <a:r>
              <a:rPr lang="zh-CN" altLang="en-US" kern="1200" normalizeH="0" baseline="0" dirty="0">
                <a:latin typeface="Arial" panose="020B0604020202090204" pitchFamily="34" charset="0"/>
                <a:ea typeface="+mn-ea"/>
                <a:cs typeface="Arial" panose="020B0604020202090204" pitchFamily="34" charset="0"/>
              </a:rPr>
              <a:t>小组成员：</a:t>
            </a:r>
            <a:r>
              <a:rPr lang="en-US" altLang="zh-CN" kern="1200" normalizeH="0" baseline="0" dirty="0">
                <a:latin typeface="Arial" panose="020B0604020202090204" pitchFamily="34" charset="0"/>
                <a:ea typeface="+mn-ea"/>
                <a:cs typeface="Arial" panose="020B0604020202090204" pitchFamily="34" charset="0"/>
              </a:rPr>
              <a:t>Illusion</a:t>
            </a:r>
            <a:r>
              <a:rPr lang="en-US" altLang="zh-CN" kern="1200" normalizeH="0" baseline="0" dirty="0">
                <a:latin typeface="Arial" panose="020B0604020202090204" pitchFamily="34" charset="0"/>
                <a:ea typeface="+mn-ea"/>
                <a:cs typeface="Arial" panose="020B0604020202090204" pitchFamily="34" charset="0"/>
              </a:rPr>
              <a:t>na, </a:t>
            </a:r>
            <a:r>
              <a:rPr lang="zh-CN" altLang="en-US" kern="1200" normalizeH="0" baseline="0" dirty="0">
                <a:latin typeface="Arial" panose="020B0604020202090204" pitchFamily="34" charset="0"/>
                <a:ea typeface="+mn-ea"/>
                <a:cs typeface="Arial" panose="020B0604020202090204" pitchFamily="34" charset="0"/>
              </a:rPr>
              <a:t>王佳瑞</a:t>
            </a:r>
            <a:endParaRPr lang="en-US" altLang="zh-CN" kern="1200" normalizeH="0" baseline="0" dirty="0">
              <a:latin typeface="Arial" panose="020B0604020202090204" pitchFamily="34" charset="0"/>
              <a:ea typeface="+mn-ea"/>
              <a:cs typeface="Arial" panose="020B0604020202090204" pitchFamily="34" charset="0"/>
            </a:endParaRPr>
          </a:p>
        </p:txBody>
      </p:sp>
      <p:pic>
        <p:nvPicPr>
          <p:cNvPr id="2053" name="图片 5" descr="剪影居中蓝 低版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" y="6846994"/>
            <a:ext cx="18288000" cy="566499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4" name="图片 1" descr="国科大标准Logo横式一（蓝色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7" y="408094"/>
            <a:ext cx="4488656" cy="94059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4330" y="125355"/>
            <a:ext cx="4175701" cy="20338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/>
              <a:t>智能网卡发展趋势</a:t>
            </a:r>
            <a:endParaRPr lang="zh-CN" altLang="en-US" sz="4200" dirty="0"/>
          </a:p>
        </p:txBody>
      </p:sp>
      <p:sp>
        <p:nvSpPr>
          <p:cNvPr id="10" name="文本框 9"/>
          <p:cNvSpPr txBox="1"/>
          <p:nvPr/>
        </p:nvSpPr>
        <p:spPr>
          <a:xfrm>
            <a:off x="11365285" y="2460180"/>
            <a:ext cx="61979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趋势</a:t>
            </a:r>
            <a:r>
              <a:rPr lang="en-US" altLang="zh-CN" sz="3600" dirty="0"/>
              <a:t> 1</a:t>
            </a:r>
            <a:r>
              <a:rPr lang="zh-CN" altLang="en-US" sz="3600" dirty="0"/>
              <a:t>：应用数量增加（如</a:t>
            </a:r>
            <a:r>
              <a:rPr lang="en-US" altLang="zh-CN" sz="3600" dirty="0"/>
              <a:t> RSS</a:t>
            </a:r>
            <a:r>
              <a:rPr lang="zh-CN" altLang="en-US" sz="3600" dirty="0"/>
              <a:t>、中间件、</a:t>
            </a:r>
            <a:r>
              <a:rPr lang="en-US" altLang="zh-CN" sz="3600" dirty="0" err="1"/>
              <a:t>IPSeC</a:t>
            </a:r>
            <a:r>
              <a:rPr lang="zh-CN" altLang="en-US" sz="3600" dirty="0"/>
              <a:t>等</a:t>
            </a:r>
            <a:endParaRPr lang="en-US" altLang="zh-CN" sz="3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2360" y="1522134"/>
            <a:ext cx="8443608" cy="859789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1365285" y="7702902"/>
            <a:ext cx="61979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趋势</a:t>
            </a:r>
            <a:r>
              <a:rPr lang="en-US" altLang="zh-CN" sz="3600" dirty="0"/>
              <a:t> 2</a:t>
            </a:r>
            <a:r>
              <a:rPr lang="zh-CN" altLang="en-US" sz="3600" dirty="0"/>
              <a:t>：硬件种类增加（来自不同厂商的各类 </a:t>
            </a:r>
            <a:r>
              <a:rPr lang="en-US" altLang="zh-CN" sz="3600" dirty="0" err="1"/>
              <a:t>SmartNIC</a:t>
            </a:r>
            <a:r>
              <a:rPr lang="zh-CN" altLang="en-US" sz="3600" dirty="0"/>
              <a:t>）</a:t>
            </a:r>
            <a:endParaRPr lang="en-US" altLang="zh-CN" sz="3600" dirty="0"/>
          </a:p>
        </p:txBody>
      </p:sp>
      <p:sp>
        <p:nvSpPr>
          <p:cNvPr id="14" name="文本框 13"/>
          <p:cNvSpPr txBox="1"/>
          <p:nvPr/>
        </p:nvSpPr>
        <p:spPr>
          <a:xfrm>
            <a:off x="11813520" y="5236643"/>
            <a:ext cx="4322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编程壁垒加剧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960120" y="1392503"/>
            <a:ext cx="8525828" cy="915300"/>
          </a:xfrm>
          <a:prstGeom prst="rect">
            <a:avLst/>
          </a:prstGeom>
          <a:gradFill>
            <a:gsLst>
              <a:gs pos="26000">
                <a:srgbClr val="F7E8D3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960120" y="1477059"/>
            <a:ext cx="9677400" cy="7590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/>
              <a:t>1. </a:t>
            </a:r>
            <a:r>
              <a:rPr lang="zh-CN" altLang="en-US" sz="4000" b="1" dirty="0"/>
              <a:t>低级并行编程</a:t>
            </a:r>
            <a:endParaRPr lang="zh-CN" altLang="en-US" sz="4000" b="1" dirty="0">
              <a:solidFill>
                <a:srgbClr val="2E3C63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/>
              <a:t>编程壁垒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0673" y="2344512"/>
            <a:ext cx="15295475" cy="663462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253993" y="8892591"/>
            <a:ext cx="7783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/>
              <a:t>SDK </a:t>
            </a:r>
            <a:r>
              <a:rPr lang="zh-CN" altLang="en-US" sz="3600" dirty="0"/>
              <a:t>包含 </a:t>
            </a:r>
            <a:r>
              <a:rPr lang="zh-CN" altLang="en-US" sz="3600" dirty="0">
                <a:solidFill>
                  <a:srgbClr val="FF0000"/>
                </a:solidFill>
              </a:rPr>
              <a:t>超过</a:t>
            </a:r>
            <a:r>
              <a:rPr lang="en-US" altLang="zh-CN" sz="3600" dirty="0">
                <a:solidFill>
                  <a:srgbClr val="FF0000"/>
                </a:solidFill>
              </a:rPr>
              <a:t> 500 </a:t>
            </a:r>
            <a:r>
              <a:rPr lang="zh-CN" altLang="en-US" sz="3600" dirty="0">
                <a:solidFill>
                  <a:srgbClr val="FF0000"/>
                </a:solidFill>
              </a:rPr>
              <a:t>个 </a:t>
            </a:r>
            <a:r>
              <a:rPr lang="en-US" altLang="zh-CN" sz="3600" dirty="0" err="1"/>
              <a:t>MicroC</a:t>
            </a:r>
            <a:r>
              <a:rPr lang="en-US" altLang="zh-CN" sz="3600" dirty="0"/>
              <a:t> </a:t>
            </a:r>
            <a:r>
              <a:rPr lang="zh-CN" altLang="en-US" sz="3600" dirty="0"/>
              <a:t>库函数</a:t>
            </a:r>
            <a:endParaRPr lang="en-US" altLang="zh-CN" sz="3600" dirty="0"/>
          </a:p>
        </p:txBody>
      </p:sp>
      <p:sp>
        <p:nvSpPr>
          <p:cNvPr id="24" name="文本框 23"/>
          <p:cNvSpPr txBox="1"/>
          <p:nvPr/>
        </p:nvSpPr>
        <p:spPr>
          <a:xfrm>
            <a:off x="9221096" y="8615591"/>
            <a:ext cx="77833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开发者需要面对复杂的底层硬件细节。</a:t>
            </a:r>
            <a:r>
              <a:rPr lang="en-US" altLang="zh-CN" sz="3600" dirty="0"/>
              <a:t>(</a:t>
            </a:r>
            <a:r>
              <a:rPr lang="zh-CN" altLang="en-US" sz="3600" dirty="0"/>
              <a:t>如微引擎和多层级内存</a:t>
            </a:r>
            <a:r>
              <a:rPr lang="en-US" altLang="zh-CN" sz="3600" dirty="0"/>
              <a:t>)</a:t>
            </a:r>
            <a:endParaRPr lang="zh-CN" altLang="en-US" sz="3600" dirty="0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960120" y="1392503"/>
            <a:ext cx="8525828" cy="915300"/>
          </a:xfrm>
          <a:prstGeom prst="rect">
            <a:avLst/>
          </a:prstGeom>
          <a:gradFill>
            <a:gsLst>
              <a:gs pos="26000">
                <a:srgbClr val="F7E8D3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960120" y="1477059"/>
            <a:ext cx="9677400" cy="7590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/>
              <a:t>1. </a:t>
            </a:r>
            <a:r>
              <a:rPr lang="zh-CN" altLang="en-US" sz="4000" b="1" dirty="0"/>
              <a:t>低级并行编程</a:t>
            </a:r>
            <a:endParaRPr lang="zh-CN" altLang="en-US" sz="4000" b="1" dirty="0">
              <a:solidFill>
                <a:srgbClr val="2E3C63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/>
              <a:t>编程壁垒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60673" y="8892591"/>
            <a:ext cx="7783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/>
              <a:t>SDK </a:t>
            </a:r>
            <a:r>
              <a:rPr lang="zh-CN" altLang="en-US" sz="3600" dirty="0"/>
              <a:t>包含</a:t>
            </a:r>
            <a:r>
              <a:rPr lang="zh-CN" altLang="en-US" sz="3600" dirty="0">
                <a:solidFill>
                  <a:srgbClr val="FF0000"/>
                </a:solidFill>
              </a:rPr>
              <a:t>超过</a:t>
            </a:r>
            <a:r>
              <a:rPr lang="en-US" altLang="zh-CN" sz="3600" dirty="0">
                <a:solidFill>
                  <a:srgbClr val="FF0000"/>
                </a:solidFill>
              </a:rPr>
              <a:t> 500 </a:t>
            </a:r>
            <a:r>
              <a:rPr lang="zh-CN" altLang="en-US" sz="3600" dirty="0">
                <a:solidFill>
                  <a:srgbClr val="FF0000"/>
                </a:solidFill>
              </a:rPr>
              <a:t>个</a:t>
            </a:r>
            <a:r>
              <a:rPr lang="en-US" altLang="zh-CN" sz="3600" dirty="0" err="1"/>
              <a:t>MicroC</a:t>
            </a:r>
            <a:r>
              <a:rPr lang="en-US" altLang="zh-CN" sz="3600" dirty="0"/>
              <a:t> </a:t>
            </a:r>
            <a:r>
              <a:rPr lang="zh-CN" altLang="en-US" sz="3600" dirty="0"/>
              <a:t>库函数</a:t>
            </a:r>
            <a:endParaRPr lang="en-US" altLang="zh-CN" sz="3600" dirty="0"/>
          </a:p>
        </p:txBody>
      </p:sp>
      <p:sp>
        <p:nvSpPr>
          <p:cNvPr id="6" name="文本框 5"/>
          <p:cNvSpPr txBox="1"/>
          <p:nvPr/>
        </p:nvSpPr>
        <p:spPr>
          <a:xfrm>
            <a:off x="11532309" y="8569425"/>
            <a:ext cx="2203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代码分布</a:t>
            </a:r>
            <a:endParaRPr lang="en-US" altLang="zh-CN" sz="3600" dirty="0"/>
          </a:p>
        </p:txBody>
      </p:sp>
      <p:sp>
        <p:nvSpPr>
          <p:cNvPr id="12" name="文本框 11"/>
          <p:cNvSpPr txBox="1"/>
          <p:nvPr/>
        </p:nvSpPr>
        <p:spPr>
          <a:xfrm>
            <a:off x="1193203" y="3713133"/>
            <a:ext cx="662402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在实际开发中，只有一小部分精力花在</a:t>
            </a:r>
            <a:r>
              <a:rPr lang="zh-CN" altLang="en-US" sz="3600" dirty="0">
                <a:solidFill>
                  <a:srgbClr val="FF0000"/>
                </a:solidFill>
              </a:rPr>
              <a:t>“包处理逻辑”</a:t>
            </a:r>
            <a:r>
              <a:rPr lang="zh-CN" altLang="en-US" sz="3600" dirty="0"/>
              <a:t>上，</a:t>
            </a:r>
            <a:endParaRPr lang="en-US" altLang="zh-CN" sz="3600" dirty="0"/>
          </a:p>
          <a:p>
            <a:endParaRPr lang="en-US" altLang="zh-CN" sz="3600" dirty="0"/>
          </a:p>
          <a:p>
            <a:r>
              <a:rPr lang="zh-CN" altLang="en-US" sz="3600" dirty="0"/>
              <a:t>绝大部分精力都耗费在</a:t>
            </a:r>
            <a:r>
              <a:rPr lang="zh-CN" altLang="en-US" sz="3600" dirty="0">
                <a:solidFill>
                  <a:srgbClr val="FF0000"/>
                </a:solidFill>
              </a:rPr>
              <a:t>“低级并行优化”</a:t>
            </a:r>
            <a:r>
              <a:rPr lang="zh-CN" altLang="en-US" sz="3600" dirty="0"/>
              <a:t>上 。</a:t>
            </a:r>
            <a:endParaRPr lang="zh-CN" altLang="en-US" sz="36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9078928" y="2236085"/>
            <a:ext cx="8037497" cy="6475864"/>
            <a:chOff x="9078928" y="2236085"/>
            <a:chExt cx="8037497" cy="647586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78928" y="2236085"/>
              <a:ext cx="7793960" cy="6475864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11754953" y="2236085"/>
              <a:ext cx="5361472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rgbClr val="FF0000"/>
                  </a:solidFill>
                </a:rPr>
                <a:t>           包处理逻辑</a:t>
              </a:r>
              <a:endParaRPr lang="en-US" altLang="zh-CN" sz="3600" b="1" dirty="0">
                <a:solidFill>
                  <a:srgbClr val="FF0000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1082221" y="6109422"/>
              <a:ext cx="3103758" cy="1754326"/>
            </a:xfrm>
            <a:prstGeom prst="rect">
              <a:avLst/>
            </a:prstGeom>
            <a:solidFill>
              <a:srgbClr val="0F9ED5"/>
            </a:solidFill>
          </p:spPr>
          <p:txBody>
            <a:bodyPr wrap="square">
              <a:spAutoFit/>
            </a:bodyPr>
            <a:lstStyle/>
            <a:p>
              <a:endParaRPr lang="en-US" altLang="zh-CN" sz="3600" b="1" dirty="0">
                <a:solidFill>
                  <a:schemeClr val="bg2"/>
                </a:solidFill>
              </a:endParaRPr>
            </a:p>
            <a:p>
              <a:r>
                <a:rPr lang="zh-CN" altLang="en-US" sz="3600" b="1" dirty="0">
                  <a:solidFill>
                    <a:schemeClr val="bg2"/>
                  </a:solidFill>
                </a:rPr>
                <a:t>低级并行优化</a:t>
              </a:r>
              <a:endParaRPr lang="en-US" altLang="zh-CN" sz="3600" b="1" dirty="0">
                <a:solidFill>
                  <a:schemeClr val="bg2"/>
                </a:solidFill>
              </a:endParaRPr>
            </a:p>
            <a:p>
              <a:endParaRPr lang="en-US" altLang="zh-CN" sz="3600" b="1" dirty="0">
                <a:solidFill>
                  <a:schemeClr val="bg2"/>
                </a:solidFill>
              </a:endParaRPr>
            </a:p>
          </p:txBody>
        </p:sp>
      </p:grp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960120" y="1392503"/>
            <a:ext cx="8525828" cy="915300"/>
          </a:xfrm>
          <a:prstGeom prst="rect">
            <a:avLst/>
          </a:prstGeom>
          <a:gradFill>
            <a:gsLst>
              <a:gs pos="26000">
                <a:srgbClr val="F7E8D3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960120" y="1477059"/>
            <a:ext cx="9677400" cy="7590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/>
              <a:t>2. </a:t>
            </a:r>
            <a:r>
              <a:rPr lang="zh-CN" altLang="en-US" sz="4000" b="1" dirty="0"/>
              <a:t>不可移植性</a:t>
            </a:r>
            <a:endParaRPr lang="zh-CN" altLang="en-US" sz="4000" b="1" dirty="0">
              <a:solidFill>
                <a:srgbClr val="2E3C63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/>
              <a:t>编程壁垒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5623" y="7834351"/>
            <a:ext cx="1221472" cy="977178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960119" y="2552272"/>
            <a:ext cx="15192319" cy="7474340"/>
            <a:chOff x="960119" y="2552272"/>
            <a:chExt cx="15192319" cy="7474340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50024" y="2552272"/>
              <a:ext cx="12602414" cy="7474340"/>
            </a:xfrm>
            <a:prstGeom prst="rect">
              <a:avLst/>
            </a:prstGeom>
          </p:spPr>
        </p:pic>
        <p:sp>
          <p:nvSpPr>
            <p:cNvPr id="23" name="文本框 22"/>
            <p:cNvSpPr txBox="1"/>
            <p:nvPr/>
          </p:nvSpPr>
          <p:spPr>
            <a:xfrm>
              <a:off x="960120" y="5643111"/>
              <a:ext cx="319566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3600" dirty="0"/>
                <a:t>接口差异</a:t>
              </a:r>
              <a:endParaRPr lang="en-US" altLang="zh-CN" sz="3600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960119" y="7999774"/>
              <a:ext cx="319566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3600" dirty="0"/>
                <a:t>架构差异</a:t>
              </a:r>
              <a:endParaRPr lang="en-US" altLang="zh-CN" sz="3600" dirty="0"/>
            </a:p>
          </p:txBody>
        </p:sp>
      </p:grp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/>
              <a:t>理想的编程框架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49407" y="1879861"/>
            <a:ext cx="4888005" cy="1081131"/>
            <a:chOff x="849407" y="1879861"/>
            <a:chExt cx="7936006" cy="2423198"/>
          </a:xfrm>
        </p:grpSpPr>
        <p:grpSp>
          <p:nvGrpSpPr>
            <p:cNvPr id="20" name="Group 17"/>
            <p:cNvGrpSpPr/>
            <p:nvPr/>
          </p:nvGrpSpPr>
          <p:grpSpPr>
            <a:xfrm>
              <a:off x="849407" y="1879861"/>
              <a:ext cx="7936006" cy="2423198"/>
              <a:chOff x="0" y="-30"/>
              <a:chExt cx="5836545" cy="7730786"/>
            </a:xfrm>
          </p:grpSpPr>
          <p:sp>
            <p:nvSpPr>
              <p:cNvPr id="21" name="Freeform 19"/>
              <p:cNvSpPr/>
              <p:nvPr>
                <p:custDataLst>
                  <p:tags r:id="rId4"/>
                </p:custDataLst>
              </p:nvPr>
            </p:nvSpPr>
            <p:spPr>
              <a:xfrm rot="16200000">
                <a:off x="2836481" y="4730693"/>
                <a:ext cx="163583" cy="5836545"/>
              </a:xfrm>
              <a:custGeom>
                <a:avLst/>
                <a:gdLst/>
                <a:ahLst/>
                <a:cxnLst/>
                <a:rect l="l" t="t" r="r" b="b"/>
                <a:pathLst>
                  <a:path w="25088" h="895141">
                    <a:moveTo>
                      <a:pt x="0" y="0"/>
                    </a:moveTo>
                    <a:lnTo>
                      <a:pt x="25088" y="0"/>
                    </a:lnTo>
                    <a:lnTo>
                      <a:pt x="25088" y="895141"/>
                    </a:lnTo>
                    <a:lnTo>
                      <a:pt x="0" y="895141"/>
                    </a:lnTo>
                    <a:close/>
                  </a:path>
                </a:pathLst>
              </a:custGeom>
              <a:solidFill>
                <a:srgbClr val="F7E8D3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21"/>
              <p:cNvSpPr/>
              <p:nvPr>
                <p:custDataLst>
                  <p:tags r:id="rId5"/>
                </p:custDataLst>
              </p:nvPr>
            </p:nvSpPr>
            <p:spPr>
              <a:xfrm rot="5400000">
                <a:off x="-865315" y="865315"/>
                <a:ext cx="7567174" cy="5836544"/>
              </a:xfrm>
              <a:custGeom>
                <a:avLst/>
                <a:gdLst/>
                <a:ahLst/>
                <a:cxnLst/>
                <a:rect l="l" t="t" r="r" b="b"/>
                <a:pathLst>
                  <a:path w="7567174" h="5836544">
                    <a:moveTo>
                      <a:pt x="0" y="0"/>
                    </a:moveTo>
                    <a:lnTo>
                      <a:pt x="7567174" y="0"/>
                    </a:lnTo>
                    <a:lnTo>
                      <a:pt x="7567174" y="5836544"/>
                    </a:lnTo>
                    <a:lnTo>
                      <a:pt x="0" y="5836544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rgbClr val="5399D4"/>
                  </a:gs>
                </a:gsLst>
                <a:lin ang="10800000" scaled="0"/>
              </a:gradFill>
            </p:spPr>
            <p:txBody>
              <a:bodyPr/>
              <a:lstStyle/>
              <a:p>
                <a:endParaRPr lang="zh-CN" altLang="en-US" dirty="0"/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1118347" y="2219377"/>
              <a:ext cx="7398124" cy="1448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/>
                <a:t>目标无关编程</a:t>
              </a:r>
              <a:endParaRPr lang="zh-CN" altLang="en-US" sz="3600" dirty="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903059" y="1879865"/>
            <a:ext cx="6670754" cy="1104506"/>
            <a:chOff x="849407" y="1879861"/>
            <a:chExt cx="7936006" cy="2423198"/>
          </a:xfrm>
        </p:grpSpPr>
        <p:grpSp>
          <p:nvGrpSpPr>
            <p:cNvPr id="19" name="Group 17"/>
            <p:cNvGrpSpPr/>
            <p:nvPr/>
          </p:nvGrpSpPr>
          <p:grpSpPr>
            <a:xfrm>
              <a:off x="849407" y="1879861"/>
              <a:ext cx="7936006" cy="2423198"/>
              <a:chOff x="0" y="-30"/>
              <a:chExt cx="5836545" cy="7730786"/>
            </a:xfrm>
          </p:grpSpPr>
          <p:sp>
            <p:nvSpPr>
              <p:cNvPr id="24" name="Freeform 19"/>
              <p:cNvSpPr/>
              <p:nvPr>
                <p:custDataLst>
                  <p:tags r:id="rId6"/>
                </p:custDataLst>
              </p:nvPr>
            </p:nvSpPr>
            <p:spPr>
              <a:xfrm rot="16200000">
                <a:off x="2836481" y="4730693"/>
                <a:ext cx="163583" cy="5836545"/>
              </a:xfrm>
              <a:custGeom>
                <a:avLst/>
                <a:gdLst/>
                <a:ahLst/>
                <a:cxnLst/>
                <a:rect l="l" t="t" r="r" b="b"/>
                <a:pathLst>
                  <a:path w="25088" h="895141">
                    <a:moveTo>
                      <a:pt x="0" y="0"/>
                    </a:moveTo>
                    <a:lnTo>
                      <a:pt x="25088" y="0"/>
                    </a:lnTo>
                    <a:lnTo>
                      <a:pt x="25088" y="895141"/>
                    </a:lnTo>
                    <a:lnTo>
                      <a:pt x="0" y="895141"/>
                    </a:lnTo>
                    <a:close/>
                  </a:path>
                </a:pathLst>
              </a:custGeom>
              <a:solidFill>
                <a:srgbClr val="F7E8D3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21"/>
              <p:cNvSpPr/>
              <p:nvPr>
                <p:custDataLst>
                  <p:tags r:id="rId7"/>
                </p:custDataLst>
              </p:nvPr>
            </p:nvSpPr>
            <p:spPr>
              <a:xfrm rot="5400000">
                <a:off x="-865315" y="865315"/>
                <a:ext cx="7567174" cy="5836544"/>
              </a:xfrm>
              <a:custGeom>
                <a:avLst/>
                <a:gdLst/>
                <a:ahLst/>
                <a:cxnLst/>
                <a:rect l="l" t="t" r="r" b="b"/>
                <a:pathLst>
                  <a:path w="7567174" h="5836544">
                    <a:moveTo>
                      <a:pt x="0" y="0"/>
                    </a:moveTo>
                    <a:lnTo>
                      <a:pt x="7567174" y="0"/>
                    </a:lnTo>
                    <a:lnTo>
                      <a:pt x="7567174" y="5836544"/>
                    </a:lnTo>
                    <a:lnTo>
                      <a:pt x="0" y="5836544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rgbClr val="5399D4"/>
                  </a:gs>
                </a:gsLst>
                <a:lin ang="10800000" scaled="0"/>
              </a:gradFill>
            </p:spPr>
            <p:txBody>
              <a:bodyPr/>
              <a:lstStyle/>
              <a:p>
                <a:endParaRPr lang="zh-CN" altLang="en-US" dirty="0"/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1118347" y="2219379"/>
              <a:ext cx="7398125" cy="1417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/>
                <a:t>可移植性与高性能</a:t>
              </a:r>
              <a:endParaRPr lang="zh-CN" altLang="en-US" sz="3600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2727840" y="1879865"/>
            <a:ext cx="4545105" cy="1104507"/>
            <a:chOff x="849407" y="1879861"/>
            <a:chExt cx="7936006" cy="2423198"/>
          </a:xfrm>
        </p:grpSpPr>
        <p:grpSp>
          <p:nvGrpSpPr>
            <p:cNvPr id="27" name="Group 17"/>
            <p:cNvGrpSpPr/>
            <p:nvPr/>
          </p:nvGrpSpPr>
          <p:grpSpPr>
            <a:xfrm>
              <a:off x="849407" y="1879861"/>
              <a:ext cx="7936006" cy="2423198"/>
              <a:chOff x="0" y="-30"/>
              <a:chExt cx="5836545" cy="7730786"/>
            </a:xfrm>
          </p:grpSpPr>
          <p:sp>
            <p:nvSpPr>
              <p:cNvPr id="29" name="Freeform 19"/>
              <p:cNvSpPr/>
              <p:nvPr>
                <p:custDataLst>
                  <p:tags r:id="rId8"/>
                </p:custDataLst>
              </p:nvPr>
            </p:nvSpPr>
            <p:spPr>
              <a:xfrm rot="16200000">
                <a:off x="2836481" y="4730693"/>
                <a:ext cx="163583" cy="5836545"/>
              </a:xfrm>
              <a:custGeom>
                <a:avLst/>
                <a:gdLst/>
                <a:ahLst/>
                <a:cxnLst/>
                <a:rect l="l" t="t" r="r" b="b"/>
                <a:pathLst>
                  <a:path w="25088" h="895141">
                    <a:moveTo>
                      <a:pt x="0" y="0"/>
                    </a:moveTo>
                    <a:lnTo>
                      <a:pt x="25088" y="0"/>
                    </a:lnTo>
                    <a:lnTo>
                      <a:pt x="25088" y="895141"/>
                    </a:lnTo>
                    <a:lnTo>
                      <a:pt x="0" y="895141"/>
                    </a:lnTo>
                    <a:close/>
                  </a:path>
                </a:pathLst>
              </a:custGeom>
              <a:solidFill>
                <a:srgbClr val="F7E8D3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21"/>
              <p:cNvSpPr/>
              <p:nvPr>
                <p:custDataLst>
                  <p:tags r:id="rId9"/>
                </p:custDataLst>
              </p:nvPr>
            </p:nvSpPr>
            <p:spPr>
              <a:xfrm rot="5400000">
                <a:off x="-865315" y="865315"/>
                <a:ext cx="7567174" cy="5836544"/>
              </a:xfrm>
              <a:custGeom>
                <a:avLst/>
                <a:gdLst/>
                <a:ahLst/>
                <a:cxnLst/>
                <a:rect l="l" t="t" r="r" b="b"/>
                <a:pathLst>
                  <a:path w="7567174" h="5836544">
                    <a:moveTo>
                      <a:pt x="0" y="0"/>
                    </a:moveTo>
                    <a:lnTo>
                      <a:pt x="7567174" y="0"/>
                    </a:lnTo>
                    <a:lnTo>
                      <a:pt x="7567174" y="5836544"/>
                    </a:lnTo>
                    <a:lnTo>
                      <a:pt x="0" y="5836544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rgbClr val="5399D4"/>
                  </a:gs>
                </a:gsLst>
                <a:lin ang="10800000" scaled="0"/>
              </a:gradFill>
            </p:spPr>
            <p:txBody>
              <a:bodyPr/>
              <a:lstStyle/>
              <a:p>
                <a:endParaRPr lang="zh-CN" altLang="en-US" dirty="0"/>
              </a:p>
            </p:txBody>
          </p:sp>
        </p:grpSp>
        <p:sp>
          <p:nvSpPr>
            <p:cNvPr id="28" name="文本框 27"/>
            <p:cNvSpPr txBox="1"/>
            <p:nvPr/>
          </p:nvSpPr>
          <p:spPr>
            <a:xfrm>
              <a:off x="1118347" y="2219379"/>
              <a:ext cx="7398124" cy="1417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/>
                <a:t>可扩展性</a:t>
              </a:r>
              <a:endParaRPr lang="zh-CN" altLang="en-US" sz="3600" dirty="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923568" y="3032378"/>
            <a:ext cx="14349376" cy="6994234"/>
            <a:chOff x="2923568" y="3032378"/>
            <a:chExt cx="14349376" cy="6994234"/>
          </a:xfrm>
        </p:grpSpPr>
        <p:grpSp>
          <p:nvGrpSpPr>
            <p:cNvPr id="39" name="组合 38"/>
            <p:cNvGrpSpPr/>
            <p:nvPr/>
          </p:nvGrpSpPr>
          <p:grpSpPr>
            <a:xfrm>
              <a:off x="2923568" y="3032378"/>
              <a:ext cx="14349376" cy="6994234"/>
              <a:chOff x="2923568" y="3032378"/>
              <a:chExt cx="14349376" cy="6994234"/>
            </a:xfrm>
          </p:grpSpPr>
          <p:pic>
            <p:nvPicPr>
              <p:cNvPr id="33" name="图片 32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23568" y="3155263"/>
                <a:ext cx="12629734" cy="6871349"/>
              </a:xfrm>
              <a:prstGeom prst="rect">
                <a:avLst/>
              </a:prstGeom>
            </p:spPr>
          </p:pic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21873" y="3032378"/>
                <a:ext cx="7651071" cy="2019505"/>
              </a:xfrm>
              <a:prstGeom prst="rect">
                <a:avLst/>
              </a:prstGeom>
            </p:spPr>
          </p:pic>
          <p:pic>
            <p:nvPicPr>
              <p:cNvPr id="38" name="图片 37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1333339">
                <a:off x="9072282" y="3568228"/>
                <a:ext cx="2192769" cy="753441"/>
              </a:xfrm>
              <a:prstGeom prst="rect">
                <a:avLst/>
              </a:prstGeom>
            </p:spPr>
          </p:pic>
        </p:grpSp>
        <p:sp>
          <p:nvSpPr>
            <p:cNvPr id="40" name="对话气泡: 圆角矩形 39"/>
            <p:cNvSpPr/>
            <p:nvPr/>
          </p:nvSpPr>
          <p:spPr>
            <a:xfrm>
              <a:off x="9879344" y="3155263"/>
              <a:ext cx="5485088" cy="1526787"/>
            </a:xfrm>
            <a:prstGeom prst="wedgeRoundRectCallout">
              <a:avLst>
                <a:gd name="adj1" fmla="val -63325"/>
                <a:gd name="adj2" fmla="val 30793"/>
                <a:gd name="adj3" fmla="val 1666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solidFill>
                    <a:schemeClr val="tx1"/>
                  </a:solidFill>
                </a:rPr>
                <a:t>我不用再学那么多微架构了！</a:t>
              </a:r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</p:grp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 dirty="0"/>
              <a:t>Alkali </a:t>
            </a:r>
            <a:r>
              <a:rPr lang="zh-CN" altLang="en-US" sz="4400" b="1" dirty="0"/>
              <a:t>简介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  <p:grpSp>
        <p:nvGrpSpPr>
          <p:cNvPr id="4" name="Group 17"/>
          <p:cNvGrpSpPr/>
          <p:nvPr/>
        </p:nvGrpSpPr>
        <p:grpSpPr>
          <a:xfrm>
            <a:off x="584907" y="3920421"/>
            <a:ext cx="17118187" cy="1924567"/>
            <a:chOff x="0" y="0"/>
            <a:chExt cx="5836545" cy="7730757"/>
          </a:xfrm>
        </p:grpSpPr>
        <p:sp>
          <p:nvSpPr>
            <p:cNvPr id="5" name="Freeform 19"/>
            <p:cNvSpPr/>
            <p:nvPr>
              <p:custDataLst>
                <p:tags r:id="rId4"/>
              </p:custDataLst>
            </p:nvPr>
          </p:nvSpPr>
          <p:spPr>
            <a:xfrm rot="16200000">
              <a:off x="2836481" y="4730693"/>
              <a:ext cx="163583" cy="5836545"/>
            </a:xfrm>
            <a:custGeom>
              <a:avLst/>
              <a:gdLst/>
              <a:ahLst/>
              <a:cxnLst/>
              <a:rect l="l" t="t" r="r" b="b"/>
              <a:pathLst>
                <a:path w="25088" h="895141">
                  <a:moveTo>
                    <a:pt x="0" y="0"/>
                  </a:moveTo>
                  <a:lnTo>
                    <a:pt x="25088" y="0"/>
                  </a:lnTo>
                  <a:lnTo>
                    <a:pt x="25088" y="895141"/>
                  </a:lnTo>
                  <a:lnTo>
                    <a:pt x="0" y="895141"/>
                  </a:lnTo>
                  <a:close/>
                </a:path>
              </a:pathLst>
            </a:custGeom>
            <a:solidFill>
              <a:srgbClr val="F7E8D3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21"/>
            <p:cNvSpPr/>
            <p:nvPr>
              <p:custDataLst>
                <p:tags r:id="rId5"/>
              </p:custDataLst>
            </p:nvPr>
          </p:nvSpPr>
          <p:spPr>
            <a:xfrm rot="5400000">
              <a:off x="-865315" y="865315"/>
              <a:ext cx="7567174" cy="5836544"/>
            </a:xfrm>
            <a:custGeom>
              <a:avLst/>
              <a:gdLst/>
              <a:ahLst/>
              <a:cxnLst/>
              <a:rect l="l" t="t" r="r" b="b"/>
              <a:pathLst>
                <a:path w="7567174" h="5836544">
                  <a:moveTo>
                    <a:pt x="0" y="0"/>
                  </a:moveTo>
                  <a:lnTo>
                    <a:pt x="7567174" y="0"/>
                  </a:lnTo>
                  <a:lnTo>
                    <a:pt x="7567174" y="5836544"/>
                  </a:lnTo>
                  <a:lnTo>
                    <a:pt x="0" y="583654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100000">
                  <a:srgbClr val="5399D4"/>
                </a:gs>
              </a:gsLst>
              <a:lin ang="10800000" scaled="0"/>
            </a:gradFill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773082" y="415962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IR</a:t>
            </a:r>
            <a:r>
              <a:rPr lang="zh-CN" altLang="en-US" sz="3600" b="1" dirty="0">
                <a:solidFill>
                  <a:schemeClr val="bg1"/>
                </a:solidFill>
              </a:rPr>
              <a:t>：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3082" y="4924286"/>
            <a:ext cx="1662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设计一种针对 </a:t>
            </a:r>
            <a:r>
              <a:rPr lang="en-US" altLang="zh-CN" sz="3600" dirty="0" err="1"/>
              <a:t>SmartNIC</a:t>
            </a:r>
            <a:r>
              <a:rPr lang="en-US" altLang="zh-CN" sz="3600" dirty="0"/>
              <a:t> </a:t>
            </a:r>
            <a:r>
              <a:rPr lang="zh-CN" altLang="en-US" sz="3600" dirty="0"/>
              <a:t>的</a:t>
            </a:r>
            <a:r>
              <a:rPr lang="zh-CN" altLang="en-US" sz="3600" dirty="0">
                <a:solidFill>
                  <a:srgbClr val="FF0000"/>
                </a:solidFill>
              </a:rPr>
              <a:t>中间表示（</a:t>
            </a:r>
            <a:r>
              <a:rPr lang="en-US" altLang="zh-CN" sz="3600" dirty="0">
                <a:solidFill>
                  <a:srgbClr val="FF0000"/>
                </a:solidFill>
              </a:rPr>
              <a:t>IR</a:t>
            </a:r>
            <a:r>
              <a:rPr lang="zh-CN" altLang="en-US" sz="3600" dirty="0">
                <a:solidFill>
                  <a:srgbClr val="FF0000"/>
                </a:solidFill>
              </a:rPr>
              <a:t>）</a:t>
            </a:r>
            <a:r>
              <a:rPr lang="zh-CN" altLang="en-US" sz="3600" dirty="0"/>
              <a:t>，用于构建多目标编译器基础设施 。</a:t>
            </a:r>
            <a:endParaRPr lang="zh-CN" altLang="en-US" sz="3600" dirty="0"/>
          </a:p>
        </p:txBody>
      </p:sp>
      <p:sp>
        <p:nvSpPr>
          <p:cNvPr id="10" name="文本框 9"/>
          <p:cNvSpPr txBox="1"/>
          <p:nvPr/>
        </p:nvSpPr>
        <p:spPr>
          <a:xfrm>
            <a:off x="4156023" y="2072609"/>
            <a:ext cx="98570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b="1" dirty="0"/>
              <a:t>Alkali: 面向智能网卡的多目标编译框架</a:t>
            </a:r>
            <a:endParaRPr lang="zh-CN" altLang="en-US" sz="4400" b="1" dirty="0"/>
          </a:p>
        </p:txBody>
      </p:sp>
      <p:grpSp>
        <p:nvGrpSpPr>
          <p:cNvPr id="11" name="Group 17"/>
          <p:cNvGrpSpPr/>
          <p:nvPr/>
        </p:nvGrpSpPr>
        <p:grpSpPr>
          <a:xfrm>
            <a:off x="584906" y="7045568"/>
            <a:ext cx="17118187" cy="1924567"/>
            <a:chOff x="0" y="0"/>
            <a:chExt cx="5836545" cy="7730757"/>
          </a:xfrm>
        </p:grpSpPr>
        <p:sp>
          <p:nvSpPr>
            <p:cNvPr id="19" name="Freeform 19"/>
            <p:cNvSpPr/>
            <p:nvPr>
              <p:custDataLst>
                <p:tags r:id="rId6"/>
              </p:custDataLst>
            </p:nvPr>
          </p:nvSpPr>
          <p:spPr>
            <a:xfrm rot="16200000">
              <a:off x="2836481" y="4730693"/>
              <a:ext cx="163583" cy="5836545"/>
            </a:xfrm>
            <a:custGeom>
              <a:avLst/>
              <a:gdLst/>
              <a:ahLst/>
              <a:cxnLst/>
              <a:rect l="l" t="t" r="r" b="b"/>
              <a:pathLst>
                <a:path w="25088" h="895141">
                  <a:moveTo>
                    <a:pt x="0" y="0"/>
                  </a:moveTo>
                  <a:lnTo>
                    <a:pt x="25088" y="0"/>
                  </a:lnTo>
                  <a:lnTo>
                    <a:pt x="25088" y="895141"/>
                  </a:lnTo>
                  <a:lnTo>
                    <a:pt x="0" y="895141"/>
                  </a:lnTo>
                  <a:close/>
                </a:path>
              </a:pathLst>
            </a:custGeom>
            <a:solidFill>
              <a:srgbClr val="F7E8D3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21"/>
            <p:cNvSpPr/>
            <p:nvPr>
              <p:custDataLst>
                <p:tags r:id="rId7"/>
              </p:custDataLst>
            </p:nvPr>
          </p:nvSpPr>
          <p:spPr>
            <a:xfrm rot="5400000">
              <a:off x="-865315" y="865315"/>
              <a:ext cx="7567174" cy="5836544"/>
            </a:xfrm>
            <a:custGeom>
              <a:avLst/>
              <a:gdLst/>
              <a:ahLst/>
              <a:cxnLst/>
              <a:rect l="l" t="t" r="r" b="b"/>
              <a:pathLst>
                <a:path w="7567174" h="5836544">
                  <a:moveTo>
                    <a:pt x="0" y="0"/>
                  </a:moveTo>
                  <a:lnTo>
                    <a:pt x="7567174" y="0"/>
                  </a:lnTo>
                  <a:lnTo>
                    <a:pt x="7567174" y="5836544"/>
                  </a:lnTo>
                  <a:lnTo>
                    <a:pt x="0" y="583654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100000">
                  <a:srgbClr val="5399D4"/>
                </a:gs>
              </a:gsLst>
              <a:lin ang="10800000" scaled="0"/>
            </a:gradFill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773081" y="7284769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</a:rPr>
              <a:t>自动并行优化：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73081" y="8049433"/>
            <a:ext cx="1662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通过</a:t>
            </a:r>
            <a:r>
              <a:rPr lang="zh-CN" altLang="en-US" sz="3600" dirty="0">
                <a:solidFill>
                  <a:srgbClr val="FF0000"/>
                </a:solidFill>
              </a:rPr>
              <a:t>自动并行化优化</a:t>
            </a:r>
            <a:r>
              <a:rPr lang="zh-CN" altLang="en-US" sz="3600" dirty="0"/>
              <a:t>来实现可移植性和高性能 。</a:t>
            </a:r>
            <a:endParaRPr lang="zh-CN" altLang="en-US" sz="3600" dirty="0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 dirty="0"/>
              <a:t>Alkali </a:t>
            </a:r>
            <a:r>
              <a:rPr lang="zh-CN" altLang="en-US" sz="4400" b="1" dirty="0"/>
              <a:t>架构总览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49407" y="1879861"/>
            <a:ext cx="4888005" cy="1081131"/>
            <a:chOff x="849407" y="1879861"/>
            <a:chExt cx="7936006" cy="2423198"/>
          </a:xfrm>
        </p:grpSpPr>
        <p:grpSp>
          <p:nvGrpSpPr>
            <p:cNvPr id="10" name="Group 17"/>
            <p:cNvGrpSpPr/>
            <p:nvPr/>
          </p:nvGrpSpPr>
          <p:grpSpPr>
            <a:xfrm>
              <a:off x="849407" y="1879861"/>
              <a:ext cx="7936006" cy="2423198"/>
              <a:chOff x="0" y="-30"/>
              <a:chExt cx="5836545" cy="7730786"/>
            </a:xfrm>
          </p:grpSpPr>
          <p:sp>
            <p:nvSpPr>
              <p:cNvPr id="19" name="Freeform 19"/>
              <p:cNvSpPr/>
              <p:nvPr>
                <p:custDataLst>
                  <p:tags r:id="rId4"/>
                </p:custDataLst>
              </p:nvPr>
            </p:nvSpPr>
            <p:spPr>
              <a:xfrm rot="16200000">
                <a:off x="2836481" y="4730693"/>
                <a:ext cx="163583" cy="5836545"/>
              </a:xfrm>
              <a:custGeom>
                <a:avLst/>
                <a:gdLst/>
                <a:ahLst/>
                <a:cxnLst/>
                <a:rect l="l" t="t" r="r" b="b"/>
                <a:pathLst>
                  <a:path w="25088" h="895141">
                    <a:moveTo>
                      <a:pt x="0" y="0"/>
                    </a:moveTo>
                    <a:lnTo>
                      <a:pt x="25088" y="0"/>
                    </a:lnTo>
                    <a:lnTo>
                      <a:pt x="25088" y="895141"/>
                    </a:lnTo>
                    <a:lnTo>
                      <a:pt x="0" y="895141"/>
                    </a:lnTo>
                    <a:close/>
                  </a:path>
                </a:pathLst>
              </a:custGeom>
              <a:solidFill>
                <a:srgbClr val="F7E8D3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21"/>
              <p:cNvSpPr/>
              <p:nvPr>
                <p:custDataLst>
                  <p:tags r:id="rId5"/>
                </p:custDataLst>
              </p:nvPr>
            </p:nvSpPr>
            <p:spPr>
              <a:xfrm rot="5400000">
                <a:off x="-865315" y="865315"/>
                <a:ext cx="7567174" cy="5836544"/>
              </a:xfrm>
              <a:custGeom>
                <a:avLst/>
                <a:gdLst/>
                <a:ahLst/>
                <a:cxnLst/>
                <a:rect l="l" t="t" r="r" b="b"/>
                <a:pathLst>
                  <a:path w="7567174" h="5836544">
                    <a:moveTo>
                      <a:pt x="0" y="0"/>
                    </a:moveTo>
                    <a:lnTo>
                      <a:pt x="7567174" y="0"/>
                    </a:lnTo>
                    <a:lnTo>
                      <a:pt x="7567174" y="5836544"/>
                    </a:lnTo>
                    <a:lnTo>
                      <a:pt x="0" y="5836544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rgbClr val="5399D4"/>
                  </a:gs>
                </a:gsLst>
                <a:lin ang="10800000" scaled="0"/>
              </a:gradFill>
            </p:spPr>
            <p:txBody>
              <a:bodyPr/>
              <a:lstStyle/>
              <a:p>
                <a:endParaRPr lang="zh-CN" altLang="en-US" dirty="0"/>
              </a:p>
            </p:txBody>
          </p:sp>
        </p:grpSp>
        <p:sp>
          <p:nvSpPr>
            <p:cNvPr id="11" name="文本框 10"/>
            <p:cNvSpPr txBox="1"/>
            <p:nvPr/>
          </p:nvSpPr>
          <p:spPr>
            <a:xfrm>
              <a:off x="1118347" y="2219377"/>
              <a:ext cx="7398124" cy="1448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/>
                <a:t>目标无关编程</a:t>
              </a:r>
              <a:endParaRPr lang="zh-CN" altLang="en-US" sz="3600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903059" y="1879865"/>
            <a:ext cx="6670754" cy="1104506"/>
            <a:chOff x="849407" y="1879861"/>
            <a:chExt cx="7936006" cy="2423198"/>
          </a:xfrm>
        </p:grpSpPr>
        <p:grpSp>
          <p:nvGrpSpPr>
            <p:cNvPr id="25" name="Group 17"/>
            <p:cNvGrpSpPr/>
            <p:nvPr/>
          </p:nvGrpSpPr>
          <p:grpSpPr>
            <a:xfrm>
              <a:off x="849407" y="1879861"/>
              <a:ext cx="7936006" cy="2423198"/>
              <a:chOff x="0" y="-30"/>
              <a:chExt cx="5836545" cy="7730786"/>
            </a:xfrm>
          </p:grpSpPr>
          <p:sp>
            <p:nvSpPr>
              <p:cNvPr id="27" name="Freeform 19"/>
              <p:cNvSpPr/>
              <p:nvPr>
                <p:custDataLst>
                  <p:tags r:id="rId6"/>
                </p:custDataLst>
              </p:nvPr>
            </p:nvSpPr>
            <p:spPr>
              <a:xfrm rot="16200000">
                <a:off x="2836481" y="4730693"/>
                <a:ext cx="163583" cy="5836545"/>
              </a:xfrm>
              <a:custGeom>
                <a:avLst/>
                <a:gdLst/>
                <a:ahLst/>
                <a:cxnLst/>
                <a:rect l="l" t="t" r="r" b="b"/>
                <a:pathLst>
                  <a:path w="25088" h="895141">
                    <a:moveTo>
                      <a:pt x="0" y="0"/>
                    </a:moveTo>
                    <a:lnTo>
                      <a:pt x="25088" y="0"/>
                    </a:lnTo>
                    <a:lnTo>
                      <a:pt x="25088" y="895141"/>
                    </a:lnTo>
                    <a:lnTo>
                      <a:pt x="0" y="895141"/>
                    </a:lnTo>
                    <a:close/>
                  </a:path>
                </a:pathLst>
              </a:custGeom>
              <a:solidFill>
                <a:srgbClr val="F7E8D3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21"/>
              <p:cNvSpPr/>
              <p:nvPr>
                <p:custDataLst>
                  <p:tags r:id="rId7"/>
                </p:custDataLst>
              </p:nvPr>
            </p:nvSpPr>
            <p:spPr>
              <a:xfrm rot="5400000">
                <a:off x="-865315" y="865315"/>
                <a:ext cx="7567174" cy="5836544"/>
              </a:xfrm>
              <a:custGeom>
                <a:avLst/>
                <a:gdLst/>
                <a:ahLst/>
                <a:cxnLst/>
                <a:rect l="l" t="t" r="r" b="b"/>
                <a:pathLst>
                  <a:path w="7567174" h="5836544">
                    <a:moveTo>
                      <a:pt x="0" y="0"/>
                    </a:moveTo>
                    <a:lnTo>
                      <a:pt x="7567174" y="0"/>
                    </a:lnTo>
                    <a:lnTo>
                      <a:pt x="7567174" y="5836544"/>
                    </a:lnTo>
                    <a:lnTo>
                      <a:pt x="0" y="5836544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rgbClr val="5399D4"/>
                  </a:gs>
                </a:gsLst>
                <a:lin ang="10800000" scaled="0"/>
              </a:gradFill>
            </p:spPr>
            <p:txBody>
              <a:bodyPr/>
              <a:lstStyle/>
              <a:p>
                <a:endParaRPr lang="zh-CN" altLang="en-US" dirty="0"/>
              </a:p>
            </p:txBody>
          </p:sp>
        </p:grpSp>
        <p:sp>
          <p:nvSpPr>
            <p:cNvPr id="26" name="文本框 25"/>
            <p:cNvSpPr txBox="1"/>
            <p:nvPr/>
          </p:nvSpPr>
          <p:spPr>
            <a:xfrm>
              <a:off x="1118347" y="2219379"/>
              <a:ext cx="7398125" cy="1417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/>
                <a:t>可移植性与高性能</a:t>
              </a:r>
              <a:endParaRPr lang="zh-CN" altLang="en-US" sz="3600" dirty="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2727840" y="1879865"/>
            <a:ext cx="4545105" cy="1104507"/>
            <a:chOff x="849407" y="1879861"/>
            <a:chExt cx="7936006" cy="2423198"/>
          </a:xfrm>
        </p:grpSpPr>
        <p:grpSp>
          <p:nvGrpSpPr>
            <p:cNvPr id="30" name="Group 17"/>
            <p:cNvGrpSpPr/>
            <p:nvPr/>
          </p:nvGrpSpPr>
          <p:grpSpPr>
            <a:xfrm>
              <a:off x="849407" y="1879861"/>
              <a:ext cx="7936006" cy="2423198"/>
              <a:chOff x="0" y="-30"/>
              <a:chExt cx="5836545" cy="7730786"/>
            </a:xfrm>
          </p:grpSpPr>
          <p:sp>
            <p:nvSpPr>
              <p:cNvPr id="33" name="Freeform 19"/>
              <p:cNvSpPr/>
              <p:nvPr>
                <p:custDataLst>
                  <p:tags r:id="rId8"/>
                </p:custDataLst>
              </p:nvPr>
            </p:nvSpPr>
            <p:spPr>
              <a:xfrm rot="16200000">
                <a:off x="2836481" y="4730693"/>
                <a:ext cx="163583" cy="5836545"/>
              </a:xfrm>
              <a:custGeom>
                <a:avLst/>
                <a:gdLst/>
                <a:ahLst/>
                <a:cxnLst/>
                <a:rect l="l" t="t" r="r" b="b"/>
                <a:pathLst>
                  <a:path w="25088" h="895141">
                    <a:moveTo>
                      <a:pt x="0" y="0"/>
                    </a:moveTo>
                    <a:lnTo>
                      <a:pt x="25088" y="0"/>
                    </a:lnTo>
                    <a:lnTo>
                      <a:pt x="25088" y="895141"/>
                    </a:lnTo>
                    <a:lnTo>
                      <a:pt x="0" y="895141"/>
                    </a:lnTo>
                    <a:close/>
                  </a:path>
                </a:pathLst>
              </a:custGeom>
              <a:solidFill>
                <a:srgbClr val="F7E8D3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21"/>
              <p:cNvSpPr/>
              <p:nvPr>
                <p:custDataLst>
                  <p:tags r:id="rId9"/>
                </p:custDataLst>
              </p:nvPr>
            </p:nvSpPr>
            <p:spPr>
              <a:xfrm rot="5400000">
                <a:off x="-865315" y="865315"/>
                <a:ext cx="7567174" cy="5836544"/>
              </a:xfrm>
              <a:custGeom>
                <a:avLst/>
                <a:gdLst/>
                <a:ahLst/>
                <a:cxnLst/>
                <a:rect l="l" t="t" r="r" b="b"/>
                <a:pathLst>
                  <a:path w="7567174" h="5836544">
                    <a:moveTo>
                      <a:pt x="0" y="0"/>
                    </a:moveTo>
                    <a:lnTo>
                      <a:pt x="7567174" y="0"/>
                    </a:lnTo>
                    <a:lnTo>
                      <a:pt x="7567174" y="5836544"/>
                    </a:lnTo>
                    <a:lnTo>
                      <a:pt x="0" y="5836544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100000">
                    <a:srgbClr val="5399D4"/>
                  </a:gs>
                </a:gsLst>
                <a:lin ang="10800000" scaled="0"/>
              </a:gradFill>
            </p:spPr>
            <p:txBody>
              <a:bodyPr/>
              <a:lstStyle/>
              <a:p>
                <a:endParaRPr lang="zh-CN" altLang="en-US" dirty="0"/>
              </a:p>
            </p:txBody>
          </p:sp>
        </p:grpSp>
        <p:sp>
          <p:nvSpPr>
            <p:cNvPr id="32" name="文本框 31"/>
            <p:cNvSpPr txBox="1"/>
            <p:nvPr/>
          </p:nvSpPr>
          <p:spPr>
            <a:xfrm>
              <a:off x="1118347" y="2219379"/>
              <a:ext cx="7398124" cy="1417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/>
                <a:t>可扩展性</a:t>
              </a:r>
              <a:endParaRPr lang="zh-CN" altLang="en-US" sz="3600" dirty="0"/>
            </a:p>
          </p:txBody>
        </p:sp>
      </p:grpSp>
      <p:pic>
        <p:nvPicPr>
          <p:cNvPr id="36" name="图形 35" descr="复选标记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776893" y="2506904"/>
            <a:ext cx="1145537" cy="1145537"/>
          </a:xfrm>
          <a:prstGeom prst="rect">
            <a:avLst/>
          </a:prstGeom>
        </p:spPr>
      </p:pic>
      <p:pic>
        <p:nvPicPr>
          <p:cNvPr id="38" name="图形 37" descr="复选标记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08742" y="2434274"/>
            <a:ext cx="1145537" cy="1145537"/>
          </a:xfrm>
          <a:prstGeom prst="rect">
            <a:avLst/>
          </a:prstGeom>
        </p:spPr>
      </p:pic>
      <p:pic>
        <p:nvPicPr>
          <p:cNvPr id="39" name="图形 38" descr="复选标记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3802" y="2388223"/>
            <a:ext cx="1145537" cy="1145537"/>
          </a:xfrm>
          <a:prstGeom prst="rect">
            <a:avLst/>
          </a:prstGeom>
        </p:spPr>
      </p:pic>
      <p:grpSp>
        <p:nvGrpSpPr>
          <p:cNvPr id="44" name="组合 43"/>
          <p:cNvGrpSpPr/>
          <p:nvPr/>
        </p:nvGrpSpPr>
        <p:grpSpPr>
          <a:xfrm>
            <a:off x="0" y="4733572"/>
            <a:ext cx="18284270" cy="4705392"/>
            <a:chOff x="3730" y="4485259"/>
            <a:chExt cx="18284270" cy="4705392"/>
          </a:xfrm>
        </p:grpSpPr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30" y="4940485"/>
              <a:ext cx="18284270" cy="4250166"/>
            </a:xfrm>
            <a:prstGeom prst="rect">
              <a:avLst/>
            </a:prstGeom>
          </p:spPr>
        </p:pic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0419" y="4485259"/>
              <a:ext cx="4511181" cy="817939"/>
            </a:xfrm>
            <a:prstGeom prst="rect">
              <a:avLst/>
            </a:prstGeom>
          </p:spPr>
        </p:pic>
      </p:grpSp>
      <p:sp>
        <p:nvSpPr>
          <p:cNvPr id="45" name="矩形 44"/>
          <p:cNvSpPr/>
          <p:nvPr/>
        </p:nvSpPr>
        <p:spPr>
          <a:xfrm>
            <a:off x="968823" y="3670793"/>
            <a:ext cx="4510515" cy="114553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</a:rPr>
              <a:t>编程：单线程事件处理程序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118668" y="3670793"/>
            <a:ext cx="5363632" cy="114553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Alkali </a:t>
            </a:r>
            <a:r>
              <a:rPr lang="zh-CN" altLang="en-US" sz="2800" b="1" dirty="0">
                <a:solidFill>
                  <a:schemeClr val="tx1"/>
                </a:solidFill>
              </a:rPr>
              <a:t>编译器：事件处理图 </a:t>
            </a:r>
            <a:r>
              <a:rPr lang="en-US" altLang="zh-CN" sz="2800" b="1" dirty="0">
                <a:solidFill>
                  <a:schemeClr val="tx1"/>
                </a:solidFill>
              </a:rPr>
              <a:t>αIR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2154279" y="3670793"/>
            <a:ext cx="4219821" cy="114553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NIC </a:t>
            </a:r>
            <a:r>
              <a:rPr lang="zh-CN" altLang="en-US" sz="2800" b="1" dirty="0">
                <a:solidFill>
                  <a:schemeClr val="tx1"/>
                </a:solidFill>
              </a:rPr>
              <a:t>后端：生成简单代码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/>
              <a:t>汇报大纲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78994" y="3119716"/>
            <a:ext cx="5698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Current Research Focus: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845040" y="2797422"/>
            <a:ext cx="906589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90204" pitchFamily="34" charset="0"/>
              <a:buChar char="•"/>
            </a:pPr>
            <a:r>
              <a:rPr lang="zh-CN" altLang="en-US" sz="5400" dirty="0"/>
              <a:t>目标无关编程接口</a:t>
            </a:r>
            <a:endParaRPr lang="en-US" altLang="zh-CN" sz="5400" dirty="0"/>
          </a:p>
          <a:p>
            <a:pPr marL="571500" indent="-571500">
              <a:buFont typeface="Arial" panose="020B0604020202090204" pitchFamily="34" charset="0"/>
              <a:buChar char="•"/>
            </a:pPr>
            <a:endParaRPr lang="en-US" altLang="zh-CN" sz="5400" dirty="0"/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zh-CN" altLang="en-US" sz="5400" dirty="0"/>
              <a:t>基于事件处理图的 </a:t>
            </a:r>
            <a:r>
              <a:rPr lang="en-US" altLang="zh-CN" sz="5400" dirty="0"/>
              <a:t>αIR</a:t>
            </a:r>
            <a:endParaRPr lang="en-US" altLang="zh-CN" sz="5400" dirty="0"/>
          </a:p>
          <a:p>
            <a:pPr marL="571500" indent="-571500">
              <a:buFont typeface="Arial" panose="020B0604020202090204" pitchFamily="34" charset="0"/>
              <a:buChar char="•"/>
            </a:pPr>
            <a:endParaRPr lang="en-US" altLang="zh-CN" sz="5400" dirty="0"/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zh-CN" altLang="en-US" sz="5400" dirty="0"/>
              <a:t>自动并行优化</a:t>
            </a:r>
            <a:endParaRPr lang="en-US" altLang="zh-CN" sz="5400" dirty="0"/>
          </a:p>
          <a:p>
            <a:pPr marL="571500" indent="-571500">
              <a:buFont typeface="Arial" panose="020B0604020202090204" pitchFamily="34" charset="0"/>
              <a:buChar char="•"/>
            </a:pPr>
            <a:endParaRPr lang="en-US" altLang="zh-CN" sz="5400" dirty="0"/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zh-CN" altLang="en-US" sz="5400" dirty="0"/>
              <a:t>评估</a:t>
            </a:r>
            <a:endParaRPr lang="zh-CN" altLang="en-US" sz="5400" dirty="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/>
              <a:t>目标无关的编程接口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78994" y="3119716"/>
            <a:ext cx="5698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Current Research Focus: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2435" y="2018210"/>
            <a:ext cx="1573121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90204" pitchFamily="34" charset="0"/>
              <a:buChar char="•"/>
            </a:pPr>
            <a:r>
              <a:rPr lang="zh-CN" altLang="en-US" sz="4000" dirty="0"/>
              <a:t>采用“运行至完成”（</a:t>
            </a:r>
            <a:r>
              <a:rPr lang="en-US" altLang="zh-CN" sz="4000" dirty="0"/>
              <a:t>Run-to-completion</a:t>
            </a:r>
            <a:r>
              <a:rPr lang="zh-CN" altLang="en-US" sz="4000" dirty="0"/>
              <a:t>）的单线程编程模型。</a:t>
            </a:r>
            <a:endParaRPr lang="en-US" altLang="zh-CN" sz="4000" dirty="0"/>
          </a:p>
          <a:p>
            <a:pPr marL="1028700" lvl="1" indent="-571500">
              <a:buFont typeface="Arial" panose="020B0604020202090204" pitchFamily="34" charset="0"/>
              <a:buChar char="•"/>
            </a:pPr>
            <a:r>
              <a:rPr lang="zh-CN" altLang="en-US" sz="4000" dirty="0"/>
              <a:t>处理和生成硬件事件。</a:t>
            </a:r>
            <a:endParaRPr lang="en-US" altLang="zh-CN" sz="4000" dirty="0"/>
          </a:p>
          <a:p>
            <a:pPr marL="571500" indent="-571500">
              <a:buFont typeface="Arial" panose="020B0604020202090204" pitchFamily="34" charset="0"/>
              <a:buChar char="•"/>
            </a:pPr>
            <a:endParaRPr lang="en-US" altLang="zh-CN" sz="4000" dirty="0"/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zh-CN" altLang="en-US" sz="4000" dirty="0"/>
              <a:t>导入硬件架构规范，定义支持的事件。</a:t>
            </a:r>
            <a:endParaRPr lang="en-US" altLang="zh-CN" sz="4000" dirty="0"/>
          </a:p>
          <a:p>
            <a:pPr marL="1028700" lvl="1" indent="-571500">
              <a:buFont typeface="Arial" panose="020B0604020202090204" pitchFamily="34" charset="0"/>
              <a:buChar char="•"/>
            </a:pPr>
            <a:r>
              <a:rPr lang="zh-CN" altLang="en-US" sz="4000" dirty="0"/>
              <a:t>如果两个 </a:t>
            </a:r>
            <a:r>
              <a:rPr lang="en-US" altLang="zh-CN" sz="4000" dirty="0"/>
              <a:t>NIC </a:t>
            </a:r>
            <a:r>
              <a:rPr lang="zh-CN" altLang="en-US" sz="4000" dirty="0"/>
              <a:t>的硬件架构规范相同，代码就是可移植的。</a:t>
            </a:r>
            <a:endParaRPr lang="zh-CN" altLang="en-US" sz="40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82" y="5802026"/>
            <a:ext cx="16707236" cy="3972463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960120" y="1392503"/>
            <a:ext cx="8525828" cy="915300"/>
          </a:xfrm>
          <a:prstGeom prst="rect">
            <a:avLst/>
          </a:prstGeom>
          <a:gradFill>
            <a:gsLst>
              <a:gs pos="26000">
                <a:srgbClr val="F7E8D3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960120" y="1477059"/>
            <a:ext cx="12015788" cy="7590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/>
              <a:t>1. αIR </a:t>
            </a:r>
            <a:r>
              <a:rPr lang="zh-CN" altLang="en-US" sz="4000" b="1" dirty="0"/>
              <a:t>旨在捕获 </a:t>
            </a:r>
            <a:r>
              <a:rPr lang="en-US" altLang="zh-CN" sz="4000" b="1" dirty="0"/>
              <a:t>NIC </a:t>
            </a:r>
            <a:r>
              <a:rPr lang="zh-CN" altLang="en-US" sz="4000" b="1" dirty="0"/>
              <a:t>上的三种并行执行模式</a:t>
            </a:r>
            <a:endParaRPr lang="zh-CN" altLang="en-US" sz="4000" b="1" dirty="0">
              <a:solidFill>
                <a:srgbClr val="2E3C63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 dirty="0"/>
              <a:t>αIR</a:t>
            </a:r>
            <a:r>
              <a:rPr lang="zh-CN" altLang="en-US" sz="4400" b="1" dirty="0"/>
              <a:t> 设计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45553" y="2994211"/>
            <a:ext cx="18142447" cy="7032401"/>
            <a:chOff x="145553" y="2994211"/>
            <a:chExt cx="18142447" cy="7032401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5553" y="2994212"/>
              <a:ext cx="17822948" cy="6653901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529813" y="2994212"/>
              <a:ext cx="5117951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zh-CN" altLang="en-US" sz="3200" b="1" dirty="0">
                  <a:solidFill>
                    <a:schemeClr val="accent1">
                      <a:lumMod val="75000"/>
                    </a:schemeClr>
                  </a:solidFill>
                </a:rPr>
                <a:t>类型</a:t>
              </a:r>
              <a:r>
                <a:rPr lang="en-US" altLang="zh-CN" sz="3200" b="1" dirty="0">
                  <a:solidFill>
                    <a:schemeClr val="accent1">
                      <a:lumMod val="75000"/>
                    </a:schemeClr>
                  </a:solidFill>
                </a:rPr>
                <a:t> 1</a:t>
              </a:r>
              <a:r>
                <a:rPr lang="zh-CN" altLang="en-US" sz="3200" b="1" dirty="0">
                  <a:solidFill>
                    <a:schemeClr val="accent1">
                      <a:lumMod val="75000"/>
                    </a:schemeClr>
                  </a:solidFill>
                </a:rPr>
                <a:t>：包级并行</a:t>
              </a:r>
              <a:endParaRPr lang="zh-CN" altLang="en-US" sz="32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2466289" y="2994211"/>
              <a:ext cx="5117951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zh-CN" altLang="en-US" sz="3200" b="1" dirty="0">
                  <a:solidFill>
                    <a:schemeClr val="accent1">
                      <a:lumMod val="75000"/>
                    </a:schemeClr>
                  </a:solidFill>
                </a:rPr>
                <a:t>类型</a:t>
              </a:r>
              <a:r>
                <a:rPr lang="en-US" altLang="zh-CN" sz="3200" b="1" dirty="0">
                  <a:solidFill>
                    <a:schemeClr val="accent1">
                      <a:lumMod val="75000"/>
                    </a:schemeClr>
                  </a:solidFill>
                </a:rPr>
                <a:t> 3</a:t>
              </a:r>
              <a:r>
                <a:rPr lang="zh-CN" altLang="en-US" sz="3200" b="1" dirty="0">
                  <a:solidFill>
                    <a:schemeClr val="accent1">
                      <a:lumMod val="75000"/>
                    </a:schemeClr>
                  </a:solidFill>
                </a:rPr>
                <a:t>：流水线并行</a:t>
              </a:r>
              <a:endParaRPr lang="zh-CN" altLang="en-US" sz="32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498051" y="2994212"/>
              <a:ext cx="5117951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zh-CN" altLang="en-US" sz="3200" b="1" dirty="0">
                  <a:solidFill>
                    <a:schemeClr val="accent1">
                      <a:lumMod val="75000"/>
                    </a:schemeClr>
                  </a:solidFill>
                </a:rPr>
                <a:t>类型</a:t>
              </a:r>
              <a:r>
                <a:rPr lang="en-US" altLang="zh-CN" sz="3200" b="1" dirty="0">
                  <a:solidFill>
                    <a:schemeClr val="accent1">
                      <a:lumMod val="75000"/>
                    </a:schemeClr>
                  </a:solidFill>
                </a:rPr>
                <a:t> 2</a:t>
              </a:r>
              <a:r>
                <a:rPr lang="zh-CN" altLang="en-US" sz="3200" b="1" dirty="0">
                  <a:solidFill>
                    <a:schemeClr val="accent1">
                      <a:lumMod val="75000"/>
                    </a:schemeClr>
                  </a:solidFill>
                </a:rPr>
                <a:t>：流级并行</a:t>
              </a:r>
              <a:endParaRPr lang="zh-CN" altLang="en-US" sz="32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45553" y="7841143"/>
              <a:ext cx="4944607" cy="156966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B050"/>
                  </a:solidFill>
                </a:rPr>
                <a:t>        优点：</a:t>
              </a:r>
              <a:r>
                <a:rPr lang="zh-CN" altLang="en-US" sz="2400" dirty="0"/>
                <a:t>最大化并行度</a:t>
              </a:r>
              <a:endParaRPr lang="en-US" altLang="zh-CN" sz="2400" dirty="0"/>
            </a:p>
            <a:p>
              <a:r>
                <a:rPr lang="zh-CN" altLang="en-US" sz="2400" b="1" dirty="0">
                  <a:solidFill>
                    <a:srgbClr val="FF0000"/>
                  </a:solidFill>
                </a:rPr>
                <a:t>        缺点：</a:t>
              </a:r>
              <a:r>
                <a:rPr lang="zh-CN" altLang="en-US" sz="2400" dirty="0"/>
                <a:t>需要状态同步</a:t>
              </a:r>
              <a:endParaRPr lang="en-US" altLang="zh-CN" sz="2400" dirty="0"/>
            </a:p>
            <a:p>
              <a:endParaRPr lang="en-US" altLang="zh-CN" sz="2400" dirty="0"/>
            </a:p>
            <a:p>
              <a:endParaRPr lang="en-US" altLang="zh-CN" sz="2400" dirty="0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1941313" y="7733720"/>
              <a:ext cx="6346687" cy="156966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B050"/>
                  </a:solidFill>
                </a:rPr>
                <a:t>                 优点：</a:t>
              </a:r>
              <a:r>
                <a:rPr lang="zh-CN" altLang="en-US" sz="2400" dirty="0"/>
                <a:t>支持全局状态</a:t>
              </a:r>
              <a:endParaRPr lang="en-US" altLang="zh-CN" sz="2400" dirty="0"/>
            </a:p>
            <a:p>
              <a:r>
                <a:rPr lang="zh-CN" altLang="en-US" sz="2400" b="1" dirty="0">
                  <a:solidFill>
                    <a:srgbClr val="FF0000"/>
                  </a:solidFill>
                </a:rPr>
                <a:t>                 缺点：</a:t>
              </a:r>
              <a:r>
                <a:rPr lang="zh-CN" altLang="en-US" sz="2400" dirty="0"/>
                <a:t>需要状态同步</a:t>
              </a:r>
              <a:endParaRPr lang="en-US" altLang="zh-CN" sz="2400" dirty="0"/>
            </a:p>
            <a:p>
              <a:endParaRPr lang="en-US" altLang="zh-CN" sz="2400" dirty="0"/>
            </a:p>
            <a:p>
              <a:endParaRPr lang="en-US" altLang="zh-CN" sz="2400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223034" y="8456952"/>
              <a:ext cx="6718279" cy="156966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B050"/>
                  </a:solidFill>
                </a:rPr>
                <a:t>                优点：</a:t>
              </a:r>
              <a:r>
                <a:rPr lang="zh-CN" altLang="en-US" sz="2400" dirty="0"/>
                <a:t>无状态同步</a:t>
              </a:r>
              <a:endParaRPr lang="en-US" altLang="zh-CN" sz="2400" dirty="0"/>
            </a:p>
            <a:p>
              <a:r>
                <a:rPr lang="zh-CN" altLang="en-US" sz="2400" b="1" dirty="0">
                  <a:solidFill>
                    <a:srgbClr val="FF0000"/>
                  </a:solidFill>
                </a:rPr>
                <a:t>                缺点：</a:t>
              </a:r>
              <a:r>
                <a:rPr lang="zh-CN" altLang="en-US" sz="2400" dirty="0"/>
                <a:t>不支持全局状态</a:t>
              </a:r>
              <a:endParaRPr lang="en-US" altLang="zh-CN" sz="2400" dirty="0"/>
            </a:p>
            <a:p>
              <a:endParaRPr lang="en-US" altLang="zh-CN" sz="2400" dirty="0"/>
            </a:p>
            <a:p>
              <a:endParaRPr lang="en-US" altLang="zh-CN" sz="2400" dirty="0"/>
            </a:p>
          </p:txBody>
        </p:sp>
      </p:grp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960120" y="1392503"/>
            <a:ext cx="8525828" cy="915300"/>
          </a:xfrm>
          <a:prstGeom prst="rect">
            <a:avLst/>
          </a:prstGeom>
          <a:gradFill>
            <a:gsLst>
              <a:gs pos="26000">
                <a:srgbClr val="F7E8D3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960120" y="1477059"/>
            <a:ext cx="9677400" cy="7590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/>
              <a:t>2. </a:t>
            </a:r>
            <a:r>
              <a:rPr lang="zh-CN" altLang="en-US" sz="4000" b="1" dirty="0"/>
              <a:t>事件处理图如何表达这三种并行？</a:t>
            </a:r>
            <a:endParaRPr lang="zh-CN" altLang="en-US" sz="4000" b="1" dirty="0">
              <a:solidFill>
                <a:srgbClr val="2E3C63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 dirty="0"/>
              <a:t>αIR</a:t>
            </a:r>
            <a:r>
              <a:rPr lang="zh-CN" altLang="en-US" sz="4400" b="1" dirty="0"/>
              <a:t> 设计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01946" y="2392359"/>
            <a:ext cx="17996332" cy="7614342"/>
            <a:chOff x="201946" y="2392359"/>
            <a:chExt cx="17996332" cy="7614342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1946" y="2392359"/>
              <a:ext cx="17884107" cy="7614342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7094993" y="2523804"/>
              <a:ext cx="6880087" cy="156966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事件处理器：</a:t>
              </a:r>
              <a:endParaRPr lang="en-US" altLang="zh-CN" sz="2400" b="1" dirty="0"/>
            </a:p>
            <a:p>
              <a:pPr marL="800100" lvl="1" indent="-342900">
                <a:buFont typeface="Arial" panose="020B0604020202090204" pitchFamily="34" charset="0"/>
                <a:buChar char="•"/>
              </a:pPr>
              <a:r>
                <a:rPr lang="zh-CN" altLang="en-US" sz="2400" dirty="0"/>
                <a:t>运行在计算单元上的代码块。</a:t>
              </a:r>
              <a:endParaRPr lang="en-US" altLang="zh-CN" sz="2400" dirty="0"/>
            </a:p>
            <a:p>
              <a:pPr marL="800100" lvl="1" indent="-342900">
                <a:buFont typeface="Arial" panose="020B0604020202090204" pitchFamily="34" charset="0"/>
                <a:buChar char="•"/>
              </a:pPr>
              <a:r>
                <a:rPr lang="zh-CN" altLang="en-US" sz="2400" dirty="0"/>
                <a:t>可被复制</a:t>
              </a:r>
              <a:endParaRPr lang="en-US" altLang="zh-CN" sz="2400" dirty="0"/>
            </a:p>
            <a:p>
              <a:pPr marL="800100" lvl="1" indent="-342900">
                <a:buFont typeface="Arial" panose="020B0604020202090204" pitchFamily="34" charset="0"/>
                <a:buChar char="•"/>
              </a:pPr>
              <a:endParaRPr lang="en-US" altLang="zh-CN" sz="2400" dirty="0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7094992" y="4624600"/>
              <a:ext cx="6880087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事件：</a:t>
              </a:r>
              <a:endParaRPr lang="en-US" altLang="zh-CN" sz="2400" b="1" dirty="0"/>
            </a:p>
            <a:p>
              <a:pPr marL="800100" lvl="1" indent="-342900">
                <a:buFont typeface="Arial" panose="020B0604020202090204" pitchFamily="34" charset="0"/>
                <a:buChar char="•"/>
              </a:pPr>
              <a:r>
                <a:rPr lang="zh-CN" altLang="en-US" sz="2400" dirty="0"/>
                <a:t>触发事件处理器。</a:t>
              </a:r>
              <a:endParaRPr lang="en-US" altLang="zh-CN" sz="2400" dirty="0"/>
            </a:p>
            <a:p>
              <a:pPr marL="800100" lvl="1" indent="-342900">
                <a:buFont typeface="Arial" panose="020B0604020202090204" pitchFamily="34" charset="0"/>
                <a:buChar char="•"/>
              </a:pPr>
              <a:endParaRPr lang="en-US" altLang="zh-CN" sz="2400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094991" y="6327489"/>
              <a:ext cx="6880087" cy="156966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事件控制器：</a:t>
              </a:r>
              <a:endParaRPr lang="en-US" altLang="zh-CN" sz="2400" b="1" dirty="0"/>
            </a:p>
            <a:p>
              <a:pPr marL="800100" lvl="1" indent="-342900">
                <a:buFont typeface="Arial" panose="020B0604020202090204" pitchFamily="34" charset="0"/>
                <a:buChar char="•"/>
              </a:pPr>
              <a:r>
                <a:rPr lang="zh-CN" altLang="en-US" sz="2400" dirty="0"/>
                <a:t>定义事件在处理器及其副本之间的分发（</a:t>
              </a:r>
              <a:r>
                <a:rPr lang="en-US" altLang="zh-CN" sz="2400" dirty="0"/>
                <a:t>Steering</a:t>
              </a:r>
              <a:r>
                <a:rPr lang="zh-CN" altLang="en-US" sz="2400" dirty="0"/>
                <a:t>）和排序（</a:t>
              </a:r>
              <a:r>
                <a:rPr lang="en-US" altLang="zh-CN" sz="2400" dirty="0"/>
                <a:t>Ordering</a:t>
              </a:r>
              <a:r>
                <a:rPr lang="zh-CN" altLang="en-US" sz="2400" dirty="0"/>
                <a:t>）规则</a:t>
              </a:r>
              <a:endParaRPr lang="en-US" altLang="zh-CN" sz="2400" dirty="0"/>
            </a:p>
            <a:p>
              <a:pPr marL="800100" lvl="1" indent="-342900">
                <a:buFont typeface="Arial" panose="020B0604020202090204" pitchFamily="34" charset="0"/>
                <a:buChar char="•"/>
              </a:pPr>
              <a:endParaRPr lang="en-US" altLang="zh-CN" sz="2400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094991" y="8437041"/>
              <a:ext cx="6346689" cy="156966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  <a:ea typeface="+mn-ea"/>
                </a:rPr>
                <a:t>常驻状态（</a:t>
              </a:r>
              <a:r>
                <a:rPr lang="en-US" altLang="zh-CN" sz="2400" b="1" dirty="0">
                  <a:latin typeface="+mn-ea"/>
                  <a:ea typeface="+mn-ea"/>
                </a:rPr>
                <a:t>Persistent State</a:t>
              </a:r>
              <a:r>
                <a:rPr lang="zh-CN" altLang="en-US" sz="2400" b="1" dirty="0">
                  <a:latin typeface="+mn-ea"/>
                  <a:ea typeface="+mn-ea"/>
                </a:rPr>
                <a:t>）：</a:t>
              </a:r>
              <a:endParaRPr lang="en-US" altLang="zh-CN" sz="2400" b="1" dirty="0">
                <a:latin typeface="+mn-ea"/>
                <a:ea typeface="+mn-ea"/>
              </a:endParaRPr>
            </a:p>
            <a:p>
              <a:pPr marL="800100" lvl="1" indent="-342900">
                <a:buFont typeface="Arial" panose="020B0604020202090204" pitchFamily="34" charset="0"/>
                <a:buChar char="•"/>
              </a:pPr>
              <a:r>
                <a:rPr lang="zh-CN" altLang="en-US" sz="2400" dirty="0"/>
                <a:t>跨事件存在的状态（如流表、计数器）。</a:t>
              </a:r>
              <a:br>
                <a:rPr lang="en-US" altLang="zh-CN" sz="2400" dirty="0"/>
              </a:br>
              <a:endParaRPr lang="en-US" altLang="zh-CN" sz="2400" dirty="0"/>
            </a:p>
            <a:p>
              <a:pPr marL="800100" lvl="1" indent="-342900">
                <a:buFont typeface="Arial" panose="020B0604020202090204" pitchFamily="34" charset="0"/>
                <a:buChar char="•"/>
              </a:pPr>
              <a:endParaRPr lang="en-US" altLang="zh-CN" sz="2400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4501046" y="5000806"/>
              <a:ext cx="3697232" cy="224676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altLang="zh-CN" sz="2800" b="1" dirty="0"/>
            </a:p>
            <a:p>
              <a:r>
                <a:rPr lang="zh-CN" altLang="en-US" sz="2800" b="1" dirty="0"/>
                <a:t>通过这样的设计，</a:t>
              </a:r>
              <a:r>
                <a:rPr lang="en-US" altLang="zh-CN" sz="2800" b="1" dirty="0"/>
                <a:t>αIR </a:t>
              </a:r>
              <a:r>
                <a:rPr lang="zh-CN" altLang="en-US" sz="2800" b="1" dirty="0"/>
                <a:t>可以表示三种并行及其所有可能的组合！</a:t>
              </a:r>
              <a:endParaRPr lang="en-US" altLang="zh-CN" sz="2800" b="1" dirty="0"/>
            </a:p>
            <a:p>
              <a:endParaRPr lang="en-US" altLang="zh-CN" sz="2800" b="1" dirty="0"/>
            </a:p>
          </p:txBody>
        </p:sp>
      </p:grp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960120" y="1392503"/>
            <a:ext cx="8525828" cy="915300"/>
          </a:xfrm>
          <a:prstGeom prst="rect">
            <a:avLst/>
          </a:prstGeom>
          <a:gradFill>
            <a:gsLst>
              <a:gs pos="26000">
                <a:srgbClr val="F7E8D3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960120" y="1477059"/>
            <a:ext cx="9677400" cy="7590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/>
              <a:t>1. </a:t>
            </a:r>
            <a:r>
              <a:rPr lang="zh-CN" altLang="en-US" sz="4000" b="1" dirty="0"/>
              <a:t>自动并行优化概览</a:t>
            </a:r>
            <a:endParaRPr lang="zh-CN" altLang="en-US" sz="4000" b="1" dirty="0">
              <a:solidFill>
                <a:srgbClr val="2E3C63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/>
              <a:t>自动并行优化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60120" y="8158446"/>
            <a:ext cx="102393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关键问题：</a:t>
            </a:r>
            <a:endParaRPr lang="en-US" altLang="zh-CN" sz="3600" dirty="0"/>
          </a:p>
          <a:p>
            <a:pPr marL="1028700" lvl="1" indent="-571500">
              <a:buFont typeface="Arial" panose="020B0604020202090204" pitchFamily="34" charset="0"/>
              <a:buChar char="•"/>
            </a:pPr>
            <a:r>
              <a:rPr lang="zh-CN" altLang="en-US" sz="3600" dirty="0"/>
              <a:t>如何驾驭复杂的搜索空间？</a:t>
            </a:r>
            <a:endParaRPr lang="en-US" altLang="zh-CN" sz="3600" dirty="0"/>
          </a:p>
          <a:p>
            <a:pPr marL="1028700" lvl="1" indent="-571500">
              <a:buFont typeface="Arial" panose="020B0604020202090204" pitchFamily="34" charset="0"/>
              <a:buChar char="•"/>
            </a:pPr>
            <a:r>
              <a:rPr lang="zh-CN" altLang="en-US" sz="3600" dirty="0"/>
              <a:t>如何提高搜索效率？</a:t>
            </a:r>
            <a:endParaRPr lang="en-US" altLang="zh-CN" sz="3600" dirty="0"/>
          </a:p>
        </p:txBody>
      </p:sp>
      <p:grpSp>
        <p:nvGrpSpPr>
          <p:cNvPr id="4" name="组合 3"/>
          <p:cNvGrpSpPr/>
          <p:nvPr/>
        </p:nvGrpSpPr>
        <p:grpSpPr>
          <a:xfrm>
            <a:off x="1832509" y="2392359"/>
            <a:ext cx="14804024" cy="5763923"/>
            <a:chOff x="1832509" y="2392359"/>
            <a:chExt cx="14804024" cy="576392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32509" y="2392359"/>
              <a:ext cx="14622982" cy="5084429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1832509" y="6034483"/>
              <a:ext cx="4400775" cy="107721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</a:t>
              </a:r>
              <a:endParaRPr lang="en-US" altLang="zh-CN" sz="2800" dirty="0"/>
            </a:p>
            <a:p>
              <a:r>
                <a:rPr lang="zh-CN" altLang="en-US" sz="2800" b="1" dirty="0"/>
                <a:t>       输入：单线程程序</a:t>
              </a:r>
              <a:endParaRPr lang="en-US" altLang="zh-CN" sz="2800" b="1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761024" y="7633062"/>
              <a:ext cx="4438479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/>
                <a:t>搜索所有语义等价的 </a:t>
              </a:r>
              <a:r>
                <a:rPr lang="en-US" altLang="zh-CN" sz="2800" b="1" dirty="0"/>
                <a:t>IR </a:t>
              </a:r>
              <a:r>
                <a:rPr lang="zh-CN" altLang="en-US" sz="2800" b="1" dirty="0"/>
                <a:t>图</a:t>
              </a:r>
              <a:endParaRPr lang="en-US" altLang="zh-CN" sz="2800" b="1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2198054" y="6573092"/>
              <a:ext cx="4438479" cy="138499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/>
                <a:t>      在目标 </a:t>
              </a:r>
              <a:r>
                <a:rPr lang="en-US" altLang="zh-CN" sz="2800" b="1" dirty="0"/>
                <a:t>NIC</a:t>
              </a:r>
              <a:r>
                <a:rPr lang="zh-CN" altLang="en-US" sz="2800" b="1" dirty="0"/>
                <a:t> 上</a:t>
              </a:r>
              <a:endParaRPr lang="en-US" altLang="zh-CN" sz="2800" b="1" dirty="0"/>
            </a:p>
            <a:p>
              <a:r>
                <a:rPr lang="zh-CN" altLang="en-US" sz="2800" b="1" dirty="0"/>
                <a:t>      运行最快的 </a:t>
              </a:r>
              <a:r>
                <a:rPr lang="en-US" altLang="zh-CN" sz="2800" b="1" dirty="0"/>
                <a:t>IR </a:t>
              </a:r>
              <a:r>
                <a:rPr lang="zh-CN" altLang="en-US" sz="2800" b="1" dirty="0"/>
                <a:t>图</a:t>
              </a:r>
              <a:endParaRPr lang="en-US" altLang="zh-CN" sz="2800" b="1" dirty="0"/>
            </a:p>
            <a:p>
              <a:endParaRPr lang="en-US" altLang="zh-CN" sz="2800" b="1" dirty="0"/>
            </a:p>
          </p:txBody>
        </p:sp>
      </p:grp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960120" y="1392503"/>
            <a:ext cx="8525828" cy="915300"/>
          </a:xfrm>
          <a:prstGeom prst="rect">
            <a:avLst/>
          </a:prstGeom>
          <a:gradFill>
            <a:gsLst>
              <a:gs pos="26000">
                <a:srgbClr val="F7E8D3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960120" y="1477059"/>
            <a:ext cx="9677400" cy="7590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/>
              <a:t>2. </a:t>
            </a:r>
            <a:r>
              <a:rPr lang="zh-CN" altLang="en-US" sz="4000" b="1" dirty="0"/>
              <a:t>指导搜索的迭代两阶段算法</a:t>
            </a:r>
            <a:endParaRPr lang="zh-CN" altLang="en-US" sz="4000" b="1" dirty="0">
              <a:solidFill>
                <a:srgbClr val="2E3C63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/>
              <a:t>自动并行优化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01040" y="2392359"/>
            <a:ext cx="16656424" cy="7851896"/>
            <a:chOff x="701040" y="2392359"/>
            <a:chExt cx="16656424" cy="7851896"/>
          </a:xfrm>
        </p:grpSpPr>
        <p:grpSp>
          <p:nvGrpSpPr>
            <p:cNvPr id="26" name="组合 25"/>
            <p:cNvGrpSpPr/>
            <p:nvPr/>
          </p:nvGrpSpPr>
          <p:grpSpPr>
            <a:xfrm>
              <a:off x="701040" y="2392359"/>
              <a:ext cx="16656424" cy="7851896"/>
              <a:chOff x="960120" y="2392359"/>
              <a:chExt cx="16656424" cy="7851896"/>
            </a:xfrm>
          </p:grpSpPr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0120" y="2392359"/>
                <a:ext cx="16656424" cy="7641598"/>
              </a:xfrm>
              <a:prstGeom prst="rect">
                <a:avLst/>
              </a:prstGeom>
            </p:spPr>
          </p:pic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695405" y="9659132"/>
                <a:ext cx="350550" cy="274344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826850" y="9969911"/>
                <a:ext cx="350550" cy="274344"/>
              </a:xfrm>
              <a:prstGeom prst="rect">
                <a:avLst/>
              </a:prstGeom>
            </p:spPr>
          </p:pic>
          <p:pic>
            <p:nvPicPr>
              <p:cNvPr id="24" name="图片 23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21023470">
                <a:off x="16870681" y="9960809"/>
                <a:ext cx="350550" cy="274344"/>
              </a:xfrm>
              <a:prstGeom prst="rect">
                <a:avLst/>
              </a:prstGeom>
            </p:spPr>
          </p:pic>
          <p:pic>
            <p:nvPicPr>
              <p:cNvPr id="25" name="图片 24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4486537">
                <a:off x="17019123" y="9829543"/>
                <a:ext cx="100450" cy="78613"/>
              </a:xfrm>
              <a:prstGeom prst="rect">
                <a:avLst/>
              </a:prstGeom>
            </p:spPr>
          </p:pic>
        </p:grpSp>
        <p:sp>
          <p:nvSpPr>
            <p:cNvPr id="27" name="文本框 26"/>
            <p:cNvSpPr txBox="1"/>
            <p:nvPr/>
          </p:nvSpPr>
          <p:spPr>
            <a:xfrm>
              <a:off x="1802029" y="3367386"/>
              <a:ext cx="4400775" cy="19389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rgbClr val="FF0000"/>
                  </a:solidFill>
                </a:rPr>
                <a:t>         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流水线切割引擎</a:t>
              </a:r>
              <a:endParaRPr lang="en-US" altLang="zh-CN" sz="2800" b="1" dirty="0">
                <a:solidFill>
                  <a:srgbClr val="FF0000"/>
                </a:solidFill>
              </a:endParaRPr>
            </a:p>
            <a:p>
              <a:endParaRPr lang="en-US" altLang="zh-CN" sz="2800" dirty="0"/>
            </a:p>
            <a:p>
              <a:endParaRPr lang="en-US" altLang="zh-CN" sz="2800" dirty="0"/>
            </a:p>
            <a:p>
              <a:r>
                <a:rPr lang="en-US" altLang="zh-CN" sz="2800" b="1" dirty="0"/>
                <a:t>          </a:t>
              </a:r>
              <a:r>
                <a:rPr lang="zh-CN" altLang="en-US" sz="2800" b="1" dirty="0"/>
                <a:t>算法：图切割算法</a:t>
              </a:r>
              <a:endParaRPr lang="en-US" altLang="zh-CN" sz="2800" b="1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802029" y="7524878"/>
              <a:ext cx="4614011" cy="19389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rgbClr val="FF0000"/>
                  </a:solidFill>
                </a:rPr>
                <a:t>             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映射引擎</a:t>
              </a:r>
              <a:endParaRPr lang="en-US" altLang="zh-CN" sz="2800" b="1" dirty="0">
                <a:solidFill>
                  <a:srgbClr val="FF0000"/>
                </a:solidFill>
              </a:endParaRPr>
            </a:p>
            <a:p>
              <a:endParaRPr lang="en-US" altLang="zh-CN" sz="2800" dirty="0"/>
            </a:p>
            <a:p>
              <a:endParaRPr lang="en-US" altLang="zh-CN" sz="2800" dirty="0"/>
            </a:p>
            <a:p>
              <a:r>
                <a:rPr lang="zh-CN" altLang="en-US" sz="2800" b="1" dirty="0"/>
                <a:t>算法：约束满足问题（</a:t>
              </a:r>
              <a:r>
                <a:rPr lang="en-US" altLang="zh-CN" sz="2800" b="1" dirty="0"/>
                <a:t>CSP</a:t>
              </a:r>
              <a:r>
                <a:rPr lang="zh-CN" altLang="en-US" sz="2800" b="1" dirty="0"/>
                <a:t>）</a:t>
              </a:r>
              <a:endParaRPr lang="en-US" altLang="zh-CN" sz="2800" b="1" dirty="0"/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9546908" y="6847025"/>
            <a:ext cx="2395562" cy="523220"/>
          </a:xfrm>
          <a:prstGeom prst="rect">
            <a:avLst/>
          </a:prstGeom>
          <a:solidFill>
            <a:srgbClr val="F39620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  SMT</a:t>
            </a:r>
            <a:r>
              <a:rPr lang="zh-CN" altLang="en-US" sz="2800" b="1" dirty="0">
                <a:solidFill>
                  <a:schemeClr val="bg1"/>
                </a:solidFill>
              </a:rPr>
              <a:t>求解器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3753148" y="7570598"/>
            <a:ext cx="1608772" cy="954107"/>
          </a:xfrm>
          <a:prstGeom prst="rect">
            <a:avLst/>
          </a:prstGeom>
          <a:solidFill>
            <a:srgbClr val="FF9999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   </a:t>
            </a:r>
            <a:r>
              <a:rPr lang="zh-CN" altLang="en-US" sz="2800" b="1" dirty="0">
                <a:solidFill>
                  <a:schemeClr val="bg1"/>
                </a:solidFill>
              </a:rPr>
              <a:t>性能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r>
              <a:rPr lang="zh-CN" altLang="en-US" sz="2800" b="1" dirty="0">
                <a:solidFill>
                  <a:schemeClr val="bg1"/>
                </a:solidFill>
              </a:rPr>
              <a:t>   模型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743440" y="7742860"/>
            <a:ext cx="2044644" cy="769441"/>
          </a:xfrm>
          <a:prstGeom prst="rect">
            <a:avLst/>
          </a:prstGeom>
          <a:solidFill>
            <a:srgbClr val="CAEEFB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   </a:t>
            </a:r>
            <a:r>
              <a:rPr lang="zh-CN" altLang="en-US" sz="1400" b="1" dirty="0">
                <a:solidFill>
                  <a:schemeClr val="bg1"/>
                </a:solidFill>
              </a:rPr>
              <a:t> </a:t>
            </a:r>
            <a:r>
              <a:rPr lang="zh-CN" altLang="en-US" sz="2400" b="1" dirty="0"/>
              <a:t>硬件约束</a:t>
            </a:r>
            <a:endParaRPr lang="en-US" altLang="zh-CN" sz="2400" b="1" dirty="0"/>
          </a:p>
          <a:p>
            <a:endParaRPr lang="en-US" altLang="zh-CN" sz="2000" b="1" dirty="0">
              <a:solidFill>
                <a:schemeClr val="bg1"/>
              </a:solidFill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0" y="1845817"/>
            <a:ext cx="18288000" cy="8441871"/>
            <a:chOff x="0" y="1845817"/>
            <a:chExt cx="18288000" cy="8441871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1845817"/>
              <a:ext cx="18288000" cy="8441871"/>
              <a:chOff x="0" y="1845817"/>
              <a:chExt cx="18288000" cy="8441871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0" y="1845817"/>
                <a:ext cx="18288000" cy="8441871"/>
                <a:chOff x="0" y="1845817"/>
                <a:chExt cx="18288000" cy="8441871"/>
              </a:xfrm>
            </p:grpSpPr>
            <p:pic>
              <p:nvPicPr>
                <p:cNvPr id="25" name="图片 24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0" y="1845817"/>
                  <a:ext cx="18288000" cy="8441871"/>
                </a:xfrm>
                <a:prstGeom prst="rect">
                  <a:avLst/>
                </a:prstGeom>
              </p:spPr>
            </p:pic>
            <p:pic>
              <p:nvPicPr>
                <p:cNvPr id="27" name="图片 26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6558218" y="9564703"/>
                  <a:ext cx="960203" cy="441998"/>
                </a:xfrm>
                <a:prstGeom prst="rect">
                  <a:avLst/>
                </a:prstGeom>
              </p:spPr>
            </p:pic>
          </p:grpSp>
          <p:sp>
            <p:nvSpPr>
              <p:cNvPr id="29" name="文本框 28"/>
              <p:cNvSpPr txBox="1"/>
              <p:nvPr/>
            </p:nvSpPr>
            <p:spPr>
              <a:xfrm>
                <a:off x="1802029" y="3155553"/>
                <a:ext cx="4400775" cy="193899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>
                    <a:solidFill>
                      <a:srgbClr val="FF0000"/>
                    </a:solidFill>
                  </a:rPr>
                  <a:t>         </a:t>
                </a:r>
                <a:r>
                  <a:rPr lang="zh-CN" altLang="en-US" sz="2800" b="1" dirty="0">
                    <a:solidFill>
                      <a:srgbClr val="FF0000"/>
                    </a:solidFill>
                  </a:rPr>
                  <a:t>流水线切割引擎</a:t>
                </a:r>
                <a:endParaRPr lang="en-US" altLang="zh-CN" sz="2800" b="1" dirty="0">
                  <a:solidFill>
                    <a:srgbClr val="FF0000"/>
                  </a:solidFill>
                </a:endParaRPr>
              </a:p>
              <a:p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en-US" altLang="zh-CN" sz="2800" b="1" dirty="0"/>
                  <a:t>          </a:t>
                </a:r>
                <a:r>
                  <a:rPr lang="zh-CN" altLang="en-US" sz="2800" b="1" dirty="0"/>
                  <a:t>算法：图切割算法</a:t>
                </a:r>
                <a:endParaRPr lang="en-US" altLang="zh-CN" sz="2800" b="1" dirty="0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802029" y="7353428"/>
                <a:ext cx="5198846" cy="193899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>
                    <a:solidFill>
                      <a:srgbClr val="FF0000"/>
                    </a:solidFill>
                  </a:rPr>
                  <a:t>             </a:t>
                </a:r>
                <a:r>
                  <a:rPr lang="zh-CN" altLang="en-US" sz="2800" b="1" dirty="0">
                    <a:solidFill>
                      <a:srgbClr val="FF0000"/>
                    </a:solidFill>
                  </a:rPr>
                  <a:t>映射引擎</a:t>
                </a:r>
                <a:endParaRPr lang="en-US" altLang="zh-CN" sz="2800" b="1" dirty="0">
                  <a:solidFill>
                    <a:srgbClr val="FF0000"/>
                  </a:solidFill>
                </a:endParaRPr>
              </a:p>
              <a:p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en-US" sz="2800" b="1" dirty="0"/>
                  <a:t>    算法：约束满足问题（</a:t>
                </a:r>
                <a:r>
                  <a:rPr lang="en-US" altLang="zh-CN" sz="2800" b="1" dirty="0"/>
                  <a:t>CSP</a:t>
                </a:r>
                <a:r>
                  <a:rPr lang="zh-CN" altLang="en-US" sz="2800" b="1" dirty="0"/>
                  <a:t>）</a:t>
                </a:r>
                <a:endParaRPr lang="en-US" altLang="zh-CN" sz="2800" b="1" dirty="0"/>
              </a:p>
            </p:txBody>
          </p:sp>
        </p:grpSp>
        <p:sp>
          <p:nvSpPr>
            <p:cNvPr id="32" name="文本框 31"/>
            <p:cNvSpPr txBox="1"/>
            <p:nvPr/>
          </p:nvSpPr>
          <p:spPr>
            <a:xfrm>
              <a:off x="11844338" y="2307803"/>
              <a:ext cx="3314699" cy="646331"/>
            </a:xfrm>
            <a:prstGeom prst="rect">
              <a:avLst/>
            </a:prstGeom>
            <a:solidFill>
              <a:srgbClr val="8ED973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chemeClr val="accent5">
                      <a:lumMod val="50000"/>
                    </a:schemeClr>
                  </a:solidFill>
                </a:rPr>
                <a:t>    搜索空间</a:t>
              </a:r>
              <a:endParaRPr lang="en-US" altLang="zh-CN" sz="3600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960120" y="1392503"/>
            <a:ext cx="8525828" cy="915300"/>
          </a:xfrm>
          <a:prstGeom prst="rect">
            <a:avLst/>
          </a:prstGeom>
          <a:gradFill>
            <a:gsLst>
              <a:gs pos="26000">
                <a:srgbClr val="F7E8D3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960120" y="1477059"/>
            <a:ext cx="9677400" cy="7590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/>
              <a:t>3. </a:t>
            </a:r>
            <a:r>
              <a:rPr lang="zh-CN" altLang="en-US" sz="4000" b="1" dirty="0"/>
              <a:t>添加约束以提高效率</a:t>
            </a:r>
            <a:endParaRPr lang="zh-CN" altLang="en-US" sz="4000" b="1" dirty="0">
              <a:solidFill>
                <a:srgbClr val="2E3C63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/>
              <a:t>自动并行优化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838273"/>
            <a:ext cx="18288000" cy="8449415"/>
            <a:chOff x="0" y="1838273"/>
            <a:chExt cx="18288000" cy="8449415"/>
          </a:xfrm>
        </p:grpSpPr>
        <p:grpSp>
          <p:nvGrpSpPr>
            <p:cNvPr id="10" name="组合 9"/>
            <p:cNvGrpSpPr/>
            <p:nvPr/>
          </p:nvGrpSpPr>
          <p:grpSpPr>
            <a:xfrm>
              <a:off x="0" y="1838273"/>
              <a:ext cx="18288000" cy="8449415"/>
              <a:chOff x="-106680" y="1838273"/>
              <a:chExt cx="18288000" cy="8449415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-106680" y="1838273"/>
                <a:ext cx="18288000" cy="8449415"/>
              </a:xfrm>
              <a:prstGeom prst="rect">
                <a:avLst/>
              </a:prstGeom>
            </p:spPr>
          </p:pic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349662" y="9518979"/>
                <a:ext cx="754445" cy="487722"/>
              </a:xfrm>
              <a:prstGeom prst="rect">
                <a:avLst/>
              </a:prstGeom>
            </p:spPr>
          </p:pic>
        </p:grpSp>
        <p:sp>
          <p:nvSpPr>
            <p:cNvPr id="11" name="文本框 10"/>
            <p:cNvSpPr txBox="1"/>
            <p:nvPr/>
          </p:nvSpPr>
          <p:spPr>
            <a:xfrm>
              <a:off x="1802029" y="3155553"/>
              <a:ext cx="4400775" cy="19389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rgbClr val="FF0000"/>
                  </a:solidFill>
                </a:rPr>
                <a:t>         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流水线切割引擎</a:t>
              </a:r>
              <a:endParaRPr lang="en-US" altLang="zh-CN" sz="2800" b="1" dirty="0">
                <a:solidFill>
                  <a:srgbClr val="FF0000"/>
                </a:solidFill>
              </a:endParaRPr>
            </a:p>
            <a:p>
              <a:endParaRPr lang="en-US" altLang="zh-CN" sz="2800" dirty="0"/>
            </a:p>
            <a:p>
              <a:endParaRPr lang="en-US" altLang="zh-CN" sz="2800" dirty="0"/>
            </a:p>
            <a:p>
              <a:r>
                <a:rPr lang="en-US" altLang="zh-CN" sz="2800" b="1" dirty="0"/>
                <a:t>          </a:t>
              </a:r>
              <a:r>
                <a:rPr lang="zh-CN" altLang="en-US" sz="2800" b="1" dirty="0"/>
                <a:t>算法：图切割算法</a:t>
              </a:r>
              <a:endParaRPr lang="en-US" altLang="zh-CN" sz="2800" b="1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802029" y="7353428"/>
              <a:ext cx="5198846" cy="19389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rgbClr val="FF0000"/>
                  </a:solidFill>
                </a:rPr>
                <a:t>             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映射引擎</a:t>
              </a:r>
              <a:endParaRPr lang="en-US" altLang="zh-CN" sz="2800" b="1" dirty="0">
                <a:solidFill>
                  <a:srgbClr val="FF0000"/>
                </a:solidFill>
              </a:endParaRPr>
            </a:p>
            <a:p>
              <a:endParaRPr lang="en-US" altLang="zh-CN" sz="2800" dirty="0"/>
            </a:p>
            <a:p>
              <a:endParaRPr lang="en-US" altLang="zh-CN" sz="2800" dirty="0"/>
            </a:p>
            <a:p>
              <a:r>
                <a:rPr lang="zh-CN" altLang="en-US" sz="2800" b="1" dirty="0"/>
                <a:t>    算法：约束满足问题（</a:t>
              </a:r>
              <a:r>
                <a:rPr lang="en-US" altLang="zh-CN" sz="2800" b="1" dirty="0"/>
                <a:t>CSP</a:t>
              </a:r>
              <a:r>
                <a:rPr lang="zh-CN" altLang="en-US" sz="2800" b="1" dirty="0"/>
                <a:t>）</a:t>
              </a:r>
              <a:endParaRPr lang="en-US" altLang="zh-CN" sz="2800" b="1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1844338" y="2307803"/>
              <a:ext cx="3314699" cy="646331"/>
            </a:xfrm>
            <a:prstGeom prst="rect">
              <a:avLst/>
            </a:prstGeom>
            <a:solidFill>
              <a:srgbClr val="8ED973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chemeClr val="accent5">
                      <a:lumMod val="50000"/>
                    </a:schemeClr>
                  </a:solidFill>
                </a:rPr>
                <a:t>    搜索空间</a:t>
              </a:r>
              <a:endParaRPr lang="en-US" altLang="zh-CN" sz="3600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960120" y="1392503"/>
            <a:ext cx="8525828" cy="915300"/>
          </a:xfrm>
          <a:prstGeom prst="rect">
            <a:avLst/>
          </a:prstGeom>
          <a:gradFill>
            <a:gsLst>
              <a:gs pos="26000">
                <a:srgbClr val="F7E8D3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960120" y="1477059"/>
            <a:ext cx="9677400" cy="7590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/>
              <a:t>3. </a:t>
            </a:r>
            <a:r>
              <a:rPr lang="zh-CN" altLang="en-US" sz="4000" b="1" dirty="0"/>
              <a:t>添加约束以提高效率</a:t>
            </a:r>
            <a:endParaRPr lang="zh-CN" altLang="en-US" sz="4000" b="1" dirty="0">
              <a:solidFill>
                <a:srgbClr val="2E3C63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/>
              <a:t>自动并行优化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863045"/>
            <a:ext cx="18288000" cy="8425543"/>
            <a:chOff x="0" y="1863045"/>
            <a:chExt cx="18288000" cy="8425543"/>
          </a:xfrm>
        </p:grpSpPr>
        <p:grpSp>
          <p:nvGrpSpPr>
            <p:cNvPr id="10" name="组合 9"/>
            <p:cNvGrpSpPr/>
            <p:nvPr/>
          </p:nvGrpSpPr>
          <p:grpSpPr>
            <a:xfrm>
              <a:off x="0" y="1863045"/>
              <a:ext cx="18288000" cy="8425543"/>
              <a:chOff x="0" y="1863045"/>
              <a:chExt cx="18288000" cy="8425543"/>
            </a:xfrm>
            <a:solidFill>
              <a:schemeClr val="bg1"/>
            </a:solidFill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1863045"/>
                <a:ext cx="18288000" cy="8425543"/>
              </a:xfrm>
              <a:prstGeom prst="rect">
                <a:avLst/>
              </a:prstGeom>
              <a:grpFill/>
            </p:spPr>
          </p:pic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657289" y="9275118"/>
                <a:ext cx="701101" cy="731583"/>
              </a:xfrm>
              <a:prstGeom prst="rect">
                <a:avLst/>
              </a:prstGeom>
              <a:grpFill/>
            </p:spPr>
          </p:pic>
        </p:grpSp>
        <p:sp>
          <p:nvSpPr>
            <p:cNvPr id="11" name="文本框 10"/>
            <p:cNvSpPr txBox="1"/>
            <p:nvPr/>
          </p:nvSpPr>
          <p:spPr>
            <a:xfrm>
              <a:off x="1802029" y="3155553"/>
              <a:ext cx="4400775" cy="19389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rgbClr val="FF0000"/>
                  </a:solidFill>
                </a:rPr>
                <a:t>         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流水线切割引擎</a:t>
              </a:r>
              <a:endParaRPr lang="en-US" altLang="zh-CN" sz="2800" b="1" dirty="0">
                <a:solidFill>
                  <a:srgbClr val="FF0000"/>
                </a:solidFill>
              </a:endParaRPr>
            </a:p>
            <a:p>
              <a:endParaRPr lang="en-US" altLang="zh-CN" sz="2800" dirty="0"/>
            </a:p>
            <a:p>
              <a:endParaRPr lang="en-US" altLang="zh-CN" sz="2800" dirty="0"/>
            </a:p>
            <a:p>
              <a:r>
                <a:rPr lang="en-US" altLang="zh-CN" sz="2800" b="1" dirty="0"/>
                <a:t>          </a:t>
              </a:r>
              <a:r>
                <a:rPr lang="zh-CN" altLang="en-US" sz="2800" b="1" dirty="0"/>
                <a:t>算法：图切割算法</a:t>
              </a:r>
              <a:endParaRPr lang="en-US" altLang="zh-CN" sz="2800" b="1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802029" y="7353428"/>
              <a:ext cx="5198846" cy="19389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rgbClr val="FF0000"/>
                  </a:solidFill>
                </a:rPr>
                <a:t>             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映射引擎</a:t>
              </a:r>
              <a:endParaRPr lang="en-US" altLang="zh-CN" sz="2800" b="1" dirty="0">
                <a:solidFill>
                  <a:srgbClr val="FF0000"/>
                </a:solidFill>
              </a:endParaRPr>
            </a:p>
            <a:p>
              <a:endParaRPr lang="en-US" altLang="zh-CN" sz="2800" dirty="0"/>
            </a:p>
            <a:p>
              <a:endParaRPr lang="en-US" altLang="zh-CN" sz="2800" dirty="0"/>
            </a:p>
            <a:p>
              <a:r>
                <a:rPr lang="zh-CN" altLang="en-US" sz="2800" b="1" dirty="0"/>
                <a:t>    算法：约束满足问题（</a:t>
              </a:r>
              <a:r>
                <a:rPr lang="en-US" altLang="zh-CN" sz="2800" b="1" dirty="0"/>
                <a:t>CSP</a:t>
              </a:r>
              <a:r>
                <a:rPr lang="zh-CN" altLang="en-US" sz="2800" b="1" dirty="0"/>
                <a:t>）</a:t>
              </a:r>
              <a:endParaRPr lang="en-US" altLang="zh-CN" sz="2800" b="1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1844338" y="2307803"/>
              <a:ext cx="3314699" cy="646331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chemeClr val="accent5">
                      <a:lumMod val="50000"/>
                    </a:schemeClr>
                  </a:solidFill>
                </a:rPr>
                <a:t>    搜索空间</a:t>
              </a:r>
              <a:endParaRPr lang="en-US" altLang="zh-CN" sz="3600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960120" y="1392503"/>
            <a:ext cx="8525828" cy="915300"/>
          </a:xfrm>
          <a:prstGeom prst="rect">
            <a:avLst/>
          </a:prstGeom>
          <a:gradFill>
            <a:gsLst>
              <a:gs pos="26000">
                <a:srgbClr val="F7E8D3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960120" y="1477059"/>
            <a:ext cx="9677400" cy="7590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/>
              <a:t>3. </a:t>
            </a:r>
            <a:r>
              <a:rPr lang="zh-CN" altLang="en-US" sz="4000" b="1" dirty="0"/>
              <a:t>添加约束以提高效率</a:t>
            </a:r>
            <a:endParaRPr lang="zh-CN" altLang="en-US" sz="4000" b="1" dirty="0">
              <a:solidFill>
                <a:srgbClr val="2E3C63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/>
              <a:t>自动并行优化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0" y="1845817"/>
            <a:ext cx="18288000" cy="8441871"/>
            <a:chOff x="0" y="1845817"/>
            <a:chExt cx="18288000" cy="8441871"/>
          </a:xfrm>
        </p:grpSpPr>
        <p:grpSp>
          <p:nvGrpSpPr>
            <p:cNvPr id="4" name="组合 3"/>
            <p:cNvGrpSpPr/>
            <p:nvPr/>
          </p:nvGrpSpPr>
          <p:grpSpPr>
            <a:xfrm>
              <a:off x="0" y="1845817"/>
              <a:ext cx="18288000" cy="8441871"/>
              <a:chOff x="0" y="1845817"/>
              <a:chExt cx="18288000" cy="8441871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1845817"/>
                <a:ext cx="18288000" cy="8441871"/>
              </a:xfrm>
              <a:prstGeom prst="rect">
                <a:avLst/>
              </a:prstGeom>
            </p:spPr>
          </p:pic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558218" y="9564703"/>
                <a:ext cx="960203" cy="441998"/>
              </a:xfrm>
              <a:prstGeom prst="rect">
                <a:avLst/>
              </a:prstGeom>
            </p:spPr>
          </p:pic>
        </p:grpSp>
        <p:sp>
          <p:nvSpPr>
            <p:cNvPr id="7" name="文本框 6"/>
            <p:cNvSpPr txBox="1"/>
            <p:nvPr/>
          </p:nvSpPr>
          <p:spPr>
            <a:xfrm>
              <a:off x="1802029" y="3155553"/>
              <a:ext cx="4400775" cy="19389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rgbClr val="FF0000"/>
                  </a:solidFill>
                </a:rPr>
                <a:t>         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流水线切割引擎</a:t>
              </a:r>
              <a:endParaRPr lang="en-US" altLang="zh-CN" sz="2800" b="1" dirty="0">
                <a:solidFill>
                  <a:srgbClr val="FF0000"/>
                </a:solidFill>
              </a:endParaRPr>
            </a:p>
            <a:p>
              <a:endParaRPr lang="en-US" altLang="zh-CN" sz="2800" dirty="0"/>
            </a:p>
            <a:p>
              <a:endParaRPr lang="en-US" altLang="zh-CN" sz="2800" dirty="0"/>
            </a:p>
            <a:p>
              <a:r>
                <a:rPr lang="en-US" altLang="zh-CN" sz="2800" b="1" dirty="0"/>
                <a:t>          </a:t>
              </a:r>
              <a:r>
                <a:rPr lang="zh-CN" altLang="en-US" sz="2800" b="1" dirty="0"/>
                <a:t>算法：图切割算法</a:t>
              </a:r>
              <a:endParaRPr lang="en-US" altLang="zh-CN" sz="2800" b="1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802029" y="7353428"/>
              <a:ext cx="5198846" cy="193899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rgbClr val="FF0000"/>
                  </a:solidFill>
                </a:rPr>
                <a:t>             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映射引擎</a:t>
              </a:r>
              <a:endParaRPr lang="en-US" altLang="zh-CN" sz="2800" b="1" dirty="0">
                <a:solidFill>
                  <a:srgbClr val="FF0000"/>
                </a:solidFill>
              </a:endParaRPr>
            </a:p>
            <a:p>
              <a:endParaRPr lang="en-US" altLang="zh-CN" sz="2800" dirty="0"/>
            </a:p>
            <a:p>
              <a:endParaRPr lang="en-US" altLang="zh-CN" sz="2800" dirty="0"/>
            </a:p>
            <a:p>
              <a:r>
                <a:rPr lang="zh-CN" altLang="en-US" sz="2800" b="1" dirty="0"/>
                <a:t>    算法：约束满足问题（</a:t>
              </a:r>
              <a:r>
                <a:rPr lang="en-US" altLang="zh-CN" sz="2800" b="1" dirty="0"/>
                <a:t>CSP</a:t>
              </a:r>
              <a:r>
                <a:rPr lang="zh-CN" altLang="en-US" sz="2800" b="1" dirty="0"/>
                <a:t>）</a:t>
              </a:r>
              <a:endParaRPr lang="en-US" altLang="zh-CN" sz="2800" b="1" dirty="0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56804" y="1845817"/>
              <a:ext cx="9318776" cy="8441871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960120" y="1392503"/>
            <a:ext cx="8525828" cy="915300"/>
          </a:xfrm>
          <a:prstGeom prst="rect">
            <a:avLst/>
          </a:prstGeom>
          <a:gradFill>
            <a:gsLst>
              <a:gs pos="26000">
                <a:srgbClr val="F7E8D3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960120" y="1477059"/>
            <a:ext cx="9677400" cy="7590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/>
              <a:t>3. </a:t>
            </a:r>
            <a:r>
              <a:rPr lang="zh-CN" altLang="en-US" sz="4000" b="1" dirty="0"/>
              <a:t>添加约束以提高效率</a:t>
            </a:r>
            <a:endParaRPr lang="zh-CN" altLang="en-US" sz="4000" b="1" dirty="0">
              <a:solidFill>
                <a:srgbClr val="2E3C63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/>
              <a:t>自动并行优化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374421" y="2676561"/>
            <a:ext cx="878581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90204" pitchFamily="34" charset="0"/>
              <a:buChar char="•"/>
            </a:pPr>
            <a:r>
              <a:rPr lang="zh-CN" altLang="en-US" sz="2800" b="1" dirty="0"/>
              <a:t>切割引擎约束：</a:t>
            </a:r>
            <a:endParaRPr lang="en-US" altLang="zh-CN" sz="2800" b="1" dirty="0"/>
          </a:p>
          <a:p>
            <a:pPr marL="457200" indent="-457200">
              <a:buFont typeface="Arial" panose="020B0604020202090204" pitchFamily="34" charset="0"/>
              <a:buChar char="•"/>
            </a:pPr>
            <a:endParaRPr lang="zh-CN" altLang="en-US" sz="2800" b="1" dirty="0"/>
          </a:p>
          <a:p>
            <a:pPr marL="914400" lvl="1" indent="-457200">
              <a:buFont typeface="Arial" panose="020B0604020202090204" pitchFamily="34" charset="0"/>
              <a:buChar char="•"/>
            </a:pPr>
            <a:r>
              <a:rPr lang="zh-CN" altLang="en-US" sz="2800" b="1" dirty="0"/>
              <a:t>为了正确性，避免分割持久状态</a:t>
            </a:r>
            <a:r>
              <a:rPr lang="zh-CN" altLang="en-US" sz="2800" dirty="0"/>
              <a:t>（在图中形成不可切割区域）。</a:t>
            </a:r>
            <a:endParaRPr lang="en-US" altLang="zh-CN" sz="2800" dirty="0"/>
          </a:p>
          <a:p>
            <a:pPr marL="914400" lvl="1" indent="-457200">
              <a:buFont typeface="Arial" panose="020B0604020202090204" pitchFamily="34" charset="0"/>
              <a:buChar char="•"/>
            </a:pPr>
            <a:endParaRPr lang="zh-CN" altLang="en-US" sz="2800" dirty="0"/>
          </a:p>
          <a:p>
            <a:pPr marL="914400" lvl="1" indent="-457200">
              <a:buFont typeface="Arial" panose="020B0604020202090204" pitchFamily="34" charset="0"/>
              <a:buChar char="•"/>
            </a:pPr>
            <a:r>
              <a:rPr lang="zh-CN" altLang="en-US" sz="2800" b="1" dirty="0"/>
              <a:t>为了性能，避免极端不均匀的切割</a:t>
            </a:r>
            <a:r>
              <a:rPr lang="zh-CN" altLang="en-US" sz="2800" dirty="0"/>
              <a:t>（使用加权平衡最小割）。</a:t>
            </a:r>
            <a:endParaRPr lang="en-US" altLang="zh-CN" sz="2800" dirty="0"/>
          </a:p>
          <a:p>
            <a:endParaRPr lang="en-US" altLang="zh-CN" sz="32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zh-CN" altLang="en-US" sz="2800" b="1" dirty="0"/>
              <a:t>映射引擎约束：</a:t>
            </a:r>
            <a:endParaRPr lang="en-US" altLang="zh-CN" sz="2800" b="1" dirty="0"/>
          </a:p>
          <a:p>
            <a:pPr marL="457200" indent="-457200">
              <a:buFont typeface="Arial" panose="020B0604020202090204" pitchFamily="34" charset="0"/>
              <a:buChar char="•"/>
            </a:pPr>
            <a:endParaRPr lang="zh-CN" altLang="en-US" sz="2800" b="1" dirty="0"/>
          </a:p>
          <a:p>
            <a:pPr marL="914400" lvl="1" indent="-457200">
              <a:buFont typeface="Arial" panose="020B0604020202090204" pitchFamily="34" charset="0"/>
              <a:buChar char="•"/>
            </a:pPr>
            <a:r>
              <a:rPr lang="zh-CN" altLang="en-US" sz="2800" b="1" dirty="0"/>
              <a:t>避免同步开销</a:t>
            </a:r>
            <a:r>
              <a:rPr lang="zh-CN" altLang="en-US" sz="2800" dirty="0"/>
              <a:t>：限制带有共享状态的处理器的最大复制数量 。</a:t>
            </a:r>
            <a:endParaRPr lang="zh-CN" altLang="en-US" sz="2800" dirty="0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/>
              <a:t>实现细节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05587" y="1900876"/>
            <a:ext cx="9065899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90204" pitchFamily="34" charset="0"/>
              <a:buChar char="•"/>
            </a:pPr>
            <a:r>
              <a:rPr lang="zh-CN" altLang="en-US" sz="3600" dirty="0"/>
              <a:t>基于 </a:t>
            </a:r>
            <a:r>
              <a:rPr lang="en-US" altLang="zh-CN" sz="3600" dirty="0"/>
              <a:t>C++ </a:t>
            </a:r>
            <a:r>
              <a:rPr lang="zh-CN" altLang="en-US" sz="3600" dirty="0"/>
              <a:t>和 </a:t>
            </a:r>
            <a:r>
              <a:rPr lang="en-US" altLang="zh-CN" sz="3600" dirty="0"/>
              <a:t>MLIR </a:t>
            </a:r>
            <a:r>
              <a:rPr lang="zh-CN" altLang="en-US" sz="3600" dirty="0"/>
              <a:t>实现，约 </a:t>
            </a:r>
            <a:r>
              <a:rPr lang="en-US" altLang="zh-CN" sz="3600" dirty="0"/>
              <a:t>2 </a:t>
            </a:r>
            <a:r>
              <a:rPr lang="zh-CN" altLang="en-US" sz="3600" dirty="0"/>
              <a:t>万行代码 。</a:t>
            </a:r>
            <a:endParaRPr lang="en-US" altLang="zh-CN" sz="3600" dirty="0"/>
          </a:p>
          <a:p>
            <a:pPr marL="571500" indent="-571500">
              <a:buFont typeface="Arial" panose="020B0604020202090204" pitchFamily="34" charset="0"/>
              <a:buChar char="•"/>
            </a:pPr>
            <a:endParaRPr lang="en-US" altLang="zh-CN" sz="3600" dirty="0"/>
          </a:p>
          <a:p>
            <a:pPr marL="571500" indent="-571500">
              <a:buFont typeface="Arial" panose="020B0604020202090204" pitchFamily="34" charset="0"/>
              <a:buChar char="•"/>
            </a:pPr>
            <a:endParaRPr lang="en-US" altLang="zh-CN" sz="3600" dirty="0"/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zh-CN" altLang="en-US" sz="3600" dirty="0"/>
              <a:t>支持</a:t>
            </a:r>
            <a:r>
              <a:rPr lang="en-US" altLang="zh-CN" sz="3600" dirty="0"/>
              <a:t> 4</a:t>
            </a:r>
            <a:r>
              <a:rPr lang="zh-CN" altLang="en-US" sz="3600" dirty="0"/>
              <a:t> 种 </a:t>
            </a:r>
            <a:r>
              <a:rPr lang="en-US" altLang="zh-CN" sz="3600" dirty="0"/>
              <a:t>NIC </a:t>
            </a:r>
            <a:r>
              <a:rPr lang="zh-CN" altLang="en-US" sz="3600" dirty="0"/>
              <a:t>后端：</a:t>
            </a:r>
            <a:endParaRPr lang="en-US" altLang="zh-CN" sz="3600" dirty="0"/>
          </a:p>
          <a:p>
            <a:pPr marL="1028700" lvl="1" indent="-571500">
              <a:buFont typeface="Arial" panose="020B0604020202090204" pitchFamily="34" charset="0"/>
              <a:buChar char="•"/>
            </a:pPr>
            <a:r>
              <a:rPr lang="en-US" altLang="zh-CN" sz="3600" dirty="0" err="1"/>
              <a:t>Agilio</a:t>
            </a:r>
            <a:endParaRPr lang="en-US" altLang="zh-CN" sz="3600" dirty="0"/>
          </a:p>
          <a:p>
            <a:pPr marL="1028700" lvl="1" indent="-571500">
              <a:buFont typeface="Arial" panose="020B0604020202090204" pitchFamily="34" charset="0"/>
              <a:buChar char="•"/>
            </a:pPr>
            <a:r>
              <a:rPr lang="en-US" altLang="zh-CN" sz="3600" dirty="0"/>
              <a:t>BlueField-2</a:t>
            </a:r>
            <a:endParaRPr lang="en-US" altLang="zh-CN" sz="3600" dirty="0"/>
          </a:p>
          <a:p>
            <a:pPr marL="1028700" lvl="1" indent="-571500">
              <a:buFont typeface="Arial" panose="020B0604020202090204" pitchFamily="34" charset="0"/>
              <a:buChar char="•"/>
            </a:pPr>
            <a:r>
              <a:rPr lang="en-US" altLang="zh-CN" sz="3600" dirty="0"/>
              <a:t>Alveo</a:t>
            </a:r>
            <a:endParaRPr lang="en-US" altLang="zh-CN" sz="3600" dirty="0"/>
          </a:p>
          <a:p>
            <a:pPr marL="1028700" lvl="1" indent="-571500">
              <a:buFont typeface="Arial" panose="020B0604020202090204" pitchFamily="34" charset="0"/>
              <a:buChar char="•"/>
            </a:pPr>
            <a:r>
              <a:rPr lang="en-US" altLang="zh-CN" sz="3600" dirty="0"/>
              <a:t>PANIC</a:t>
            </a:r>
            <a:endParaRPr lang="en-US" altLang="zh-CN" sz="3600" dirty="0"/>
          </a:p>
          <a:p>
            <a:pPr marL="1028700" lvl="1" indent="-571500">
              <a:buFont typeface="Arial" panose="020B0604020202090204" pitchFamily="34" charset="0"/>
              <a:buChar char="•"/>
            </a:pPr>
            <a:endParaRPr lang="en-US" altLang="zh-CN" sz="3600" dirty="0"/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zh-CN" altLang="en-US" sz="3600" dirty="0"/>
              <a:t>为每种 </a:t>
            </a:r>
            <a:r>
              <a:rPr lang="en-US" altLang="zh-CN" sz="3600" dirty="0"/>
              <a:t>NIC </a:t>
            </a:r>
            <a:r>
              <a:rPr lang="zh-CN" altLang="en-US" sz="3600" dirty="0"/>
              <a:t>提供运行时库：</a:t>
            </a:r>
            <a:endParaRPr lang="en-US" altLang="zh-CN" sz="3600" dirty="0"/>
          </a:p>
          <a:p>
            <a:pPr marL="1028700" lvl="1" indent="-571500">
              <a:buFont typeface="Arial" panose="020B0604020202090204" pitchFamily="34" charset="0"/>
              <a:buChar char="•"/>
            </a:pPr>
            <a:r>
              <a:rPr lang="zh-CN" altLang="en-US" sz="3600" dirty="0"/>
              <a:t>动态内存分配</a:t>
            </a:r>
            <a:endParaRPr lang="en-US" altLang="zh-CN" sz="3600" dirty="0"/>
          </a:p>
          <a:p>
            <a:pPr marL="1028700" lvl="1" indent="-571500">
              <a:buFont typeface="Arial" panose="020B0604020202090204" pitchFamily="34" charset="0"/>
              <a:buChar char="•"/>
            </a:pPr>
            <a:r>
              <a:rPr lang="zh-CN" altLang="en-US" sz="3600" dirty="0"/>
              <a:t>事件控制器</a:t>
            </a:r>
            <a:endParaRPr lang="en-US" altLang="zh-CN" sz="3600" dirty="0"/>
          </a:p>
          <a:p>
            <a:pPr marL="1028700" lvl="1" indent="-571500">
              <a:buFont typeface="Arial" panose="020B0604020202090204" pitchFamily="34" charset="0"/>
              <a:buChar char="•"/>
            </a:pPr>
            <a:r>
              <a:rPr lang="zh-CN" altLang="en-US" sz="3600" dirty="0"/>
              <a:t>内部计算单元间通信队列</a:t>
            </a:r>
            <a:endParaRPr lang="zh-CN" altLang="en-US" sz="3600" dirty="0"/>
          </a:p>
        </p:txBody>
      </p:sp>
      <p:sp>
        <p:nvSpPr>
          <p:cNvPr id="7" name="文本框 6"/>
          <p:cNvSpPr txBox="1"/>
          <p:nvPr/>
        </p:nvSpPr>
        <p:spPr>
          <a:xfrm>
            <a:off x="9513794" y="7908904"/>
            <a:ext cx="81040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/>
              <a:t>https://github.com/utnslab/Alkali</a:t>
            </a:r>
            <a:endParaRPr lang="zh-CN" altLang="en-US" sz="4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3153" y="2950043"/>
            <a:ext cx="4858870" cy="48588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960120" y="1392503"/>
            <a:ext cx="8525828" cy="915300"/>
          </a:xfrm>
          <a:prstGeom prst="rect">
            <a:avLst/>
          </a:prstGeom>
          <a:gradFill>
            <a:gsLst>
              <a:gs pos="26000">
                <a:srgbClr val="F7E8D3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960120" y="1477059"/>
            <a:ext cx="11375315" cy="7590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/>
              <a:t>Alkali </a:t>
            </a:r>
            <a:r>
              <a:rPr lang="zh-CN" altLang="en-US" sz="4000" b="1" dirty="0"/>
              <a:t>真的简化了编程并提供了良好的性能了吗？</a:t>
            </a:r>
            <a:endParaRPr lang="zh-CN" altLang="en-US" sz="4000" b="1" dirty="0">
              <a:solidFill>
                <a:srgbClr val="2E3C63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/>
              <a:t>评估 </a:t>
            </a:r>
            <a:r>
              <a:rPr lang="en-US" altLang="zh-CN" sz="4400" b="1" dirty="0"/>
              <a:t>– </a:t>
            </a:r>
            <a:r>
              <a:rPr lang="zh-CN" altLang="en-US" sz="4400" b="1" dirty="0"/>
              <a:t>易用性与性能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7177" y="9449630"/>
            <a:ext cx="150837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[</a:t>
            </a:r>
            <a:r>
              <a:rPr lang="zh-CN" altLang="en-US" sz="2000" dirty="0"/>
              <a:t>1] Shashidhara, Rajath, et al. "{FlexTOE}: Flexible {TCP} Offload with {Fine-Grained} Parallelism." 19th USENIX Symposium on  Networked Systems Design and Implementation (NSDI 22). 2022.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1290917" y="2392359"/>
            <a:ext cx="90658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90204" pitchFamily="34" charset="0"/>
              <a:buChar char="•"/>
            </a:pPr>
            <a:r>
              <a:rPr lang="zh-CN" altLang="en-US" sz="3600" dirty="0"/>
              <a:t>测试场景：</a:t>
            </a:r>
            <a:r>
              <a:rPr lang="en-US" altLang="zh-CN" sz="3600" dirty="0"/>
              <a:t>TCP </a:t>
            </a:r>
            <a:r>
              <a:rPr lang="zh-CN" altLang="en-US" sz="3600" dirty="0"/>
              <a:t>传输卸载</a:t>
            </a:r>
            <a:endParaRPr lang="zh-CN" altLang="en-US" sz="3600" dirty="0"/>
          </a:p>
          <a:p>
            <a:pPr marL="1028700" lvl="1" indent="-571500">
              <a:buFont typeface="Arial" panose="020B0604020202090204" pitchFamily="34" charset="0"/>
              <a:buChar char="•"/>
            </a:pPr>
            <a:r>
              <a:rPr lang="zh-CN" altLang="en-US" sz="3600" dirty="0"/>
              <a:t>基线：运行在 </a:t>
            </a:r>
            <a:r>
              <a:rPr lang="en-US" altLang="zh-CN" sz="3600" b="1" dirty="0" err="1"/>
              <a:t>Agilio</a:t>
            </a:r>
            <a:r>
              <a:rPr lang="en-US" altLang="zh-CN" sz="3600" b="1" dirty="0"/>
              <a:t> </a:t>
            </a:r>
            <a:r>
              <a:rPr lang="zh-CN" altLang="en-US" sz="3600" b="1" dirty="0"/>
              <a:t>智能网卡</a:t>
            </a:r>
            <a:r>
              <a:rPr lang="zh-CN" altLang="en-US" sz="3600" dirty="0"/>
              <a:t>上的 </a:t>
            </a:r>
            <a:r>
              <a:rPr lang="en-US" altLang="zh-CN" sz="3600" b="1" dirty="0" err="1"/>
              <a:t>FlexTOE</a:t>
            </a:r>
            <a:endParaRPr lang="zh-CN" altLang="en-US" sz="3600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270" y="4100339"/>
            <a:ext cx="17015460" cy="4072926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2964824" y="8272838"/>
            <a:ext cx="1235835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在四种目标平台上（</a:t>
            </a:r>
            <a:r>
              <a:rPr lang="en-US" altLang="zh-CN" sz="3200" dirty="0" err="1">
                <a:solidFill>
                  <a:srgbClr val="FF0000"/>
                </a:solidFill>
              </a:rPr>
              <a:t>Agilio</a:t>
            </a:r>
            <a:r>
              <a:rPr lang="en-US" altLang="zh-CN" sz="3200" dirty="0">
                <a:solidFill>
                  <a:srgbClr val="FF0000"/>
                </a:solidFill>
              </a:rPr>
              <a:t>, FPGA, BF-2, </a:t>
            </a:r>
            <a:r>
              <a:rPr lang="en-US" altLang="zh-CN" sz="3200" dirty="0" err="1">
                <a:solidFill>
                  <a:srgbClr val="FF0000"/>
                </a:solidFill>
              </a:rPr>
              <a:t>RiscV</a:t>
            </a:r>
            <a:r>
              <a:rPr lang="en-US" altLang="zh-CN" sz="3200" dirty="0">
                <a:solidFill>
                  <a:srgbClr val="FF0000"/>
                </a:solidFill>
              </a:rPr>
              <a:t> NIC</a:t>
            </a:r>
            <a:r>
              <a:rPr lang="zh-CN" altLang="en-US" sz="3200" dirty="0">
                <a:solidFill>
                  <a:srgbClr val="FF0000"/>
                </a:solidFill>
              </a:rPr>
              <a:t>），</a:t>
            </a:r>
            <a:r>
              <a:rPr lang="en-US" altLang="zh-CN" sz="3200" dirty="0">
                <a:solidFill>
                  <a:srgbClr val="FF0000"/>
                </a:solidFill>
              </a:rPr>
              <a:t>Alkali </a:t>
            </a:r>
            <a:r>
              <a:rPr lang="zh-CN" altLang="en-US" sz="3200" dirty="0">
                <a:solidFill>
                  <a:srgbClr val="FF0000"/>
                </a:solidFill>
              </a:rPr>
              <a:t>生成的代码性能都接近基线或专家手写的实现（误差在 </a:t>
            </a:r>
            <a:r>
              <a:rPr lang="en-US" altLang="zh-CN" sz="3200" dirty="0">
                <a:solidFill>
                  <a:srgbClr val="FF0000"/>
                </a:solidFill>
              </a:rPr>
              <a:t>10% </a:t>
            </a:r>
            <a:r>
              <a:rPr lang="zh-CN" altLang="en-US" sz="3200" dirty="0">
                <a:solidFill>
                  <a:srgbClr val="FF0000"/>
                </a:solidFill>
              </a:rPr>
              <a:t>以内）。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960120" y="1392503"/>
            <a:ext cx="8525828" cy="915300"/>
          </a:xfrm>
          <a:prstGeom prst="rect">
            <a:avLst/>
          </a:prstGeom>
          <a:gradFill>
            <a:gsLst>
              <a:gs pos="26000">
                <a:srgbClr val="F7E8D3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 dirty="0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960120" y="1477059"/>
            <a:ext cx="9677400" cy="7590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/>
              <a:t>Alkali </a:t>
            </a:r>
            <a:r>
              <a:rPr lang="zh-CN" altLang="en-US" sz="4000" b="1" dirty="0"/>
              <a:t>是可扩展的吗？</a:t>
            </a:r>
            <a:endParaRPr lang="zh-CN" altLang="en-US" sz="4000" b="1" dirty="0"/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/>
              <a:t>评估 </a:t>
            </a:r>
            <a:r>
              <a:rPr lang="en-US" altLang="zh-CN" sz="4400" b="1" dirty="0"/>
              <a:t>– </a:t>
            </a:r>
            <a:r>
              <a:rPr lang="zh-CN" altLang="en-US" sz="4400" b="1" dirty="0"/>
              <a:t>可扩展性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2775" y="3083859"/>
            <a:ext cx="17913033" cy="6048961"/>
            <a:chOff x="222775" y="3083859"/>
            <a:chExt cx="17913033" cy="6048961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2775" y="3083859"/>
              <a:ext cx="17913033" cy="6048961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689509" y="3807438"/>
              <a:ext cx="2099411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/>
                <a:t> 硬件类型</a:t>
              </a:r>
              <a:endParaRPr lang="en-US" altLang="zh-CN" sz="2400" b="1" dirty="0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749114" y="3807437"/>
              <a:ext cx="3434766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/>
                <a:t>目标代码格式</a:t>
              </a:r>
              <a:endParaRPr lang="en-US" altLang="zh-CN" sz="2400" b="1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310360" y="3807436"/>
              <a:ext cx="3017520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3200" b="1"/>
                <a:t>  学生开发耗时</a:t>
              </a:r>
              <a:endParaRPr lang="en-US" altLang="zh-CN" sz="2400" b="1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179291" y="3807436"/>
              <a:ext cx="4628150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/>
                <a:t>     不可复用代码行数</a:t>
              </a:r>
              <a:endParaRPr lang="en-US" altLang="zh-CN" sz="2400" b="1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545530" y="8372865"/>
              <a:ext cx="564647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/>
                <a:t>              后端开发工作</a:t>
              </a:r>
              <a:endParaRPr lang="en-US" altLang="zh-CN" sz="2000" b="1" dirty="0"/>
            </a:p>
          </p:txBody>
        </p:sp>
      </p:grp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7"/>
          <p:cNvGrpSpPr/>
          <p:nvPr/>
        </p:nvGrpSpPr>
        <p:grpSpPr>
          <a:xfrm>
            <a:off x="490818" y="6493133"/>
            <a:ext cx="8303473" cy="2892755"/>
            <a:chOff x="0" y="0"/>
            <a:chExt cx="5836545" cy="7730757"/>
          </a:xfrm>
        </p:grpSpPr>
        <p:sp>
          <p:nvSpPr>
            <p:cNvPr id="21" name="Freeform 19"/>
            <p:cNvSpPr/>
            <p:nvPr>
              <p:custDataLst>
                <p:tags r:id="rId1"/>
              </p:custDataLst>
            </p:nvPr>
          </p:nvSpPr>
          <p:spPr>
            <a:xfrm rot="16200000">
              <a:off x="2836481" y="4730693"/>
              <a:ext cx="163583" cy="5836545"/>
            </a:xfrm>
            <a:custGeom>
              <a:avLst/>
              <a:gdLst/>
              <a:ahLst/>
              <a:cxnLst/>
              <a:rect l="l" t="t" r="r" b="b"/>
              <a:pathLst>
                <a:path w="25088" h="895141">
                  <a:moveTo>
                    <a:pt x="0" y="0"/>
                  </a:moveTo>
                  <a:lnTo>
                    <a:pt x="25088" y="0"/>
                  </a:lnTo>
                  <a:lnTo>
                    <a:pt x="25088" y="895141"/>
                  </a:lnTo>
                  <a:lnTo>
                    <a:pt x="0" y="895141"/>
                  </a:lnTo>
                  <a:close/>
                </a:path>
              </a:pathLst>
            </a:custGeom>
            <a:solidFill>
              <a:srgbClr val="F7E8D3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1"/>
            <p:cNvSpPr/>
            <p:nvPr>
              <p:custDataLst>
                <p:tags r:id="rId2"/>
              </p:custDataLst>
            </p:nvPr>
          </p:nvSpPr>
          <p:spPr>
            <a:xfrm rot="5400000">
              <a:off x="-865315" y="865315"/>
              <a:ext cx="7567174" cy="5836544"/>
            </a:xfrm>
            <a:custGeom>
              <a:avLst/>
              <a:gdLst/>
              <a:ahLst/>
              <a:cxnLst/>
              <a:rect l="l" t="t" r="r" b="b"/>
              <a:pathLst>
                <a:path w="7567174" h="5836544">
                  <a:moveTo>
                    <a:pt x="0" y="0"/>
                  </a:moveTo>
                  <a:lnTo>
                    <a:pt x="7567174" y="0"/>
                  </a:lnTo>
                  <a:lnTo>
                    <a:pt x="7567174" y="5836544"/>
                  </a:lnTo>
                  <a:lnTo>
                    <a:pt x="0" y="583654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100000">
                  <a:srgbClr val="5399D4"/>
                </a:gs>
              </a:gsLst>
              <a:lin ang="10800000" scaled="0"/>
            </a:gradFill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0" y="900"/>
            <a:ext cx="18288000" cy="126015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3745" y="281887"/>
            <a:ext cx="3251835" cy="6858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312420" y="261976"/>
            <a:ext cx="12663488" cy="8067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/>
              <a:t>总结</a:t>
            </a:r>
            <a:endParaRPr lang="zh-CN" altLang="en-US" sz="4200" dirty="0">
              <a:solidFill>
                <a:srgbClr val="2E3C63"/>
              </a:solidFill>
            </a:endParaRPr>
          </a:p>
        </p:txBody>
      </p:sp>
      <p:grpSp>
        <p:nvGrpSpPr>
          <p:cNvPr id="4" name="Group 17"/>
          <p:cNvGrpSpPr/>
          <p:nvPr/>
        </p:nvGrpSpPr>
        <p:grpSpPr>
          <a:xfrm>
            <a:off x="490819" y="2880514"/>
            <a:ext cx="8303475" cy="2892755"/>
            <a:chOff x="0" y="0"/>
            <a:chExt cx="5836545" cy="7730757"/>
          </a:xfrm>
        </p:grpSpPr>
        <p:sp>
          <p:nvSpPr>
            <p:cNvPr id="5" name="Freeform 19"/>
            <p:cNvSpPr/>
            <p:nvPr>
              <p:custDataLst>
                <p:tags r:id="rId6"/>
              </p:custDataLst>
            </p:nvPr>
          </p:nvSpPr>
          <p:spPr>
            <a:xfrm rot="16200000">
              <a:off x="2836481" y="4730693"/>
              <a:ext cx="163583" cy="5836545"/>
            </a:xfrm>
            <a:custGeom>
              <a:avLst/>
              <a:gdLst/>
              <a:ahLst/>
              <a:cxnLst/>
              <a:rect l="l" t="t" r="r" b="b"/>
              <a:pathLst>
                <a:path w="25088" h="895141">
                  <a:moveTo>
                    <a:pt x="0" y="0"/>
                  </a:moveTo>
                  <a:lnTo>
                    <a:pt x="25088" y="0"/>
                  </a:lnTo>
                  <a:lnTo>
                    <a:pt x="25088" y="895141"/>
                  </a:lnTo>
                  <a:lnTo>
                    <a:pt x="0" y="895141"/>
                  </a:lnTo>
                  <a:close/>
                </a:path>
              </a:pathLst>
            </a:custGeom>
            <a:solidFill>
              <a:srgbClr val="F7E8D3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21"/>
            <p:cNvSpPr/>
            <p:nvPr>
              <p:custDataLst>
                <p:tags r:id="rId7"/>
              </p:custDataLst>
            </p:nvPr>
          </p:nvSpPr>
          <p:spPr>
            <a:xfrm rot="5400000">
              <a:off x="-865315" y="865315"/>
              <a:ext cx="7567174" cy="5836544"/>
            </a:xfrm>
            <a:custGeom>
              <a:avLst/>
              <a:gdLst/>
              <a:ahLst/>
              <a:cxnLst/>
              <a:rect l="l" t="t" r="r" b="b"/>
              <a:pathLst>
                <a:path w="7567174" h="5836544">
                  <a:moveTo>
                    <a:pt x="0" y="0"/>
                  </a:moveTo>
                  <a:lnTo>
                    <a:pt x="7567174" y="0"/>
                  </a:lnTo>
                  <a:lnTo>
                    <a:pt x="7567174" y="5836544"/>
                  </a:lnTo>
                  <a:lnTo>
                    <a:pt x="0" y="583654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100000">
                  <a:srgbClr val="5399D4"/>
                </a:gs>
              </a:gsLst>
              <a:lin ang="10800000" scaled="0"/>
            </a:gradFill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78994" y="3119716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</a:rPr>
              <a:t>核心思想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70112" y="4086659"/>
            <a:ext cx="7936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使用 </a:t>
            </a:r>
            <a:r>
              <a:rPr lang="en-US" altLang="zh-CN" sz="3600" dirty="0"/>
              <a:t>IR </a:t>
            </a:r>
            <a:r>
              <a:rPr lang="zh-CN" altLang="en-US" sz="3600" dirty="0"/>
              <a:t>抽象 </a:t>
            </a:r>
            <a:r>
              <a:rPr lang="en-US" altLang="zh-CN" sz="3600" dirty="0"/>
              <a:t>NIC </a:t>
            </a:r>
            <a:r>
              <a:rPr lang="zh-CN" altLang="en-US" sz="3600" dirty="0"/>
              <a:t>程序的计算并行性和状态访问模式 。</a:t>
            </a:r>
            <a:endParaRPr lang="zh-CN" altLang="en-US" sz="3600" dirty="0"/>
          </a:p>
        </p:txBody>
      </p:sp>
      <p:sp>
        <p:nvSpPr>
          <p:cNvPr id="14" name="文本框 13"/>
          <p:cNvSpPr txBox="1"/>
          <p:nvPr/>
        </p:nvSpPr>
        <p:spPr>
          <a:xfrm>
            <a:off x="678994" y="675906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bg2"/>
                </a:solidFill>
              </a:rPr>
              <a:t>成果</a:t>
            </a:r>
            <a:endParaRPr lang="en-US" altLang="zh-CN" sz="3600" dirty="0">
              <a:solidFill>
                <a:schemeClr val="bg2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0112" y="7671336"/>
            <a:ext cx="7936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利用该 </a:t>
            </a:r>
            <a:r>
              <a:rPr lang="en-US" altLang="zh-CN" sz="3600" dirty="0"/>
              <a:t>IR </a:t>
            </a:r>
            <a:r>
              <a:rPr lang="zh-CN" altLang="en-US" sz="3600" dirty="0"/>
              <a:t>构建了可重用的编译器框架，通过优化实现了自动并行化 。</a:t>
            </a:r>
            <a:endParaRPr lang="zh-CN" altLang="en-US" sz="3600" dirty="0"/>
          </a:p>
        </p:txBody>
      </p:sp>
      <p:sp>
        <p:nvSpPr>
          <p:cNvPr id="10" name="文本框 9"/>
          <p:cNvSpPr txBox="1"/>
          <p:nvPr/>
        </p:nvSpPr>
        <p:spPr>
          <a:xfrm>
            <a:off x="9513794" y="7908904"/>
            <a:ext cx="81040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/>
              <a:t>https://github.com/utnslab/Alkali</a:t>
            </a:r>
            <a:endParaRPr lang="zh-CN" altLang="en-US" sz="440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153" y="2950043"/>
            <a:ext cx="4858870" cy="485887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0" y="1789115"/>
            <a:ext cx="18288000" cy="2855120"/>
          </a:xfrm>
          <a:prstGeom prst="rect">
            <a:avLst/>
          </a:prstGeom>
          <a:gradFill>
            <a:gsLst>
              <a:gs pos="0">
                <a:schemeClr val="bg1"/>
              </a:gs>
              <a:gs pos="90000">
                <a:srgbClr val="5399D4"/>
              </a:gs>
            </a:gsLst>
          </a:gra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2051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832966" y="2337097"/>
            <a:ext cx="5511434" cy="1759155"/>
          </a:xfrm>
        </p:spPr>
        <p:txBody>
          <a:bodyPr vert="horz" lIns="135000" tIns="70200" rIns="135000" bIns="70200" anchor="b" anchorCtr="0">
            <a:noAutofit/>
          </a:bodyPr>
          <a:lstStyle/>
          <a:p>
            <a:pPr algn="l" defTabSz="914400"/>
            <a:r>
              <a:rPr lang="en-US" altLang="zh-CN" sz="10400" b="0" kern="1200" normalizeH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Thanks</a:t>
            </a:r>
            <a:endParaRPr lang="zh-CN" altLang="zh-CN" sz="10400" b="0" kern="120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53" name="图片 5" descr="剪影居中蓝 低版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6994"/>
            <a:ext cx="18288000" cy="566499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4" name="图片 1" descr="国科大标准Logo横式一（蓝色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7" y="408094"/>
            <a:ext cx="4488656" cy="940593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1.xml><?xml version="1.0" encoding="utf-8"?>
<p:tagLst xmlns:p="http://schemas.openxmlformats.org/presentationml/2006/main">
  <p:tag name="COMMONDATA" val="eyJoZGlkIjoiZWNmMTdiZjYwYTE0N2JiZTY2ZmQwZjRkNjc0ZWQ1ZjMifQ=="/>
</p:tagLst>
</file>

<file path=ppt/theme/theme1.xml><?xml version="1.0" encoding="utf-8"?>
<a:theme xmlns:a="http://schemas.openxmlformats.org/drawingml/2006/main" name="2023国科大融媒体编辑部出品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2517</Words>
  <Application>WPS 演示</Application>
  <PresentationFormat>自定义</PresentationFormat>
  <Paragraphs>324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汉仪旗黑</vt:lpstr>
      <vt:lpstr>Wingdings</vt:lpstr>
      <vt:lpstr>Bauhaus 93</vt:lpstr>
      <vt:lpstr>苹方-简</vt:lpstr>
      <vt:lpstr>Times New Roman</vt:lpstr>
      <vt:lpstr>楷体</vt:lpstr>
      <vt:lpstr>宋体</vt:lpstr>
      <vt:lpstr>Arial Unicode MS</vt:lpstr>
      <vt:lpstr>Calibri</vt:lpstr>
      <vt:lpstr>Helvetica Neue</vt:lpstr>
      <vt:lpstr>汉仪楷体KW</vt:lpstr>
      <vt:lpstr>Arial</vt:lpstr>
      <vt:lpstr>汉仪书宋二KW</vt:lpstr>
      <vt:lpstr>微软雅黑</vt:lpstr>
      <vt:lpstr>楷体</vt:lpstr>
      <vt:lpstr>2023国科大融媒体编辑部出品</vt:lpstr>
      <vt:lpstr>Enabling Portable and High-Performance SmartNIC Programs with Alkali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the Mechanisms and Intervention Strategies of Gut Microbiota Modulating Host Positive Emotions via the Gut-Brain Axis</dc:title>
  <dc:creator>A37-8</dc:creator>
  <cp:lastModifiedBy>幻象</cp:lastModifiedBy>
  <cp:revision>21</cp:revision>
  <dcterms:created xsi:type="dcterms:W3CDTF">2026-01-30T13:35:43Z</dcterms:created>
  <dcterms:modified xsi:type="dcterms:W3CDTF">2026-01-30T13:35:43Z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9CA54BEF05F7468D8B6A4023BBF164EC_13</vt:lpwstr>
  </property>
</Properties>
</file>