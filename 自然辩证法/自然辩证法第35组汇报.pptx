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2.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39"/>
  </p:handoutMasterIdLst>
  <p:sldIdLst>
    <p:sldId id="3208" r:id="rId3"/>
    <p:sldId id="3209" r:id="rId4"/>
    <p:sldId id="3210" r:id="rId5"/>
    <p:sldId id="3211" r:id="rId6"/>
    <p:sldId id="3212" r:id="rId8"/>
    <p:sldId id="3224" r:id="rId9"/>
    <p:sldId id="3213" r:id="rId10"/>
    <p:sldId id="3229" r:id="rId11"/>
    <p:sldId id="3234" r:id="rId12"/>
    <p:sldId id="3235" r:id="rId13"/>
    <p:sldId id="3237" r:id="rId14"/>
    <p:sldId id="3236" r:id="rId15"/>
    <p:sldId id="3238" r:id="rId16"/>
    <p:sldId id="3239" r:id="rId17"/>
    <p:sldId id="3240" r:id="rId18"/>
    <p:sldId id="3241" r:id="rId19"/>
    <p:sldId id="3242" r:id="rId20"/>
    <p:sldId id="3244" r:id="rId21"/>
    <p:sldId id="3243" r:id="rId22"/>
    <p:sldId id="3245" r:id="rId23"/>
    <p:sldId id="3226" r:id="rId24"/>
    <p:sldId id="3246" r:id="rId25"/>
    <p:sldId id="3215" r:id="rId26"/>
    <p:sldId id="3217" r:id="rId27"/>
    <p:sldId id="3249" r:id="rId28"/>
    <p:sldId id="3251" r:id="rId29"/>
    <p:sldId id="3230" r:id="rId30"/>
    <p:sldId id="3253" r:id="rId31"/>
    <p:sldId id="3254" r:id="rId32"/>
    <p:sldId id="3252" r:id="rId33"/>
    <p:sldId id="3218" r:id="rId34"/>
    <p:sldId id="3228" r:id="rId35"/>
    <p:sldId id="3255" r:id="rId36"/>
    <p:sldId id="3232" r:id="rId37"/>
    <p:sldId id="3221" r:id="rId38"/>
  </p:sldIdLst>
  <p:sldSz cx="12858750" cy="7232650"/>
  <p:notesSz cx="6858000" cy="9144000"/>
  <p:custDataLst>
    <p:tags r:id="rId43"/>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p:defaultTextStyle>
  <p:extLst>
    <p:ext uri="{EFAFB233-063F-42B5-8137-9DF3F51BA10A}">
      <p15:sldGuideLst xmlns:p15="http://schemas.microsoft.com/office/powerpoint/2012/main">
        <p15:guide id="1" orient="horz" pos="370" userDrawn="1">
          <p15:clr>
            <a:srgbClr val="A4A3A4"/>
          </p15:clr>
        </p15:guide>
        <p15:guide id="2" pos="2857" userDrawn="1">
          <p15:clr>
            <a:srgbClr val="A4A3A4"/>
          </p15:clr>
        </p15:guide>
        <p15:guide id="3" pos="512" userDrawn="1">
          <p15:clr>
            <a:srgbClr val="A4A3A4"/>
          </p15:clr>
        </p15:guide>
        <p15:guide id="4" orient="horz" pos="4288" userDrawn="1">
          <p15:clr>
            <a:srgbClr val="A4A3A4"/>
          </p15:clr>
        </p15:guide>
        <p15:guide id="5" pos="7610" userDrawn="1">
          <p15:clr>
            <a:srgbClr val="A4A3A4"/>
          </p15:clr>
        </p15:guide>
        <p15:guide id="6" pos="421" userDrawn="1">
          <p15:clr>
            <a:srgbClr val="A4A3A4"/>
          </p15:clr>
        </p15:guide>
        <p15:guide id="7" pos="13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14271"/>
    <a:srgbClr val="7F7F7F"/>
    <a:srgbClr val="194A96"/>
    <a:srgbClr val="0170C1"/>
    <a:srgbClr val="A78357"/>
    <a:srgbClr val="28C7D4"/>
    <a:srgbClr val="F94D4D"/>
    <a:srgbClr val="FEFEFE"/>
    <a:srgbClr val="8F1A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72" autoAdjust="0"/>
    <p:restoredTop sz="92986" autoAdjust="0"/>
  </p:normalViewPr>
  <p:slideViewPr>
    <p:cSldViewPr showGuides="1">
      <p:cViewPr varScale="1">
        <p:scale>
          <a:sx n="104" d="100"/>
          <a:sy n="104" d="100"/>
        </p:scale>
        <p:origin x="96" y="740"/>
      </p:cViewPr>
      <p:guideLst>
        <p:guide orient="horz" pos="370"/>
        <p:guide pos="2857"/>
        <p:guide pos="512"/>
        <p:guide orient="horz" pos="4288"/>
        <p:guide pos="7610"/>
        <p:guide pos="421"/>
        <p:guide pos="1341"/>
      </p:guideLst>
    </p:cSldViewPr>
  </p:slideViewPr>
  <p:outlineViewPr>
    <p:cViewPr>
      <p:scale>
        <a:sx n="100" d="100"/>
        <a:sy n="100" d="100"/>
      </p:scale>
      <p:origin x="0" y="984"/>
    </p:cViewPr>
  </p:outlineViewPr>
  <p:notesTextViewPr>
    <p:cViewPr>
      <p:scale>
        <a:sx n="1" d="1"/>
        <a:sy n="1" d="1"/>
      </p:scale>
      <p:origin x="0" y="0"/>
    </p:cViewPr>
  </p:notesTextViewPr>
  <p:sorterViewPr>
    <p:cViewPr>
      <p:scale>
        <a:sx n="132" d="100"/>
        <a:sy n="132" d="100"/>
      </p:scale>
      <p:origin x="0" y="0"/>
    </p:cViewPr>
  </p:sorterViewPr>
  <p:notesViewPr>
    <p:cSldViewPr>
      <p:cViewPr varScale="1">
        <p:scale>
          <a:sx n="85" d="100"/>
          <a:sy n="85" d="100"/>
        </p:scale>
        <p:origin x="3804"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gs" Target="tags/tag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742FC-62BB-4B81-9CA5-3B750A4B458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7E82F1-5B17-4D95-A6D6-EB96F2D72B6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930" algn="l" rtl="0" eaLnBrk="0" fontAlgn="base" hangingPunct="0">
      <a:spcBef>
        <a:spcPct val="30000"/>
      </a:spcBef>
      <a:spcAft>
        <a:spcPct val="0"/>
      </a:spcAft>
      <a:defRPr sz="1300" kern="1200">
        <a:solidFill>
          <a:schemeClr val="tx1"/>
        </a:solidFill>
        <a:latin typeface="+mn-lt"/>
        <a:ea typeface="+mn-ea"/>
        <a:cs typeface="+mn-cs"/>
      </a:defRPr>
    </a:lvl2pPr>
    <a:lvl3pPr marL="913130" algn="l" rtl="0" eaLnBrk="0" fontAlgn="base" hangingPunct="0">
      <a:spcBef>
        <a:spcPct val="30000"/>
      </a:spcBef>
      <a:spcAft>
        <a:spcPct val="0"/>
      </a:spcAft>
      <a:defRPr sz="1300" kern="1200">
        <a:solidFill>
          <a:schemeClr val="tx1"/>
        </a:solidFill>
        <a:latin typeface="+mn-lt"/>
        <a:ea typeface="+mn-ea"/>
        <a:cs typeface="+mn-cs"/>
      </a:defRPr>
    </a:lvl3pPr>
    <a:lvl4pPr marL="1370330" algn="l" rtl="0" eaLnBrk="0" fontAlgn="base" hangingPunct="0">
      <a:spcBef>
        <a:spcPct val="30000"/>
      </a:spcBef>
      <a:spcAft>
        <a:spcPct val="0"/>
      </a:spcAft>
      <a:defRPr sz="1300" kern="1200">
        <a:solidFill>
          <a:schemeClr val="tx1"/>
        </a:solidFill>
        <a:latin typeface="+mn-lt"/>
        <a:ea typeface="+mn-ea"/>
        <a:cs typeface="+mn-cs"/>
      </a:defRPr>
    </a:lvl4pPr>
    <a:lvl5pPr marL="1827530" algn="l" rtl="0" eaLnBrk="0" fontAlgn="base" hangingPunct="0">
      <a:spcBef>
        <a:spcPct val="30000"/>
      </a:spcBef>
      <a:spcAft>
        <a:spcPct val="0"/>
      </a:spcAft>
      <a:defRPr sz="1300" kern="1200">
        <a:solidFill>
          <a:schemeClr val="tx1"/>
        </a:solidFill>
        <a:latin typeface="+mn-lt"/>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B1C3CEF-B625-4558-9E75-934060632C1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84238" y="385763"/>
            <a:ext cx="11090275" cy="1397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84238" y="1925638"/>
            <a:ext cx="11090275" cy="458946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84238" y="6704013"/>
            <a:ext cx="2892425" cy="384175"/>
          </a:xfrm>
          <a:prstGeom prst="rect">
            <a:avLst/>
          </a:prstGeom>
        </p:spPr>
        <p:txBody>
          <a:bodyPr vert="horz" lIns="91440" tIns="45720" rIns="91440" bIns="45720" rtlCol="0" anchor="ctr"/>
          <a:lstStyle>
            <a:lvl1pPr algn="l">
              <a:defRPr sz="1200">
                <a:solidFill>
                  <a:schemeClr val="tx1">
                    <a:tint val="75000"/>
                  </a:schemeClr>
                </a:solidFill>
              </a:defRPr>
            </a:lvl1pPr>
          </a:lstStyle>
          <a:p>
            <a:fld id="{43A93E93-166D-47F5-9EF1-ACEABE24AEEA}" type="datetimeFigureOut">
              <a:rPr lang="zh-CN" altLang="en-US" smtClean="0"/>
            </a:fld>
            <a:endParaRPr lang="zh-CN" altLang="en-US"/>
          </a:p>
        </p:txBody>
      </p:sp>
      <p:sp>
        <p:nvSpPr>
          <p:cNvPr id="5" name="页脚占位符 4"/>
          <p:cNvSpPr>
            <a:spLocks noGrp="1"/>
          </p:cNvSpPr>
          <p:nvPr>
            <p:ph type="ftr" sz="quarter" idx="3"/>
          </p:nvPr>
        </p:nvSpPr>
        <p:spPr>
          <a:xfrm>
            <a:off x="4259263" y="6704013"/>
            <a:ext cx="4340225" cy="3841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082088" y="6704013"/>
            <a:ext cx="2892425" cy="384175"/>
          </a:xfrm>
          <a:prstGeom prst="rect">
            <a:avLst/>
          </a:prstGeom>
        </p:spPr>
        <p:txBody>
          <a:bodyPr vert="horz" lIns="91440" tIns="45720" rIns="91440" bIns="45720" rtlCol="0" anchor="ctr"/>
          <a:lstStyle>
            <a:lvl1pPr algn="r">
              <a:defRPr sz="1200">
                <a:solidFill>
                  <a:schemeClr val="tx1">
                    <a:tint val="75000"/>
                  </a:schemeClr>
                </a:solidFill>
              </a:defRPr>
            </a:lvl1pPr>
          </a:lstStyle>
          <a:p>
            <a:fld id="{118D5ACA-62CA-46DB-AD6B-12EDD6D51A2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png"/><Relationship Id="rId2" Type="http://schemas.microsoft.com/office/2007/relationships/hdphoto" Target="../media/image4.wdp"/><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jpeg"/><Relationship Id="rId2" Type="http://schemas.openxmlformats.org/officeDocument/2006/relationships/image" Target="../media/image7.png"/><Relationship Id="rId10" Type="http://schemas.openxmlformats.org/officeDocument/2006/relationships/notesSlide" Target="../notesSlides/notesSlide1.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8.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23.png"/><Relationship Id="rId3" Type="http://schemas.openxmlformats.org/officeDocument/2006/relationships/image" Target="../media/image22.webp"/><Relationship Id="rId2" Type="http://schemas.openxmlformats.org/officeDocument/2006/relationships/image" Target="../media/image21.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1.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34.jpe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0.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41.jpe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42.jpe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45.jpeg"/><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48.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49.png"/><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microsoft.com/office/2007/relationships/hdphoto" Target="../media/image51.wdp"/><Relationship Id="rId2" Type="http://schemas.openxmlformats.org/officeDocument/2006/relationships/image" Target="../media/image50.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t="7647" b="7647"/>
          <a:stretch>
            <a:fillRect/>
          </a:stretch>
        </p:blipFill>
        <p:spPr>
          <a:xfrm>
            <a:off x="353" y="0"/>
            <a:ext cx="12858044" cy="7232650"/>
          </a:xfrm>
          <a:prstGeom prst="rect">
            <a:avLst/>
          </a:prstGeom>
        </p:spPr>
      </p:pic>
      <p:sp>
        <p:nvSpPr>
          <p:cNvPr id="6" name="矩形 5"/>
          <p:cNvSpPr/>
          <p:nvPr/>
        </p:nvSpPr>
        <p:spPr>
          <a:xfrm>
            <a:off x="706" y="0"/>
            <a:ext cx="12858044" cy="7232650"/>
          </a:xfrm>
          <a:prstGeom prst="rect">
            <a:avLst/>
          </a:prstGeom>
          <a:gradFill flip="none" rotWithShape="1">
            <a:gsLst>
              <a:gs pos="5000">
                <a:srgbClr val="314371">
                  <a:lumMod val="43000"/>
                </a:srgbClr>
              </a:gs>
              <a:gs pos="40000">
                <a:srgbClr val="314371">
                  <a:alpha val="88000"/>
                </a:srgbClr>
              </a:gs>
              <a:gs pos="66000">
                <a:schemeClr val="accent5">
                  <a:alpha val="41000"/>
                  <a:lumMod val="94000"/>
                  <a:lumOff val="6000"/>
                </a:schemeClr>
              </a:gs>
              <a:gs pos="100000">
                <a:schemeClr val="accent5">
                  <a:lumMod val="10000"/>
                  <a:lumOff val="90000"/>
                  <a:alpha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11" name="矩形 10"/>
          <p:cNvSpPr/>
          <p:nvPr/>
        </p:nvSpPr>
        <p:spPr>
          <a:xfrm>
            <a:off x="544476" y="4841070"/>
            <a:ext cx="454843" cy="56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mn-ea"/>
              <a:sym typeface="+mn-lt"/>
            </a:endParaRPr>
          </a:p>
        </p:txBody>
      </p:sp>
      <p:sp>
        <p:nvSpPr>
          <p:cNvPr id="12" name="文本框 11"/>
          <p:cNvSpPr txBox="1"/>
          <p:nvPr/>
        </p:nvSpPr>
        <p:spPr>
          <a:xfrm>
            <a:off x="452446" y="4336711"/>
            <a:ext cx="2199492" cy="368300"/>
          </a:xfrm>
          <a:prstGeom prst="rect">
            <a:avLst/>
          </a:prstGeom>
          <a:noFill/>
        </p:spPr>
        <p:txBody>
          <a:bodyPr wrap="square" rtlCol="0">
            <a:spAutoFit/>
          </a:bodyPr>
          <a:lstStyle/>
          <a:p>
            <a:r>
              <a:rPr lang="zh-CN" altLang="en-US" sz="1795" dirty="0">
                <a:solidFill>
                  <a:schemeClr val="bg1"/>
                </a:solidFill>
                <a:latin typeface="Times New Roman" panose="02020503050405090304" charset="0"/>
                <a:ea typeface="思源黑体" panose="020B0400000000000000" charset="-122"/>
                <a:cs typeface="+mn-ea"/>
                <a:sym typeface="+mn-lt"/>
              </a:rPr>
              <a:t>答辩人：</a:t>
            </a:r>
            <a:r>
              <a:rPr lang="en-US" altLang="zh-CN" sz="1795" dirty="0">
                <a:solidFill>
                  <a:schemeClr val="bg1"/>
                </a:solidFill>
                <a:latin typeface="Times New Roman" panose="02020503050405090304" charset="0"/>
                <a:ea typeface="思源黑体" panose="020B0400000000000000" charset="-122"/>
                <a:cs typeface="+mn-ea"/>
                <a:sym typeface="+mn-lt"/>
              </a:rPr>
              <a:t>Illusion</a:t>
            </a:r>
            <a:r>
              <a:rPr lang="en-US" altLang="zh-CN" sz="1795" dirty="0">
                <a:solidFill>
                  <a:schemeClr val="bg1"/>
                </a:solidFill>
                <a:latin typeface="Times New Roman" panose="02020503050405090304" charset="0"/>
                <a:ea typeface="思源黑体" panose="020B0400000000000000" charset="-122"/>
                <a:cs typeface="+mn-ea"/>
                <a:sym typeface="+mn-lt"/>
              </a:rPr>
              <a:t>na</a:t>
            </a:r>
            <a:endParaRPr lang="en-US" altLang="zh-CN" sz="1795" dirty="0">
              <a:solidFill>
                <a:schemeClr val="bg1"/>
              </a:solidFill>
              <a:latin typeface="Times New Roman" panose="02020503050405090304" charset="0"/>
              <a:ea typeface="思源黑体" panose="020B0400000000000000" charset="-122"/>
              <a:cs typeface="+mn-ea"/>
              <a:sym typeface="+mn-lt"/>
            </a:endParaRPr>
          </a:p>
        </p:txBody>
      </p:sp>
      <p:sp>
        <p:nvSpPr>
          <p:cNvPr id="17" name="文本框 16"/>
          <p:cNvSpPr txBox="1"/>
          <p:nvPr/>
        </p:nvSpPr>
        <p:spPr>
          <a:xfrm>
            <a:off x="392430" y="2282190"/>
            <a:ext cx="8880475" cy="1753235"/>
          </a:xfrm>
          <a:prstGeom prst="rect">
            <a:avLst/>
          </a:prstGeom>
          <a:noFill/>
        </p:spPr>
        <p:txBody>
          <a:bodyPr wrap="square" rtlCol="0">
            <a:spAutoFit/>
          </a:bodyPr>
          <a:lstStyle/>
          <a:p>
            <a:r>
              <a:rPr lang="zh-CN" altLang="en-US" sz="5400" dirty="0">
                <a:solidFill>
                  <a:schemeClr val="bg1"/>
                </a:solidFill>
                <a:latin typeface="Times New Roman" panose="02020503050405090304" charset="0"/>
                <a:ea typeface="思源黑体" panose="020B0400000000000000" charset="-122"/>
                <a:cs typeface="+mn-ea"/>
                <a:sym typeface="+mn-lt"/>
              </a:rPr>
              <a:t>从自然辩证法看人工智能的发展与社会变革</a:t>
            </a:r>
            <a:endParaRPr lang="zh-CN" altLang="en-US" sz="5400" dirty="0">
              <a:solidFill>
                <a:schemeClr val="bg1"/>
              </a:solidFill>
              <a:latin typeface="Times New Roman" panose="02020503050405090304" charset="0"/>
              <a:ea typeface="思源黑体" panose="020B0400000000000000" charset="-122"/>
              <a:cs typeface="+mn-ea"/>
              <a:sym typeface="+mn-lt"/>
            </a:endParaRPr>
          </a:p>
        </p:txBody>
      </p:sp>
      <p:grpSp>
        <p:nvGrpSpPr>
          <p:cNvPr id="8" name="组合 7"/>
          <p:cNvGrpSpPr/>
          <p:nvPr/>
        </p:nvGrpSpPr>
        <p:grpSpPr>
          <a:xfrm>
            <a:off x="9017770" y="6098612"/>
            <a:ext cx="3428994" cy="829945"/>
            <a:chOff x="9017770" y="6098612"/>
            <a:chExt cx="3428994" cy="829945"/>
          </a:xfrm>
        </p:grpSpPr>
        <p:cxnSp>
          <p:nvCxnSpPr>
            <p:cNvPr id="39" name="直接连接符 38"/>
            <p:cNvCxnSpPr/>
            <p:nvPr/>
          </p:nvCxnSpPr>
          <p:spPr>
            <a:xfrm>
              <a:off x="9453711" y="6890239"/>
              <a:ext cx="2922490"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017770" y="6098612"/>
              <a:ext cx="3428994" cy="829945"/>
            </a:xfrm>
            <a:prstGeom prst="rect">
              <a:avLst/>
            </a:prstGeom>
            <a:noFill/>
          </p:spPr>
          <p:txBody>
            <a:bodyPr wrap="square" rtlCol="0">
              <a:spAutoFit/>
            </a:bodyPr>
            <a:lstStyle/>
            <a:p>
              <a:pPr algn="r">
                <a:lnSpc>
                  <a:spcPct val="150000"/>
                </a:lnSpc>
              </a:pPr>
              <a:r>
                <a:rPr lang="en-GB" altLang="zh-CN" sz="1600" b="1" i="0" dirty="0">
                  <a:solidFill>
                    <a:schemeClr val="bg1"/>
                  </a:solidFill>
                  <a:latin typeface="Times New Roman" panose="02020503050405090304" charset="0"/>
                  <a:ea typeface="思源黑体" panose="020B0400000000000000" charset="-122"/>
                </a:rPr>
                <a:t>University of </a:t>
              </a:r>
              <a:endParaRPr lang="en-GB" altLang="zh-CN" sz="1600" b="1" i="0" dirty="0">
                <a:solidFill>
                  <a:schemeClr val="bg1"/>
                </a:solidFill>
                <a:latin typeface="Times New Roman" panose="02020503050405090304" charset="0"/>
                <a:ea typeface="思源黑体" panose="020B0400000000000000" charset="-122"/>
              </a:endParaRPr>
            </a:p>
            <a:p>
              <a:pPr algn="r">
                <a:lnSpc>
                  <a:spcPct val="150000"/>
                </a:lnSpc>
              </a:pPr>
              <a:r>
                <a:rPr lang="en-GB" altLang="zh-CN" sz="1600" b="1" i="0" dirty="0">
                  <a:solidFill>
                    <a:schemeClr val="bg1"/>
                  </a:solidFill>
                  <a:latin typeface="Times New Roman" panose="02020503050405090304" charset="0"/>
                  <a:ea typeface="思源黑体" panose="020B0400000000000000" charset="-122"/>
                </a:rPr>
                <a:t>Chinese Academy of Sciences</a:t>
              </a:r>
              <a:endParaRPr lang="zh-CN" altLang="en-US" sz="1795" b="1" spc="53" dirty="0">
                <a:solidFill>
                  <a:schemeClr val="bg1"/>
                </a:solidFill>
                <a:latin typeface="Times New Roman" panose="02020503050405090304" charset="0"/>
                <a:ea typeface="思源黑体" panose="020B0400000000000000" charset="-122"/>
                <a:cs typeface="+mn-ea"/>
                <a:sym typeface="+mn-lt"/>
              </a:endParaRPr>
            </a:p>
          </p:txBody>
        </p:sp>
      </p:gr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00" y="410474"/>
            <a:ext cx="2697427" cy="569181"/>
          </a:xfrm>
          <a:prstGeom prst="rect">
            <a:avLst/>
          </a:prstGeom>
        </p:spPr>
      </p:pic>
      <p:sp>
        <p:nvSpPr>
          <p:cNvPr id="7" name="文本框 6"/>
          <p:cNvSpPr txBox="1"/>
          <p:nvPr/>
        </p:nvSpPr>
        <p:spPr>
          <a:xfrm>
            <a:off x="3189072" y="4340521"/>
            <a:ext cx="6161391" cy="368300"/>
          </a:xfrm>
          <a:prstGeom prst="rect">
            <a:avLst/>
          </a:prstGeom>
          <a:noFill/>
        </p:spPr>
        <p:txBody>
          <a:bodyPr wrap="square" rtlCol="0">
            <a:spAutoFit/>
          </a:bodyPr>
          <a:lstStyle/>
          <a:p>
            <a:r>
              <a:rPr lang="zh-CN" altLang="en-US" sz="1795" dirty="0">
                <a:solidFill>
                  <a:schemeClr val="bg1"/>
                </a:solidFill>
                <a:latin typeface="Times New Roman" panose="02020503050405090304" charset="0"/>
                <a:ea typeface="思源黑体" panose="020B0400000000000000" charset="-122"/>
                <a:cs typeface="+mn-ea"/>
                <a:sym typeface="+mn-lt"/>
              </a:rPr>
              <a:t>第</a:t>
            </a:r>
            <a:r>
              <a:rPr lang="en-US" altLang="zh-CN" sz="1795" dirty="0">
                <a:solidFill>
                  <a:schemeClr val="bg1"/>
                </a:solidFill>
                <a:latin typeface="Times New Roman" panose="02020503050405090304" charset="0"/>
                <a:ea typeface="思源黑体" panose="020B0400000000000000" charset="-122"/>
                <a:cs typeface="+mn-ea"/>
                <a:sym typeface="+mn-lt"/>
              </a:rPr>
              <a:t> 35 </a:t>
            </a:r>
            <a:r>
              <a:rPr lang="zh-CN" altLang="en-US" sz="1795" dirty="0">
                <a:solidFill>
                  <a:schemeClr val="bg1"/>
                </a:solidFill>
                <a:latin typeface="Times New Roman" panose="02020503050405090304" charset="0"/>
                <a:ea typeface="思源黑体" panose="020B0400000000000000" charset="-122"/>
                <a:cs typeface="+mn-ea"/>
                <a:sym typeface="+mn-lt"/>
              </a:rPr>
              <a:t>组</a:t>
            </a:r>
            <a:r>
              <a:rPr lang="en-US" altLang="zh-CN" sz="1795" dirty="0">
                <a:solidFill>
                  <a:schemeClr val="bg1"/>
                </a:solidFill>
                <a:latin typeface="Times New Roman" panose="02020503050405090304" charset="0"/>
                <a:ea typeface="思源黑体" panose="020B0400000000000000" charset="-122"/>
                <a:cs typeface="+mn-ea"/>
                <a:sym typeface="+mn-lt"/>
              </a:rPr>
              <a:t>：Illusion</a:t>
            </a:r>
            <a:r>
              <a:rPr lang="en-US" altLang="zh-CN" sz="1795" dirty="0">
                <a:solidFill>
                  <a:schemeClr val="bg1"/>
                </a:solidFill>
                <a:latin typeface="Times New Roman" panose="02020503050405090304" charset="0"/>
                <a:ea typeface="思源黑体" panose="020B0400000000000000" charset="-122"/>
                <a:cs typeface="+mn-ea"/>
                <a:sym typeface="+mn-lt"/>
              </a:rPr>
              <a:t>na、</a:t>
            </a:r>
            <a:r>
              <a:rPr lang="zh-CN" altLang="en-US" sz="1795" dirty="0">
                <a:solidFill>
                  <a:schemeClr val="bg1"/>
                </a:solidFill>
                <a:latin typeface="Times New Roman" panose="02020503050405090304" charset="0"/>
                <a:ea typeface="思源黑体" panose="020B0400000000000000" charset="-122"/>
                <a:cs typeface="+mn-ea"/>
                <a:sym typeface="+mn-lt"/>
              </a:rPr>
              <a:t>廖文焘</a:t>
            </a:r>
            <a:r>
              <a:rPr lang="en-US" altLang="zh-CN" sz="1795" dirty="0">
                <a:solidFill>
                  <a:schemeClr val="bg1"/>
                </a:solidFill>
                <a:latin typeface="Times New Roman" panose="02020503050405090304" charset="0"/>
                <a:ea typeface="思源黑体" panose="020B0400000000000000" charset="-122"/>
                <a:cs typeface="+mn-ea"/>
                <a:sym typeface="+mn-lt"/>
              </a:rPr>
              <a:t>、</a:t>
            </a:r>
            <a:r>
              <a:rPr lang="zh-CN" altLang="en-US" sz="1795" dirty="0">
                <a:solidFill>
                  <a:schemeClr val="bg1"/>
                </a:solidFill>
                <a:latin typeface="Times New Roman" panose="02020503050405090304" charset="0"/>
                <a:ea typeface="思源黑体" panose="020B0400000000000000" charset="-122"/>
                <a:cs typeface="+mn-ea"/>
                <a:sym typeface="+mn-lt"/>
              </a:rPr>
              <a:t>李正</a:t>
            </a:r>
            <a:r>
              <a:rPr lang="en-US" altLang="zh-CN" sz="1795" dirty="0">
                <a:solidFill>
                  <a:schemeClr val="bg1"/>
                </a:solidFill>
                <a:latin typeface="Times New Roman" panose="02020503050405090304" charset="0"/>
                <a:ea typeface="思源黑体" panose="020B0400000000000000" charset="-122"/>
                <a:cs typeface="+mn-ea"/>
                <a:sym typeface="+mn-lt"/>
              </a:rPr>
              <a:t>、</a:t>
            </a:r>
            <a:r>
              <a:rPr lang="zh-CN" altLang="en-US" sz="1795" dirty="0">
                <a:solidFill>
                  <a:schemeClr val="bg1"/>
                </a:solidFill>
                <a:latin typeface="Times New Roman" panose="02020503050405090304" charset="0"/>
                <a:ea typeface="思源黑体" panose="020B0400000000000000" charset="-122"/>
                <a:cs typeface="+mn-ea"/>
                <a:sym typeface="+mn-lt"/>
              </a:rPr>
              <a:t>杨</a:t>
            </a:r>
            <a:r>
              <a:rPr lang="zh-CN" altLang="en-US" sz="1795" dirty="0">
                <a:solidFill>
                  <a:schemeClr val="bg1"/>
                </a:solidFill>
                <a:latin typeface="Times New Roman" panose="02020503050405090304" charset="0"/>
                <a:ea typeface="思源黑体" panose="020B0400000000000000" charset="-122"/>
                <a:cs typeface="+mn-ea"/>
                <a:sym typeface="+mn-lt"/>
              </a:rPr>
              <a:t>磊</a:t>
            </a:r>
            <a:endParaRPr lang="zh-CN" altLang="en-US" sz="1795" dirty="0">
              <a:solidFill>
                <a:schemeClr val="bg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40000" contrast="-40000"/>
                    </a14:imgEffect>
                    <a14:imgEffect>
                      <a14:sharpenSoften amount="100000"/>
                    </a14:imgEffect>
                  </a14:imgLayer>
                </a14:imgProps>
              </a:ext>
              <a:ext uri="{28A0092B-C50C-407E-A947-70E740481C1C}">
                <a14:useLocalDpi xmlns:a14="http://schemas.microsoft.com/office/drawing/2010/main" val="0"/>
              </a:ext>
            </a:extLst>
          </a:blip>
          <a:srcRect t="58140" b="4363"/>
          <a:stretch>
            <a:fillRect/>
          </a:stretch>
        </p:blipFill>
        <p:spPr>
          <a:xfrm>
            <a:off x="353" y="0"/>
            <a:ext cx="12852000" cy="7229250"/>
          </a:xfrm>
          <a:prstGeom prst="rect">
            <a:avLst/>
          </a:prstGeom>
        </p:spPr>
      </p:pic>
      <p:sp>
        <p:nvSpPr>
          <p:cNvPr id="8" name="矩形 7"/>
          <p:cNvSpPr/>
          <p:nvPr/>
        </p:nvSpPr>
        <p:spPr>
          <a:xfrm>
            <a:off x="-51345" y="-15925"/>
            <a:ext cx="12875088"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grpSp>
        <p:nvGrpSpPr>
          <p:cNvPr id="7" name="组合 6"/>
          <p:cNvGrpSpPr/>
          <p:nvPr/>
        </p:nvGrpSpPr>
        <p:grpSpPr>
          <a:xfrm>
            <a:off x="3764915" y="2048510"/>
            <a:ext cx="6031865" cy="3914137"/>
            <a:chOff x="331615" y="1755361"/>
            <a:chExt cx="5774176" cy="3914123"/>
          </a:xfrm>
        </p:grpSpPr>
        <p:sp>
          <p:nvSpPr>
            <p:cNvPr id="25" name="文本框 24"/>
            <p:cNvSpPr txBox="1"/>
            <p:nvPr/>
          </p:nvSpPr>
          <p:spPr>
            <a:xfrm>
              <a:off x="331615" y="1755361"/>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1\</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22" name="文本框 21"/>
            <p:cNvSpPr txBox="1"/>
            <p:nvPr/>
          </p:nvSpPr>
          <p:spPr>
            <a:xfrm>
              <a:off x="952678" y="1763475"/>
              <a:ext cx="5153113" cy="512443"/>
            </a:xfrm>
            <a:prstGeom prst="rect">
              <a:avLst/>
            </a:prstGeom>
            <a:noFill/>
          </p:spPr>
          <p:txBody>
            <a:bodyPr wrap="square" rtlCol="0">
              <a:spAutoFit/>
            </a:bodyPr>
            <a:lstStyle/>
            <a:p>
              <a:r>
                <a:rPr lang="zh-CN" altLang="en-US" sz="2740" spc="-211" dirty="0">
                  <a:solidFill>
                    <a:schemeClr val="bg1"/>
                  </a:solidFill>
                  <a:latin typeface="Times New Roman" panose="02020503050405090304" charset="0"/>
                  <a:ea typeface="思源黑体" panose="020B0400000000000000" charset="-122"/>
                  <a:cs typeface="+mn-ea"/>
                  <a:sym typeface="+mn-lt"/>
                </a:rPr>
                <a:t>人工智能与自然辩证法的研究</a:t>
              </a:r>
              <a:r>
                <a:rPr lang="zh-CN" altLang="en-US" sz="2740" spc="-211" dirty="0">
                  <a:solidFill>
                    <a:schemeClr val="bg1"/>
                  </a:solidFill>
                  <a:latin typeface="Times New Roman" panose="02020503050405090304" charset="0"/>
                  <a:ea typeface="思源黑体" panose="020B0400000000000000" charset="-122"/>
                  <a:cs typeface="+mn-ea"/>
                  <a:sym typeface="+mn-lt"/>
                </a:rPr>
                <a:t>背景</a:t>
              </a:r>
              <a:endParaRPr lang="zh-CN" altLang="en-US" sz="2740" spc="-211" dirty="0">
                <a:solidFill>
                  <a:schemeClr val="bg1"/>
                </a:solidFill>
                <a:latin typeface="Times New Roman" panose="02020503050405090304" charset="0"/>
                <a:ea typeface="思源黑体" panose="020B0400000000000000" charset="-122"/>
                <a:cs typeface="+mn-ea"/>
                <a:sym typeface="+mn-lt"/>
              </a:endParaRPr>
            </a:p>
          </p:txBody>
        </p:sp>
        <p:sp>
          <p:nvSpPr>
            <p:cNvPr id="44" name="文本框 43"/>
            <p:cNvSpPr txBox="1"/>
            <p:nvPr/>
          </p:nvSpPr>
          <p:spPr>
            <a:xfrm>
              <a:off x="331615" y="2886549"/>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2\</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45" name="文本框 44"/>
            <p:cNvSpPr txBox="1"/>
            <p:nvPr/>
          </p:nvSpPr>
          <p:spPr>
            <a:xfrm>
              <a:off x="952678" y="2894663"/>
              <a:ext cx="5153113" cy="512443"/>
            </a:xfrm>
            <a:prstGeom prst="rect">
              <a:avLst/>
            </a:prstGeom>
            <a:noFill/>
          </p:spPr>
          <p:txBody>
            <a:bodyPr wrap="square" rtlCol="0">
              <a:spAutoFit/>
            </a:bodyPr>
            <a:lstStyle/>
            <a:p>
              <a:r>
                <a:rPr lang="zh-CN" altLang="en-US" sz="2740" spc="-211" dirty="0">
                  <a:solidFill>
                    <a:schemeClr val="bg1"/>
                  </a:solidFill>
                  <a:latin typeface="Times New Roman" panose="02020503050405090304" charset="0"/>
                  <a:ea typeface="思源黑体" panose="020B0400000000000000" charset="-122"/>
                  <a:cs typeface="+mn-ea"/>
                  <a:sym typeface="+mn-lt"/>
                </a:rPr>
                <a:t>人工智能的发展与技术</a:t>
              </a:r>
              <a:r>
                <a:rPr lang="zh-CN" altLang="en-US" sz="2740" spc="-211" dirty="0">
                  <a:solidFill>
                    <a:schemeClr val="bg1"/>
                  </a:solidFill>
                  <a:latin typeface="Times New Roman" panose="02020503050405090304" charset="0"/>
                  <a:ea typeface="思源黑体" panose="020B0400000000000000" charset="-122"/>
                  <a:cs typeface="+mn-ea"/>
                  <a:sym typeface="+mn-lt"/>
                </a:rPr>
                <a:t>特征</a:t>
              </a:r>
              <a:endParaRPr lang="zh-CN" altLang="en-US" sz="2740" spc="-211" dirty="0">
                <a:solidFill>
                  <a:schemeClr val="bg1"/>
                </a:solidFill>
                <a:latin typeface="Times New Roman" panose="02020503050405090304" charset="0"/>
                <a:ea typeface="思源黑体" panose="020B0400000000000000" charset="-122"/>
                <a:cs typeface="+mn-ea"/>
                <a:sym typeface="+mn-lt"/>
              </a:endParaRPr>
            </a:p>
          </p:txBody>
        </p:sp>
        <p:sp>
          <p:nvSpPr>
            <p:cNvPr id="48" name="文本框 47"/>
            <p:cNvSpPr txBox="1"/>
            <p:nvPr/>
          </p:nvSpPr>
          <p:spPr>
            <a:xfrm>
              <a:off x="331615" y="4017737"/>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3\</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49" name="文本框 48"/>
            <p:cNvSpPr txBox="1"/>
            <p:nvPr/>
          </p:nvSpPr>
          <p:spPr>
            <a:xfrm>
              <a:off x="952678" y="4025852"/>
              <a:ext cx="5153113" cy="512443"/>
            </a:xfrm>
            <a:prstGeom prst="rect">
              <a:avLst/>
            </a:prstGeom>
            <a:noFill/>
          </p:spPr>
          <p:txBody>
            <a:bodyPr wrap="square" rtlCol="0">
              <a:spAutoFit/>
            </a:bodyPr>
            <a:lstStyle/>
            <a:p>
              <a:r>
                <a:rPr lang="zh-CN" altLang="en-US" sz="2740" spc="-211" dirty="0">
                  <a:solidFill>
                    <a:schemeClr val="bg1"/>
                  </a:solidFill>
                  <a:latin typeface="Times New Roman" panose="02020503050405090304" charset="0"/>
                  <a:ea typeface="思源黑体" panose="020B0400000000000000" charset="-122"/>
                  <a:cs typeface="+mn-ea"/>
                  <a:sym typeface="+mn-lt"/>
                </a:rPr>
                <a:t>人工智能带来的社会</a:t>
              </a:r>
              <a:r>
                <a:rPr lang="zh-CN" altLang="en-US" sz="2740" spc="-211" dirty="0">
                  <a:solidFill>
                    <a:schemeClr val="bg1"/>
                  </a:solidFill>
                  <a:latin typeface="Times New Roman" panose="02020503050405090304" charset="0"/>
                  <a:ea typeface="思源黑体" panose="020B0400000000000000" charset="-122"/>
                  <a:cs typeface="+mn-ea"/>
                  <a:sym typeface="+mn-lt"/>
                </a:rPr>
                <a:t>变革</a:t>
              </a:r>
              <a:endParaRPr lang="zh-CN" altLang="en-US" sz="2740" spc="-211" dirty="0">
                <a:solidFill>
                  <a:schemeClr val="bg1"/>
                </a:solidFill>
                <a:latin typeface="Times New Roman" panose="02020503050405090304" charset="0"/>
                <a:ea typeface="思源黑体" panose="020B0400000000000000" charset="-122"/>
                <a:cs typeface="+mn-ea"/>
                <a:sym typeface="+mn-lt"/>
              </a:endParaRPr>
            </a:p>
          </p:txBody>
        </p:sp>
        <p:sp>
          <p:nvSpPr>
            <p:cNvPr id="52" name="文本框 51"/>
            <p:cNvSpPr txBox="1"/>
            <p:nvPr/>
          </p:nvSpPr>
          <p:spPr>
            <a:xfrm>
              <a:off x="331615" y="5148927"/>
              <a:ext cx="907043" cy="512443"/>
            </a:xfrm>
            <a:prstGeom prst="rect">
              <a:avLst/>
            </a:prstGeom>
            <a:noFill/>
          </p:spPr>
          <p:txBody>
            <a:bodyPr wrap="square" rtlCol="0">
              <a:spAutoFit/>
            </a:bodyPr>
            <a:lstStyle/>
            <a:p>
              <a:pPr algn="ctr"/>
              <a:r>
                <a:rPr lang="en-US" altLang="zh-CN" sz="2740" dirty="0">
                  <a:solidFill>
                    <a:schemeClr val="bg1"/>
                  </a:solidFill>
                  <a:latin typeface="Times New Roman" panose="02020503050405090304" charset="0"/>
                  <a:ea typeface="思源黑体" panose="020B0400000000000000" charset="-122"/>
                  <a:cs typeface="+mn-ea"/>
                  <a:sym typeface="+mn-lt"/>
                </a:rPr>
                <a:t>4\</a:t>
              </a:r>
              <a:endParaRPr lang="en-US" altLang="zh-CN" sz="2740" dirty="0">
                <a:solidFill>
                  <a:schemeClr val="bg1"/>
                </a:solidFill>
                <a:latin typeface="Times New Roman" panose="02020503050405090304" charset="0"/>
                <a:ea typeface="思源黑体" panose="020B0400000000000000" charset="-122"/>
                <a:cs typeface="+mn-ea"/>
                <a:sym typeface="+mn-lt"/>
              </a:endParaRPr>
            </a:p>
          </p:txBody>
        </p:sp>
        <p:sp>
          <p:nvSpPr>
            <p:cNvPr id="53" name="文本框 52"/>
            <p:cNvSpPr txBox="1"/>
            <p:nvPr/>
          </p:nvSpPr>
          <p:spPr>
            <a:xfrm>
              <a:off x="952678" y="5157041"/>
              <a:ext cx="5153113" cy="512443"/>
            </a:xfrm>
            <a:prstGeom prst="rect">
              <a:avLst/>
            </a:prstGeom>
            <a:noFill/>
          </p:spPr>
          <p:txBody>
            <a:bodyPr wrap="square" rtlCol="0">
              <a:spAutoFit/>
            </a:bodyPr>
            <a:lstStyle/>
            <a:p>
              <a:r>
                <a:rPr lang="zh-CN" altLang="en-US" sz="2740" spc="-211" dirty="0">
                  <a:solidFill>
                    <a:schemeClr val="bg1"/>
                  </a:solidFill>
                  <a:latin typeface="Times New Roman" panose="02020503050405090304" charset="0"/>
                  <a:ea typeface="思源黑体" panose="020B0400000000000000" charset="-122"/>
                  <a:cs typeface="+mn-ea"/>
                  <a:sym typeface="+mn-lt"/>
                </a:rPr>
                <a:t>自然辩证法视角下的伦理与哲学</a:t>
              </a:r>
              <a:r>
                <a:rPr lang="zh-CN" altLang="en-US" sz="2740" spc="-211" dirty="0">
                  <a:solidFill>
                    <a:schemeClr val="bg1"/>
                  </a:solidFill>
                  <a:latin typeface="Times New Roman" panose="02020503050405090304" charset="0"/>
                  <a:ea typeface="思源黑体" panose="020B0400000000000000" charset="-122"/>
                  <a:cs typeface="+mn-ea"/>
                  <a:sym typeface="+mn-lt"/>
                </a:rPr>
                <a:t>思考</a:t>
              </a:r>
              <a:endParaRPr lang="zh-CN" altLang="en-US" sz="2740" spc="-211" dirty="0">
                <a:solidFill>
                  <a:schemeClr val="bg1"/>
                </a:solidFill>
                <a:latin typeface="Times New Roman" panose="02020503050405090304" charset="0"/>
                <a:ea typeface="思源黑体" panose="020B0400000000000000" charset="-122"/>
                <a:cs typeface="+mn-ea"/>
                <a:sym typeface="+mn-lt"/>
              </a:endParaRPr>
            </a:p>
          </p:txBody>
        </p:sp>
      </p:grpSp>
      <p:sp>
        <p:nvSpPr>
          <p:cNvPr id="38" name="TextBox 4"/>
          <p:cNvSpPr txBox="1"/>
          <p:nvPr/>
        </p:nvSpPr>
        <p:spPr>
          <a:xfrm>
            <a:off x="353" y="0"/>
            <a:ext cx="478433" cy="119841"/>
          </a:xfrm>
          <a:prstGeom prst="rect">
            <a:avLst/>
          </a:prstGeom>
          <a:noFill/>
        </p:spPr>
        <p:txBody>
          <a:bodyPr wrap="square" rtlCol="0">
            <a:spAutoFit/>
          </a:bodyPr>
          <a:lstStyle/>
          <a:p>
            <a:pPr>
              <a:lnSpc>
                <a:spcPct val="200000"/>
              </a:lnSpc>
            </a:pPr>
            <a:r>
              <a:rPr lang="zh-CN" altLang="en-US" sz="105" dirty="0">
                <a:solidFill>
                  <a:schemeClr val="tx1">
                    <a:alpha val="0"/>
                  </a:schemeClr>
                </a:solidFill>
                <a:cs typeface="+mn-ea"/>
                <a:sym typeface="+mn-lt"/>
              </a:rPr>
              <a:t>行业</a:t>
            </a:r>
            <a:r>
              <a:rPr lang="en-US" altLang="zh-CN" sz="105" dirty="0">
                <a:solidFill>
                  <a:schemeClr val="tx1">
                    <a:alpha val="0"/>
                  </a:schemeClr>
                </a:solidFill>
                <a:cs typeface="+mn-ea"/>
                <a:sym typeface="+mn-lt"/>
              </a:rPr>
              <a:t>PPT</a:t>
            </a:r>
            <a:r>
              <a:rPr lang="zh-CN" altLang="en-US" sz="105" dirty="0">
                <a:solidFill>
                  <a:schemeClr val="tx1">
                    <a:alpha val="0"/>
                  </a:schemeClr>
                </a:solidFill>
                <a:cs typeface="+mn-ea"/>
                <a:sym typeface="+mn-lt"/>
              </a:rPr>
              <a:t>模板</a:t>
            </a:r>
            <a:r>
              <a:rPr lang="en-US" altLang="zh-CN" sz="105" dirty="0">
                <a:solidFill>
                  <a:schemeClr val="tx1">
                    <a:alpha val="0"/>
                  </a:schemeClr>
                </a:solidFill>
                <a:cs typeface="+mn-ea"/>
                <a:sym typeface="+mn-lt"/>
              </a:rPr>
              <a:t>http://www.1ppt.com/hangye/</a:t>
            </a:r>
            <a:endParaRPr lang="en-US" altLang="zh-CN" sz="105" dirty="0">
              <a:solidFill>
                <a:schemeClr val="tx1">
                  <a:alpha val="0"/>
                </a:schemeClr>
              </a:solidFill>
              <a:cs typeface="+mn-ea"/>
              <a:sym typeface="+mn-lt"/>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9720" y="753634"/>
            <a:ext cx="2697427" cy="56918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0"/>
            <a:ext cx="12858044" cy="7232650"/>
          </a:xfrm>
          <a:prstGeom prst="rect">
            <a:avLst/>
          </a:prstGeom>
        </p:spPr>
      </p:pic>
      <p:sp>
        <p:nvSpPr>
          <p:cNvPr id="6" name="矩形 5"/>
          <p:cNvSpPr/>
          <p:nvPr/>
        </p:nvSpPr>
        <p:spPr>
          <a:xfrm>
            <a:off x="-1948" y="-15925"/>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4030345" y="955675"/>
            <a:ext cx="4798060" cy="4798060"/>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18" name="组合 17"/>
            <p:cNvGrpSpPr/>
            <p:nvPr/>
          </p:nvGrpSpPr>
          <p:grpSpPr>
            <a:xfrm>
              <a:off x="4170422" y="2020329"/>
              <a:ext cx="3845404" cy="2237515"/>
              <a:chOff x="4061837" y="1920634"/>
              <a:chExt cx="3845404" cy="2237515"/>
            </a:xfrm>
          </p:grpSpPr>
          <p:sp>
            <p:nvSpPr>
              <p:cNvPr id="20" name="文本框 19"/>
              <p:cNvSpPr txBox="1"/>
              <p:nvPr/>
            </p:nvSpPr>
            <p:spPr>
              <a:xfrm>
                <a:off x="4061837" y="1920634"/>
                <a:ext cx="3844925" cy="650533"/>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1</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21" name="文本框 20"/>
              <p:cNvSpPr txBox="1"/>
              <p:nvPr/>
            </p:nvSpPr>
            <p:spPr>
              <a:xfrm>
                <a:off x="4062316" y="3820517"/>
                <a:ext cx="3844925" cy="337632"/>
              </a:xfrm>
              <a:prstGeom prst="rect">
                <a:avLst/>
              </a:prstGeom>
              <a:noFill/>
              <a:ln w="9525">
                <a:noFill/>
              </a:ln>
            </p:spPr>
            <p:txBody>
              <a:bodyPr wrap="square">
                <a:spAutoFit/>
              </a:bodyPr>
              <a:lstStyle/>
              <a:p>
                <a:pPr indent="0" algn="ctr"/>
                <a:r>
                  <a:rPr lang="zh-CN" altLang="en-US" sz="2000" spc="-211" dirty="0">
                    <a:solidFill>
                      <a:schemeClr val="bg1"/>
                    </a:solidFill>
                    <a:latin typeface="Times New Roman" panose="02020503050405090304" charset="0"/>
                    <a:ea typeface="思源黑体" panose="020B0400000000000000" charset="-122"/>
                    <a:cs typeface="+mn-ea"/>
                    <a:sym typeface="+mn-lt"/>
                  </a:rPr>
                  <a:t>人工智能与自然辩证法的研究背景</a:t>
                </a:r>
                <a:endParaRPr lang="zh-CN" altLang="en-US" sz="2000" dirty="0">
                  <a:solidFill>
                    <a:schemeClr val="bg1"/>
                  </a:solidFill>
                  <a:latin typeface="Times New Roman" panose="02020503050405090304" charset="0"/>
                  <a:ea typeface="思源黑体" panose="020B0400000000000000" charset="-122"/>
                  <a:cs typeface="等线" panose="02010600030101010101" charset="-122"/>
                </a:endParaRPr>
              </a:p>
            </p:txBody>
          </p:sp>
        </p:grpSp>
        <p:sp>
          <p:nvSpPr>
            <p:cNvPr id="19" name="文本框 18"/>
            <p:cNvSpPr txBox="1"/>
            <p:nvPr/>
          </p:nvSpPr>
          <p:spPr>
            <a:xfrm>
              <a:off x="4170661" y="2905519"/>
              <a:ext cx="3844925" cy="598382"/>
            </a:xfrm>
            <a:prstGeom prst="rect">
              <a:avLst/>
            </a:prstGeom>
            <a:noFill/>
            <a:ln w="9525">
              <a:noFill/>
            </a:ln>
          </p:spPr>
          <p:txBody>
            <a:bodyPr wrap="square">
              <a:spAutoFit/>
            </a:bodyPr>
            <a:lstStyle/>
            <a:p>
              <a:pPr marL="419100" indent="-419100" algn="ct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研究背景</a:t>
              </a:r>
              <a:endParaRPr lang="zh-CN" altLang="en-US" sz="4000" b="1" dirty="0">
                <a:solidFill>
                  <a:schemeClr val="bg1"/>
                </a:solidFill>
                <a:latin typeface="Times New Roman" panose="02020503050405090304" charset="0"/>
                <a:ea typeface="思源黑体" panose="020B0400000000000000"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chemeClr val="bg1"/>
                </a:solidFill>
                <a:latin typeface="Times New Roman" panose="02020503050405090304" charset="0"/>
                <a:ea typeface="思源黑体" panose="020B0400000000000000" charset="-122"/>
                <a:cs typeface="+mn-ea"/>
                <a:sym typeface="+mn-lt"/>
              </a:rPr>
              <a:t>研</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究</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背</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景</a:t>
            </a:r>
            <a:endParaRPr lang="zh-CN" altLang="en-US" sz="1600" b="1" spc="-211" dirty="0">
              <a:solidFill>
                <a:schemeClr val="bg1"/>
              </a:solidFill>
              <a:latin typeface="Times New Roman" panose="02020503050405090304" charset="0"/>
              <a:ea typeface="思源黑体" panose="020B0400000000000000" charset="-122"/>
              <a:cs typeface="+mn-ea"/>
              <a:sym typeface="+mn-lt"/>
            </a:endParaRPr>
          </a:p>
        </p:txBody>
      </p:sp>
      <p:sp>
        <p:nvSpPr>
          <p:cNvPr id="2" name="矩形 1"/>
          <p:cNvSpPr/>
          <p:nvPr/>
        </p:nvSpPr>
        <p:spPr>
          <a:xfrm>
            <a:off x="6100485"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 name="矩形 2"/>
          <p:cNvSpPr/>
          <p:nvPr/>
        </p:nvSpPr>
        <p:spPr>
          <a:xfrm>
            <a:off x="8349041"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416812" y="228271"/>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发</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展</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征</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1" name="文本框 40"/>
          <p:cNvSpPr txBox="1"/>
          <p:nvPr/>
        </p:nvSpPr>
        <p:spPr>
          <a:xfrm>
            <a:off x="524510" y="1167765"/>
            <a:ext cx="1954530"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发展现状</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45" name="文本框 44"/>
          <p:cNvSpPr txBox="1"/>
          <p:nvPr/>
        </p:nvSpPr>
        <p:spPr>
          <a:xfrm>
            <a:off x="596900" y="5272405"/>
            <a:ext cx="2518410" cy="124650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深度学习推动</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技术全面突破：语音、视觉、自然语言处理持续提升</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46" name="文本框 45"/>
          <p:cNvSpPr txBox="1"/>
          <p:nvPr/>
        </p:nvSpPr>
        <p:spPr>
          <a:xfrm>
            <a:off x="4011295" y="5273040"/>
            <a:ext cx="2317115" cy="124650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大模型时代（</a:t>
            </a:r>
            <a:r>
              <a:rPr lang="en-US" altLang="zh-CN" sz="1600" spc="40" dirty="0">
                <a:solidFill>
                  <a:srgbClr val="314371"/>
                </a:solidFill>
                <a:latin typeface="Times New Roman" panose="02020503050405090304" charset="0"/>
                <a:ea typeface="思源黑体" panose="020B0400000000000000" charset="-122"/>
                <a:cs typeface="+mn-ea"/>
                <a:sym typeface="+mn-lt"/>
              </a:rPr>
              <a:t>ChatGPT</a:t>
            </a:r>
            <a:r>
              <a:rPr lang="zh-CN" altLang="en-US"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Copilot</a:t>
            </a:r>
            <a:r>
              <a:rPr lang="zh-CN" altLang="en-US" sz="1600" spc="40" dirty="0">
                <a:solidFill>
                  <a:srgbClr val="314371"/>
                </a:solidFill>
                <a:latin typeface="Times New Roman" panose="02020503050405090304" charset="0"/>
                <a:ea typeface="思源黑体" panose="020B0400000000000000" charset="-122"/>
                <a:cs typeface="+mn-ea"/>
                <a:sym typeface="+mn-lt"/>
              </a:rPr>
              <a:t>、文心一言等）助推通用人工智能迈进</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47" name="文本框 46"/>
          <p:cNvSpPr txBox="1"/>
          <p:nvPr/>
        </p:nvSpPr>
        <p:spPr>
          <a:xfrm>
            <a:off x="6868795" y="5273040"/>
            <a:ext cx="2261235" cy="1198880"/>
          </a:xfrm>
          <a:prstGeom prst="rect">
            <a:avLst/>
          </a:prstGeom>
          <a:noFill/>
        </p:spPr>
        <p:txBody>
          <a:bodyPr wrap="square" rtlCol="0">
            <a:sp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在产业中的应用快速扩大：医疗、金融、制造、教育、交通等</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6" name="文本框 5"/>
          <p:cNvSpPr txBox="1"/>
          <p:nvPr/>
        </p:nvSpPr>
        <p:spPr>
          <a:xfrm>
            <a:off x="9766935" y="5560060"/>
            <a:ext cx="2689860" cy="829945"/>
          </a:xfrm>
          <a:prstGeom prst="rect">
            <a:avLst/>
          </a:prstGeom>
          <a:noFill/>
        </p:spPr>
        <p:txBody>
          <a:bodyPr wrap="square" rtlCol="0">
            <a:sp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正从</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辅助工具</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走向</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智能伙伴</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与</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社会基础设施</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pic>
        <p:nvPicPr>
          <p:cNvPr id="9" name="图片 8" descr="ChatGPT Image 2025年11月16日 19_43_39-2"/>
          <p:cNvPicPr>
            <a:picLocks noChangeAspect="1"/>
          </p:cNvPicPr>
          <p:nvPr/>
        </p:nvPicPr>
        <p:blipFill>
          <a:blip r:embed="rId2"/>
          <a:stretch>
            <a:fillRect/>
          </a:stretch>
        </p:blipFill>
        <p:spPr>
          <a:xfrm>
            <a:off x="452755" y="2392045"/>
            <a:ext cx="3011805" cy="2007870"/>
          </a:xfrm>
          <a:prstGeom prst="rect">
            <a:avLst/>
          </a:prstGeom>
        </p:spPr>
      </p:pic>
      <p:pic>
        <p:nvPicPr>
          <p:cNvPr id="10" name="图片 9" descr="20171123194237_vnPY8"/>
          <p:cNvPicPr>
            <a:picLocks noChangeAspect="1"/>
          </p:cNvPicPr>
          <p:nvPr/>
        </p:nvPicPr>
        <p:blipFill>
          <a:blip r:embed="rId3"/>
          <a:stretch>
            <a:fillRect/>
          </a:stretch>
        </p:blipFill>
        <p:spPr>
          <a:xfrm>
            <a:off x="9766935" y="1456055"/>
            <a:ext cx="2613660" cy="3569970"/>
          </a:xfrm>
          <a:prstGeom prst="rect">
            <a:avLst/>
          </a:prstGeom>
        </p:spPr>
      </p:pic>
      <p:pic>
        <p:nvPicPr>
          <p:cNvPr id="11" name="图片 10" descr="ChatGPT"/>
          <p:cNvPicPr>
            <a:picLocks noChangeAspect="1"/>
          </p:cNvPicPr>
          <p:nvPr/>
        </p:nvPicPr>
        <p:blipFill>
          <a:blip r:embed="rId4"/>
          <a:stretch>
            <a:fillRect/>
          </a:stretch>
        </p:blipFill>
        <p:spPr>
          <a:xfrm>
            <a:off x="4036695" y="2374265"/>
            <a:ext cx="979170" cy="920750"/>
          </a:xfrm>
          <a:prstGeom prst="rect">
            <a:avLst/>
          </a:prstGeom>
        </p:spPr>
      </p:pic>
      <p:pic>
        <p:nvPicPr>
          <p:cNvPr id="12" name="图片 11" descr="copilot"/>
          <p:cNvPicPr>
            <a:picLocks noChangeAspect="1"/>
          </p:cNvPicPr>
          <p:nvPr/>
        </p:nvPicPr>
        <p:blipFill>
          <a:blip r:embed="rId5"/>
          <a:stretch>
            <a:fillRect/>
          </a:stretch>
        </p:blipFill>
        <p:spPr>
          <a:xfrm>
            <a:off x="5116830" y="2301875"/>
            <a:ext cx="1031875" cy="1031875"/>
          </a:xfrm>
          <a:prstGeom prst="rect">
            <a:avLst/>
          </a:prstGeom>
        </p:spPr>
      </p:pic>
      <p:pic>
        <p:nvPicPr>
          <p:cNvPr id="13" name="图片 12" descr="tongyiqianwen"/>
          <p:cNvPicPr>
            <a:picLocks noChangeAspect="1"/>
          </p:cNvPicPr>
          <p:nvPr/>
        </p:nvPicPr>
        <p:blipFill>
          <a:blip r:embed="rId6"/>
          <a:stretch>
            <a:fillRect/>
          </a:stretch>
        </p:blipFill>
        <p:spPr>
          <a:xfrm>
            <a:off x="5295900" y="3543935"/>
            <a:ext cx="852805" cy="852805"/>
          </a:xfrm>
          <a:prstGeom prst="rect">
            <a:avLst/>
          </a:prstGeom>
        </p:spPr>
      </p:pic>
      <p:pic>
        <p:nvPicPr>
          <p:cNvPr id="14" name="图片 13" descr="deepseek"/>
          <p:cNvPicPr>
            <a:picLocks noChangeAspect="1"/>
          </p:cNvPicPr>
          <p:nvPr/>
        </p:nvPicPr>
        <p:blipFill>
          <a:blip r:embed="rId7"/>
          <a:stretch>
            <a:fillRect/>
          </a:stretch>
        </p:blipFill>
        <p:spPr>
          <a:xfrm>
            <a:off x="3964305" y="3577590"/>
            <a:ext cx="1114425" cy="819150"/>
          </a:xfrm>
          <a:prstGeom prst="rect">
            <a:avLst/>
          </a:prstGeom>
        </p:spPr>
      </p:pic>
      <p:pic>
        <p:nvPicPr>
          <p:cNvPr id="15" name="图片 14" descr="截屏2025-11-16 19.54.22"/>
          <p:cNvPicPr>
            <a:picLocks noChangeAspect="1"/>
          </p:cNvPicPr>
          <p:nvPr/>
        </p:nvPicPr>
        <p:blipFill>
          <a:blip r:embed="rId8"/>
          <a:stretch>
            <a:fillRect/>
          </a:stretch>
        </p:blipFill>
        <p:spPr>
          <a:xfrm>
            <a:off x="6933565" y="2322830"/>
            <a:ext cx="2124710" cy="21215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additive="base">
                                        <p:cTn id="15" dur="500" fill="hold"/>
                                        <p:tgtEl>
                                          <p:spTgt spid="46"/>
                                        </p:tgtEl>
                                        <p:attrNameLst>
                                          <p:attrName>ppt_x</p:attrName>
                                        </p:attrNameLst>
                                      </p:cBhvr>
                                      <p:tavLst>
                                        <p:tav tm="0">
                                          <p:val>
                                            <p:strVal val="#ppt_x"/>
                                          </p:val>
                                        </p:tav>
                                        <p:tav tm="100000">
                                          <p:val>
                                            <p:strVal val="#ppt_x"/>
                                          </p:val>
                                        </p:tav>
                                      </p:tavLst>
                                    </p:anim>
                                    <p:anim calcmode="lin" valueType="num">
                                      <p:cBhvr additive="base">
                                        <p:cTn id="16" dur="500" fill="hold"/>
                                        <p:tgtEl>
                                          <p:spTgt spid="4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p:bldP spid="46" grpId="0"/>
      <p:bldP spid="47"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chemeClr val="bg1"/>
                </a:solidFill>
                <a:latin typeface="Times New Roman" panose="02020503050405090304" charset="0"/>
                <a:ea typeface="思源黑体" panose="020B0400000000000000" charset="-122"/>
                <a:cs typeface="+mn-ea"/>
                <a:sym typeface="+mn-lt"/>
              </a:rPr>
              <a:t>研</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究</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背</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景</a:t>
            </a:r>
            <a:endParaRPr lang="zh-CN" altLang="en-US" sz="1600" b="1" spc="-211" dirty="0">
              <a:solidFill>
                <a:schemeClr val="bg1"/>
              </a:solidFill>
              <a:latin typeface="Times New Roman" panose="02020503050405090304" charset="0"/>
              <a:ea typeface="思源黑体" panose="020B0400000000000000" charset="-122"/>
              <a:cs typeface="+mn-ea"/>
              <a:sym typeface="+mn-lt"/>
            </a:endParaRPr>
          </a:p>
        </p:txBody>
      </p:sp>
      <p:sp>
        <p:nvSpPr>
          <p:cNvPr id="2" name="矩形 1"/>
          <p:cNvSpPr/>
          <p:nvPr/>
        </p:nvSpPr>
        <p:spPr>
          <a:xfrm>
            <a:off x="6100485"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 name="矩形 2"/>
          <p:cNvSpPr/>
          <p:nvPr/>
        </p:nvSpPr>
        <p:spPr>
          <a:xfrm>
            <a:off x="8349041"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8" name="椭圆 7"/>
          <p:cNvSpPr/>
          <p:nvPr/>
        </p:nvSpPr>
        <p:spPr>
          <a:xfrm>
            <a:off x="10761980" y="4761230"/>
            <a:ext cx="1918970" cy="1918970"/>
          </a:xfrm>
          <a:prstGeom prst="ellipse">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nvGrpSpPr>
          <p:cNvPr id="14" name="组合 13"/>
          <p:cNvGrpSpPr/>
          <p:nvPr/>
        </p:nvGrpSpPr>
        <p:grpSpPr>
          <a:xfrm>
            <a:off x="380291" y="2161919"/>
            <a:ext cx="2559932" cy="495412"/>
            <a:chOff x="212216" y="2648025"/>
            <a:chExt cx="2559932" cy="495412"/>
          </a:xfrm>
        </p:grpSpPr>
        <p:sp>
          <p:nvSpPr>
            <p:cNvPr id="15" name="矩形: 圆角 16"/>
            <p:cNvSpPr/>
            <p:nvPr/>
          </p:nvSpPr>
          <p:spPr>
            <a:xfrm>
              <a:off x="448182" y="2656549"/>
              <a:ext cx="2088000" cy="486888"/>
            </a:xfrm>
            <a:prstGeom prst="roundRect">
              <a:avLst>
                <a:gd name="adj" fmla="val 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1">
                <a:cs typeface="+mn-ea"/>
                <a:sym typeface="+mn-lt"/>
              </a:endParaRPr>
            </a:p>
          </p:txBody>
        </p:sp>
        <p:sp>
          <p:nvSpPr>
            <p:cNvPr id="17" name="文本框 16"/>
            <p:cNvSpPr txBox="1"/>
            <p:nvPr/>
          </p:nvSpPr>
          <p:spPr>
            <a:xfrm>
              <a:off x="212216" y="2648025"/>
              <a:ext cx="2559932" cy="491490"/>
            </a:xfrm>
            <a:prstGeom prst="rect">
              <a:avLst/>
            </a:prstGeom>
            <a:noFill/>
          </p:spPr>
          <p:txBody>
            <a:bodyPr wrap="square" rtlCol="0">
              <a:spAutoFit/>
            </a:bodyPr>
            <a:lstStyle/>
            <a:p>
              <a:pPr algn="ctr"/>
              <a:r>
                <a:rPr lang="zh-CN" altLang="en-US" sz="2600" b="1" spc="-150" dirty="0">
                  <a:solidFill>
                    <a:schemeClr val="bg1"/>
                  </a:solidFill>
                  <a:latin typeface="Times New Roman" panose="02020503050405090304" charset="0"/>
                  <a:ea typeface="思源黑体" panose="020B0400000000000000" charset="-122"/>
                  <a:cs typeface="+mn-ea"/>
                  <a:sym typeface="+mn-lt"/>
                </a:rPr>
                <a:t>主要问题：</a:t>
              </a:r>
              <a:endParaRPr lang="zh-CN" altLang="en-US" sz="2600" b="1" spc="-150" dirty="0">
                <a:solidFill>
                  <a:schemeClr val="bg1"/>
                </a:solidFill>
                <a:latin typeface="Times New Roman" panose="02020503050405090304" charset="0"/>
                <a:ea typeface="思源黑体" panose="020B0400000000000000" charset="-122"/>
                <a:cs typeface="+mn-ea"/>
                <a:sym typeface="+mn-lt"/>
              </a:endParaRPr>
            </a:p>
          </p:txBody>
        </p:sp>
      </p:grpSp>
      <p:pic>
        <p:nvPicPr>
          <p:cNvPr id="19" name="图片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63910" y="4625340"/>
            <a:ext cx="1742440" cy="2413000"/>
          </a:xfrm>
          <a:prstGeom prst="rect">
            <a:avLst/>
          </a:prstGeom>
        </p:spPr>
      </p:pic>
      <p:sp>
        <p:nvSpPr>
          <p:cNvPr id="21" name="文本框 20"/>
          <p:cNvSpPr txBox="1"/>
          <p:nvPr/>
        </p:nvSpPr>
        <p:spPr>
          <a:xfrm>
            <a:off x="5276850" y="1816100"/>
            <a:ext cx="5146040" cy="4338320"/>
          </a:xfrm>
          <a:prstGeom prst="rect">
            <a:avLst/>
          </a:prstGeom>
          <a:noFill/>
        </p:spPr>
        <p:txBody>
          <a:bodyPr wrap="square" rtlCol="0">
            <a:spAutoFit/>
          </a:bodyPr>
          <a:lstStyle/>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引发社会信任危机</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虚假伪造信息逐步侵蚀社会信任系统</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放大歧视及偏见</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认知的局限性或算法设计植入偏见使模型训练产生带有歧视的结果</a:t>
            </a:r>
            <a:endParaRPr lang="en-US" altLang="zh-CN"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泛化知识产权争议</a:t>
            </a:r>
            <a:r>
              <a:rPr lang="en-US" altLang="zh-CN" sz="1200" spc="40" dirty="0">
                <a:solidFill>
                  <a:srgbClr val="314371"/>
                </a:solidFill>
                <a:latin typeface="Times New Roman" panose="02020503050405090304" charset="0"/>
                <a:ea typeface="思源黑体" panose="020B0400000000000000" charset="-122"/>
                <a:cs typeface="+mn-ea"/>
                <a:sym typeface="+mn-lt"/>
              </a:rPr>
              <a:t>：AI </a:t>
            </a:r>
            <a:r>
              <a:rPr lang="zh-CN" altLang="en-US" sz="1200" spc="40" dirty="0">
                <a:solidFill>
                  <a:srgbClr val="314371"/>
                </a:solidFill>
                <a:latin typeface="Times New Roman" panose="02020503050405090304" charset="0"/>
                <a:ea typeface="思源黑体" panose="020B0400000000000000" charset="-122"/>
                <a:cs typeface="+mn-ea"/>
                <a:sym typeface="+mn-lt"/>
              </a:rPr>
              <a:t>是否可以作为法律实体承担责任</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生成的内容是否享有版权保护</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训练过程是否构成侵权行为</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法律层面尚未形成明确的条律规定</a:t>
            </a:r>
            <a:endParaRPr lang="en-US" altLang="zh-CN"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隐秘化科研造假</a:t>
            </a:r>
            <a:r>
              <a:rPr lang="en-US" altLang="zh-CN" sz="1200" spc="40" dirty="0">
                <a:solidFill>
                  <a:srgbClr val="314371"/>
                </a:solidFill>
                <a:latin typeface="Times New Roman" panose="02020503050405090304" charset="0"/>
                <a:ea typeface="思源黑体" panose="020B0400000000000000" charset="-122"/>
                <a:cs typeface="+mn-ea"/>
                <a:sym typeface="+mn-lt"/>
              </a:rPr>
              <a:t>：AI </a:t>
            </a:r>
            <a:r>
              <a:rPr lang="zh-CN" altLang="en-US" sz="1200" spc="40" dirty="0">
                <a:solidFill>
                  <a:srgbClr val="314371"/>
                </a:solidFill>
                <a:latin typeface="Times New Roman" panose="02020503050405090304" charset="0"/>
                <a:ea typeface="思源黑体" panose="020B0400000000000000" charset="-122"/>
                <a:cs typeface="+mn-ea"/>
                <a:sym typeface="+mn-lt"/>
              </a:rPr>
              <a:t>生成的欺诈性论文涵盖主题包括脊柱损伤</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电池技术</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农村医疗</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细菌感染</a:t>
            </a:r>
            <a:endParaRPr lang="en-US" altLang="zh-CN"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挑战可持续发展</a:t>
            </a:r>
            <a:r>
              <a:rPr lang="en-US" altLang="zh-CN" sz="1200" spc="40" dirty="0">
                <a:solidFill>
                  <a:srgbClr val="314371"/>
                </a:solidFill>
                <a:latin typeface="Times New Roman" panose="02020503050405090304" charset="0"/>
                <a:ea typeface="思源黑体" panose="020B0400000000000000" charset="-122"/>
                <a:cs typeface="+mn-ea"/>
                <a:sym typeface="+mn-lt"/>
              </a:rPr>
              <a:t>：AI </a:t>
            </a:r>
            <a:r>
              <a:rPr lang="zh-CN" altLang="en-US" sz="1200" spc="40" dirty="0">
                <a:solidFill>
                  <a:srgbClr val="314371"/>
                </a:solidFill>
                <a:latin typeface="Times New Roman" panose="02020503050405090304" charset="0"/>
                <a:ea typeface="思源黑体" panose="020B0400000000000000" charset="-122"/>
                <a:cs typeface="+mn-ea"/>
                <a:sym typeface="+mn-lt"/>
              </a:rPr>
              <a:t>的产业发展模式对生态共同体的冲击和影响是无法忽视的</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变革社会存在形态</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人类生活方式的</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虚拟</a:t>
            </a:r>
            <a:r>
              <a:rPr lang="zh-CN" altLang="en-US" sz="1200" spc="40" dirty="0">
                <a:solidFill>
                  <a:srgbClr val="314371"/>
                </a:solidFill>
                <a:latin typeface="Times New Roman" panose="02020503050405090304" charset="0"/>
                <a:ea typeface="思源黑体" panose="020B0400000000000000" charset="-122"/>
                <a:cs typeface="+mn-ea"/>
                <a:sym typeface="+mn-lt"/>
              </a:rPr>
              <a:t>与现实</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融合化将成常态</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引发人类生存忧虑</a:t>
            </a:r>
            <a:r>
              <a:rPr lang="en-US" altLang="zh-CN" sz="1200" spc="40" dirty="0">
                <a:solidFill>
                  <a:srgbClr val="314371"/>
                </a:solidFill>
                <a:latin typeface="Times New Roman" panose="02020503050405090304" charset="0"/>
                <a:ea typeface="思源黑体" panose="020B0400000000000000" charset="-122"/>
                <a:cs typeface="+mn-ea"/>
                <a:sym typeface="+mn-lt"/>
              </a:rPr>
              <a:t>：AI </a:t>
            </a:r>
            <a:r>
              <a:rPr lang="zh-CN" altLang="en-US" sz="1200" spc="40" dirty="0">
                <a:solidFill>
                  <a:srgbClr val="314371"/>
                </a:solidFill>
                <a:latin typeface="Times New Roman" panose="02020503050405090304" charset="0"/>
                <a:ea typeface="思源黑体" panose="020B0400000000000000" charset="-122"/>
                <a:cs typeface="+mn-ea"/>
                <a:sym typeface="+mn-lt"/>
              </a:rPr>
              <a:t>具有的涌现能力甚至自我改进</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加剧人类关于其是否会形成自我意识难以控制的忧患</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p:txBody>
      </p:sp>
      <p:sp>
        <p:nvSpPr>
          <p:cNvPr id="4" name="TextBox 9"/>
          <p:cNvSpPr txBox="1"/>
          <p:nvPr/>
        </p:nvSpPr>
        <p:spPr>
          <a:xfrm>
            <a:off x="6416812" y="228271"/>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发</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展</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征</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6" name="文本框 5"/>
          <p:cNvSpPr txBox="1"/>
          <p:nvPr/>
        </p:nvSpPr>
        <p:spPr>
          <a:xfrm>
            <a:off x="524510" y="1167765"/>
            <a:ext cx="3225165"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社会关注的主要</a:t>
            </a:r>
            <a:r>
              <a:rPr lang="zh-CN" altLang="en-US" sz="2600" b="1" spc="-150" dirty="0">
                <a:solidFill>
                  <a:srgbClr val="314371"/>
                </a:solidFill>
                <a:latin typeface="Times New Roman" panose="02020503050405090304" charset="0"/>
                <a:ea typeface="思源黑体" panose="020B0400000000000000" charset="-122"/>
                <a:cs typeface="+mn-ea"/>
                <a:sym typeface="+mn-lt"/>
              </a:rPr>
              <a:t>问题</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615950" y="3256280"/>
            <a:ext cx="4295140" cy="2584450"/>
          </a:xfrm>
          <a:prstGeom prst="rect">
            <a:avLst/>
          </a:prstGeom>
          <a:noFill/>
        </p:spPr>
        <p:txBody>
          <a:bodyPr wrap="square" rtlCol="0">
            <a:spAutoFit/>
          </a:bodyPr>
          <a:lstStyle/>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就业与劳动力结构变化</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人机协作</a:t>
            </a:r>
            <a:r>
              <a:rPr lang="zh-CN" altLang="en-US" sz="1200" spc="40" dirty="0">
                <a:solidFill>
                  <a:srgbClr val="314371"/>
                </a:solidFill>
                <a:latin typeface="Times New Roman" panose="02020503050405090304" charset="0"/>
                <a:ea typeface="思源黑体" panose="020B0400000000000000" charset="-122"/>
                <a:cs typeface="+mn-ea"/>
                <a:sym typeface="+mn-lt"/>
              </a:rPr>
              <a:t>与工作替代</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数据隐私与安全</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个人信息、训练数据合法性</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算法偏见与公平性</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价值观嵌入、决策透明性问题</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伦理治理与法规制定</a:t>
            </a:r>
            <a:r>
              <a:rPr lang="en-US" altLang="zh-CN" sz="1200" spc="40" dirty="0">
                <a:solidFill>
                  <a:srgbClr val="314371"/>
                </a:solidFill>
                <a:latin typeface="Times New Roman" panose="02020503050405090304" charset="0"/>
                <a:ea typeface="思源黑体" panose="020B0400000000000000" charset="-122"/>
                <a:cs typeface="+mn-ea"/>
                <a:sym typeface="+mn-lt"/>
              </a:rPr>
              <a:t>：AI </a:t>
            </a:r>
            <a:r>
              <a:rPr lang="zh-CN" altLang="en-US" sz="1200" spc="40" dirty="0">
                <a:solidFill>
                  <a:srgbClr val="314371"/>
                </a:solidFill>
                <a:latin typeface="Times New Roman" panose="02020503050405090304" charset="0"/>
                <a:ea typeface="思源黑体" panose="020B0400000000000000" charset="-122"/>
                <a:cs typeface="+mn-ea"/>
                <a:sym typeface="+mn-lt"/>
              </a:rPr>
              <a:t>监管框架、责任归属</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加剧信息泄露忧虑</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数字不平等、智能资源分配失衡</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a:p>
            <a:pPr>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技术鸿沟问题</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数字经济发展的差异加剧不同区域</a:t>
            </a:r>
            <a:r>
              <a:rPr lang="en-US" altLang="zh-CN" sz="1200" spc="40" dirty="0">
                <a:solidFill>
                  <a:srgbClr val="314371"/>
                </a:solidFill>
                <a:latin typeface="Times New Roman" panose="02020503050405090304" charset="0"/>
                <a:ea typeface="思源黑体" panose="020B0400000000000000" charset="-122"/>
                <a:cs typeface="+mn-ea"/>
                <a:sym typeface="+mn-lt"/>
              </a:rPr>
              <a:t>、</a:t>
            </a:r>
            <a:r>
              <a:rPr lang="zh-CN" altLang="en-US" sz="1200" spc="40" dirty="0">
                <a:solidFill>
                  <a:srgbClr val="314371"/>
                </a:solidFill>
                <a:latin typeface="Times New Roman" panose="02020503050405090304" charset="0"/>
                <a:ea typeface="思源黑体" panose="020B0400000000000000" charset="-122"/>
                <a:cs typeface="+mn-ea"/>
                <a:sym typeface="+mn-lt"/>
              </a:rPr>
              <a:t>群体之间代沟</a:t>
            </a:r>
            <a:endParaRPr lang="zh-CN" altLang="en-US" sz="12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750" fill="hold"/>
                                        <p:tgtEl>
                                          <p:spTgt spid="8"/>
                                        </p:tgtEl>
                                        <p:attrNameLst>
                                          <p:attrName>ppt_w</p:attrName>
                                        </p:attrNameLst>
                                      </p:cBhvr>
                                      <p:tavLst>
                                        <p:tav tm="0">
                                          <p:val>
                                            <p:fltVal val="0"/>
                                          </p:val>
                                        </p:tav>
                                        <p:tav tm="100000">
                                          <p:val>
                                            <p:strVal val="#ppt_w"/>
                                          </p:val>
                                        </p:tav>
                                      </p:tavLst>
                                    </p:anim>
                                    <p:anim calcmode="lin" valueType="num">
                                      <p:cBhvr>
                                        <p:cTn id="8" dur="750" fill="hold"/>
                                        <p:tgtEl>
                                          <p:spTgt spid="8"/>
                                        </p:tgtEl>
                                        <p:attrNameLst>
                                          <p:attrName>ppt_h</p:attrName>
                                        </p:attrNameLst>
                                      </p:cBhvr>
                                      <p:tavLst>
                                        <p:tav tm="0">
                                          <p:val>
                                            <p:fltVal val="0"/>
                                          </p:val>
                                        </p:tav>
                                        <p:tav tm="100000">
                                          <p:val>
                                            <p:strVal val="#ppt_h"/>
                                          </p:val>
                                        </p:tav>
                                      </p:tavLst>
                                    </p:anim>
                                    <p:animEffect transition="in" filter="fade">
                                      <p:cBhvr>
                                        <p:cTn id="9" dur="750"/>
                                        <p:tgtEl>
                                          <p:spTgt spid="8"/>
                                        </p:tgtEl>
                                      </p:cBhvr>
                                    </p:animEffect>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p:cTn id="13" dur="500" fill="hold"/>
                                        <p:tgtEl>
                                          <p:spTgt spid="19"/>
                                        </p:tgtEl>
                                        <p:attrNameLst>
                                          <p:attrName>ppt_w</p:attrName>
                                        </p:attrNameLst>
                                      </p:cBhvr>
                                      <p:tavLst>
                                        <p:tav tm="0">
                                          <p:val>
                                            <p:fltVal val="0"/>
                                          </p:val>
                                        </p:tav>
                                        <p:tav tm="100000">
                                          <p:val>
                                            <p:strVal val="#ppt_w"/>
                                          </p:val>
                                        </p:tav>
                                      </p:tavLst>
                                    </p:anim>
                                    <p:anim calcmode="lin" valueType="num">
                                      <p:cBhvr>
                                        <p:cTn id="14" dur="500" fill="hold"/>
                                        <p:tgtEl>
                                          <p:spTgt spid="19"/>
                                        </p:tgtEl>
                                        <p:attrNameLst>
                                          <p:attrName>ppt_h</p:attrName>
                                        </p:attrNameLst>
                                      </p:cBhvr>
                                      <p:tavLst>
                                        <p:tav tm="0">
                                          <p:val>
                                            <p:fltVal val="0"/>
                                          </p:val>
                                        </p:tav>
                                        <p:tav tm="100000">
                                          <p:val>
                                            <p:strVal val="#ppt_h"/>
                                          </p:val>
                                        </p:tav>
                                      </p:tavLst>
                                    </p:anim>
                                    <p:animEffect transition="in" filter="fade">
                                      <p:cBhvr>
                                        <p:cTn id="15" dur="500"/>
                                        <p:tgtEl>
                                          <p:spTgt spid="19"/>
                                        </p:tgtEl>
                                      </p:cBhvr>
                                    </p:animEffect>
                                  </p:childTnLst>
                                </p:cTn>
                              </p:par>
                              <p:par>
                                <p:cTn id="16" presetID="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0-#ppt_w/2"/>
                                          </p:val>
                                        </p:tav>
                                        <p:tav tm="100000">
                                          <p:val>
                                            <p:strVal val="#ppt_x"/>
                                          </p:val>
                                        </p:tav>
                                      </p:tavLst>
                                    </p:anim>
                                    <p:anim calcmode="lin" valueType="num">
                                      <p:cBhvr additive="base">
                                        <p:cTn id="19" dur="500" fill="hold"/>
                                        <p:tgtEl>
                                          <p:spTgt spid="21"/>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2"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ppt_y"/>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1"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chemeClr val="bg1"/>
                </a:solidFill>
                <a:latin typeface="Times New Roman" panose="02020503050405090304" charset="0"/>
                <a:ea typeface="思源黑体" panose="020B0400000000000000" charset="-122"/>
                <a:cs typeface="+mn-ea"/>
                <a:sym typeface="+mn-lt"/>
              </a:rPr>
              <a:t>研</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究</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背</a:t>
            </a:r>
            <a:r>
              <a:rPr lang="en-US" altLang="zh-CN" sz="1600" b="1" spc="-211" dirty="0">
                <a:solidFill>
                  <a:schemeClr val="bg1"/>
                </a:solidFill>
                <a:latin typeface="Times New Roman" panose="02020503050405090304" charset="0"/>
                <a:ea typeface="思源黑体" panose="020B0400000000000000" charset="-122"/>
                <a:cs typeface="+mn-ea"/>
                <a:sym typeface="+mn-lt"/>
              </a:rPr>
              <a:t>    </a:t>
            </a:r>
            <a:r>
              <a:rPr lang="zh-CN" altLang="en-US" sz="1600" b="1" spc="-211" dirty="0">
                <a:solidFill>
                  <a:schemeClr val="bg1"/>
                </a:solidFill>
                <a:latin typeface="Times New Roman" panose="02020503050405090304" charset="0"/>
                <a:ea typeface="思源黑体" panose="020B0400000000000000" charset="-122"/>
                <a:cs typeface="+mn-ea"/>
                <a:sym typeface="+mn-lt"/>
              </a:rPr>
              <a:t>景</a:t>
            </a:r>
            <a:endParaRPr lang="zh-CN" altLang="en-US" sz="1600" b="1" spc="-211" dirty="0">
              <a:solidFill>
                <a:schemeClr val="bg1"/>
              </a:solidFill>
              <a:latin typeface="Times New Roman" panose="02020503050405090304" charset="0"/>
              <a:ea typeface="思源黑体" panose="020B0400000000000000" charset="-122"/>
              <a:cs typeface="+mn-ea"/>
              <a:sym typeface="+mn-lt"/>
            </a:endParaRPr>
          </a:p>
        </p:txBody>
      </p:sp>
      <p:sp>
        <p:nvSpPr>
          <p:cNvPr id="2" name="矩形 1"/>
          <p:cNvSpPr/>
          <p:nvPr/>
        </p:nvSpPr>
        <p:spPr>
          <a:xfrm>
            <a:off x="6100485"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 name="矩形 2"/>
          <p:cNvSpPr/>
          <p:nvPr/>
        </p:nvSpPr>
        <p:spPr>
          <a:xfrm>
            <a:off x="8349041"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6058"/>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416812" y="228271"/>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发</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展</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征</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1" name="文本框 40"/>
          <p:cNvSpPr txBox="1"/>
          <p:nvPr/>
        </p:nvSpPr>
        <p:spPr>
          <a:xfrm>
            <a:off x="524510" y="1167765"/>
            <a:ext cx="314325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自然辩证法基本</a:t>
            </a:r>
            <a:r>
              <a:rPr lang="zh-CN" altLang="en-US" sz="2600" b="1" spc="-150" dirty="0">
                <a:solidFill>
                  <a:srgbClr val="314371"/>
                </a:solidFill>
                <a:latin typeface="Times New Roman" panose="02020503050405090304" charset="0"/>
                <a:ea typeface="思源黑体" panose="020B0400000000000000" charset="-122"/>
                <a:cs typeface="+mn-ea"/>
                <a:sym typeface="+mn-lt"/>
              </a:rPr>
              <a:t>观点</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45" name="文本框 44"/>
          <p:cNvSpPr txBox="1"/>
          <p:nvPr/>
        </p:nvSpPr>
        <p:spPr>
          <a:xfrm>
            <a:off x="686435" y="4480560"/>
            <a:ext cx="3427730" cy="2078990"/>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物质世界是一个普遍联系的统一整体。联系是指事物内部要素之间和事物之间的相互影响、相互依赖、相互作用。联系是客观的、普遍的，联系的形式是多种多样的。</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4485005" y="4480560"/>
            <a:ext cx="3756660" cy="2214880"/>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物质世界是不断发展的世界，运动是宇宙间一切的存在方式。发展是指事物由简单到复杂、由低级到高级的运动过程，它的实质是新事物的产生和旧事物的灭亡，发展是客观的，有规律的。</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8612505" y="4480560"/>
            <a:ext cx="3601085" cy="2374900"/>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唯物辩证法主张全面地看待事物，既要看到普遍联系，又要承认它们之间的区别，既要看到事物运动的绝对性，又要承认事物的相对静止，既要看到事物的正面又要看到事物的反面，既要看到个别，又要看到一般。</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8" name="图片 7"/>
          <p:cNvPicPr>
            <a:picLocks noChangeAspect="1"/>
          </p:cNvPicPr>
          <p:nvPr/>
        </p:nvPicPr>
        <p:blipFill>
          <a:blip r:embed="rId2"/>
          <a:stretch>
            <a:fillRect/>
          </a:stretch>
        </p:blipFill>
        <p:spPr>
          <a:xfrm>
            <a:off x="668655" y="1967230"/>
            <a:ext cx="3326130" cy="2078990"/>
          </a:xfrm>
          <a:prstGeom prst="rect">
            <a:avLst/>
          </a:prstGeom>
        </p:spPr>
      </p:pic>
      <p:pic>
        <p:nvPicPr>
          <p:cNvPr id="17" name="图片 16" descr="yuanyuzhouzhihui"/>
          <p:cNvPicPr>
            <a:picLocks noChangeAspect="1"/>
          </p:cNvPicPr>
          <p:nvPr/>
        </p:nvPicPr>
        <p:blipFill>
          <a:blip r:embed="rId3"/>
          <a:stretch>
            <a:fillRect/>
          </a:stretch>
        </p:blipFill>
        <p:spPr>
          <a:xfrm>
            <a:off x="5270500" y="2099945"/>
            <a:ext cx="2292985" cy="1800225"/>
          </a:xfrm>
          <a:prstGeom prst="rect">
            <a:avLst/>
          </a:prstGeom>
        </p:spPr>
      </p:pic>
      <p:pic>
        <p:nvPicPr>
          <p:cNvPr id="20" name="图片 19"/>
          <p:cNvPicPr>
            <a:picLocks noChangeAspect="1"/>
          </p:cNvPicPr>
          <p:nvPr/>
        </p:nvPicPr>
        <p:blipFill>
          <a:blip r:embed="rId4"/>
          <a:stretch>
            <a:fillRect/>
          </a:stretch>
        </p:blipFill>
        <p:spPr>
          <a:xfrm>
            <a:off x="8589645" y="1953895"/>
            <a:ext cx="3388995" cy="20923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15006"/>
            <a:ext cx="12858044" cy="7202638"/>
          </a:xfrm>
          <a:prstGeom prst="rect">
            <a:avLst/>
          </a:prstGeom>
        </p:spPr>
      </p:pic>
      <p:sp>
        <p:nvSpPr>
          <p:cNvPr id="6" name="矩形 5"/>
          <p:cNvSpPr/>
          <p:nvPr/>
        </p:nvSpPr>
        <p:spPr>
          <a:xfrm>
            <a:off x="1290" y="-15006"/>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4396525" y="1585158"/>
            <a:ext cx="4062334" cy="4062334"/>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18" name="组合 17"/>
            <p:cNvGrpSpPr/>
            <p:nvPr/>
          </p:nvGrpSpPr>
          <p:grpSpPr>
            <a:xfrm>
              <a:off x="4170422" y="2020329"/>
              <a:ext cx="3845404" cy="2391419"/>
              <a:chOff x="4061837" y="1920634"/>
              <a:chExt cx="3845404" cy="2391419"/>
            </a:xfrm>
          </p:grpSpPr>
          <p:sp>
            <p:nvSpPr>
              <p:cNvPr id="20" name="文本框 19"/>
              <p:cNvSpPr txBox="1"/>
              <p:nvPr/>
            </p:nvSpPr>
            <p:spPr>
              <a:xfrm>
                <a:off x="4061837" y="1920634"/>
                <a:ext cx="3844925" cy="768350"/>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2</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21" name="文本框 20"/>
              <p:cNvSpPr txBox="1"/>
              <p:nvPr/>
            </p:nvSpPr>
            <p:spPr>
              <a:xfrm>
                <a:off x="4062316" y="3820517"/>
                <a:ext cx="3844925" cy="491536"/>
              </a:xfrm>
              <a:prstGeom prst="rect">
                <a:avLst/>
              </a:prstGeom>
              <a:noFill/>
              <a:ln w="9525">
                <a:noFill/>
              </a:ln>
            </p:spPr>
            <p:txBody>
              <a:bodyPr wrap="square">
                <a:spAutoFit/>
              </a:bodyPr>
              <a:lstStyle/>
              <a:p>
                <a:pPr indent="0" algn="ctr"/>
                <a:r>
                  <a:rPr lang="zh-CN" altLang="en-US" sz="2000" spc="-211" dirty="0">
                    <a:solidFill>
                      <a:schemeClr val="bg1"/>
                    </a:solidFill>
                    <a:latin typeface="Times New Roman" panose="02020503050405090304" charset="0"/>
                    <a:ea typeface="思源黑体" panose="020B0400000000000000" charset="-122"/>
                    <a:cs typeface="+mn-ea"/>
                    <a:sym typeface="+mn-lt"/>
                  </a:rPr>
                  <a:t>人工智能的发展与技术特征</a:t>
                </a:r>
                <a:endParaRPr lang="zh-CN" altLang="en-US" sz="2000" dirty="0">
                  <a:solidFill>
                    <a:schemeClr val="bg1"/>
                  </a:solidFill>
                  <a:latin typeface="Times New Roman" panose="02020503050405090304" charset="0"/>
                  <a:ea typeface="思源黑体" panose="020B0400000000000000" charset="-122"/>
                  <a:cs typeface="等线" panose="02010600030101010101" charset="-122"/>
                </a:endParaRPr>
              </a:p>
            </p:txBody>
          </p:sp>
        </p:grpSp>
        <p:sp>
          <p:nvSpPr>
            <p:cNvPr id="19" name="文本框 18"/>
            <p:cNvSpPr txBox="1"/>
            <p:nvPr/>
          </p:nvSpPr>
          <p:spPr>
            <a:xfrm>
              <a:off x="4170661" y="2905519"/>
              <a:ext cx="3844925" cy="706755"/>
            </a:xfrm>
            <a:prstGeom prst="rect">
              <a:avLst/>
            </a:prstGeom>
            <a:noFill/>
            <a:ln w="9525">
              <a:noFill/>
            </a:ln>
          </p:spPr>
          <p:txBody>
            <a:bodyPr wrap="square">
              <a:spAutoFit/>
            </a:bodyPr>
            <a:lstStyle/>
            <a:p>
              <a:pPr marL="419100" indent="-419100" algn="ct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发展与</a:t>
              </a: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特征</a:t>
              </a:r>
              <a:endParaRPr lang="zh-CN" altLang="en-US" sz="4000" b="1" dirty="0">
                <a:solidFill>
                  <a:schemeClr val="bg1"/>
                </a:solidFill>
                <a:latin typeface="Times New Roman" panose="02020503050405090304" charset="0"/>
                <a:ea typeface="思源黑体" panose="020B0400000000000000"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pic>
        <p:nvPicPr>
          <p:cNvPr id="4" name="图片 3"/>
          <p:cNvPicPr>
            <a:picLocks noChangeAspect="1"/>
          </p:cNvPicPr>
          <p:nvPr/>
        </p:nvPicPr>
        <p:blipFill>
          <a:blip r:embed="rId2"/>
          <a:stretch>
            <a:fillRect/>
          </a:stretch>
        </p:blipFill>
        <p:spPr>
          <a:xfrm>
            <a:off x="8445500" y="1960245"/>
            <a:ext cx="2165350" cy="3024505"/>
          </a:xfrm>
          <a:prstGeom prst="rect">
            <a:avLst/>
          </a:prstGeom>
        </p:spPr>
      </p:pic>
      <p:sp>
        <p:nvSpPr>
          <p:cNvPr id="45" name="文本框 44"/>
          <p:cNvSpPr txBox="1"/>
          <p:nvPr/>
        </p:nvSpPr>
        <p:spPr>
          <a:xfrm>
            <a:off x="6861175" y="5273040"/>
            <a:ext cx="5521325" cy="125285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公元前</a:t>
            </a:r>
            <a:r>
              <a:rPr lang="en-US" altLang="zh-CN" sz="1600" spc="40" dirty="0">
                <a:solidFill>
                  <a:srgbClr val="314371"/>
                </a:solidFill>
                <a:latin typeface="Times New Roman" panose="02020503050405090304" charset="0"/>
                <a:ea typeface="思源黑体" panose="020B0400000000000000" charset="-122"/>
                <a:cs typeface="+mn-ea"/>
                <a:sym typeface="+mn-lt"/>
              </a:rPr>
              <a:t> 3 </a:t>
            </a:r>
            <a:r>
              <a:rPr lang="zh-CN" altLang="en-US" sz="1600" spc="40" dirty="0">
                <a:solidFill>
                  <a:srgbClr val="314371"/>
                </a:solidFill>
                <a:latin typeface="Times New Roman" panose="02020503050405090304" charset="0"/>
                <a:ea typeface="思源黑体" panose="020B0400000000000000" charset="-122"/>
                <a:cs typeface="+mn-ea"/>
                <a:sym typeface="+mn-lt"/>
              </a:rPr>
              <a:t>世纪，阿波罗尼奥斯《阿尔戈英雄记》书描述了赫菲斯托斯用青铜打造的战争机器塔洛斯（</a:t>
            </a:r>
            <a:r>
              <a:rPr lang="en-US" altLang="zh-CN" sz="1600" spc="40" dirty="0">
                <a:solidFill>
                  <a:srgbClr val="314371"/>
                </a:solidFill>
                <a:latin typeface="Times New Roman" panose="02020503050405090304" charset="0"/>
                <a:ea typeface="思源黑体" panose="020B0400000000000000" charset="-122"/>
                <a:cs typeface="+mn-ea"/>
                <a:sym typeface="+mn-lt"/>
              </a:rPr>
              <a:t>Talos</a:t>
            </a:r>
            <a:r>
              <a:rPr lang="zh-CN" altLang="en-US" sz="1600" spc="40" dirty="0">
                <a:solidFill>
                  <a:srgbClr val="314371"/>
                </a:solidFill>
                <a:latin typeface="Times New Roman" panose="02020503050405090304" charset="0"/>
                <a:ea typeface="思源黑体" panose="020B0400000000000000" charset="-122"/>
                <a:cs typeface="+mn-ea"/>
                <a:sym typeface="+mn-lt"/>
              </a:rPr>
              <a:t>），驻守在克里特岛沿岸，朝入侵者投掷巨石。</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6" name="图片 5"/>
          <p:cNvPicPr/>
          <p:nvPr/>
        </p:nvPicPr>
        <p:blipFill>
          <a:blip r:embed="rId3"/>
          <a:stretch>
            <a:fillRect/>
          </a:stretch>
        </p:blipFill>
        <p:spPr>
          <a:xfrm>
            <a:off x="1028700" y="1951355"/>
            <a:ext cx="5103495" cy="3023870"/>
          </a:xfrm>
          <a:prstGeom prst="rect">
            <a:avLst/>
          </a:prstGeom>
        </p:spPr>
      </p:pic>
      <p:sp>
        <p:nvSpPr>
          <p:cNvPr id="7" name="文本框 6"/>
          <p:cNvSpPr txBox="1"/>
          <p:nvPr/>
        </p:nvSpPr>
        <p:spPr>
          <a:xfrm>
            <a:off x="812800" y="5273040"/>
            <a:ext cx="5502910" cy="134302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公元前</a:t>
            </a:r>
            <a:r>
              <a:rPr lang="en-US" altLang="zh-CN" sz="1600" spc="40" dirty="0">
                <a:solidFill>
                  <a:srgbClr val="314371"/>
                </a:solidFill>
                <a:latin typeface="Times New Roman" panose="02020503050405090304" charset="0"/>
                <a:ea typeface="思源黑体" panose="020B0400000000000000" charset="-122"/>
                <a:cs typeface="+mn-ea"/>
                <a:sym typeface="+mn-lt"/>
              </a:rPr>
              <a:t> 8 </a:t>
            </a:r>
            <a:r>
              <a:rPr lang="zh-CN" altLang="en-US" sz="1600" spc="40" dirty="0">
                <a:solidFill>
                  <a:srgbClr val="314371"/>
                </a:solidFill>
                <a:latin typeface="Times New Roman" panose="02020503050405090304" charset="0"/>
                <a:ea typeface="思源黑体" panose="020B0400000000000000" charset="-122"/>
                <a:cs typeface="+mn-ea"/>
                <a:sym typeface="+mn-lt"/>
              </a:rPr>
              <a:t>世纪，荷马史诗《伊利亚特》卷描述了特洛伊战争中赫菲斯托斯用黄金锻造的机械女仆，她们有心能解意，有嘴能说话，</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有手能使力，精通手工制造。</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4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45" name="文本框 44"/>
          <p:cNvSpPr txBox="1"/>
          <p:nvPr/>
        </p:nvSpPr>
        <p:spPr>
          <a:xfrm>
            <a:off x="9021445" y="5117465"/>
            <a:ext cx="2732405" cy="203898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《墨子</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鲁问》记载鲁班制造了一种名为木鸢的飞鸟，能在空中持续飞行三天，木鸢采用仿生结构，通过巧妙的机械原理实现自主滑翔。</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164465" y="5128260"/>
            <a:ext cx="4670425" cy="198056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《列子</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汤问》偃师献技时因伶人挑逗侍妾引发误会，经拆解展示内部机械结构后消除误会，其设计将脏器与功能对应：摘除心则不能言，去肝则失明，失肾则无法行走。周穆王感叹</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人之巧乃可与造化者同功</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8" name="图片 7"/>
          <p:cNvPicPr/>
          <p:nvPr/>
        </p:nvPicPr>
        <p:blipFill>
          <a:blip r:embed="rId2"/>
          <a:stretch>
            <a:fillRect/>
          </a:stretch>
        </p:blipFill>
        <p:spPr>
          <a:xfrm>
            <a:off x="1127760" y="1987550"/>
            <a:ext cx="2519045" cy="3043555"/>
          </a:xfrm>
          <a:prstGeom prst="rect">
            <a:avLst/>
          </a:prstGeom>
        </p:spPr>
      </p:pic>
      <p:pic>
        <p:nvPicPr>
          <p:cNvPr id="9" name="图片 8"/>
          <p:cNvPicPr/>
          <p:nvPr/>
        </p:nvPicPr>
        <p:blipFill>
          <a:blip r:embed="rId3"/>
          <a:stretch>
            <a:fillRect/>
          </a:stretch>
        </p:blipFill>
        <p:spPr>
          <a:xfrm>
            <a:off x="9093835" y="1984375"/>
            <a:ext cx="2938145" cy="2608580"/>
          </a:xfrm>
          <a:prstGeom prst="rect">
            <a:avLst/>
          </a:prstGeom>
        </p:spPr>
      </p:pic>
      <p:pic>
        <p:nvPicPr>
          <p:cNvPr id="10" name="图片 9"/>
          <p:cNvPicPr>
            <a:picLocks noChangeAspect="1"/>
          </p:cNvPicPr>
          <p:nvPr/>
        </p:nvPicPr>
        <p:blipFill>
          <a:blip r:embed="rId4"/>
          <a:stretch>
            <a:fillRect/>
          </a:stretch>
        </p:blipFill>
        <p:spPr>
          <a:xfrm>
            <a:off x="4583430" y="2392045"/>
            <a:ext cx="3481705" cy="2176780"/>
          </a:xfrm>
          <a:prstGeom prst="rect">
            <a:avLst/>
          </a:prstGeom>
        </p:spPr>
      </p:pic>
      <p:sp>
        <p:nvSpPr>
          <p:cNvPr id="11" name="文本框 10"/>
          <p:cNvSpPr txBox="1"/>
          <p:nvPr/>
        </p:nvSpPr>
        <p:spPr>
          <a:xfrm>
            <a:off x="5113020" y="5128260"/>
            <a:ext cx="3409950" cy="2028190"/>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墨家机关由自动开合、自动发射、按触点触等机械装置构成，代表性技术包括机关弩弓、守城机器、木人机关、城防机械等，是中国古代最接近自动控制工程逻辑技术体系。</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fill="hold"/>
                                        <p:tgtEl>
                                          <p:spTgt spid="45"/>
                                        </p:tgtEl>
                                        <p:attrNameLst>
                                          <p:attrName>ppt_x</p:attrName>
                                        </p:attrNameLst>
                                      </p:cBhvr>
                                      <p:tavLst>
                                        <p:tav tm="0">
                                          <p:val>
                                            <p:strVal val="#ppt_x"/>
                                          </p:val>
                                        </p:tav>
                                        <p:tav tm="100000">
                                          <p:val>
                                            <p:strVal val="#ppt_x"/>
                                          </p:val>
                                        </p:tav>
                                      </p:tavLst>
                                    </p:anim>
                                    <p:anim calcmode="lin" valueType="num">
                                      <p:cBhvr additive="base">
                                        <p:cTn id="12" dur="500" fill="hold"/>
                                        <p:tgtEl>
                                          <p:spTgt spid="4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45" grpId="0"/>
      <p:bldP spid="7"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2273300"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pic>
        <p:nvPicPr>
          <p:cNvPr id="13" name="图片 12"/>
          <p:cNvPicPr>
            <a:picLocks noChangeAspect="1"/>
          </p:cNvPicPr>
          <p:nvPr/>
        </p:nvPicPr>
        <p:blipFill>
          <a:blip r:embed="rId2"/>
          <a:stretch>
            <a:fillRect/>
          </a:stretch>
        </p:blipFill>
        <p:spPr>
          <a:xfrm>
            <a:off x="1028700" y="2044065"/>
            <a:ext cx="3291840" cy="4407535"/>
          </a:xfrm>
          <a:prstGeom prst="rect">
            <a:avLst/>
          </a:prstGeom>
        </p:spPr>
      </p:pic>
      <p:grpSp>
        <p:nvGrpSpPr>
          <p:cNvPr id="54" name="组合 53"/>
          <p:cNvGrpSpPr/>
          <p:nvPr/>
        </p:nvGrpSpPr>
        <p:grpSpPr>
          <a:xfrm>
            <a:off x="5133340" y="1759585"/>
            <a:ext cx="6519545" cy="2827655"/>
            <a:chOff x="1016000" y="1507066"/>
            <a:chExt cx="4552522" cy="1438976"/>
          </a:xfrm>
        </p:grpSpPr>
        <p:sp>
          <p:nvSpPr>
            <p:cNvPr id="55" name="矩形 54"/>
            <p:cNvSpPr/>
            <p:nvPr/>
          </p:nvSpPr>
          <p:spPr>
            <a:xfrm>
              <a:off x="1016000" y="1507066"/>
              <a:ext cx="4552522" cy="1438976"/>
            </a:xfrm>
            <a:prstGeom prst="rect">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56" name="文本框 55"/>
            <p:cNvSpPr txBox="1"/>
            <p:nvPr/>
          </p:nvSpPr>
          <p:spPr>
            <a:xfrm>
              <a:off x="1116655" y="1623723"/>
              <a:ext cx="1099221" cy="238160"/>
            </a:xfrm>
            <a:prstGeom prst="rect">
              <a:avLst/>
            </a:prstGeom>
            <a:noFill/>
          </p:spPr>
          <p:txBody>
            <a:bodyPr wrap="square" rtlCol="0">
              <a:noAutofit/>
            </a:bodyPr>
            <a:lstStyle/>
            <a:p>
              <a:pPr algn="ctr"/>
              <a:r>
                <a:rPr lang="zh-CN" altLang="en-US" sz="2400" b="1" spc="-150" dirty="0">
                  <a:solidFill>
                    <a:schemeClr val="bg1"/>
                  </a:solidFill>
                  <a:latin typeface="Times New Roman" panose="02020503050405090304" charset="0"/>
                  <a:ea typeface="思源黑体" panose="020B0400000000000000" charset="-122"/>
                  <a:cs typeface="+mn-ea"/>
                  <a:sym typeface="+mn-lt"/>
                </a:rPr>
                <a:t>形式逻辑</a:t>
              </a:r>
              <a:endParaRPr lang="zh-CN" altLang="en-US" sz="2400" b="1" spc="-150" dirty="0">
                <a:solidFill>
                  <a:schemeClr val="bg1"/>
                </a:solidFill>
                <a:latin typeface="Times New Roman" panose="02020503050405090304" charset="0"/>
                <a:ea typeface="思源黑体" panose="020B0400000000000000" charset="-122"/>
                <a:cs typeface="+mn-ea"/>
                <a:sym typeface="+mn-lt"/>
              </a:endParaRPr>
            </a:p>
          </p:txBody>
        </p:sp>
        <p:sp>
          <p:nvSpPr>
            <p:cNvPr id="57" name="文本框 56"/>
            <p:cNvSpPr txBox="1"/>
            <p:nvPr/>
          </p:nvSpPr>
          <p:spPr>
            <a:xfrm>
              <a:off x="1225734" y="1861882"/>
              <a:ext cx="4104675" cy="986246"/>
            </a:xfrm>
            <a:prstGeom prst="rect">
              <a:avLst/>
            </a:prstGeom>
            <a:noFill/>
          </p:spPr>
          <p:txBody>
            <a:bodyPr wrap="square" rtlCol="0">
              <a:spAutoFit/>
            </a:bodyPr>
            <a:lstStyle/>
            <a:p>
              <a:pPr>
                <a:lnSpc>
                  <a:spcPct val="150000"/>
                </a:lnSpc>
              </a:pPr>
              <a:r>
                <a:rPr lang="zh-CN" altLang="en-US" sz="1600" spc="40" dirty="0">
                  <a:solidFill>
                    <a:schemeClr val="bg1"/>
                  </a:solidFill>
                  <a:latin typeface="Times New Roman" panose="02020503050405090304" charset="0"/>
                  <a:ea typeface="思源黑体" panose="020B0400000000000000" charset="-122"/>
                  <a:cs typeface="+mn-ea"/>
                  <a:sym typeface="+mn-lt"/>
                </a:rPr>
                <a:t>亚里士多德在《工具论》</a:t>
              </a:r>
              <a:r>
                <a:rPr lang="en-US" altLang="zh-CN" sz="1600" spc="40" dirty="0">
                  <a:solidFill>
                    <a:schemeClr val="bg1"/>
                  </a:solidFill>
                  <a:latin typeface="Times New Roman" panose="02020503050405090304" charset="0"/>
                  <a:ea typeface="思源黑体" panose="020B0400000000000000" charset="-122"/>
                  <a:cs typeface="+mn-ea"/>
                  <a:sym typeface="+mn-lt"/>
                </a:rPr>
                <a:t>（Organon）</a:t>
              </a:r>
              <a:r>
                <a:rPr lang="zh-CN" altLang="en-US" sz="1600" spc="40" dirty="0">
                  <a:solidFill>
                    <a:schemeClr val="bg1"/>
                  </a:solidFill>
                  <a:latin typeface="Times New Roman" panose="02020503050405090304" charset="0"/>
                  <a:ea typeface="思源黑体" panose="020B0400000000000000" charset="-122"/>
                  <a:cs typeface="+mn-ea"/>
                  <a:sym typeface="+mn-lt"/>
                </a:rPr>
                <a:t>中建立了西方第一个系统的逻辑体系，核心特点是</a:t>
              </a:r>
              <a:r>
                <a:rPr lang="en-US" altLang="zh-CN" sz="1600" spc="40" dirty="0">
                  <a:solidFill>
                    <a:schemeClr val="bg1"/>
                  </a:solidFill>
                  <a:latin typeface="Times New Roman" panose="02020503050405090304" charset="0"/>
                  <a:ea typeface="思源黑体" panose="020B0400000000000000" charset="-122"/>
                  <a:cs typeface="+mn-ea"/>
                  <a:sym typeface="+mn-lt"/>
                </a:rPr>
                <a:t>：</a:t>
              </a:r>
              <a:endParaRPr lang="en-US" altLang="zh-CN"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1. </a:t>
              </a:r>
              <a:r>
                <a:rPr lang="zh-CN" altLang="en-US" sz="1600" spc="40" dirty="0">
                  <a:solidFill>
                    <a:schemeClr val="bg1"/>
                  </a:solidFill>
                  <a:latin typeface="Times New Roman" panose="02020503050405090304" charset="0"/>
                  <a:ea typeface="思源黑体" panose="020B0400000000000000" charset="-122"/>
                  <a:cs typeface="+mn-ea"/>
                  <a:sym typeface="+mn-lt"/>
                </a:rPr>
                <a:t>形式化思维：关注推理的形式结构，而非具体内容</a:t>
              </a:r>
              <a:endParaRPr lang="zh-CN" altLang="en-US"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2. </a:t>
              </a:r>
              <a:r>
                <a:rPr lang="zh-CN" altLang="en-US" sz="1600" spc="40" dirty="0">
                  <a:solidFill>
                    <a:schemeClr val="bg1"/>
                  </a:solidFill>
                  <a:latin typeface="Times New Roman" panose="02020503050405090304" charset="0"/>
                  <a:ea typeface="思源黑体" panose="020B0400000000000000" charset="-122"/>
                  <a:cs typeface="+mn-ea"/>
                  <a:sym typeface="+mn-lt"/>
                </a:rPr>
                <a:t>有效性标准：推理的正确性取决于形式，而非命题的真实性</a:t>
              </a:r>
              <a:endParaRPr lang="zh-CN" altLang="en-US"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3. </a:t>
              </a:r>
              <a:r>
                <a:rPr lang="zh-CN" altLang="en-US" sz="1600" spc="40" dirty="0">
                  <a:solidFill>
                    <a:schemeClr val="bg1"/>
                  </a:solidFill>
                  <a:latin typeface="Times New Roman" panose="02020503050405090304" charset="0"/>
                  <a:ea typeface="思源黑体" panose="020B0400000000000000" charset="-122"/>
                  <a:cs typeface="+mn-ea"/>
                  <a:sym typeface="+mn-lt"/>
                </a:rPr>
                <a:t>语言分析：将自然语言转化为逻辑形式进行分析</a:t>
              </a:r>
              <a:endParaRPr lang="zh-CN" altLang="en-US" sz="1600" spc="40" dirty="0">
                <a:solidFill>
                  <a:schemeClr val="bg1"/>
                </a:solidFill>
                <a:latin typeface="Times New Roman" panose="02020503050405090304" charset="0"/>
                <a:ea typeface="思源黑体" panose="020B0400000000000000" charset="-122"/>
                <a:cs typeface="+mn-ea"/>
                <a:sym typeface="+mn-lt"/>
              </a:endParaRPr>
            </a:p>
          </p:txBody>
        </p:sp>
      </p:grpSp>
      <p:grpSp>
        <p:nvGrpSpPr>
          <p:cNvPr id="32" name="组合 31"/>
          <p:cNvGrpSpPr/>
          <p:nvPr/>
        </p:nvGrpSpPr>
        <p:grpSpPr>
          <a:xfrm>
            <a:off x="8308340" y="4711700"/>
            <a:ext cx="3344545" cy="2118360"/>
            <a:chOff x="1047926" y="1507066"/>
            <a:chExt cx="2523511" cy="1021793"/>
          </a:xfrm>
        </p:grpSpPr>
        <p:sp>
          <p:nvSpPr>
            <p:cNvPr id="37" name="矩形 36"/>
            <p:cNvSpPr/>
            <p:nvPr/>
          </p:nvSpPr>
          <p:spPr>
            <a:xfrm>
              <a:off x="1047926" y="1507066"/>
              <a:ext cx="2523511" cy="1021793"/>
            </a:xfrm>
            <a:prstGeom prst="rect">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41" name="文本框 40"/>
            <p:cNvSpPr txBox="1"/>
            <p:nvPr/>
          </p:nvSpPr>
          <p:spPr>
            <a:xfrm>
              <a:off x="1116655" y="1623723"/>
              <a:ext cx="1099221" cy="238160"/>
            </a:xfrm>
            <a:prstGeom prst="rect">
              <a:avLst/>
            </a:prstGeom>
            <a:noFill/>
          </p:spPr>
          <p:txBody>
            <a:bodyPr wrap="square" rtlCol="0">
              <a:noAutofit/>
            </a:bodyPr>
            <a:lstStyle/>
            <a:p>
              <a:pPr algn="l"/>
              <a:r>
                <a:rPr lang="zh-CN" altLang="en-US" sz="2400" b="1" spc="-150" dirty="0">
                  <a:solidFill>
                    <a:schemeClr val="bg1"/>
                  </a:solidFill>
                  <a:latin typeface="Times New Roman" panose="02020503050405090304" charset="0"/>
                  <a:ea typeface="思源黑体" panose="020B0400000000000000" charset="-122"/>
                  <a:cs typeface="+mn-ea"/>
                  <a:sym typeface="+mn-lt"/>
                </a:rPr>
                <a:t>推理规则</a:t>
              </a:r>
              <a:endParaRPr lang="zh-CN" altLang="en-US" sz="2400" b="1" spc="-150" dirty="0">
                <a:solidFill>
                  <a:schemeClr val="bg1"/>
                </a:solidFill>
                <a:latin typeface="Times New Roman" panose="02020503050405090304" charset="0"/>
                <a:ea typeface="思源黑体" panose="020B0400000000000000" charset="-122"/>
                <a:cs typeface="+mn-ea"/>
                <a:sym typeface="+mn-lt"/>
              </a:endParaRPr>
            </a:p>
          </p:txBody>
        </p:sp>
        <p:sp>
          <p:nvSpPr>
            <p:cNvPr id="43" name="文本框 42"/>
            <p:cNvSpPr txBox="1"/>
            <p:nvPr/>
          </p:nvSpPr>
          <p:spPr>
            <a:xfrm>
              <a:off x="1225759" y="1861753"/>
              <a:ext cx="1099331" cy="578281"/>
            </a:xfrm>
            <a:prstGeom prst="rect">
              <a:avLst/>
            </a:prstGeom>
            <a:noFill/>
          </p:spPr>
          <p:txBody>
            <a:bodyPr wrap="square" rtlCol="0">
              <a:spAutoFit/>
            </a:bodyPr>
            <a:lstStyle/>
            <a:p>
              <a:pPr>
                <a:lnSpc>
                  <a:spcPct val="150000"/>
                </a:lnSpc>
              </a:pPr>
              <a:r>
                <a:rPr lang="en-US" sz="1600" spc="40" dirty="0">
                  <a:solidFill>
                    <a:schemeClr val="bg1"/>
                  </a:solidFill>
                  <a:latin typeface="Times New Roman" panose="02020503050405090304" charset="0"/>
                  <a:ea typeface="思源黑体" panose="020B0400000000000000" charset="-122"/>
                  <a:cs typeface="+mn-ea"/>
                  <a:sym typeface="+mn-lt"/>
                </a:rPr>
                <a:t>1. </a:t>
              </a:r>
              <a:r>
                <a:rPr lang="zh-CN" altLang="en-US" sz="1600" spc="40" dirty="0">
                  <a:solidFill>
                    <a:schemeClr val="bg1"/>
                  </a:solidFill>
                  <a:latin typeface="Times New Roman" panose="02020503050405090304" charset="0"/>
                  <a:ea typeface="思源黑体" panose="020B0400000000000000" charset="-122"/>
                  <a:cs typeface="+mn-ea"/>
                  <a:sym typeface="+mn-lt"/>
                </a:rPr>
                <a:t>同一律</a:t>
              </a:r>
              <a:endParaRPr lang="zh-CN" altLang="en-US"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2. </a:t>
              </a:r>
              <a:r>
                <a:rPr lang="zh-CN" altLang="en-US" sz="1600" spc="40" dirty="0">
                  <a:solidFill>
                    <a:schemeClr val="bg1"/>
                  </a:solidFill>
                  <a:latin typeface="Times New Roman" panose="02020503050405090304" charset="0"/>
                  <a:ea typeface="思源黑体" panose="020B0400000000000000" charset="-122"/>
                  <a:cs typeface="+mn-ea"/>
                  <a:sym typeface="+mn-lt"/>
                </a:rPr>
                <a:t>矛盾律</a:t>
              </a:r>
              <a:endParaRPr lang="zh-CN" altLang="en-US"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3. </a:t>
              </a:r>
              <a:r>
                <a:rPr lang="zh-CN" altLang="en-US" sz="1600" spc="40" dirty="0">
                  <a:solidFill>
                    <a:schemeClr val="bg1"/>
                  </a:solidFill>
                  <a:latin typeface="Times New Roman" panose="02020503050405090304" charset="0"/>
                  <a:ea typeface="思源黑体" panose="020B0400000000000000" charset="-122"/>
                  <a:cs typeface="+mn-ea"/>
                  <a:sym typeface="+mn-lt"/>
                </a:rPr>
                <a:t>排中律</a:t>
              </a:r>
              <a:endParaRPr lang="zh-CN" altLang="en-US" sz="1600" spc="40" dirty="0">
                <a:solidFill>
                  <a:schemeClr val="bg1"/>
                </a:solidFill>
                <a:latin typeface="Times New Roman" panose="02020503050405090304" charset="0"/>
                <a:ea typeface="思源黑体" panose="020B0400000000000000" charset="-122"/>
                <a:cs typeface="+mn-ea"/>
                <a:sym typeface="+mn-lt"/>
              </a:endParaRPr>
            </a:p>
          </p:txBody>
        </p:sp>
      </p:grpSp>
      <p:grpSp>
        <p:nvGrpSpPr>
          <p:cNvPr id="44" name="组合 43"/>
          <p:cNvGrpSpPr/>
          <p:nvPr/>
        </p:nvGrpSpPr>
        <p:grpSpPr>
          <a:xfrm>
            <a:off x="5133340" y="4711700"/>
            <a:ext cx="3063875" cy="2118360"/>
            <a:chOff x="1047926" y="1507066"/>
            <a:chExt cx="1487836" cy="1021793"/>
          </a:xfrm>
        </p:grpSpPr>
        <p:sp>
          <p:nvSpPr>
            <p:cNvPr id="46" name="矩形 45"/>
            <p:cNvSpPr/>
            <p:nvPr/>
          </p:nvSpPr>
          <p:spPr>
            <a:xfrm>
              <a:off x="1047926" y="1507066"/>
              <a:ext cx="1487836" cy="1021793"/>
            </a:xfrm>
            <a:prstGeom prst="rect">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47" name="文本框 46"/>
            <p:cNvSpPr txBox="1"/>
            <p:nvPr/>
          </p:nvSpPr>
          <p:spPr>
            <a:xfrm>
              <a:off x="1116655" y="1623723"/>
              <a:ext cx="1099221" cy="238160"/>
            </a:xfrm>
            <a:prstGeom prst="rect">
              <a:avLst/>
            </a:prstGeom>
            <a:noFill/>
          </p:spPr>
          <p:txBody>
            <a:bodyPr wrap="square" rtlCol="0">
              <a:noAutofit/>
            </a:bodyPr>
            <a:lstStyle/>
            <a:p>
              <a:pPr algn="l"/>
              <a:r>
                <a:rPr lang="zh-CN" altLang="en-US" sz="2400" b="1" spc="-150" dirty="0">
                  <a:solidFill>
                    <a:schemeClr val="bg1"/>
                  </a:solidFill>
                  <a:latin typeface="Times New Roman" panose="02020503050405090304" charset="0"/>
                  <a:ea typeface="思源黑体" panose="020B0400000000000000" charset="-122"/>
                  <a:cs typeface="+mn-ea"/>
                  <a:sym typeface="+mn-lt"/>
                </a:rPr>
                <a:t>三段论</a:t>
              </a:r>
              <a:endParaRPr lang="zh-CN" altLang="en-US" sz="2400" b="1" spc="-150" dirty="0">
                <a:solidFill>
                  <a:schemeClr val="bg1"/>
                </a:solidFill>
                <a:latin typeface="Times New Roman" panose="02020503050405090304" charset="0"/>
                <a:ea typeface="思源黑体" panose="020B0400000000000000" charset="-122"/>
                <a:cs typeface="+mn-ea"/>
                <a:sym typeface="+mn-lt"/>
              </a:endParaRPr>
            </a:p>
          </p:txBody>
        </p:sp>
        <p:sp>
          <p:nvSpPr>
            <p:cNvPr id="48" name="文本框 47"/>
            <p:cNvSpPr txBox="1"/>
            <p:nvPr/>
          </p:nvSpPr>
          <p:spPr>
            <a:xfrm>
              <a:off x="1225759" y="1861753"/>
              <a:ext cx="1099331" cy="578281"/>
            </a:xfrm>
            <a:prstGeom prst="rect">
              <a:avLst/>
            </a:prstGeom>
            <a:noFill/>
          </p:spPr>
          <p:txBody>
            <a:bodyPr wrap="square" rtlCol="0">
              <a:spAutoFit/>
            </a:bodyPr>
            <a:lstStyle/>
            <a:p>
              <a:pPr>
                <a:lnSpc>
                  <a:spcPct val="150000"/>
                </a:lnSpc>
              </a:pPr>
              <a:r>
                <a:rPr lang="en-US" sz="1600" spc="40" dirty="0">
                  <a:solidFill>
                    <a:schemeClr val="bg1"/>
                  </a:solidFill>
                  <a:latin typeface="Times New Roman" panose="02020503050405090304" charset="0"/>
                  <a:ea typeface="思源黑体" panose="020B0400000000000000" charset="-122"/>
                  <a:cs typeface="+mn-ea"/>
                  <a:sym typeface="+mn-lt"/>
                </a:rPr>
                <a:t>1. </a:t>
              </a:r>
              <a:r>
                <a:rPr lang="zh-CN" altLang="en-US" sz="1600" spc="40" dirty="0">
                  <a:solidFill>
                    <a:schemeClr val="bg1"/>
                  </a:solidFill>
                  <a:latin typeface="Times New Roman" panose="02020503050405090304" charset="0"/>
                  <a:ea typeface="思源黑体" panose="020B0400000000000000" charset="-122"/>
                  <a:cs typeface="+mn-ea"/>
                  <a:sym typeface="+mn-lt"/>
                </a:rPr>
                <a:t>大前提</a:t>
              </a:r>
              <a:endParaRPr lang="zh-CN" altLang="en-US"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2. </a:t>
              </a:r>
              <a:r>
                <a:rPr lang="zh-CN" altLang="en-US" sz="1600" spc="40" dirty="0">
                  <a:solidFill>
                    <a:schemeClr val="bg1"/>
                  </a:solidFill>
                  <a:latin typeface="Times New Roman" panose="02020503050405090304" charset="0"/>
                  <a:ea typeface="思源黑体" panose="020B0400000000000000" charset="-122"/>
                  <a:cs typeface="+mn-ea"/>
                  <a:sym typeface="+mn-lt"/>
                </a:rPr>
                <a:t>小前提</a:t>
              </a:r>
              <a:endParaRPr lang="zh-CN" altLang="en-US" sz="1600" spc="40" dirty="0">
                <a:solidFill>
                  <a:schemeClr val="bg1"/>
                </a:solidFill>
                <a:latin typeface="Times New Roman" panose="02020503050405090304" charset="0"/>
                <a:ea typeface="思源黑体" panose="020B0400000000000000" charset="-122"/>
                <a:cs typeface="+mn-ea"/>
                <a:sym typeface="+mn-lt"/>
              </a:endParaRPr>
            </a:p>
            <a:p>
              <a:pPr>
                <a:lnSpc>
                  <a:spcPct val="150000"/>
                </a:lnSpc>
              </a:pPr>
              <a:r>
                <a:rPr lang="en-US" altLang="zh-CN" sz="1600" spc="40" dirty="0">
                  <a:solidFill>
                    <a:schemeClr val="bg1"/>
                  </a:solidFill>
                  <a:latin typeface="Times New Roman" panose="02020503050405090304" charset="0"/>
                  <a:ea typeface="思源黑体" panose="020B0400000000000000" charset="-122"/>
                  <a:cs typeface="+mn-ea"/>
                  <a:sym typeface="+mn-lt"/>
                </a:rPr>
                <a:t>3. </a:t>
              </a:r>
              <a:r>
                <a:rPr lang="zh-CN" altLang="en-US" sz="1600" spc="40" dirty="0">
                  <a:solidFill>
                    <a:schemeClr val="bg1"/>
                  </a:solidFill>
                  <a:latin typeface="Times New Roman" panose="02020503050405090304" charset="0"/>
                  <a:ea typeface="思源黑体" panose="020B0400000000000000" charset="-122"/>
                  <a:cs typeface="+mn-ea"/>
                  <a:sym typeface="+mn-lt"/>
                </a:rPr>
                <a:t>结论</a:t>
              </a:r>
              <a:endParaRPr lang="zh-CN" altLang="en-US" sz="1600" spc="40" dirty="0">
                <a:solidFill>
                  <a:schemeClr val="bg1"/>
                </a:solidFill>
                <a:latin typeface="Times New Roman" panose="02020503050405090304" charset="0"/>
                <a:ea typeface="思源黑体" panose="020B0400000000000000"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p:cTn id="12" dur="500" fill="hold"/>
                                        <p:tgtEl>
                                          <p:spTgt spid="54"/>
                                        </p:tgtEl>
                                        <p:attrNameLst>
                                          <p:attrName>ppt_w</p:attrName>
                                        </p:attrNameLst>
                                      </p:cBhvr>
                                      <p:tavLst>
                                        <p:tav tm="0">
                                          <p:val>
                                            <p:fltVal val="0"/>
                                          </p:val>
                                        </p:tav>
                                        <p:tav tm="100000">
                                          <p:val>
                                            <p:strVal val="#ppt_w"/>
                                          </p:val>
                                        </p:tav>
                                      </p:tavLst>
                                    </p:anim>
                                    <p:anim calcmode="lin" valueType="num">
                                      <p:cBhvr>
                                        <p:cTn id="13" dur="500" fill="hold"/>
                                        <p:tgtEl>
                                          <p:spTgt spid="54"/>
                                        </p:tgtEl>
                                        <p:attrNameLst>
                                          <p:attrName>ppt_h</p:attrName>
                                        </p:attrNameLst>
                                      </p:cBhvr>
                                      <p:tavLst>
                                        <p:tav tm="0">
                                          <p:val>
                                            <p:fltVal val="0"/>
                                          </p:val>
                                        </p:tav>
                                        <p:tav tm="100000">
                                          <p:val>
                                            <p:strVal val="#ppt_h"/>
                                          </p:val>
                                        </p:tav>
                                      </p:tavLst>
                                    </p:anim>
                                    <p:animEffect transition="in" filter="fade">
                                      <p:cBhvr>
                                        <p:cTn id="14" dur="500"/>
                                        <p:tgtEl>
                                          <p:spTgt spid="54"/>
                                        </p:tgtEl>
                                      </p:cBhvr>
                                    </p:animEffect>
                                  </p:childTnLst>
                                </p:cTn>
                              </p:par>
                            </p:childTnLst>
                          </p:cTn>
                        </p:par>
                        <p:par>
                          <p:cTn id="15" fill="hold">
                            <p:stCondLst>
                              <p:cond delay="1000"/>
                            </p:stCondLst>
                            <p:childTnLst>
                              <p:par>
                                <p:cTn id="16" presetID="53" presetClass="entr" presetSubtype="16"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p:cTn id="18" dur="500" fill="hold"/>
                                        <p:tgtEl>
                                          <p:spTgt spid="32"/>
                                        </p:tgtEl>
                                        <p:attrNameLst>
                                          <p:attrName>ppt_w</p:attrName>
                                        </p:attrNameLst>
                                      </p:cBhvr>
                                      <p:tavLst>
                                        <p:tav tm="0">
                                          <p:val>
                                            <p:fltVal val="0"/>
                                          </p:val>
                                        </p:tav>
                                        <p:tav tm="100000">
                                          <p:val>
                                            <p:strVal val="#ppt_w"/>
                                          </p:val>
                                        </p:tav>
                                      </p:tavLst>
                                    </p:anim>
                                    <p:anim calcmode="lin" valueType="num">
                                      <p:cBhvr>
                                        <p:cTn id="19" dur="500" fill="hold"/>
                                        <p:tgtEl>
                                          <p:spTgt spid="32"/>
                                        </p:tgtEl>
                                        <p:attrNameLst>
                                          <p:attrName>ppt_h</p:attrName>
                                        </p:attrNameLst>
                                      </p:cBhvr>
                                      <p:tavLst>
                                        <p:tav tm="0">
                                          <p:val>
                                            <p:fltVal val="0"/>
                                          </p:val>
                                        </p:tav>
                                        <p:tav tm="100000">
                                          <p:val>
                                            <p:strVal val="#ppt_h"/>
                                          </p:val>
                                        </p:tav>
                                      </p:tavLst>
                                    </p:anim>
                                    <p:animEffect transition="in" filter="fade">
                                      <p:cBhvr>
                                        <p:cTn id="20" dur="500"/>
                                        <p:tgtEl>
                                          <p:spTgt spid="32"/>
                                        </p:tgtEl>
                                      </p:cBhvr>
                                    </p:animEffec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44"/>
                                        </p:tgtEl>
                                        <p:attrNameLst>
                                          <p:attrName>style.visibility</p:attrName>
                                        </p:attrNameLst>
                                      </p:cBhvr>
                                      <p:to>
                                        <p:strVal val="visible"/>
                                      </p:to>
                                    </p:set>
                                    <p:anim calcmode="lin" valueType="num">
                                      <p:cBhvr>
                                        <p:cTn id="24" dur="500" fill="hold"/>
                                        <p:tgtEl>
                                          <p:spTgt spid="44"/>
                                        </p:tgtEl>
                                        <p:attrNameLst>
                                          <p:attrName>ppt_w</p:attrName>
                                        </p:attrNameLst>
                                      </p:cBhvr>
                                      <p:tavLst>
                                        <p:tav tm="0">
                                          <p:val>
                                            <p:fltVal val="0"/>
                                          </p:val>
                                        </p:tav>
                                        <p:tav tm="100000">
                                          <p:val>
                                            <p:strVal val="#ppt_w"/>
                                          </p:val>
                                        </p:tav>
                                      </p:tavLst>
                                    </p:anim>
                                    <p:anim calcmode="lin" valueType="num">
                                      <p:cBhvr>
                                        <p:cTn id="25" dur="500" fill="hold"/>
                                        <p:tgtEl>
                                          <p:spTgt spid="44"/>
                                        </p:tgtEl>
                                        <p:attrNameLst>
                                          <p:attrName>ppt_h</p:attrName>
                                        </p:attrNameLst>
                                      </p:cBhvr>
                                      <p:tavLst>
                                        <p:tav tm="0">
                                          <p:val>
                                            <p:fltVal val="0"/>
                                          </p:val>
                                        </p:tav>
                                        <p:tav tm="100000">
                                          <p:val>
                                            <p:strVal val="#ppt_h"/>
                                          </p:val>
                                        </p:tav>
                                      </p:tavLst>
                                    </p:anim>
                                    <p:animEffect transition="in" filter="fade">
                                      <p:cBhvr>
                                        <p:cTn id="2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4124960" y="2088515"/>
            <a:ext cx="7844155" cy="1288415"/>
          </a:xfrm>
          <a:prstGeom prst="rect">
            <a:avLst/>
          </a:prstGeom>
          <a:noFill/>
        </p:spPr>
        <p:txBody>
          <a:bodyPr wrap="square" rtlCol="0">
            <a:no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1847 </a:t>
            </a:r>
            <a:r>
              <a:rPr lang="zh-CN" altLang="en-US" sz="1600" spc="40" dirty="0">
                <a:solidFill>
                  <a:srgbClr val="314371"/>
                </a:solidFill>
                <a:latin typeface="Times New Roman" panose="02020503050405090304" charset="0"/>
                <a:ea typeface="思源黑体" panose="020B0400000000000000" charset="-122"/>
                <a:cs typeface="+mn-ea"/>
                <a:sym typeface="+mn-lt"/>
              </a:rPr>
              <a:t>年英国数学家乔治布尔创立数学分支</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布尔代数</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它是一套处理逻辑值</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通常为</a:t>
            </a:r>
            <a:r>
              <a:rPr lang="en-US" altLang="zh-CN" sz="1600" spc="40" dirty="0">
                <a:solidFill>
                  <a:srgbClr val="314371"/>
                </a:solidFill>
                <a:latin typeface="Times New Roman" panose="02020503050405090304" charset="0"/>
                <a:ea typeface="思源黑体" panose="020B0400000000000000" charset="-122"/>
                <a:cs typeface="+mn-ea"/>
                <a:sym typeface="+mn-lt"/>
              </a:rPr>
              <a:t> True </a:t>
            </a:r>
            <a:r>
              <a:rPr lang="zh-CN" altLang="en-US" sz="1600" spc="40" dirty="0">
                <a:solidFill>
                  <a:srgbClr val="314371"/>
                </a:solidFill>
                <a:latin typeface="Times New Roman" panose="02020503050405090304" charset="0"/>
                <a:ea typeface="思源黑体" panose="020B0400000000000000" charset="-122"/>
                <a:cs typeface="+mn-ea"/>
                <a:sym typeface="+mn-lt"/>
              </a:rPr>
              <a:t>和</a:t>
            </a:r>
            <a:r>
              <a:rPr lang="en-US" altLang="zh-CN" sz="1600" spc="40" dirty="0">
                <a:solidFill>
                  <a:srgbClr val="314371"/>
                </a:solidFill>
                <a:latin typeface="Times New Roman" panose="02020503050405090304" charset="0"/>
                <a:ea typeface="思源黑体" panose="020B0400000000000000" charset="-122"/>
                <a:cs typeface="+mn-ea"/>
                <a:sym typeface="+mn-lt"/>
              </a:rPr>
              <a:t> False）</a:t>
            </a:r>
            <a:r>
              <a:rPr lang="zh-CN" altLang="en-US" sz="1600" spc="40" dirty="0">
                <a:solidFill>
                  <a:srgbClr val="314371"/>
                </a:solidFill>
                <a:latin typeface="Times New Roman" panose="02020503050405090304" charset="0"/>
                <a:ea typeface="思源黑体" panose="020B0400000000000000" charset="-122"/>
                <a:cs typeface="+mn-ea"/>
                <a:sym typeface="+mn-lt"/>
              </a:rPr>
              <a:t>及其运算的系统</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布尔代数不仅是现代数字计算的理论基础</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更是</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技术得以发展和实现的核心支柱</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4" name="图片 3"/>
          <p:cNvPicPr>
            <a:picLocks noChangeAspect="1"/>
          </p:cNvPicPr>
          <p:nvPr/>
        </p:nvPicPr>
        <p:blipFill>
          <a:blip r:embed="rId2"/>
          <a:stretch>
            <a:fillRect/>
          </a:stretch>
        </p:blipFill>
        <p:spPr>
          <a:xfrm>
            <a:off x="524510" y="2154555"/>
            <a:ext cx="2757805" cy="3680460"/>
          </a:xfrm>
          <a:prstGeom prst="rect">
            <a:avLst/>
          </a:prstGeom>
        </p:spPr>
      </p:pic>
      <p:sp>
        <p:nvSpPr>
          <p:cNvPr id="6" name="文本框 5"/>
          <p:cNvSpPr txBox="1"/>
          <p:nvPr/>
        </p:nvSpPr>
        <p:spPr>
          <a:xfrm>
            <a:off x="3462020" y="3543935"/>
            <a:ext cx="2386330" cy="2405380"/>
          </a:xfrm>
          <a:prstGeom prst="rect">
            <a:avLst/>
          </a:prstGeom>
          <a:noFill/>
        </p:spPr>
        <p:txBody>
          <a:bodyPr wrap="square" rtlCol="0">
            <a:noAutofit/>
          </a:bodyPr>
          <a:lstStyle/>
          <a:p>
            <a:pPr algn="l">
              <a:lnSpc>
                <a:spcPct val="150000"/>
              </a:lnSpc>
            </a:pPr>
            <a:r>
              <a:rPr lang="en-US" sz="1800" b="1" spc="40" dirty="0">
                <a:solidFill>
                  <a:srgbClr val="314371"/>
                </a:solidFill>
                <a:latin typeface="Times New Roman" panose="02020503050405090304" charset="0"/>
                <a:ea typeface="思源黑体" panose="020B0400000000000000" charset="-122"/>
                <a:cs typeface="+mn-ea"/>
                <a:sym typeface="+mn-lt"/>
              </a:rPr>
              <a:t>1. </a:t>
            </a:r>
            <a:r>
              <a:rPr lang="zh-CN" altLang="en-US" sz="1800" b="1" spc="40" dirty="0">
                <a:solidFill>
                  <a:srgbClr val="314371"/>
                </a:solidFill>
                <a:latin typeface="Times New Roman" panose="02020503050405090304" charset="0"/>
                <a:ea typeface="思源黑体" panose="020B0400000000000000" charset="-122"/>
                <a:cs typeface="+mn-ea"/>
                <a:sym typeface="+mn-lt"/>
              </a:rPr>
              <a:t>逻辑推理</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规则通常以</a:t>
            </a:r>
            <a:r>
              <a:rPr lang="en-US" altLang="zh-CN" sz="1600" spc="40" dirty="0">
                <a:solidFill>
                  <a:srgbClr val="314371"/>
                </a:solidFill>
                <a:latin typeface="Times New Roman" panose="02020503050405090304" charset="0"/>
                <a:ea typeface="思源黑体" panose="020B0400000000000000" charset="-122"/>
                <a:cs typeface="+mn-ea"/>
                <a:sym typeface="+mn-lt"/>
              </a:rPr>
              <a:t> “IF (</a:t>
            </a:r>
            <a:r>
              <a:rPr lang="zh-CN" altLang="en-US" sz="1600" spc="40" dirty="0">
                <a:solidFill>
                  <a:srgbClr val="314371"/>
                </a:solidFill>
                <a:latin typeface="Times New Roman" panose="02020503050405090304" charset="0"/>
                <a:ea typeface="思源黑体" panose="020B0400000000000000" charset="-122"/>
                <a:cs typeface="+mn-ea"/>
                <a:sym typeface="+mn-lt"/>
              </a:rPr>
              <a:t>条件</a:t>
            </a:r>
            <a:r>
              <a:rPr lang="en-US" altLang="zh-CN" sz="1600" spc="40" dirty="0">
                <a:solidFill>
                  <a:srgbClr val="314371"/>
                </a:solidFill>
                <a:latin typeface="Times New Roman" panose="02020503050405090304" charset="0"/>
                <a:ea typeface="思源黑体" panose="020B0400000000000000" charset="-122"/>
                <a:cs typeface="+mn-ea"/>
                <a:sym typeface="+mn-lt"/>
              </a:rPr>
              <a:t> A AND </a:t>
            </a:r>
            <a:r>
              <a:rPr lang="zh-CN" altLang="en-US" sz="1600" spc="40" dirty="0">
                <a:solidFill>
                  <a:srgbClr val="314371"/>
                </a:solidFill>
                <a:latin typeface="Times New Roman" panose="02020503050405090304" charset="0"/>
                <a:ea typeface="思源黑体" panose="020B0400000000000000" charset="-122"/>
                <a:cs typeface="+mn-ea"/>
                <a:sym typeface="+mn-lt"/>
              </a:rPr>
              <a:t>条件</a:t>
            </a:r>
            <a:r>
              <a:rPr lang="en-US" altLang="zh-CN" sz="1600" spc="40" dirty="0">
                <a:solidFill>
                  <a:srgbClr val="314371"/>
                </a:solidFill>
                <a:latin typeface="Times New Roman" panose="02020503050405090304" charset="0"/>
                <a:ea typeface="思源黑体" panose="020B0400000000000000" charset="-122"/>
                <a:cs typeface="+mn-ea"/>
                <a:sym typeface="+mn-lt"/>
              </a:rPr>
              <a:t> B) THEN (</a:t>
            </a:r>
            <a:r>
              <a:rPr lang="zh-CN" altLang="en-US" sz="1600" spc="40" dirty="0">
                <a:solidFill>
                  <a:srgbClr val="314371"/>
                </a:solidFill>
                <a:latin typeface="Times New Roman" panose="02020503050405090304" charset="0"/>
                <a:ea typeface="思源黑体" panose="020B0400000000000000" charset="-122"/>
                <a:cs typeface="+mn-ea"/>
                <a:sym typeface="+mn-lt"/>
              </a:rPr>
              <a:t>结论</a:t>
            </a:r>
            <a:r>
              <a:rPr lang="en-US" altLang="zh-CN" sz="1600" spc="40" dirty="0">
                <a:solidFill>
                  <a:srgbClr val="314371"/>
                </a:solidFill>
                <a:latin typeface="Times New Roman" panose="02020503050405090304" charset="0"/>
                <a:ea typeface="思源黑体" panose="020B0400000000000000" charset="-122"/>
                <a:cs typeface="+mn-ea"/>
                <a:sym typeface="+mn-lt"/>
              </a:rPr>
              <a:t> C)” </a:t>
            </a:r>
            <a:r>
              <a:rPr lang="zh-CN" altLang="en-US" sz="1600" spc="40" dirty="0">
                <a:solidFill>
                  <a:srgbClr val="314371"/>
                </a:solidFill>
                <a:latin typeface="Times New Roman" panose="02020503050405090304" charset="0"/>
                <a:ea typeface="思源黑体" panose="020B0400000000000000" charset="-122"/>
                <a:cs typeface="+mn-ea"/>
                <a:sym typeface="+mn-lt"/>
              </a:rPr>
              <a:t>的形式存在，这是纯粹的布尔逻辑结构</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8" name="文本框 7"/>
          <p:cNvSpPr txBox="1"/>
          <p:nvPr/>
        </p:nvSpPr>
        <p:spPr>
          <a:xfrm>
            <a:off x="5823585" y="3543935"/>
            <a:ext cx="2287905" cy="2680335"/>
          </a:xfrm>
          <a:prstGeom prst="rect">
            <a:avLst/>
          </a:prstGeom>
          <a:noFill/>
        </p:spPr>
        <p:txBody>
          <a:bodyPr wrap="square" rtlCol="0">
            <a:noAutofit/>
          </a:bodyPr>
          <a:lstStyle/>
          <a:p>
            <a:pPr algn="l">
              <a:lnSpc>
                <a:spcPct val="150000"/>
              </a:lnSpc>
            </a:pPr>
            <a:r>
              <a:rPr lang="en-US" sz="1800" b="1" spc="40" dirty="0">
                <a:solidFill>
                  <a:srgbClr val="314371"/>
                </a:solidFill>
                <a:latin typeface="Times New Roman" panose="02020503050405090304" charset="0"/>
                <a:ea typeface="思源黑体" panose="020B0400000000000000" charset="-122"/>
                <a:cs typeface="+mn-ea"/>
                <a:sym typeface="+mn-lt"/>
              </a:rPr>
              <a:t>2. </a:t>
            </a:r>
            <a:r>
              <a:rPr lang="zh-CN" altLang="en-US" sz="1800" b="1" spc="40" dirty="0">
                <a:solidFill>
                  <a:srgbClr val="314371"/>
                </a:solidFill>
                <a:latin typeface="Times New Roman" panose="02020503050405090304" charset="0"/>
                <a:ea typeface="思源黑体" panose="020B0400000000000000" charset="-122"/>
                <a:cs typeface="+mn-ea"/>
                <a:sym typeface="+mn-lt"/>
              </a:rPr>
              <a:t>查询操作</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搜索</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猫</a:t>
            </a:r>
            <a:r>
              <a:rPr lang="en-US" altLang="zh-CN" sz="1600" spc="40" dirty="0">
                <a:solidFill>
                  <a:srgbClr val="314371"/>
                </a:solidFill>
                <a:latin typeface="Times New Roman" panose="02020503050405090304" charset="0"/>
                <a:ea typeface="思源黑体" panose="020B0400000000000000" charset="-122"/>
                <a:cs typeface="+mn-ea"/>
                <a:sym typeface="+mn-lt"/>
              </a:rPr>
              <a:t> AND </a:t>
            </a:r>
            <a:r>
              <a:rPr lang="zh-CN" altLang="en-US" sz="1600" spc="40" dirty="0">
                <a:solidFill>
                  <a:srgbClr val="314371"/>
                </a:solidFill>
                <a:latin typeface="Times New Roman" panose="02020503050405090304" charset="0"/>
                <a:ea typeface="思源黑体" panose="020B0400000000000000" charset="-122"/>
                <a:cs typeface="+mn-ea"/>
                <a:sym typeface="+mn-lt"/>
              </a:rPr>
              <a:t>狗</a:t>
            </a:r>
            <a:r>
              <a:rPr lang="en-US" altLang="zh-CN" sz="1600" spc="40" dirty="0">
                <a:solidFill>
                  <a:srgbClr val="314371"/>
                </a:solidFill>
                <a:latin typeface="Times New Roman" panose="02020503050405090304" charset="0"/>
                <a:ea typeface="思源黑体" panose="020B0400000000000000" charset="-122"/>
                <a:cs typeface="+mn-ea"/>
                <a:sym typeface="+mn-lt"/>
              </a:rPr>
              <a:t> BUT NOT </a:t>
            </a:r>
            <a:r>
              <a:rPr lang="zh-CN" altLang="en-US" sz="1600" spc="40" dirty="0">
                <a:solidFill>
                  <a:srgbClr val="314371"/>
                </a:solidFill>
                <a:latin typeface="Times New Roman" panose="02020503050405090304" charset="0"/>
                <a:ea typeface="思源黑体" panose="020B0400000000000000" charset="-122"/>
                <a:cs typeface="+mn-ea"/>
                <a:sym typeface="+mn-lt"/>
              </a:rPr>
              <a:t>金鱼</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直接使用布尔运算符来精确地过滤和组合信息</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8111490" y="3543935"/>
            <a:ext cx="2370455" cy="3112770"/>
          </a:xfrm>
          <a:prstGeom prst="rect">
            <a:avLst/>
          </a:prstGeom>
          <a:noFill/>
        </p:spPr>
        <p:txBody>
          <a:bodyPr wrap="square" rtlCol="0">
            <a:noAutofit/>
          </a:bodyPr>
          <a:lstStyle/>
          <a:p>
            <a:pPr algn="l">
              <a:lnSpc>
                <a:spcPct val="150000"/>
              </a:lnSpc>
            </a:pPr>
            <a:r>
              <a:rPr lang="en-US" sz="1800" b="1" spc="40" dirty="0">
                <a:solidFill>
                  <a:srgbClr val="314371"/>
                </a:solidFill>
                <a:latin typeface="Times New Roman" panose="02020503050405090304" charset="0"/>
                <a:ea typeface="思源黑体" panose="020B0400000000000000" charset="-122"/>
                <a:cs typeface="+mn-ea"/>
                <a:sym typeface="+mn-lt"/>
              </a:rPr>
              <a:t>3. </a:t>
            </a:r>
            <a:r>
              <a:rPr lang="en-US" altLang="zh-CN" sz="1800" b="1" spc="40" dirty="0">
                <a:solidFill>
                  <a:srgbClr val="314371"/>
                </a:solidFill>
                <a:latin typeface="Times New Roman" panose="02020503050405090304" charset="0"/>
                <a:ea typeface="思源黑体" panose="020B0400000000000000" charset="-122"/>
                <a:cs typeface="+mn-ea"/>
                <a:sym typeface="+mn-lt"/>
              </a:rPr>
              <a:t>VLSI </a:t>
            </a:r>
            <a:r>
              <a:rPr lang="zh-CN" altLang="en-US" sz="1800" b="1" spc="40" dirty="0">
                <a:solidFill>
                  <a:srgbClr val="314371"/>
                </a:solidFill>
                <a:latin typeface="Times New Roman" panose="02020503050405090304" charset="0"/>
                <a:ea typeface="思源黑体" panose="020B0400000000000000" charset="-122"/>
                <a:cs typeface="+mn-ea"/>
                <a:sym typeface="+mn-lt"/>
              </a:rPr>
              <a:t>设计</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驱动</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芯片（如</a:t>
            </a:r>
            <a:r>
              <a:rPr lang="en-US" altLang="zh-CN" sz="1600" spc="40" dirty="0">
                <a:solidFill>
                  <a:srgbClr val="314371"/>
                </a:solidFill>
                <a:latin typeface="Times New Roman" panose="02020503050405090304" charset="0"/>
                <a:ea typeface="思源黑体" panose="020B0400000000000000" charset="-122"/>
                <a:cs typeface="+mn-ea"/>
                <a:sym typeface="+mn-lt"/>
              </a:rPr>
              <a:t> GPU</a:t>
            </a:r>
            <a:r>
              <a:rPr lang="zh-CN" altLang="en-US"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TPU</a:t>
            </a:r>
            <a:r>
              <a:rPr lang="zh-CN" altLang="en-US" sz="1600" spc="40" dirty="0">
                <a:solidFill>
                  <a:srgbClr val="314371"/>
                </a:solidFill>
                <a:latin typeface="Times New Roman" panose="02020503050405090304" charset="0"/>
                <a:ea typeface="思源黑体" panose="020B0400000000000000" charset="-122"/>
                <a:cs typeface="+mn-ea"/>
                <a:sym typeface="+mn-lt"/>
              </a:rPr>
              <a:t>）的设计</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这些芯片中所有的晶体管和逻辑门都严格遵循布尔代数的规则，以实现高速并行计算。</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10" name="文本框 9"/>
          <p:cNvSpPr txBox="1"/>
          <p:nvPr/>
        </p:nvSpPr>
        <p:spPr>
          <a:xfrm>
            <a:off x="10525125" y="3544570"/>
            <a:ext cx="2197735" cy="2753995"/>
          </a:xfrm>
          <a:prstGeom prst="rect">
            <a:avLst/>
          </a:prstGeom>
          <a:noFill/>
        </p:spPr>
        <p:txBody>
          <a:bodyPr wrap="square" rtlCol="0">
            <a:noAutofit/>
          </a:bodyPr>
          <a:lstStyle/>
          <a:p>
            <a:pPr algn="l">
              <a:lnSpc>
                <a:spcPct val="150000"/>
              </a:lnSpc>
            </a:pPr>
            <a:r>
              <a:rPr lang="en-US" sz="1800" b="1" spc="40" dirty="0">
                <a:solidFill>
                  <a:srgbClr val="314371"/>
                </a:solidFill>
                <a:latin typeface="Times New Roman" panose="02020503050405090304" charset="0"/>
                <a:ea typeface="思源黑体" panose="020B0400000000000000" charset="-122"/>
                <a:cs typeface="+mn-ea"/>
                <a:sym typeface="+mn-lt"/>
              </a:rPr>
              <a:t>4. </a:t>
            </a:r>
            <a:r>
              <a:rPr lang="zh-CN" altLang="en-US" sz="1800" b="1" spc="40" dirty="0">
                <a:solidFill>
                  <a:srgbClr val="314371"/>
                </a:solidFill>
                <a:latin typeface="Times New Roman" panose="02020503050405090304" charset="0"/>
                <a:ea typeface="思源黑体" panose="020B0400000000000000" charset="-122"/>
                <a:cs typeface="+mn-ea"/>
                <a:sym typeface="+mn-lt"/>
              </a:rPr>
              <a:t>激活函数</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早期的一些激活函数，如</a:t>
            </a:r>
            <a:r>
              <a:rPr lang="en-US" altLang="zh-CN" sz="1600" spc="40" dirty="0">
                <a:solidFill>
                  <a:srgbClr val="314371"/>
                </a:solidFill>
                <a:latin typeface="Times New Roman" panose="02020503050405090304" charset="0"/>
                <a:ea typeface="思源黑体" panose="020B0400000000000000" charset="-122"/>
                <a:cs typeface="+mn-ea"/>
                <a:sym typeface="+mn-lt"/>
              </a:rPr>
              <a:t> ReLU、</a:t>
            </a:r>
            <a:r>
              <a:rPr lang="zh-CN" altLang="en-US" sz="1600" spc="40" dirty="0">
                <a:solidFill>
                  <a:srgbClr val="314371"/>
                </a:solidFill>
                <a:latin typeface="Times New Roman" panose="02020503050405090304" charset="0"/>
                <a:ea typeface="思源黑体" panose="020B0400000000000000" charset="-122"/>
                <a:cs typeface="+mn-ea"/>
                <a:sym typeface="+mn-lt"/>
              </a:rPr>
              <a:t>阶跃函数，本质上是将输入映射到布尔值</a:t>
            </a:r>
            <a:r>
              <a:rPr lang="en-US" altLang="zh-CN" sz="1600" spc="40" dirty="0">
                <a:solidFill>
                  <a:srgbClr val="314371"/>
                </a:solidFill>
                <a:latin typeface="Times New Roman" panose="02020503050405090304" charset="0"/>
                <a:ea typeface="思源黑体" panose="020B0400000000000000" charset="-122"/>
                <a:cs typeface="+mn-ea"/>
                <a:sym typeface="+mn-lt"/>
              </a:rPr>
              <a:t> (1 </a:t>
            </a:r>
            <a:r>
              <a:rPr lang="zh-CN" altLang="en-US" sz="1600" spc="40" dirty="0">
                <a:solidFill>
                  <a:srgbClr val="314371"/>
                </a:solidFill>
                <a:latin typeface="Times New Roman" panose="02020503050405090304" charset="0"/>
                <a:ea typeface="思源黑体" panose="020B0400000000000000" charset="-122"/>
                <a:cs typeface="+mn-ea"/>
                <a:sym typeface="+mn-lt"/>
              </a:rPr>
              <a:t>或</a:t>
            </a:r>
            <a:r>
              <a:rPr lang="en-US" altLang="zh-CN" sz="1600" spc="40" dirty="0">
                <a:solidFill>
                  <a:srgbClr val="314371"/>
                </a:solidFill>
                <a:latin typeface="Times New Roman" panose="02020503050405090304" charset="0"/>
                <a:ea typeface="思源黑体" panose="020B0400000000000000" charset="-122"/>
                <a:cs typeface="+mn-ea"/>
                <a:sym typeface="+mn-lt"/>
              </a:rPr>
              <a:t> 0) </a:t>
            </a:r>
            <a:r>
              <a:rPr lang="zh-CN" altLang="en-US" sz="1600" spc="40" dirty="0">
                <a:solidFill>
                  <a:srgbClr val="314371"/>
                </a:solidFill>
                <a:latin typeface="Times New Roman" panose="02020503050405090304" charset="0"/>
                <a:ea typeface="思源黑体" panose="020B0400000000000000" charset="-122"/>
                <a:cs typeface="+mn-ea"/>
                <a:sym typeface="+mn-lt"/>
              </a:rPr>
              <a:t>的一种尝试</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 grpId="0"/>
      <p:bldP spid="6"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775335" y="5344795"/>
            <a:ext cx="4620895" cy="950595"/>
          </a:xfrm>
          <a:prstGeom prst="rect">
            <a:avLst/>
          </a:prstGeom>
          <a:noFill/>
        </p:spPr>
        <p:txBody>
          <a:bodyPr wrap="square" rtlCol="0">
            <a:no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1943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Warren McCulloch </a:t>
            </a:r>
            <a:r>
              <a:rPr lang="zh-CN" altLang="en-US" sz="1600" spc="40" dirty="0">
                <a:solidFill>
                  <a:srgbClr val="314371"/>
                </a:solidFill>
                <a:latin typeface="Times New Roman" panose="02020503050405090304" charset="0"/>
                <a:ea typeface="思源黑体" panose="020B0400000000000000" charset="-122"/>
                <a:cs typeface="+mn-ea"/>
                <a:sym typeface="+mn-lt"/>
              </a:rPr>
              <a:t>与</a:t>
            </a:r>
            <a:r>
              <a:rPr lang="en-US" altLang="zh-CN" sz="1600" spc="40" dirty="0">
                <a:solidFill>
                  <a:srgbClr val="314371"/>
                </a:solidFill>
                <a:latin typeface="Times New Roman" panose="02020503050405090304" charset="0"/>
                <a:ea typeface="思源黑体" panose="020B0400000000000000" charset="-122"/>
                <a:cs typeface="+mn-ea"/>
                <a:sym typeface="+mn-lt"/>
              </a:rPr>
              <a:t> Walter Pitts </a:t>
            </a:r>
            <a:r>
              <a:rPr lang="zh-CN" altLang="en-US" sz="1600" spc="40" dirty="0">
                <a:solidFill>
                  <a:srgbClr val="314371"/>
                </a:solidFill>
                <a:latin typeface="Times New Roman" panose="02020503050405090304" charset="0"/>
                <a:ea typeface="思源黑体" panose="020B0400000000000000" charset="-122"/>
                <a:cs typeface="+mn-ea"/>
                <a:sym typeface="+mn-lt"/>
              </a:rPr>
              <a:t>提出了第一个形式化的人工神经元模型</a:t>
            </a:r>
            <a:r>
              <a:rPr lang="en-US" altLang="zh-CN" sz="1600" spc="40" dirty="0">
                <a:solidFill>
                  <a:srgbClr val="314371"/>
                </a:solidFill>
                <a:latin typeface="Times New Roman" panose="02020503050405090304" charset="0"/>
                <a:ea typeface="思源黑体" panose="020B0400000000000000" charset="-122"/>
                <a:cs typeface="+mn-ea"/>
                <a:sym typeface="+mn-lt"/>
              </a:rPr>
              <a:t>（MP </a:t>
            </a:r>
            <a:r>
              <a:rPr lang="zh-CN" altLang="en-US" sz="1600" spc="40" dirty="0">
                <a:solidFill>
                  <a:srgbClr val="314371"/>
                </a:solidFill>
                <a:latin typeface="Times New Roman" panose="02020503050405090304" charset="0"/>
                <a:ea typeface="思源黑体" panose="020B0400000000000000" charset="-122"/>
                <a:cs typeface="+mn-ea"/>
                <a:sym typeface="+mn-lt"/>
              </a:rPr>
              <a:t>神经元</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pic>
        <p:nvPicPr>
          <p:cNvPr id="12" name="图片 11" descr="Internet_dog"/>
          <p:cNvPicPr>
            <a:picLocks noChangeAspect="1"/>
          </p:cNvPicPr>
          <p:nvPr/>
        </p:nvPicPr>
        <p:blipFill>
          <a:blip r:embed="rId2"/>
          <a:stretch>
            <a:fillRect/>
          </a:stretch>
        </p:blipFill>
        <p:spPr>
          <a:xfrm>
            <a:off x="9321800" y="1744345"/>
            <a:ext cx="2947035" cy="3290570"/>
          </a:xfrm>
          <a:prstGeom prst="rect">
            <a:avLst/>
          </a:prstGeom>
        </p:spPr>
      </p:pic>
      <p:pic>
        <p:nvPicPr>
          <p:cNvPr id="9" name="图片 8" descr="575a6855e1200"/>
          <p:cNvPicPr>
            <a:picLocks noChangeAspect="1"/>
          </p:cNvPicPr>
          <p:nvPr/>
        </p:nvPicPr>
        <p:blipFill>
          <a:blip r:embed="rId3"/>
          <a:stretch>
            <a:fillRect/>
          </a:stretch>
        </p:blipFill>
        <p:spPr>
          <a:xfrm>
            <a:off x="596900" y="2248535"/>
            <a:ext cx="4977765" cy="2306955"/>
          </a:xfrm>
          <a:prstGeom prst="rect">
            <a:avLst/>
          </a:prstGeom>
        </p:spPr>
      </p:pic>
      <p:pic>
        <p:nvPicPr>
          <p:cNvPr id="11" name="图片 10" descr="截屏2025-11-17 18.29.41"/>
          <p:cNvPicPr>
            <a:picLocks noChangeAspect="1"/>
          </p:cNvPicPr>
          <p:nvPr/>
        </p:nvPicPr>
        <p:blipFill>
          <a:blip r:embed="rId4"/>
          <a:stretch>
            <a:fillRect/>
          </a:stretch>
        </p:blipFill>
        <p:spPr>
          <a:xfrm>
            <a:off x="5911215" y="1744345"/>
            <a:ext cx="3411220" cy="3342005"/>
          </a:xfrm>
          <a:prstGeom prst="rect">
            <a:avLst/>
          </a:prstGeom>
        </p:spPr>
      </p:pic>
      <p:sp>
        <p:nvSpPr>
          <p:cNvPr id="14" name="文本框 13"/>
          <p:cNvSpPr txBox="1"/>
          <p:nvPr/>
        </p:nvSpPr>
        <p:spPr>
          <a:xfrm>
            <a:off x="6645910" y="5273040"/>
            <a:ext cx="4902200" cy="1314450"/>
          </a:xfrm>
          <a:prstGeom prst="rect">
            <a:avLst/>
          </a:prstGeom>
          <a:noFill/>
        </p:spPr>
        <p:txBody>
          <a:bodyPr wrap="square" rtlCol="0">
            <a:noAutofit/>
          </a:bodyPr>
          <a:lstStyle/>
          <a:p>
            <a:pPr algn="l">
              <a:lnSpc>
                <a:spcPct val="150000"/>
              </a:lnSpc>
            </a:pPr>
            <a:r>
              <a:rPr lang="en-US" sz="1600" spc="40" dirty="0">
                <a:solidFill>
                  <a:srgbClr val="314371"/>
                </a:solidFill>
                <a:latin typeface="Times New Roman" panose="02020503050405090304" charset="0"/>
                <a:ea typeface="思源黑体" panose="020B0400000000000000" charset="-122"/>
                <a:cs typeface="+mn-ea"/>
                <a:sym typeface="+mn-lt"/>
              </a:rPr>
              <a:t>1950 </a:t>
            </a:r>
            <a:r>
              <a:rPr lang="zh-CN" altLang="en-US" sz="1600" spc="40" dirty="0">
                <a:solidFill>
                  <a:srgbClr val="314371"/>
                </a:solidFill>
                <a:latin typeface="Times New Roman" panose="02020503050405090304" charset="0"/>
                <a:ea typeface="思源黑体" panose="020B0400000000000000" charset="-122"/>
                <a:cs typeface="+mn-ea"/>
                <a:sym typeface="+mn-lt"/>
              </a:rPr>
              <a:t>年阿兰</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图灵在论文</a:t>
            </a:r>
            <a:r>
              <a:rPr lang="en-US" altLang="zh-CN" sz="1600" spc="40" dirty="0">
                <a:solidFill>
                  <a:srgbClr val="314371"/>
                </a:solidFill>
                <a:latin typeface="Times New Roman" panose="02020503050405090304" charset="0"/>
                <a:ea typeface="思源黑体" panose="020B0400000000000000" charset="-122"/>
                <a:cs typeface="+mn-ea"/>
                <a:sym typeface="+mn-lt"/>
              </a:rPr>
              <a:t>《Computing Machinery and Intelligence》</a:t>
            </a:r>
            <a:r>
              <a:rPr lang="zh-CN" altLang="en-US" sz="1600" spc="40" dirty="0">
                <a:solidFill>
                  <a:srgbClr val="314371"/>
                </a:solidFill>
                <a:latin typeface="Times New Roman" panose="02020503050405090304" charset="0"/>
                <a:ea typeface="思源黑体" panose="020B0400000000000000" charset="-122"/>
                <a:cs typeface="+mn-ea"/>
                <a:sym typeface="+mn-lt"/>
              </a:rPr>
              <a:t>提出</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机器能否在对话中表现得像人？</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引发了关于机器是否能思考的持续讨论</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6213475" y="2176145"/>
            <a:ext cx="6003290" cy="344614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达特茅斯会议：人工智能学科的正式诞生（</a:t>
            </a:r>
            <a:r>
              <a:rPr lang="en-US" altLang="zh-CN" sz="1600" spc="40" dirty="0">
                <a:solidFill>
                  <a:srgbClr val="314371"/>
                </a:solidFill>
                <a:latin typeface="Times New Roman" panose="02020503050405090304" charset="0"/>
                <a:ea typeface="思源黑体" panose="020B0400000000000000" charset="-122"/>
                <a:cs typeface="+mn-ea"/>
                <a:sym typeface="+mn-lt"/>
              </a:rPr>
              <a:t>1956</a:t>
            </a:r>
            <a:r>
              <a:rPr lang="zh-CN" altLang="en-US"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约翰</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麦卡锡（</a:t>
            </a:r>
            <a:r>
              <a:rPr lang="en-US" altLang="zh-CN" sz="1600" spc="40" dirty="0">
                <a:solidFill>
                  <a:srgbClr val="314371"/>
                </a:solidFill>
                <a:latin typeface="Times New Roman" panose="02020503050405090304" charset="0"/>
                <a:ea typeface="思源黑体" panose="020B0400000000000000" charset="-122"/>
                <a:cs typeface="+mn-ea"/>
                <a:sym typeface="+mn-lt"/>
              </a:rPr>
              <a:t>John McCarthy</a:t>
            </a:r>
            <a:r>
              <a:rPr lang="zh-CN" altLang="en-US" sz="1600" spc="40" dirty="0">
                <a:solidFill>
                  <a:srgbClr val="314371"/>
                </a:solidFill>
                <a:latin typeface="Times New Roman" panose="02020503050405090304" charset="0"/>
                <a:ea typeface="思源黑体" panose="020B0400000000000000" charset="-122"/>
                <a:cs typeface="+mn-ea"/>
                <a:sym typeface="+mn-lt"/>
              </a:rPr>
              <a:t>）首次提出</a:t>
            </a:r>
            <a:r>
              <a:rPr lang="en-US" altLang="zh-CN" sz="1600" spc="40" dirty="0">
                <a:solidFill>
                  <a:srgbClr val="314371"/>
                </a:solidFill>
                <a:latin typeface="Times New Roman" panose="02020503050405090304" charset="0"/>
                <a:ea typeface="思源黑体" panose="020B0400000000000000" charset="-122"/>
                <a:cs typeface="+mn-ea"/>
                <a:sym typeface="+mn-lt"/>
              </a:rPr>
              <a:t> Artificial Intelligence </a:t>
            </a:r>
            <a:r>
              <a:rPr lang="zh-CN" altLang="en-US" sz="1600" spc="40" dirty="0">
                <a:solidFill>
                  <a:srgbClr val="314371"/>
                </a:solidFill>
                <a:latin typeface="Times New Roman" panose="02020503050405090304" charset="0"/>
                <a:ea typeface="思源黑体" panose="020B0400000000000000" charset="-122"/>
                <a:cs typeface="+mn-ea"/>
                <a:sym typeface="+mn-lt"/>
              </a:rPr>
              <a:t>概念，使</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成为独立研究方向</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机器能否像人一样思考</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成为系统化的科学问题</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学派分野包括</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1. </a:t>
            </a:r>
            <a:r>
              <a:rPr lang="zh-CN" altLang="en-US" sz="1600" spc="40" dirty="0">
                <a:solidFill>
                  <a:srgbClr val="314371"/>
                </a:solidFill>
                <a:latin typeface="Times New Roman" panose="02020503050405090304" charset="0"/>
                <a:ea typeface="思源黑体" panose="020B0400000000000000" charset="-122"/>
                <a:cs typeface="+mn-ea"/>
                <a:sym typeface="+mn-lt"/>
              </a:rPr>
              <a:t>符号主义：主张基于逻辑规则的符号推理系统</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 </a:t>
            </a:r>
            <a:r>
              <a:rPr lang="zh-CN" altLang="en-US" sz="1600" spc="40" dirty="0">
                <a:solidFill>
                  <a:srgbClr val="314371"/>
                </a:solidFill>
                <a:latin typeface="Times New Roman" panose="02020503050405090304" charset="0"/>
                <a:ea typeface="思源黑体" panose="020B0400000000000000" charset="-122"/>
                <a:cs typeface="+mn-ea"/>
                <a:sym typeface="+mn-lt"/>
              </a:rPr>
              <a:t>连接主义：探索神经网络模拟人脑工作机制</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3. </a:t>
            </a:r>
            <a:r>
              <a:rPr lang="zh-CN" altLang="en-US" sz="1600" spc="40" dirty="0">
                <a:solidFill>
                  <a:srgbClr val="314371"/>
                </a:solidFill>
                <a:latin typeface="Times New Roman" panose="02020503050405090304" charset="0"/>
                <a:ea typeface="思源黑体" panose="020B0400000000000000" charset="-122"/>
                <a:cs typeface="+mn-ea"/>
                <a:sym typeface="+mn-lt"/>
              </a:rPr>
              <a:t>行为主义：强调通过环境交互实现智能涌现</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4" name="图片 3" descr="截屏2025-11-17 15.47.50"/>
          <p:cNvPicPr>
            <a:picLocks noChangeAspect="1"/>
          </p:cNvPicPr>
          <p:nvPr/>
        </p:nvPicPr>
        <p:blipFill>
          <a:blip r:embed="rId2"/>
          <a:stretch>
            <a:fillRect/>
          </a:stretch>
        </p:blipFill>
        <p:spPr>
          <a:xfrm>
            <a:off x="668655" y="2244725"/>
            <a:ext cx="5083175" cy="33750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8195310" y="3475355"/>
            <a:ext cx="4196715" cy="205295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互联网技术兴起</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诸如支持向量机</a:t>
            </a:r>
            <a:r>
              <a:rPr lang="en-US" altLang="zh-CN" sz="1600" spc="40" dirty="0">
                <a:solidFill>
                  <a:srgbClr val="314371"/>
                </a:solidFill>
                <a:latin typeface="Times New Roman" panose="02020503050405090304" charset="0"/>
                <a:ea typeface="思源黑体" panose="020B0400000000000000" charset="-122"/>
                <a:cs typeface="+mn-ea"/>
                <a:sym typeface="+mn-lt"/>
              </a:rPr>
              <a:t>（SVM）、</a:t>
            </a:r>
            <a:r>
              <a:rPr lang="zh-CN" altLang="en-US" sz="1600" spc="40" dirty="0">
                <a:solidFill>
                  <a:srgbClr val="314371"/>
                </a:solidFill>
                <a:latin typeface="Times New Roman" panose="02020503050405090304" charset="0"/>
                <a:ea typeface="思源黑体" panose="020B0400000000000000" charset="-122"/>
                <a:cs typeface="+mn-ea"/>
                <a:sym typeface="+mn-lt"/>
              </a:rPr>
              <a:t>提升方法</a:t>
            </a:r>
            <a:r>
              <a:rPr lang="en-US" altLang="zh-CN" sz="1600" spc="40" dirty="0">
                <a:solidFill>
                  <a:srgbClr val="314371"/>
                </a:solidFill>
                <a:latin typeface="Times New Roman" panose="02020503050405090304" charset="0"/>
                <a:ea typeface="思源黑体" panose="020B0400000000000000" charset="-122"/>
                <a:cs typeface="+mn-ea"/>
                <a:sym typeface="+mn-lt"/>
              </a:rPr>
              <a:t>（Boosting）、</a:t>
            </a:r>
            <a:r>
              <a:rPr lang="zh-CN" altLang="en-US" sz="1600" spc="40" dirty="0">
                <a:solidFill>
                  <a:srgbClr val="314371"/>
                </a:solidFill>
                <a:latin typeface="Times New Roman" panose="02020503050405090304" charset="0"/>
                <a:ea typeface="思源黑体" panose="020B0400000000000000" charset="-122"/>
                <a:cs typeface="+mn-ea"/>
                <a:sym typeface="+mn-lt"/>
              </a:rPr>
              <a:t>隐式马尔可夫链</a:t>
            </a:r>
            <a:r>
              <a:rPr lang="en-US" altLang="zh-CN" sz="1600" spc="40" dirty="0">
                <a:solidFill>
                  <a:srgbClr val="314371"/>
                </a:solidFill>
                <a:latin typeface="Times New Roman" panose="02020503050405090304" charset="0"/>
                <a:ea typeface="思源黑体" panose="020B0400000000000000" charset="-122"/>
                <a:cs typeface="+mn-ea"/>
                <a:sym typeface="+mn-lt"/>
              </a:rPr>
              <a:t>（HMM）</a:t>
            </a:r>
            <a:r>
              <a:rPr lang="zh-CN" altLang="en-US" sz="1600" spc="40" dirty="0">
                <a:solidFill>
                  <a:srgbClr val="314371"/>
                </a:solidFill>
                <a:latin typeface="Times New Roman" panose="02020503050405090304" charset="0"/>
                <a:ea typeface="思源黑体" panose="020B0400000000000000" charset="-122"/>
                <a:cs typeface="+mn-ea"/>
                <a:sym typeface="+mn-lt"/>
              </a:rPr>
              <a:t>等取得突破</a:t>
            </a:r>
            <a:r>
              <a:rPr lang="en-US" altLang="zh-CN" sz="1600" spc="40" dirty="0">
                <a:solidFill>
                  <a:srgbClr val="314371"/>
                </a:solidFill>
                <a:latin typeface="Times New Roman" panose="02020503050405090304" charset="0"/>
                <a:ea typeface="思源黑体" panose="020B0400000000000000" charset="-122"/>
                <a:cs typeface="+mn-ea"/>
                <a:sym typeface="+mn-lt"/>
              </a:rPr>
              <a:t>，GPU </a:t>
            </a:r>
            <a:r>
              <a:rPr lang="zh-CN" altLang="en-US" sz="1600" spc="40" dirty="0">
                <a:solidFill>
                  <a:srgbClr val="314371"/>
                </a:solidFill>
                <a:latin typeface="Times New Roman" panose="02020503050405090304" charset="0"/>
                <a:ea typeface="思源黑体" panose="020B0400000000000000" charset="-122"/>
                <a:cs typeface="+mn-ea"/>
                <a:sym typeface="+mn-lt"/>
              </a:rPr>
              <a:t>开始用于加速计算，深度学习等理论形成</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出现</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从</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规则驱动</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走向</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数据驱动</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567690" y="2466975"/>
            <a:ext cx="2789555" cy="593725"/>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符号主义</a:t>
            </a:r>
            <a:r>
              <a:rPr lang="en-US" altLang="zh-CN" sz="1800" b="1" spc="40" dirty="0">
                <a:solidFill>
                  <a:srgbClr val="314371"/>
                </a:solidFill>
                <a:latin typeface="Times New Roman" panose="02020503050405090304" charset="0"/>
                <a:ea typeface="思源黑体" panose="020B0400000000000000" charset="-122"/>
                <a:cs typeface="+mn-ea"/>
                <a:sym typeface="+mn-lt"/>
              </a:rPr>
              <a:t> AI </a:t>
            </a:r>
            <a:r>
              <a:rPr lang="zh-CN" altLang="en-US" sz="1800" b="1" spc="40" dirty="0">
                <a:solidFill>
                  <a:srgbClr val="314371"/>
                </a:solidFill>
                <a:latin typeface="Times New Roman" panose="02020503050405090304" charset="0"/>
                <a:ea typeface="思源黑体" panose="020B0400000000000000" charset="-122"/>
                <a:cs typeface="+mn-ea"/>
                <a:sym typeface="+mn-lt"/>
              </a:rPr>
              <a:t>的黄金时代</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p:txBody>
      </p:sp>
      <p:sp>
        <p:nvSpPr>
          <p:cNvPr id="6" name="文本框 5"/>
          <p:cNvSpPr txBox="1"/>
          <p:nvPr/>
        </p:nvSpPr>
        <p:spPr>
          <a:xfrm>
            <a:off x="9568815" y="2466975"/>
            <a:ext cx="1305560" cy="527685"/>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机器学习</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p:txBody>
      </p:sp>
      <p:sp>
        <p:nvSpPr>
          <p:cNvPr id="8" name="文本框 7"/>
          <p:cNvSpPr txBox="1"/>
          <p:nvPr/>
        </p:nvSpPr>
        <p:spPr>
          <a:xfrm>
            <a:off x="5165725" y="2463800"/>
            <a:ext cx="1239520" cy="527685"/>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专家系统</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567690" y="3475355"/>
            <a:ext cx="2668270" cy="201358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逻辑推理快速发展</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问题求解模型得到突破</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催生了如</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通用问题求解器</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等早期进展</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点燃人类对机器智能的无限遐想</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10" name="文本框 9"/>
          <p:cNvSpPr txBox="1"/>
          <p:nvPr/>
        </p:nvSpPr>
        <p:spPr>
          <a:xfrm>
            <a:off x="3885565" y="3472180"/>
            <a:ext cx="3781425" cy="2090420"/>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使用人类专家推理的计算机模型来处理现实世界中需要专家作出解释的复杂问题，并得出与专家相同的结论，该时期诞生了</a:t>
            </a:r>
            <a:r>
              <a:rPr lang="zh-CN" altLang="en-US" sz="1600" spc="40" dirty="0">
                <a:solidFill>
                  <a:srgbClr val="314371"/>
                </a:solidFill>
                <a:latin typeface="Times New Roman" panose="02020503050405090304" charset="0"/>
                <a:ea typeface="思源黑体" panose="020B0400000000000000" charset="-122"/>
                <a:cs typeface="+mn-ea"/>
                <a:sym typeface="+mn-lt"/>
              </a:rPr>
              <a:t>感知机、决策树、贝叶斯方法</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逐渐成熟企业大规模投资</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7" grpId="0"/>
      <p:bldP spid="4" grpId="0"/>
      <p:bldP spid="6" grpId="0"/>
      <p:bldP spid="8"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1604645" y="4624070"/>
            <a:ext cx="9879330" cy="2045335"/>
          </a:xfrm>
          <a:prstGeom prst="rect">
            <a:avLst/>
          </a:prstGeom>
          <a:noFill/>
        </p:spPr>
        <p:txBody>
          <a:bodyPr wrap="square" rtlCol="0">
            <a:noAutofit/>
          </a:bodyPr>
          <a:lstStyle/>
          <a:p>
            <a:pPr algn="ctr">
              <a:lnSpc>
                <a:spcPct val="15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AI </a:t>
            </a:r>
            <a:r>
              <a:rPr lang="zh-CN" altLang="en-US" sz="1800" b="1" spc="40" dirty="0">
                <a:solidFill>
                  <a:srgbClr val="314371"/>
                </a:solidFill>
                <a:latin typeface="Times New Roman" panose="02020503050405090304" charset="0"/>
                <a:ea typeface="思源黑体" panose="020B0400000000000000" charset="-122"/>
                <a:cs typeface="+mn-ea"/>
                <a:sym typeface="+mn-lt"/>
              </a:rPr>
              <a:t>大爆发</a:t>
            </a:r>
            <a:r>
              <a:rPr lang="zh-CN" altLang="en-US" sz="1800" b="1" spc="40" dirty="0">
                <a:solidFill>
                  <a:srgbClr val="314371"/>
                </a:solidFill>
                <a:latin typeface="Times New Roman" panose="02020503050405090304" charset="0"/>
                <a:ea typeface="思源黑体" panose="020B0400000000000000" charset="-122"/>
                <a:cs typeface="+mn-ea"/>
                <a:sym typeface="+mn-lt"/>
              </a:rPr>
              <a:t>深度学习时代（</a:t>
            </a:r>
            <a:r>
              <a:rPr lang="en-US" altLang="zh-CN" sz="1800" b="1" spc="40" dirty="0">
                <a:solidFill>
                  <a:srgbClr val="314371"/>
                </a:solidFill>
                <a:latin typeface="Times New Roman" panose="02020503050405090304" charset="0"/>
                <a:ea typeface="思源黑体" panose="020B0400000000000000" charset="-122"/>
                <a:cs typeface="+mn-ea"/>
                <a:sym typeface="+mn-lt"/>
              </a:rPr>
              <a:t>2010 — </a:t>
            </a:r>
            <a:r>
              <a:rPr lang="zh-CN" altLang="en-US" sz="1800" b="1" spc="40" dirty="0">
                <a:solidFill>
                  <a:srgbClr val="314371"/>
                </a:solidFill>
                <a:latin typeface="Times New Roman" panose="02020503050405090304" charset="0"/>
                <a:ea typeface="思源黑体" panose="020B0400000000000000" charset="-122"/>
                <a:cs typeface="+mn-ea"/>
                <a:sym typeface="+mn-lt"/>
              </a:rPr>
              <a:t>至今</a:t>
            </a:r>
            <a:r>
              <a:rPr lang="en-US" altLang="zh-CN" sz="1800" b="1"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2010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GPU </a:t>
            </a:r>
            <a:r>
              <a:rPr lang="zh-CN" altLang="en-US" sz="1600" spc="40" dirty="0">
                <a:solidFill>
                  <a:srgbClr val="314371"/>
                </a:solidFill>
                <a:latin typeface="Times New Roman" panose="02020503050405090304" charset="0"/>
                <a:ea typeface="思源黑体" panose="020B0400000000000000" charset="-122"/>
                <a:cs typeface="+mn-ea"/>
                <a:sym typeface="+mn-lt"/>
              </a:rPr>
              <a:t>大规模用于深度学习</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使得几十层的神经网络</a:t>
            </a:r>
            <a:r>
              <a:rPr lang="en-US" altLang="zh-CN" sz="1600" spc="40" dirty="0">
                <a:solidFill>
                  <a:srgbClr val="314371"/>
                </a:solidFill>
                <a:latin typeface="Times New Roman" panose="02020503050405090304" charset="0"/>
                <a:ea typeface="思源黑体" panose="020B0400000000000000" charset="-122"/>
                <a:cs typeface="+mn-ea"/>
                <a:sym typeface="+mn-lt"/>
              </a:rPr>
              <a:t>（DNN）</a:t>
            </a:r>
            <a:r>
              <a:rPr lang="zh-CN" altLang="en-US" sz="1600" spc="40" dirty="0">
                <a:solidFill>
                  <a:srgbClr val="314371"/>
                </a:solidFill>
                <a:latin typeface="Times New Roman" panose="02020503050405090304" charset="0"/>
                <a:ea typeface="思源黑体" panose="020B0400000000000000" charset="-122"/>
                <a:cs typeface="+mn-ea"/>
                <a:sym typeface="+mn-lt"/>
              </a:rPr>
              <a:t>第一次可训练</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2012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AlexNet </a:t>
            </a:r>
            <a:r>
              <a:rPr lang="zh-CN" altLang="en-US" sz="1600" spc="40" dirty="0">
                <a:solidFill>
                  <a:srgbClr val="314371"/>
                </a:solidFill>
                <a:latin typeface="Times New Roman" panose="02020503050405090304" charset="0"/>
                <a:ea typeface="思源黑体" panose="020B0400000000000000" charset="-122"/>
                <a:cs typeface="+mn-ea"/>
                <a:sym typeface="+mn-lt"/>
              </a:rPr>
              <a:t>在</a:t>
            </a:r>
            <a:r>
              <a:rPr lang="en-US" altLang="zh-CN" sz="1600" spc="40" dirty="0">
                <a:solidFill>
                  <a:srgbClr val="314371"/>
                </a:solidFill>
                <a:latin typeface="Times New Roman" panose="02020503050405090304" charset="0"/>
                <a:ea typeface="思源黑体" panose="020B0400000000000000" charset="-122"/>
                <a:cs typeface="+mn-ea"/>
                <a:sym typeface="+mn-lt"/>
              </a:rPr>
              <a:t> ImageNet </a:t>
            </a:r>
            <a:r>
              <a:rPr lang="zh-CN" altLang="en-US" sz="1600" spc="40" dirty="0">
                <a:solidFill>
                  <a:srgbClr val="314371"/>
                </a:solidFill>
                <a:latin typeface="Times New Roman" panose="02020503050405090304" charset="0"/>
                <a:ea typeface="思源黑体" panose="020B0400000000000000" charset="-122"/>
                <a:cs typeface="+mn-ea"/>
                <a:sym typeface="+mn-lt"/>
              </a:rPr>
              <a:t>挑战赛夺冠，深度学习崛起</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计算机视觉迎来</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深度学习时代</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2014 </a:t>
            </a:r>
            <a:r>
              <a:rPr lang="zh-CN" altLang="en-US" sz="1600" spc="40" dirty="0">
                <a:solidFill>
                  <a:srgbClr val="314371"/>
                </a:solidFill>
                <a:latin typeface="Times New Roman" panose="02020503050405090304" charset="0"/>
                <a:ea typeface="思源黑体" panose="020B0400000000000000" charset="-122"/>
                <a:cs typeface="+mn-ea"/>
                <a:sym typeface="+mn-lt"/>
              </a:rPr>
              <a:t>年计算机视觉</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VGG16）、</a:t>
            </a:r>
            <a:r>
              <a:rPr lang="zh-CN" altLang="en-US" sz="1600" spc="40" dirty="0">
                <a:solidFill>
                  <a:srgbClr val="314371"/>
                </a:solidFill>
                <a:latin typeface="Times New Roman" panose="02020503050405090304" charset="0"/>
                <a:ea typeface="思源黑体" panose="020B0400000000000000" charset="-122"/>
                <a:cs typeface="+mn-ea"/>
                <a:sym typeface="+mn-lt"/>
              </a:rPr>
              <a:t>语音识别</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自然语言处理</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如</a:t>
            </a:r>
            <a:r>
              <a:rPr lang="en-US" altLang="zh-CN" sz="1600" spc="40" dirty="0">
                <a:solidFill>
                  <a:srgbClr val="314371"/>
                </a:solidFill>
                <a:latin typeface="Times New Roman" panose="02020503050405090304" charset="0"/>
                <a:ea typeface="思源黑体" panose="020B0400000000000000" charset="-122"/>
                <a:cs typeface="+mn-ea"/>
                <a:sym typeface="+mn-lt"/>
              </a:rPr>
              <a:t> Seq2Seq、Word2Vec）</a:t>
            </a:r>
            <a:r>
              <a:rPr lang="zh-CN" altLang="en-US" sz="1600" spc="40" dirty="0">
                <a:solidFill>
                  <a:srgbClr val="314371"/>
                </a:solidFill>
                <a:latin typeface="Times New Roman" panose="02020503050405090304" charset="0"/>
                <a:ea typeface="思源黑体" panose="020B0400000000000000" charset="-122"/>
                <a:cs typeface="+mn-ea"/>
                <a:sym typeface="+mn-lt"/>
              </a:rPr>
              <a:t>迅速发展刷新记录</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2015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ResNet </a:t>
            </a:r>
            <a:r>
              <a:rPr lang="zh-CN" altLang="en-US" sz="1600" spc="40" dirty="0">
                <a:solidFill>
                  <a:srgbClr val="314371"/>
                </a:solidFill>
                <a:latin typeface="Times New Roman" panose="02020503050405090304" charset="0"/>
                <a:ea typeface="思源黑体" panose="020B0400000000000000" charset="-122"/>
                <a:cs typeface="+mn-ea"/>
                <a:sym typeface="+mn-lt"/>
              </a:rPr>
              <a:t>残差神经网络结构让模型深度上百层</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彻底改变深度神经网络的训练方式</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pic>
        <p:nvPicPr>
          <p:cNvPr id="12" name="图片 11" descr="截屏2025-11-18 12.22.26"/>
          <p:cNvPicPr>
            <a:picLocks noChangeAspect="1"/>
          </p:cNvPicPr>
          <p:nvPr/>
        </p:nvPicPr>
        <p:blipFill>
          <a:blip r:embed="rId2"/>
          <a:stretch>
            <a:fillRect/>
          </a:stretch>
        </p:blipFill>
        <p:spPr>
          <a:xfrm>
            <a:off x="2541270" y="1743710"/>
            <a:ext cx="8031480" cy="27597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1028700" y="2103755"/>
            <a:ext cx="6287135" cy="4277995"/>
          </a:xfrm>
          <a:prstGeom prst="rect">
            <a:avLst/>
          </a:prstGeom>
          <a:noFill/>
        </p:spPr>
        <p:txBody>
          <a:bodyPr wrap="square" rtlCol="0">
            <a:noAutofit/>
          </a:bodyPr>
          <a:lstStyle/>
          <a:p>
            <a:pPr algn="ctr">
              <a:lnSpc>
                <a:spcPct val="15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Transformer </a:t>
            </a:r>
            <a:r>
              <a:rPr lang="zh-CN" altLang="en-US" sz="1800" b="1" spc="40" dirty="0">
                <a:solidFill>
                  <a:srgbClr val="314371"/>
                </a:solidFill>
                <a:latin typeface="Times New Roman" panose="02020503050405090304" charset="0"/>
                <a:ea typeface="思源黑体" panose="020B0400000000000000" charset="-122"/>
                <a:cs typeface="+mn-ea"/>
                <a:sym typeface="+mn-lt"/>
              </a:rPr>
              <a:t>时代</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indent="457200"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2017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Google </a:t>
            </a:r>
            <a:r>
              <a:rPr lang="zh-CN" altLang="en-US" sz="1600" spc="40" dirty="0">
                <a:solidFill>
                  <a:srgbClr val="314371"/>
                </a:solidFill>
                <a:latin typeface="Times New Roman" panose="02020503050405090304" charset="0"/>
                <a:ea typeface="思源黑体" panose="020B0400000000000000" charset="-122"/>
                <a:cs typeface="+mn-ea"/>
                <a:sym typeface="+mn-lt"/>
              </a:rPr>
              <a:t>提出</a:t>
            </a:r>
            <a:r>
              <a:rPr lang="en-US" altLang="zh-CN" sz="1600" spc="40" dirty="0">
                <a:solidFill>
                  <a:srgbClr val="314371"/>
                </a:solidFill>
                <a:latin typeface="Times New Roman" panose="02020503050405090304" charset="0"/>
                <a:ea typeface="思源黑体" panose="020B0400000000000000" charset="-122"/>
                <a:cs typeface="+mn-ea"/>
                <a:sym typeface="+mn-lt"/>
              </a:rPr>
              <a:t> Transformer </a:t>
            </a:r>
            <a:r>
              <a:rPr lang="zh-CN" altLang="en-US" sz="1600" spc="40" dirty="0">
                <a:solidFill>
                  <a:srgbClr val="314371"/>
                </a:solidFill>
                <a:latin typeface="Times New Roman" panose="02020503050405090304" charset="0"/>
                <a:ea typeface="思源黑体" panose="020B0400000000000000" charset="-122"/>
                <a:cs typeface="+mn-ea"/>
                <a:sym typeface="+mn-lt"/>
              </a:rPr>
              <a:t>架构以</a:t>
            </a:r>
            <a:r>
              <a:rPr lang="en-US" altLang="zh-CN" sz="1600" spc="40" dirty="0">
                <a:solidFill>
                  <a:srgbClr val="314371"/>
                </a:solidFill>
                <a:latin typeface="Times New Roman" panose="02020503050405090304" charset="0"/>
                <a:ea typeface="思源黑体" panose="020B0400000000000000" charset="-122"/>
                <a:cs typeface="+mn-ea"/>
                <a:sym typeface="+mn-lt"/>
              </a:rPr>
              <a:t>“Attention is All You Need”</a:t>
            </a:r>
            <a:r>
              <a:rPr lang="zh-CN" altLang="en-US" sz="1600" spc="40" dirty="0">
                <a:solidFill>
                  <a:srgbClr val="314371"/>
                </a:solidFill>
                <a:latin typeface="Times New Roman" panose="02020503050405090304" charset="0"/>
                <a:ea typeface="思源黑体" panose="020B0400000000000000" charset="-122"/>
                <a:cs typeface="+mn-ea"/>
                <a:sym typeface="+mn-lt"/>
              </a:rPr>
              <a:t>为核心理念</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彻底改变了</a:t>
            </a:r>
            <a:r>
              <a:rPr lang="en-US" altLang="zh-CN" sz="1600" spc="40" dirty="0">
                <a:solidFill>
                  <a:srgbClr val="314371"/>
                </a:solidFill>
                <a:latin typeface="Times New Roman" panose="02020503050405090304" charset="0"/>
                <a:ea typeface="思源黑体" panose="020B0400000000000000" charset="-122"/>
                <a:cs typeface="+mn-ea"/>
                <a:sym typeface="+mn-lt"/>
              </a:rPr>
              <a:t> NLP </a:t>
            </a:r>
            <a:r>
              <a:rPr lang="zh-CN" altLang="en-US" sz="1600" spc="40" dirty="0">
                <a:solidFill>
                  <a:srgbClr val="314371"/>
                </a:solidFill>
                <a:latin typeface="Times New Roman" panose="02020503050405090304" charset="0"/>
                <a:ea typeface="思源黑体" panose="020B0400000000000000" charset="-122"/>
                <a:cs typeface="+mn-ea"/>
                <a:sym typeface="+mn-lt"/>
              </a:rPr>
              <a:t>技术范式</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通过自注意力机制</a:t>
            </a:r>
            <a:r>
              <a:rPr lang="en-US" altLang="zh-CN" sz="1600" spc="40" dirty="0">
                <a:solidFill>
                  <a:srgbClr val="314371"/>
                </a:solidFill>
                <a:latin typeface="Times New Roman" panose="02020503050405090304" charset="0"/>
                <a:ea typeface="思源黑体" panose="020B0400000000000000" charset="-122"/>
                <a:cs typeface="+mn-ea"/>
                <a:sym typeface="+mn-lt"/>
              </a:rPr>
              <a:t>（Self-Attention），</a:t>
            </a:r>
            <a:r>
              <a:rPr lang="zh-CN" altLang="en-US" sz="1600" spc="40" dirty="0">
                <a:solidFill>
                  <a:srgbClr val="314371"/>
                </a:solidFill>
                <a:latin typeface="Times New Roman" panose="02020503050405090304" charset="0"/>
                <a:ea typeface="思源黑体" panose="020B0400000000000000" charset="-122"/>
                <a:cs typeface="+mn-ea"/>
                <a:sym typeface="+mn-lt"/>
              </a:rPr>
              <a:t>能够在一次计算中捕获序列中任意位置的依赖关系</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不再受</a:t>
            </a:r>
            <a:r>
              <a:rPr lang="en-US" altLang="zh-CN" sz="1600" spc="40" dirty="0">
                <a:solidFill>
                  <a:srgbClr val="314371"/>
                </a:solidFill>
                <a:latin typeface="Times New Roman" panose="02020503050405090304" charset="0"/>
                <a:ea typeface="思源黑体" panose="020B0400000000000000" charset="-122"/>
                <a:cs typeface="+mn-ea"/>
                <a:sym typeface="+mn-lt"/>
              </a:rPr>
              <a:t> RNN </a:t>
            </a:r>
            <a:r>
              <a:rPr lang="zh-CN" altLang="en-US" sz="1600" spc="40" dirty="0">
                <a:solidFill>
                  <a:srgbClr val="314371"/>
                </a:solidFill>
                <a:latin typeface="Times New Roman" panose="02020503050405090304" charset="0"/>
                <a:ea typeface="思源黑体" panose="020B0400000000000000" charset="-122"/>
                <a:cs typeface="+mn-ea"/>
                <a:sym typeface="+mn-lt"/>
              </a:rPr>
              <a:t>串行计算限制</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大幅度提升效率和表达能力</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其并行化结构让模型可在大规模数据上高效训练</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为大模型的出现奠定基础</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indent="457200"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Transformer </a:t>
            </a:r>
            <a:r>
              <a:rPr lang="zh-CN" altLang="en-US" sz="1600" spc="40" dirty="0">
                <a:solidFill>
                  <a:srgbClr val="314371"/>
                </a:solidFill>
                <a:latin typeface="Times New Roman" panose="02020503050405090304" charset="0"/>
                <a:ea typeface="思源黑体" panose="020B0400000000000000" charset="-122"/>
                <a:cs typeface="+mn-ea"/>
                <a:sym typeface="+mn-lt"/>
              </a:rPr>
              <a:t>成为跨模态智能基础</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此后</a:t>
            </a:r>
            <a:r>
              <a:rPr lang="en-US" altLang="zh-CN" sz="1600" spc="40" dirty="0">
                <a:solidFill>
                  <a:srgbClr val="314371"/>
                </a:solidFill>
                <a:latin typeface="Times New Roman" panose="02020503050405090304" charset="0"/>
                <a:ea typeface="思源黑体" panose="020B0400000000000000" charset="-122"/>
                <a:cs typeface="+mn-ea"/>
                <a:sym typeface="+mn-lt"/>
              </a:rPr>
              <a:t> CLIP、ViT </a:t>
            </a:r>
            <a:r>
              <a:rPr lang="zh-CN" altLang="en-US" sz="1600" spc="40" dirty="0">
                <a:solidFill>
                  <a:srgbClr val="314371"/>
                </a:solidFill>
                <a:latin typeface="Times New Roman" panose="02020503050405090304" charset="0"/>
                <a:ea typeface="思源黑体" panose="020B0400000000000000" charset="-122"/>
                <a:cs typeface="+mn-ea"/>
                <a:sym typeface="+mn-lt"/>
              </a:rPr>
              <a:t>等模型表明其架构不仅适用于语音</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也能扩展到图像</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音频</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多模态理解等任务</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自此</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从专用模型时代进入通用架构时代</a:t>
            </a:r>
            <a:r>
              <a:rPr lang="en-US" altLang="zh-CN" sz="1600" spc="40" dirty="0">
                <a:solidFill>
                  <a:srgbClr val="314371"/>
                </a:solidFill>
                <a:latin typeface="Times New Roman" panose="02020503050405090304" charset="0"/>
                <a:ea typeface="思源黑体" panose="020B0400000000000000" charset="-122"/>
                <a:cs typeface="+mn-ea"/>
                <a:sym typeface="+mn-lt"/>
              </a:rPr>
              <a:t>，NLP </a:t>
            </a:r>
            <a:r>
              <a:rPr lang="zh-CN" altLang="en-US" sz="1600" spc="40" dirty="0">
                <a:solidFill>
                  <a:srgbClr val="314371"/>
                </a:solidFill>
                <a:latin typeface="Times New Roman" panose="02020503050405090304" charset="0"/>
                <a:ea typeface="思源黑体" panose="020B0400000000000000" charset="-122"/>
                <a:cs typeface="+mn-ea"/>
                <a:sym typeface="+mn-lt"/>
              </a:rPr>
              <a:t>在性能和泛化性上实现了历史性的跨越</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4" name="图片 3" descr="截屏2025-11-18 14.13.11"/>
          <p:cNvPicPr>
            <a:picLocks noChangeAspect="1"/>
          </p:cNvPicPr>
          <p:nvPr/>
        </p:nvPicPr>
        <p:blipFill>
          <a:blip r:embed="rId2"/>
          <a:stretch>
            <a:fillRect/>
          </a:stretch>
        </p:blipFill>
        <p:spPr>
          <a:xfrm>
            <a:off x="7869555" y="1383665"/>
            <a:ext cx="3859530" cy="54825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1421130" y="5704205"/>
            <a:ext cx="10015855" cy="557530"/>
          </a:xfrm>
          <a:prstGeom prst="rect">
            <a:avLst/>
          </a:prstGeom>
          <a:noFill/>
        </p:spPr>
        <p:txBody>
          <a:bodyPr wrap="square" rtlCol="0">
            <a:no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2020 </a:t>
            </a:r>
            <a:r>
              <a:rPr lang="zh-CN" altLang="en-US" sz="1600" spc="40" dirty="0">
                <a:solidFill>
                  <a:srgbClr val="314371"/>
                </a:solidFill>
                <a:latin typeface="Times New Roman" panose="02020503050405090304" charset="0"/>
                <a:ea typeface="思源黑体" panose="020B0400000000000000" charset="-122"/>
                <a:cs typeface="+mn-ea"/>
                <a:sym typeface="+mn-lt"/>
              </a:rPr>
              <a:t>年谷歌又提出</a:t>
            </a:r>
            <a:r>
              <a:rPr lang="en-US" altLang="zh-CN" sz="1600" spc="40" dirty="0">
                <a:solidFill>
                  <a:srgbClr val="314371"/>
                </a:solidFill>
                <a:latin typeface="Times New Roman" panose="02020503050405090304" charset="0"/>
                <a:ea typeface="思源黑体" panose="020B0400000000000000" charset="-122"/>
                <a:cs typeface="+mn-ea"/>
                <a:sym typeface="+mn-lt"/>
              </a:rPr>
              <a:t> ViT（Vision Transformer），</a:t>
            </a:r>
            <a:r>
              <a:rPr lang="zh-CN" altLang="en-US" sz="1600" spc="40" dirty="0">
                <a:solidFill>
                  <a:srgbClr val="314371"/>
                </a:solidFill>
                <a:latin typeface="Times New Roman" panose="02020503050405090304" charset="0"/>
                <a:ea typeface="思源黑体" panose="020B0400000000000000" charset="-122"/>
                <a:cs typeface="+mn-ea"/>
                <a:sym typeface="+mn-lt"/>
              </a:rPr>
              <a:t>特斯拉也是在这个时候将</a:t>
            </a:r>
            <a:r>
              <a:rPr lang="en-US" altLang="zh-CN" sz="1600" spc="40" dirty="0">
                <a:solidFill>
                  <a:srgbClr val="314371"/>
                </a:solidFill>
                <a:latin typeface="Times New Roman" panose="02020503050405090304" charset="0"/>
                <a:ea typeface="思源黑体" panose="020B0400000000000000" charset="-122"/>
                <a:cs typeface="+mn-ea"/>
                <a:sym typeface="+mn-lt"/>
              </a:rPr>
              <a:t> Transformer </a:t>
            </a:r>
            <a:r>
              <a:rPr lang="zh-CN" altLang="en-US" sz="1600" spc="40" dirty="0">
                <a:solidFill>
                  <a:srgbClr val="314371"/>
                </a:solidFill>
                <a:latin typeface="Times New Roman" panose="02020503050405090304" charset="0"/>
                <a:ea typeface="思源黑体" panose="020B0400000000000000" charset="-122"/>
                <a:cs typeface="+mn-ea"/>
                <a:sym typeface="+mn-lt"/>
              </a:rPr>
              <a:t>引入自动驾驶领域</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pic>
        <p:nvPicPr>
          <p:cNvPr id="6" name="图片 5" descr="截屏2025-11-18 14.43.58"/>
          <p:cNvPicPr>
            <a:picLocks noChangeAspect="1"/>
          </p:cNvPicPr>
          <p:nvPr/>
        </p:nvPicPr>
        <p:blipFill>
          <a:blip r:embed="rId2"/>
          <a:stretch>
            <a:fillRect/>
          </a:stretch>
        </p:blipFill>
        <p:spPr>
          <a:xfrm>
            <a:off x="3011805" y="2131060"/>
            <a:ext cx="6834505" cy="30353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7653655" y="2607945"/>
            <a:ext cx="4311015" cy="3178175"/>
          </a:xfrm>
          <a:prstGeom prst="rect">
            <a:avLst/>
          </a:prstGeom>
          <a:noFill/>
        </p:spPr>
        <p:txBody>
          <a:bodyPr wrap="square" rtlCol="0">
            <a:no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2021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OpenAI </a:t>
            </a:r>
            <a:r>
              <a:rPr lang="zh-CN" altLang="en-US" sz="1600" spc="40" dirty="0">
                <a:solidFill>
                  <a:srgbClr val="314371"/>
                </a:solidFill>
                <a:latin typeface="Times New Roman" panose="02020503050405090304" charset="0"/>
                <a:ea typeface="思源黑体" panose="020B0400000000000000" charset="-122"/>
                <a:cs typeface="+mn-ea"/>
                <a:sym typeface="+mn-lt"/>
              </a:rPr>
              <a:t>发布</a:t>
            </a:r>
            <a:r>
              <a:rPr lang="en-US" altLang="zh-CN" sz="1600" spc="40" dirty="0">
                <a:solidFill>
                  <a:srgbClr val="314371"/>
                </a:solidFill>
                <a:latin typeface="Times New Roman" panose="02020503050405090304" charset="0"/>
                <a:ea typeface="思源黑体" panose="020B0400000000000000" charset="-122"/>
                <a:cs typeface="+mn-ea"/>
                <a:sym typeface="+mn-lt"/>
              </a:rPr>
              <a:t> CLIP</a:t>
            </a:r>
            <a:r>
              <a:rPr lang="zh-CN" altLang="en-US"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Contrastiv</a:t>
            </a:r>
            <a:r>
              <a:rPr lang="en-US" altLang="zh-CN" sz="1600" spc="40" dirty="0">
                <a:solidFill>
                  <a:srgbClr val="314371"/>
                </a:solidFill>
                <a:latin typeface="Times New Roman" panose="02020503050405090304" charset="0"/>
                <a:ea typeface="思源黑体" panose="020B0400000000000000" charset="-122"/>
                <a:cs typeface="+mn-ea"/>
                <a:sym typeface="+mn-lt"/>
              </a:rPr>
              <a:t>e  Language-Image Pre-training</a:t>
            </a:r>
            <a:r>
              <a:rPr lang="zh-CN" altLang="en-US" sz="1600" spc="40" dirty="0">
                <a:solidFill>
                  <a:srgbClr val="314371"/>
                </a:solidFill>
                <a:latin typeface="Times New Roman" panose="02020503050405090304" charset="0"/>
                <a:ea typeface="思源黑体" panose="020B0400000000000000" charset="-122"/>
                <a:cs typeface="+mn-ea"/>
                <a:sym typeface="+mn-lt"/>
              </a:rPr>
              <a:t>）模型，首次以大规模图文配对作为训练数据，实现视觉和语音的统一表征学习，</a:t>
            </a:r>
            <a:r>
              <a:rPr lang="en-US" altLang="zh-CN" sz="1600" spc="40" dirty="0">
                <a:solidFill>
                  <a:srgbClr val="314371"/>
                </a:solidFill>
                <a:latin typeface="Times New Roman" panose="02020503050405090304" charset="0"/>
                <a:ea typeface="思源黑体" panose="020B0400000000000000" charset="-122"/>
                <a:cs typeface="+mn-ea"/>
                <a:sym typeface="+mn-lt"/>
              </a:rPr>
              <a:t>CLIP </a:t>
            </a:r>
            <a:r>
              <a:rPr lang="zh-CN" altLang="en-US" sz="1600" spc="40" dirty="0">
                <a:solidFill>
                  <a:srgbClr val="314371"/>
                </a:solidFill>
                <a:latin typeface="Times New Roman" panose="02020503050405090304" charset="0"/>
                <a:ea typeface="思源黑体" panose="020B0400000000000000" charset="-122"/>
                <a:cs typeface="+mn-ea"/>
                <a:sym typeface="+mn-lt"/>
              </a:rPr>
              <a:t>通过对比学习，让模型自动建立文本描述与图像内容的对应关系，在无需任务特定训练的情况下，就能完成分类、检索、理解等多种视觉任务，标志着多模态学习从实验探索走向实用革命。</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4" name="图片 3" descr="截屏2025-11-18 15.47.35"/>
          <p:cNvPicPr>
            <a:picLocks noChangeAspect="1"/>
          </p:cNvPicPr>
          <p:nvPr/>
        </p:nvPicPr>
        <p:blipFill>
          <a:blip r:embed="rId2"/>
          <a:stretch>
            <a:fillRect/>
          </a:stretch>
        </p:blipFill>
        <p:spPr>
          <a:xfrm>
            <a:off x="381000" y="1743710"/>
            <a:ext cx="6633845" cy="51828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3156585" y="6009005"/>
            <a:ext cx="6546215" cy="981075"/>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生成式</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大模型时代</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模型规模爆炸式增长</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多模态通用能力成熟</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大模型核心特征表现为</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模型参数规模</a:t>
            </a:r>
            <a:r>
              <a:rPr lang="zh-CN" altLang="en-US" sz="1600" spc="40" dirty="0">
                <a:solidFill>
                  <a:srgbClr val="314371"/>
                </a:solidFill>
                <a:latin typeface="Times New Roman" panose="02020503050405090304" charset="0"/>
                <a:ea typeface="思源黑体" panose="020B0400000000000000" charset="-122"/>
                <a:cs typeface="+mn-ea"/>
                <a:sym typeface="+mn-lt"/>
              </a:rPr>
              <a:t>庞大、多模态通用能力成熟</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pic>
        <p:nvPicPr>
          <p:cNvPr id="7" name="图片 6" descr="1352.1716634843"/>
          <p:cNvPicPr>
            <a:picLocks noChangeAspect="1"/>
          </p:cNvPicPr>
          <p:nvPr/>
        </p:nvPicPr>
        <p:blipFill>
          <a:blip r:embed="rId2"/>
          <a:stretch>
            <a:fillRect/>
          </a:stretch>
        </p:blipFill>
        <p:spPr>
          <a:xfrm>
            <a:off x="1800225" y="1743710"/>
            <a:ext cx="9258300" cy="42475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的发展阶段</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pic>
        <p:nvPicPr>
          <p:cNvPr id="6" name="图片 5" descr="截屏2025-11-18 16.32.16"/>
          <p:cNvPicPr>
            <a:picLocks noChangeAspect="1"/>
          </p:cNvPicPr>
          <p:nvPr/>
        </p:nvPicPr>
        <p:blipFill>
          <a:blip r:embed="rId2"/>
          <a:stretch>
            <a:fillRect/>
          </a:stretch>
        </p:blipFill>
        <p:spPr>
          <a:xfrm>
            <a:off x="381000" y="1816100"/>
            <a:ext cx="5403850" cy="3958590"/>
          </a:xfrm>
          <a:prstGeom prst="rect">
            <a:avLst/>
          </a:prstGeom>
        </p:spPr>
      </p:pic>
      <p:pic>
        <p:nvPicPr>
          <p:cNvPr id="8" name="图片 7" descr="community_a3ef619"/>
          <p:cNvPicPr>
            <a:picLocks noChangeAspect="1"/>
          </p:cNvPicPr>
          <p:nvPr/>
        </p:nvPicPr>
        <p:blipFill>
          <a:blip r:embed="rId3"/>
          <a:srcRect r="-1207" b="3288"/>
          <a:stretch>
            <a:fillRect/>
          </a:stretch>
        </p:blipFill>
        <p:spPr>
          <a:xfrm>
            <a:off x="6099810" y="1955800"/>
            <a:ext cx="6409055" cy="3679190"/>
          </a:xfrm>
          <a:prstGeom prst="rect">
            <a:avLst/>
          </a:prstGeom>
        </p:spPr>
      </p:pic>
      <p:sp>
        <p:nvSpPr>
          <p:cNvPr id="10" name="文本框 9"/>
          <p:cNvSpPr txBox="1"/>
          <p:nvPr/>
        </p:nvSpPr>
        <p:spPr>
          <a:xfrm>
            <a:off x="1532890" y="5992495"/>
            <a:ext cx="9925685" cy="911225"/>
          </a:xfrm>
          <a:prstGeom prst="rect">
            <a:avLst/>
          </a:prstGeom>
          <a:noFill/>
        </p:spPr>
        <p:txBody>
          <a:bodyPr wrap="square" rtlCol="0">
            <a:noAutofit/>
          </a:bodyPr>
          <a:lstStyle/>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RAG（Retrieval-Augmented Generation）</a:t>
            </a:r>
            <a:r>
              <a:rPr lang="zh-CN" altLang="en-US" sz="1600" spc="40" dirty="0">
                <a:solidFill>
                  <a:srgbClr val="314371"/>
                </a:solidFill>
                <a:latin typeface="Times New Roman" panose="02020503050405090304" charset="0"/>
                <a:ea typeface="思源黑体" panose="020B0400000000000000" charset="-122"/>
                <a:cs typeface="+mn-ea"/>
                <a:sym typeface="+mn-lt"/>
              </a:rPr>
              <a:t>技术在</a:t>
            </a:r>
            <a:r>
              <a:rPr lang="en-US" altLang="zh-CN" sz="1600" spc="40" dirty="0">
                <a:solidFill>
                  <a:srgbClr val="314371"/>
                </a:solidFill>
                <a:latin typeface="Times New Roman" panose="02020503050405090304" charset="0"/>
                <a:ea typeface="思源黑体" panose="020B0400000000000000" charset="-122"/>
                <a:cs typeface="+mn-ea"/>
                <a:sym typeface="+mn-lt"/>
              </a:rPr>
              <a:t> 2020 </a:t>
            </a:r>
            <a:r>
              <a:rPr lang="zh-CN" altLang="en-US" sz="1600" spc="40" dirty="0">
                <a:solidFill>
                  <a:srgbClr val="314371"/>
                </a:solidFill>
                <a:latin typeface="Times New Roman" panose="02020503050405090304" charset="0"/>
                <a:ea typeface="思源黑体" panose="020B0400000000000000" charset="-122"/>
                <a:cs typeface="+mn-ea"/>
                <a:sym typeface="+mn-lt"/>
              </a:rPr>
              <a:t>年后迅速成为提升模型知识准确性的关键路径。</a:t>
            </a:r>
            <a:r>
              <a:rPr lang="en-US" altLang="zh-CN" sz="1600" spc="40" dirty="0">
                <a:solidFill>
                  <a:srgbClr val="314371"/>
                </a:solidFill>
                <a:latin typeface="Times New Roman" panose="02020503050405090304" charset="0"/>
                <a:ea typeface="思源黑体" panose="020B0400000000000000" charset="-122"/>
                <a:cs typeface="+mn-ea"/>
                <a:sym typeface="+mn-lt"/>
              </a:rPr>
              <a:t>Agent（</a:t>
            </a:r>
            <a:r>
              <a:rPr lang="zh-CN" altLang="en-US" sz="1600" spc="40" dirty="0">
                <a:solidFill>
                  <a:srgbClr val="314371"/>
                </a:solidFill>
                <a:latin typeface="Times New Roman" panose="02020503050405090304" charset="0"/>
                <a:ea typeface="思源黑体" panose="020B0400000000000000" charset="-122"/>
                <a:cs typeface="+mn-ea"/>
                <a:sym typeface="+mn-lt"/>
              </a:rPr>
              <a:t>智能体</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技术开始兴起</a:t>
            </a:r>
            <a:r>
              <a:rPr lang="en-US" altLang="zh-CN" sz="1600" spc="40" dirty="0">
                <a:solidFill>
                  <a:srgbClr val="314371"/>
                </a:solidFill>
                <a:latin typeface="Times New Roman" panose="02020503050405090304" charset="0"/>
                <a:ea typeface="思源黑体" panose="020B0400000000000000" charset="-122"/>
                <a:cs typeface="+mn-ea"/>
                <a:sym typeface="+mn-lt"/>
              </a:rPr>
              <a:t>，Agent </a:t>
            </a:r>
            <a:r>
              <a:rPr lang="zh-CN" altLang="en-US" sz="1600" spc="40" dirty="0">
                <a:solidFill>
                  <a:srgbClr val="314371"/>
                </a:solidFill>
                <a:latin typeface="Times New Roman" panose="02020503050405090304" charset="0"/>
                <a:ea typeface="思源黑体" panose="020B0400000000000000" charset="-122"/>
                <a:cs typeface="+mn-ea"/>
                <a:sym typeface="+mn-lt"/>
              </a:rPr>
              <a:t>不仅能生成文本</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还能规划</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调用工具</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执行操作</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反思与迭代。</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的核心特征</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54" name="文本框 53"/>
          <p:cNvSpPr txBox="1"/>
          <p:nvPr/>
        </p:nvSpPr>
        <p:spPr>
          <a:xfrm>
            <a:off x="3343910" y="1723390"/>
            <a:ext cx="1802765" cy="491490"/>
          </a:xfrm>
          <a:prstGeom prst="rect">
            <a:avLst/>
          </a:prstGeom>
          <a:noFill/>
        </p:spPr>
        <p:txBody>
          <a:bodyPr wrap="square" rtlCol="0">
            <a:spAutoFit/>
          </a:bodyPr>
          <a:lstStyle/>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数据驱动</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56" name="文本框 55"/>
          <p:cNvSpPr txBox="1"/>
          <p:nvPr/>
        </p:nvSpPr>
        <p:spPr>
          <a:xfrm>
            <a:off x="7668895" y="4984115"/>
            <a:ext cx="1802765" cy="491490"/>
          </a:xfrm>
          <a:prstGeom prst="rect">
            <a:avLst/>
          </a:prstGeom>
          <a:noFill/>
        </p:spPr>
        <p:txBody>
          <a:bodyPr wrap="square" rtlCol="0">
            <a:spAutoFit/>
          </a:bodyPr>
          <a:lstStyle/>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表示</a:t>
            </a:r>
            <a:r>
              <a:rPr lang="zh-CN" altLang="en-US" sz="2600" b="1" spc="-150" dirty="0">
                <a:solidFill>
                  <a:srgbClr val="314371"/>
                </a:solidFill>
                <a:latin typeface="Times New Roman" panose="02020503050405090304" charset="0"/>
                <a:ea typeface="思源黑体" panose="020B0400000000000000" charset="-122"/>
                <a:cs typeface="+mn-ea"/>
                <a:sym typeface="+mn-lt"/>
              </a:rPr>
              <a:t>学习</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57" name="文本框 56"/>
          <p:cNvSpPr txBox="1"/>
          <p:nvPr/>
        </p:nvSpPr>
        <p:spPr>
          <a:xfrm>
            <a:off x="2771775" y="3306445"/>
            <a:ext cx="1691005" cy="491490"/>
          </a:xfrm>
          <a:prstGeom prst="rect">
            <a:avLst/>
          </a:prstGeom>
          <a:noFill/>
        </p:spPr>
        <p:txBody>
          <a:bodyPr wrap="square" rtlCol="0">
            <a:spAutoFit/>
          </a:bodyPr>
          <a:lstStyle/>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算法复杂</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grpSp>
        <p:nvGrpSpPr>
          <p:cNvPr id="59" name="组合 58"/>
          <p:cNvGrpSpPr/>
          <p:nvPr/>
        </p:nvGrpSpPr>
        <p:grpSpPr>
          <a:xfrm>
            <a:off x="4497393" y="1887729"/>
            <a:ext cx="3821163" cy="3662762"/>
            <a:chOff x="4194498" y="1908049"/>
            <a:chExt cx="3821163" cy="3662762"/>
          </a:xfrm>
        </p:grpSpPr>
        <p:sp>
          <p:nvSpPr>
            <p:cNvPr id="60" name="六边形 59"/>
            <p:cNvSpPr/>
            <p:nvPr/>
          </p:nvSpPr>
          <p:spPr>
            <a:xfrm rot="5400000">
              <a:off x="4746118" y="2005909"/>
              <a:ext cx="1418963" cy="1223244"/>
            </a:xfrm>
            <a:prstGeom prst="hexagon">
              <a:avLst>
                <a:gd name="adj" fmla="val 29600"/>
                <a:gd name="vf" fmla="val 11547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61" name="六边形 60"/>
            <p:cNvSpPr/>
            <p:nvPr/>
          </p:nvSpPr>
          <p:spPr>
            <a:xfrm rot="5400000">
              <a:off x="6045078" y="2005910"/>
              <a:ext cx="1418963" cy="1223244"/>
            </a:xfrm>
            <a:prstGeom prst="hexagon">
              <a:avLst>
                <a:gd name="adj" fmla="val 29600"/>
                <a:gd name="vf" fmla="val 11547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62" name="六边形 61"/>
            <p:cNvSpPr/>
            <p:nvPr/>
          </p:nvSpPr>
          <p:spPr>
            <a:xfrm rot="5400000">
              <a:off x="4746118" y="4249707"/>
              <a:ext cx="1418963" cy="1223244"/>
            </a:xfrm>
            <a:prstGeom prst="hexagon">
              <a:avLst>
                <a:gd name="adj" fmla="val 29600"/>
                <a:gd name="vf" fmla="val 11547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63" name="六边形 62"/>
            <p:cNvSpPr/>
            <p:nvPr/>
          </p:nvSpPr>
          <p:spPr>
            <a:xfrm rot="5400000">
              <a:off x="6045078" y="4249708"/>
              <a:ext cx="1418963" cy="1223244"/>
            </a:xfrm>
            <a:prstGeom prst="hexagon">
              <a:avLst>
                <a:gd name="adj" fmla="val 29600"/>
                <a:gd name="vf" fmla="val 11547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64" name="六边形 63"/>
            <p:cNvSpPr/>
            <p:nvPr/>
          </p:nvSpPr>
          <p:spPr>
            <a:xfrm rot="5400000">
              <a:off x="4096638" y="3127809"/>
              <a:ext cx="1418963" cy="1223244"/>
            </a:xfrm>
            <a:prstGeom prst="hexagon">
              <a:avLst>
                <a:gd name="adj" fmla="val 29600"/>
                <a:gd name="vf" fmla="val 11547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sp>
          <p:nvSpPr>
            <p:cNvPr id="65" name="六边形 64"/>
            <p:cNvSpPr/>
            <p:nvPr/>
          </p:nvSpPr>
          <p:spPr>
            <a:xfrm rot="5400000">
              <a:off x="6694557" y="3127812"/>
              <a:ext cx="1418963" cy="1223244"/>
            </a:xfrm>
            <a:prstGeom prst="hexagon">
              <a:avLst>
                <a:gd name="adj" fmla="val 29600"/>
                <a:gd name="vf" fmla="val 115470"/>
              </a:avLst>
            </a:prstGeom>
            <a:solidFill>
              <a:srgbClr val="3143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grpSp>
          <p:nvGrpSpPr>
            <p:cNvPr id="66" name="组合 65"/>
            <p:cNvGrpSpPr/>
            <p:nvPr/>
          </p:nvGrpSpPr>
          <p:grpSpPr>
            <a:xfrm>
              <a:off x="5217235" y="2374848"/>
              <a:ext cx="511148" cy="496737"/>
              <a:chOff x="756527" y="5479054"/>
              <a:chExt cx="435658" cy="423375"/>
            </a:xfrm>
            <a:solidFill>
              <a:schemeClr val="bg1"/>
            </a:solidFill>
          </p:grpSpPr>
          <p:sp>
            <p:nvSpPr>
              <p:cNvPr id="67" name="Freeform 5"/>
              <p:cNvSpPr>
                <a:spLocks noEditPoints="1"/>
              </p:cNvSpPr>
              <p:nvPr/>
            </p:nvSpPr>
            <p:spPr bwMode="auto">
              <a:xfrm flipH="1">
                <a:off x="756527" y="5479054"/>
                <a:ext cx="435658" cy="423375"/>
              </a:xfrm>
              <a:custGeom>
                <a:avLst/>
                <a:gdLst>
                  <a:gd name="T0" fmla="*/ 2068 w 3392"/>
                  <a:gd name="T1" fmla="*/ 0 h 3296"/>
                  <a:gd name="T2" fmla="*/ 1015 w 3392"/>
                  <a:gd name="T3" fmla="*/ 594 h 3296"/>
                  <a:gd name="T4" fmla="*/ 981 w 3392"/>
                  <a:gd name="T5" fmla="*/ 1803 h 3296"/>
                  <a:gd name="T6" fmla="*/ 127 w 3392"/>
                  <a:gd name="T7" fmla="*/ 2657 h 3296"/>
                  <a:gd name="T8" fmla="*/ 33 w 3392"/>
                  <a:gd name="T9" fmla="*/ 3007 h 3296"/>
                  <a:gd name="T10" fmla="*/ 289 w 3392"/>
                  <a:gd name="T11" fmla="*/ 3263 h 3296"/>
                  <a:gd name="T12" fmla="*/ 639 w 3392"/>
                  <a:gd name="T13" fmla="*/ 3169 h 3296"/>
                  <a:gd name="T14" fmla="*/ 634 w 3392"/>
                  <a:gd name="T15" fmla="*/ 3169 h 3296"/>
                  <a:gd name="T16" fmla="*/ 1488 w 3392"/>
                  <a:gd name="T17" fmla="*/ 2315 h 3296"/>
                  <a:gd name="T18" fmla="*/ 2874 w 3392"/>
                  <a:gd name="T19" fmla="*/ 2151 h 3296"/>
                  <a:gd name="T20" fmla="*/ 3213 w 3392"/>
                  <a:gd name="T21" fmla="*/ 797 h 3296"/>
                  <a:gd name="T22" fmla="*/ 2068 w 3392"/>
                  <a:gd name="T23" fmla="*/ 0 h 3296"/>
                  <a:gd name="T24" fmla="*/ 510 w 3392"/>
                  <a:gd name="T25" fmla="*/ 3040 h 3296"/>
                  <a:gd name="T26" fmla="*/ 255 w 3392"/>
                  <a:gd name="T27" fmla="*/ 3040 h 3296"/>
                  <a:gd name="T28" fmla="*/ 255 w 3392"/>
                  <a:gd name="T29" fmla="*/ 2785 h 3296"/>
                  <a:gd name="T30" fmla="*/ 1081 w 3392"/>
                  <a:gd name="T31" fmla="*/ 1959 h 3296"/>
                  <a:gd name="T32" fmla="*/ 1336 w 3392"/>
                  <a:gd name="T33" fmla="*/ 2215 h 3296"/>
                  <a:gd name="T34" fmla="*/ 510 w 3392"/>
                  <a:gd name="T35" fmla="*/ 3040 h 3296"/>
                  <a:gd name="T36" fmla="*/ 2068 w 3392"/>
                  <a:gd name="T37" fmla="*/ 2253 h 3296"/>
                  <a:gd name="T38" fmla="*/ 1044 w 3392"/>
                  <a:gd name="T39" fmla="*/ 1229 h 3296"/>
                  <a:gd name="T40" fmla="*/ 2068 w 3392"/>
                  <a:gd name="T41" fmla="*/ 205 h 3296"/>
                  <a:gd name="T42" fmla="*/ 3092 w 3392"/>
                  <a:gd name="T43" fmla="*/ 1229 h 3296"/>
                  <a:gd name="T44" fmla="*/ 2068 w 3392"/>
                  <a:gd name="T45" fmla="*/ 2253 h 3296"/>
                  <a:gd name="T46" fmla="*/ 2068 w 3392"/>
                  <a:gd name="T47" fmla="*/ 2253 h 3296"/>
                  <a:gd name="T48" fmla="*/ 2068 w 3392"/>
                  <a:gd name="T49" fmla="*/ 2253 h 3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92" h="3296">
                    <a:moveTo>
                      <a:pt x="2068" y="0"/>
                    </a:moveTo>
                    <a:cubicBezTo>
                      <a:pt x="1637" y="0"/>
                      <a:pt x="1237" y="225"/>
                      <a:pt x="1015" y="594"/>
                    </a:cubicBezTo>
                    <a:cubicBezTo>
                      <a:pt x="792" y="963"/>
                      <a:pt x="780" y="1422"/>
                      <a:pt x="981" y="1803"/>
                    </a:cubicBezTo>
                    <a:cubicBezTo>
                      <a:pt x="127" y="2657"/>
                      <a:pt x="127" y="2657"/>
                      <a:pt x="127" y="2657"/>
                    </a:cubicBezTo>
                    <a:cubicBezTo>
                      <a:pt x="36" y="2748"/>
                      <a:pt x="0" y="2882"/>
                      <a:pt x="33" y="3007"/>
                    </a:cubicBezTo>
                    <a:cubicBezTo>
                      <a:pt x="67" y="3132"/>
                      <a:pt x="164" y="3229"/>
                      <a:pt x="289" y="3263"/>
                    </a:cubicBezTo>
                    <a:cubicBezTo>
                      <a:pt x="414" y="3296"/>
                      <a:pt x="548" y="3260"/>
                      <a:pt x="639" y="3169"/>
                    </a:cubicBezTo>
                    <a:cubicBezTo>
                      <a:pt x="634" y="3169"/>
                      <a:pt x="634" y="3169"/>
                      <a:pt x="634" y="3169"/>
                    </a:cubicBezTo>
                    <a:cubicBezTo>
                      <a:pt x="1488" y="2315"/>
                      <a:pt x="1488" y="2315"/>
                      <a:pt x="1488" y="2315"/>
                    </a:cubicBezTo>
                    <a:cubicBezTo>
                      <a:pt x="1939" y="2553"/>
                      <a:pt x="2491" y="2488"/>
                      <a:pt x="2874" y="2151"/>
                    </a:cubicBezTo>
                    <a:cubicBezTo>
                      <a:pt x="3257" y="1814"/>
                      <a:pt x="3392" y="1275"/>
                      <a:pt x="3213" y="797"/>
                    </a:cubicBezTo>
                    <a:cubicBezTo>
                      <a:pt x="3034" y="319"/>
                      <a:pt x="2578" y="2"/>
                      <a:pt x="2068" y="0"/>
                    </a:cubicBezTo>
                    <a:close/>
                    <a:moveTo>
                      <a:pt x="510" y="3040"/>
                    </a:moveTo>
                    <a:cubicBezTo>
                      <a:pt x="440" y="3110"/>
                      <a:pt x="325" y="3110"/>
                      <a:pt x="255" y="3040"/>
                    </a:cubicBezTo>
                    <a:cubicBezTo>
                      <a:pt x="185" y="2970"/>
                      <a:pt x="185" y="2855"/>
                      <a:pt x="255" y="2785"/>
                    </a:cubicBezTo>
                    <a:cubicBezTo>
                      <a:pt x="1081" y="1959"/>
                      <a:pt x="1081" y="1959"/>
                      <a:pt x="1081" y="1959"/>
                    </a:cubicBezTo>
                    <a:cubicBezTo>
                      <a:pt x="1153" y="2056"/>
                      <a:pt x="1239" y="2142"/>
                      <a:pt x="1336" y="2215"/>
                    </a:cubicBezTo>
                    <a:lnTo>
                      <a:pt x="510" y="3040"/>
                    </a:lnTo>
                    <a:close/>
                    <a:moveTo>
                      <a:pt x="2068" y="2253"/>
                    </a:moveTo>
                    <a:cubicBezTo>
                      <a:pt x="1502" y="2253"/>
                      <a:pt x="1044" y="1794"/>
                      <a:pt x="1044" y="1229"/>
                    </a:cubicBezTo>
                    <a:cubicBezTo>
                      <a:pt x="1044" y="663"/>
                      <a:pt x="1502" y="205"/>
                      <a:pt x="2068" y="205"/>
                    </a:cubicBezTo>
                    <a:cubicBezTo>
                      <a:pt x="2633" y="205"/>
                      <a:pt x="3092" y="663"/>
                      <a:pt x="3092" y="1229"/>
                    </a:cubicBezTo>
                    <a:cubicBezTo>
                      <a:pt x="3092" y="1794"/>
                      <a:pt x="2633" y="2253"/>
                      <a:pt x="2068" y="2253"/>
                    </a:cubicBezTo>
                    <a:close/>
                    <a:moveTo>
                      <a:pt x="2068" y="2253"/>
                    </a:moveTo>
                    <a:cubicBezTo>
                      <a:pt x="2068" y="2253"/>
                      <a:pt x="2068" y="2253"/>
                      <a:pt x="2068" y="225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68" name="Freeform 6"/>
              <p:cNvSpPr>
                <a:spLocks noEditPoints="1"/>
              </p:cNvSpPr>
              <p:nvPr/>
            </p:nvSpPr>
            <p:spPr bwMode="auto">
              <a:xfrm flipH="1">
                <a:off x="920008" y="5544856"/>
                <a:ext cx="98654" cy="98654"/>
              </a:xfrm>
              <a:custGeom>
                <a:avLst/>
                <a:gdLst>
                  <a:gd name="T0" fmla="*/ 717 w 768"/>
                  <a:gd name="T1" fmla="*/ 0 h 768"/>
                  <a:gd name="T2" fmla="*/ 0 w 768"/>
                  <a:gd name="T3" fmla="*/ 717 h 768"/>
                  <a:gd name="T4" fmla="*/ 51 w 768"/>
                  <a:gd name="T5" fmla="*/ 768 h 768"/>
                  <a:gd name="T6" fmla="*/ 102 w 768"/>
                  <a:gd name="T7" fmla="*/ 717 h 768"/>
                  <a:gd name="T8" fmla="*/ 717 w 768"/>
                  <a:gd name="T9" fmla="*/ 102 h 768"/>
                  <a:gd name="T10" fmla="*/ 768 w 768"/>
                  <a:gd name="T11" fmla="*/ 51 h 768"/>
                  <a:gd name="T12" fmla="*/ 717 w 768"/>
                  <a:gd name="T13" fmla="*/ 0 h 768"/>
                  <a:gd name="T14" fmla="*/ 717 w 768"/>
                  <a:gd name="T15" fmla="*/ 0 h 768"/>
                  <a:gd name="T16" fmla="*/ 717 w 768"/>
                  <a:gd name="T17"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8" h="768">
                    <a:moveTo>
                      <a:pt x="717" y="0"/>
                    </a:moveTo>
                    <a:cubicBezTo>
                      <a:pt x="321" y="0"/>
                      <a:pt x="0" y="321"/>
                      <a:pt x="0" y="717"/>
                    </a:cubicBezTo>
                    <a:cubicBezTo>
                      <a:pt x="0" y="745"/>
                      <a:pt x="23" y="768"/>
                      <a:pt x="51" y="768"/>
                    </a:cubicBezTo>
                    <a:cubicBezTo>
                      <a:pt x="79" y="768"/>
                      <a:pt x="102" y="745"/>
                      <a:pt x="102" y="717"/>
                    </a:cubicBezTo>
                    <a:cubicBezTo>
                      <a:pt x="102" y="377"/>
                      <a:pt x="377" y="102"/>
                      <a:pt x="717" y="102"/>
                    </a:cubicBezTo>
                    <a:cubicBezTo>
                      <a:pt x="745" y="102"/>
                      <a:pt x="768" y="79"/>
                      <a:pt x="768" y="51"/>
                    </a:cubicBezTo>
                    <a:cubicBezTo>
                      <a:pt x="768" y="23"/>
                      <a:pt x="745" y="0"/>
                      <a:pt x="717" y="0"/>
                    </a:cubicBezTo>
                    <a:close/>
                    <a:moveTo>
                      <a:pt x="717" y="0"/>
                    </a:moveTo>
                    <a:cubicBezTo>
                      <a:pt x="717" y="0"/>
                      <a:pt x="717" y="0"/>
                      <a:pt x="717"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grpSp>
        <p:sp>
          <p:nvSpPr>
            <p:cNvPr id="69" name="Freeform 5"/>
            <p:cNvSpPr>
              <a:spLocks noEditPoints="1"/>
            </p:cNvSpPr>
            <p:nvPr/>
          </p:nvSpPr>
          <p:spPr bwMode="auto">
            <a:xfrm>
              <a:off x="7152035" y="3506562"/>
              <a:ext cx="517288" cy="445634"/>
            </a:xfrm>
            <a:custGeom>
              <a:avLst/>
              <a:gdLst>
                <a:gd name="T0" fmla="*/ 2494 w 2858"/>
                <a:gd name="T1" fmla="*/ 517 h 2456"/>
                <a:gd name="T2" fmla="*/ 2133 w 2858"/>
                <a:gd name="T3" fmla="*/ 517 h 2456"/>
                <a:gd name="T4" fmla="*/ 1978 w 2858"/>
                <a:gd name="T5" fmla="*/ 143 h 2456"/>
                <a:gd name="T6" fmla="*/ 1764 w 2858"/>
                <a:gd name="T7" fmla="*/ 0 h 2456"/>
                <a:gd name="T8" fmla="*/ 1094 w 2858"/>
                <a:gd name="T9" fmla="*/ 0 h 2456"/>
                <a:gd name="T10" fmla="*/ 880 w 2858"/>
                <a:gd name="T11" fmla="*/ 143 h 2456"/>
                <a:gd name="T12" fmla="*/ 725 w 2858"/>
                <a:gd name="T13" fmla="*/ 517 h 2456"/>
                <a:gd name="T14" fmla="*/ 364 w 2858"/>
                <a:gd name="T15" fmla="*/ 517 h 2456"/>
                <a:gd name="T16" fmla="*/ 0 w 2858"/>
                <a:gd name="T17" fmla="*/ 881 h 2456"/>
                <a:gd name="T18" fmla="*/ 0 w 2858"/>
                <a:gd name="T19" fmla="*/ 2092 h 2456"/>
                <a:gd name="T20" fmla="*/ 364 w 2858"/>
                <a:gd name="T21" fmla="*/ 2456 h 2456"/>
                <a:gd name="T22" fmla="*/ 2494 w 2858"/>
                <a:gd name="T23" fmla="*/ 2456 h 2456"/>
                <a:gd name="T24" fmla="*/ 2858 w 2858"/>
                <a:gd name="T25" fmla="*/ 2092 h 2456"/>
                <a:gd name="T26" fmla="*/ 2858 w 2858"/>
                <a:gd name="T27" fmla="*/ 881 h 2456"/>
                <a:gd name="T28" fmla="*/ 2494 w 2858"/>
                <a:gd name="T29" fmla="*/ 517 h 2456"/>
                <a:gd name="T30" fmla="*/ 2726 w 2858"/>
                <a:gd name="T31" fmla="*/ 2092 h 2456"/>
                <a:gd name="T32" fmla="*/ 2494 w 2858"/>
                <a:gd name="T33" fmla="*/ 2323 h 2456"/>
                <a:gd name="T34" fmla="*/ 364 w 2858"/>
                <a:gd name="T35" fmla="*/ 2323 h 2456"/>
                <a:gd name="T36" fmla="*/ 132 w 2858"/>
                <a:gd name="T37" fmla="*/ 2092 h 2456"/>
                <a:gd name="T38" fmla="*/ 132 w 2858"/>
                <a:gd name="T39" fmla="*/ 881 h 2456"/>
                <a:gd name="T40" fmla="*/ 364 w 2858"/>
                <a:gd name="T41" fmla="*/ 649 h 2456"/>
                <a:gd name="T42" fmla="*/ 769 w 2858"/>
                <a:gd name="T43" fmla="*/ 649 h 2456"/>
                <a:gd name="T44" fmla="*/ 830 w 2858"/>
                <a:gd name="T45" fmla="*/ 608 h 2456"/>
                <a:gd name="T46" fmla="*/ 1002 w 2858"/>
                <a:gd name="T47" fmla="*/ 194 h 2456"/>
                <a:gd name="T48" fmla="*/ 1094 w 2858"/>
                <a:gd name="T49" fmla="*/ 133 h 2456"/>
                <a:gd name="T50" fmla="*/ 1764 w 2858"/>
                <a:gd name="T51" fmla="*/ 133 h 2456"/>
                <a:gd name="T52" fmla="*/ 1856 w 2858"/>
                <a:gd name="T53" fmla="*/ 194 h 2456"/>
                <a:gd name="T54" fmla="*/ 2028 w 2858"/>
                <a:gd name="T55" fmla="*/ 608 h 2456"/>
                <a:gd name="T56" fmla="*/ 2089 w 2858"/>
                <a:gd name="T57" fmla="*/ 649 h 2456"/>
                <a:gd name="T58" fmla="*/ 2494 w 2858"/>
                <a:gd name="T59" fmla="*/ 649 h 2456"/>
                <a:gd name="T60" fmla="*/ 2726 w 2858"/>
                <a:gd name="T61" fmla="*/ 881 h 2456"/>
                <a:gd name="T62" fmla="*/ 2726 w 2858"/>
                <a:gd name="T63" fmla="*/ 2092 h 2456"/>
                <a:gd name="T64" fmla="*/ 1429 w 2858"/>
                <a:gd name="T65" fmla="*/ 712 h 2456"/>
                <a:gd name="T66" fmla="*/ 757 w 2858"/>
                <a:gd name="T67" fmla="*/ 1384 h 2456"/>
                <a:gd name="T68" fmla="*/ 1429 w 2858"/>
                <a:gd name="T69" fmla="*/ 2056 h 2456"/>
                <a:gd name="T70" fmla="*/ 2101 w 2858"/>
                <a:gd name="T71" fmla="*/ 1384 h 2456"/>
                <a:gd name="T72" fmla="*/ 1429 w 2858"/>
                <a:gd name="T73" fmla="*/ 712 h 2456"/>
                <a:gd name="T74" fmla="*/ 1429 w 2858"/>
                <a:gd name="T75" fmla="*/ 1924 h 2456"/>
                <a:gd name="T76" fmla="*/ 889 w 2858"/>
                <a:gd name="T77" fmla="*/ 1384 h 2456"/>
                <a:gd name="T78" fmla="*/ 1429 w 2858"/>
                <a:gd name="T79" fmla="*/ 844 h 2456"/>
                <a:gd name="T80" fmla="*/ 1969 w 2858"/>
                <a:gd name="T81" fmla="*/ 1384 h 2456"/>
                <a:gd name="T82" fmla="*/ 1429 w 2858"/>
                <a:gd name="T83" fmla="*/ 1924 h 2456"/>
                <a:gd name="T84" fmla="*/ 1246 w 2858"/>
                <a:gd name="T85" fmla="*/ 1656 h 2456"/>
                <a:gd name="T86" fmla="*/ 1101 w 2858"/>
                <a:gd name="T87" fmla="*/ 1384 h 2456"/>
                <a:gd name="T88" fmla="*/ 1035 w 2858"/>
                <a:gd name="T89" fmla="*/ 1318 h 2456"/>
                <a:gd name="T90" fmla="*/ 968 w 2858"/>
                <a:gd name="T91" fmla="*/ 1384 h 2456"/>
                <a:gd name="T92" fmla="*/ 1171 w 2858"/>
                <a:gd name="T93" fmla="*/ 1766 h 2456"/>
                <a:gd name="T94" fmla="*/ 1208 w 2858"/>
                <a:gd name="T95" fmla="*/ 1777 h 2456"/>
                <a:gd name="T96" fmla="*/ 1263 w 2858"/>
                <a:gd name="T97" fmla="*/ 1748 h 2456"/>
                <a:gd name="T98" fmla="*/ 1246 w 2858"/>
                <a:gd name="T99" fmla="*/ 1656 h 2456"/>
                <a:gd name="T100" fmla="*/ 630 w 2858"/>
                <a:gd name="T101" fmla="*/ 812 h 2456"/>
                <a:gd name="T102" fmla="*/ 352 w 2858"/>
                <a:gd name="T103" fmla="*/ 812 h 2456"/>
                <a:gd name="T104" fmla="*/ 285 w 2858"/>
                <a:gd name="T105" fmla="*/ 878 h 2456"/>
                <a:gd name="T106" fmla="*/ 352 w 2858"/>
                <a:gd name="T107" fmla="*/ 944 h 2456"/>
                <a:gd name="T108" fmla="*/ 630 w 2858"/>
                <a:gd name="T109" fmla="*/ 944 h 2456"/>
                <a:gd name="T110" fmla="*/ 696 w 2858"/>
                <a:gd name="T111" fmla="*/ 878 h 2456"/>
                <a:gd name="T112" fmla="*/ 630 w 2858"/>
                <a:gd name="T113" fmla="*/ 812 h 2456"/>
                <a:gd name="T114" fmla="*/ 630 w 2858"/>
                <a:gd name="T115" fmla="*/ 812 h 2456"/>
                <a:gd name="T116" fmla="*/ 630 w 2858"/>
                <a:gd name="T117" fmla="*/ 812 h 2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858" h="2456">
                  <a:moveTo>
                    <a:pt x="2494" y="517"/>
                  </a:moveTo>
                  <a:cubicBezTo>
                    <a:pt x="2133" y="517"/>
                    <a:pt x="2133" y="517"/>
                    <a:pt x="2133" y="517"/>
                  </a:cubicBezTo>
                  <a:cubicBezTo>
                    <a:pt x="1978" y="143"/>
                    <a:pt x="1978" y="143"/>
                    <a:pt x="1978" y="143"/>
                  </a:cubicBezTo>
                  <a:cubicBezTo>
                    <a:pt x="1942" y="56"/>
                    <a:pt x="1858" y="0"/>
                    <a:pt x="1764" y="0"/>
                  </a:cubicBezTo>
                  <a:cubicBezTo>
                    <a:pt x="1094" y="0"/>
                    <a:pt x="1094" y="0"/>
                    <a:pt x="1094" y="0"/>
                  </a:cubicBezTo>
                  <a:cubicBezTo>
                    <a:pt x="1000" y="0"/>
                    <a:pt x="916" y="56"/>
                    <a:pt x="880" y="143"/>
                  </a:cubicBezTo>
                  <a:cubicBezTo>
                    <a:pt x="725" y="517"/>
                    <a:pt x="725" y="517"/>
                    <a:pt x="725" y="517"/>
                  </a:cubicBezTo>
                  <a:cubicBezTo>
                    <a:pt x="364" y="517"/>
                    <a:pt x="364" y="517"/>
                    <a:pt x="364" y="517"/>
                  </a:cubicBezTo>
                  <a:cubicBezTo>
                    <a:pt x="163" y="517"/>
                    <a:pt x="0" y="680"/>
                    <a:pt x="0" y="881"/>
                  </a:cubicBezTo>
                  <a:cubicBezTo>
                    <a:pt x="0" y="2092"/>
                    <a:pt x="0" y="2092"/>
                    <a:pt x="0" y="2092"/>
                  </a:cubicBezTo>
                  <a:cubicBezTo>
                    <a:pt x="0" y="2292"/>
                    <a:pt x="163" y="2456"/>
                    <a:pt x="364" y="2456"/>
                  </a:cubicBezTo>
                  <a:cubicBezTo>
                    <a:pt x="2494" y="2456"/>
                    <a:pt x="2494" y="2456"/>
                    <a:pt x="2494" y="2456"/>
                  </a:cubicBezTo>
                  <a:cubicBezTo>
                    <a:pt x="2695" y="2456"/>
                    <a:pt x="2858" y="2292"/>
                    <a:pt x="2858" y="2092"/>
                  </a:cubicBezTo>
                  <a:cubicBezTo>
                    <a:pt x="2858" y="881"/>
                    <a:pt x="2858" y="881"/>
                    <a:pt x="2858" y="881"/>
                  </a:cubicBezTo>
                  <a:cubicBezTo>
                    <a:pt x="2858" y="680"/>
                    <a:pt x="2695" y="517"/>
                    <a:pt x="2494" y="517"/>
                  </a:cubicBezTo>
                  <a:close/>
                  <a:moveTo>
                    <a:pt x="2726" y="2092"/>
                  </a:moveTo>
                  <a:cubicBezTo>
                    <a:pt x="2726" y="2219"/>
                    <a:pt x="2622" y="2323"/>
                    <a:pt x="2494" y="2323"/>
                  </a:cubicBezTo>
                  <a:cubicBezTo>
                    <a:pt x="364" y="2323"/>
                    <a:pt x="364" y="2323"/>
                    <a:pt x="364" y="2323"/>
                  </a:cubicBezTo>
                  <a:cubicBezTo>
                    <a:pt x="236" y="2323"/>
                    <a:pt x="132" y="2219"/>
                    <a:pt x="132" y="2092"/>
                  </a:cubicBezTo>
                  <a:cubicBezTo>
                    <a:pt x="132" y="881"/>
                    <a:pt x="132" y="881"/>
                    <a:pt x="132" y="881"/>
                  </a:cubicBezTo>
                  <a:cubicBezTo>
                    <a:pt x="132" y="753"/>
                    <a:pt x="236" y="649"/>
                    <a:pt x="364" y="649"/>
                  </a:cubicBezTo>
                  <a:cubicBezTo>
                    <a:pt x="769" y="649"/>
                    <a:pt x="769" y="649"/>
                    <a:pt x="769" y="649"/>
                  </a:cubicBezTo>
                  <a:cubicBezTo>
                    <a:pt x="796" y="649"/>
                    <a:pt x="820" y="633"/>
                    <a:pt x="830" y="608"/>
                  </a:cubicBezTo>
                  <a:cubicBezTo>
                    <a:pt x="1002" y="194"/>
                    <a:pt x="1002" y="194"/>
                    <a:pt x="1002" y="194"/>
                  </a:cubicBezTo>
                  <a:cubicBezTo>
                    <a:pt x="1017" y="157"/>
                    <a:pt x="1053" y="133"/>
                    <a:pt x="1094" y="133"/>
                  </a:cubicBezTo>
                  <a:cubicBezTo>
                    <a:pt x="1764" y="133"/>
                    <a:pt x="1764" y="133"/>
                    <a:pt x="1764" y="133"/>
                  </a:cubicBezTo>
                  <a:cubicBezTo>
                    <a:pt x="1805" y="133"/>
                    <a:pt x="1841" y="157"/>
                    <a:pt x="1856" y="194"/>
                  </a:cubicBezTo>
                  <a:cubicBezTo>
                    <a:pt x="2028" y="608"/>
                    <a:pt x="2028" y="608"/>
                    <a:pt x="2028" y="608"/>
                  </a:cubicBezTo>
                  <a:cubicBezTo>
                    <a:pt x="2038" y="633"/>
                    <a:pt x="2062" y="649"/>
                    <a:pt x="2089" y="649"/>
                  </a:cubicBezTo>
                  <a:cubicBezTo>
                    <a:pt x="2494" y="649"/>
                    <a:pt x="2494" y="649"/>
                    <a:pt x="2494" y="649"/>
                  </a:cubicBezTo>
                  <a:cubicBezTo>
                    <a:pt x="2622" y="649"/>
                    <a:pt x="2726" y="753"/>
                    <a:pt x="2726" y="881"/>
                  </a:cubicBezTo>
                  <a:cubicBezTo>
                    <a:pt x="2726" y="2092"/>
                    <a:pt x="2726" y="2092"/>
                    <a:pt x="2726" y="2092"/>
                  </a:cubicBezTo>
                  <a:close/>
                  <a:moveTo>
                    <a:pt x="1429" y="712"/>
                  </a:moveTo>
                  <a:cubicBezTo>
                    <a:pt x="1058" y="712"/>
                    <a:pt x="757" y="1013"/>
                    <a:pt x="757" y="1384"/>
                  </a:cubicBezTo>
                  <a:cubicBezTo>
                    <a:pt x="757" y="1755"/>
                    <a:pt x="1058" y="2056"/>
                    <a:pt x="1429" y="2056"/>
                  </a:cubicBezTo>
                  <a:cubicBezTo>
                    <a:pt x="1800" y="2056"/>
                    <a:pt x="2101" y="1755"/>
                    <a:pt x="2101" y="1384"/>
                  </a:cubicBezTo>
                  <a:cubicBezTo>
                    <a:pt x="2101" y="1013"/>
                    <a:pt x="1800" y="712"/>
                    <a:pt x="1429" y="712"/>
                  </a:cubicBezTo>
                  <a:close/>
                  <a:moveTo>
                    <a:pt x="1429" y="1924"/>
                  </a:moveTo>
                  <a:cubicBezTo>
                    <a:pt x="1131" y="1924"/>
                    <a:pt x="889" y="1682"/>
                    <a:pt x="889" y="1384"/>
                  </a:cubicBezTo>
                  <a:cubicBezTo>
                    <a:pt x="889" y="1086"/>
                    <a:pt x="1131" y="844"/>
                    <a:pt x="1429" y="844"/>
                  </a:cubicBezTo>
                  <a:cubicBezTo>
                    <a:pt x="1727" y="844"/>
                    <a:pt x="1969" y="1086"/>
                    <a:pt x="1969" y="1384"/>
                  </a:cubicBezTo>
                  <a:cubicBezTo>
                    <a:pt x="1969" y="1682"/>
                    <a:pt x="1727" y="1924"/>
                    <a:pt x="1429" y="1924"/>
                  </a:cubicBezTo>
                  <a:close/>
                  <a:moveTo>
                    <a:pt x="1246" y="1656"/>
                  </a:moveTo>
                  <a:cubicBezTo>
                    <a:pt x="1155" y="1595"/>
                    <a:pt x="1101" y="1493"/>
                    <a:pt x="1101" y="1384"/>
                  </a:cubicBezTo>
                  <a:cubicBezTo>
                    <a:pt x="1101" y="1348"/>
                    <a:pt x="1071" y="1318"/>
                    <a:pt x="1035" y="1318"/>
                  </a:cubicBezTo>
                  <a:cubicBezTo>
                    <a:pt x="998" y="1318"/>
                    <a:pt x="968" y="1348"/>
                    <a:pt x="968" y="1384"/>
                  </a:cubicBezTo>
                  <a:cubicBezTo>
                    <a:pt x="968" y="1537"/>
                    <a:pt x="1044" y="1680"/>
                    <a:pt x="1171" y="1766"/>
                  </a:cubicBezTo>
                  <a:cubicBezTo>
                    <a:pt x="1182" y="1773"/>
                    <a:pt x="1195" y="1777"/>
                    <a:pt x="1208" y="1777"/>
                  </a:cubicBezTo>
                  <a:cubicBezTo>
                    <a:pt x="1230" y="1777"/>
                    <a:pt x="1251" y="1767"/>
                    <a:pt x="1263" y="1748"/>
                  </a:cubicBezTo>
                  <a:cubicBezTo>
                    <a:pt x="1284" y="1718"/>
                    <a:pt x="1276" y="1677"/>
                    <a:pt x="1246" y="1656"/>
                  </a:cubicBezTo>
                  <a:close/>
                  <a:moveTo>
                    <a:pt x="630" y="812"/>
                  </a:moveTo>
                  <a:cubicBezTo>
                    <a:pt x="352" y="812"/>
                    <a:pt x="352" y="812"/>
                    <a:pt x="352" y="812"/>
                  </a:cubicBezTo>
                  <a:cubicBezTo>
                    <a:pt x="315" y="812"/>
                    <a:pt x="285" y="842"/>
                    <a:pt x="285" y="878"/>
                  </a:cubicBezTo>
                  <a:cubicBezTo>
                    <a:pt x="285" y="915"/>
                    <a:pt x="315" y="944"/>
                    <a:pt x="352" y="944"/>
                  </a:cubicBezTo>
                  <a:cubicBezTo>
                    <a:pt x="630" y="944"/>
                    <a:pt x="630" y="944"/>
                    <a:pt x="630" y="944"/>
                  </a:cubicBezTo>
                  <a:cubicBezTo>
                    <a:pt x="666" y="944"/>
                    <a:pt x="696" y="915"/>
                    <a:pt x="696" y="878"/>
                  </a:cubicBezTo>
                  <a:cubicBezTo>
                    <a:pt x="696" y="842"/>
                    <a:pt x="666" y="812"/>
                    <a:pt x="630" y="812"/>
                  </a:cubicBezTo>
                  <a:close/>
                  <a:moveTo>
                    <a:pt x="630" y="812"/>
                  </a:moveTo>
                  <a:cubicBezTo>
                    <a:pt x="630" y="812"/>
                    <a:pt x="630" y="812"/>
                    <a:pt x="630" y="812"/>
                  </a:cubicBezTo>
                </a:path>
              </a:pathLst>
            </a:custGeom>
            <a:solidFill>
              <a:schemeClr val="bg1"/>
            </a:solidFill>
            <a:ln>
              <a:noFill/>
            </a:ln>
          </p:spPr>
          <p:txBody>
            <a:bodyPr vert="horz" wrap="square" lIns="91440" tIns="45720" rIns="91440" bIns="45720" numCol="1" anchor="t" anchorCtr="0" compatLnSpc="1"/>
            <a:lstStyle/>
            <a:p>
              <a:endParaRPr lang="zh-CN" altLang="en-US" sz="1800">
                <a:cs typeface="+mn-ea"/>
                <a:sym typeface="+mn-lt"/>
              </a:endParaRPr>
            </a:p>
          </p:txBody>
        </p:sp>
        <p:sp>
          <p:nvSpPr>
            <p:cNvPr id="70" name="Freeform 10"/>
            <p:cNvSpPr>
              <a:spLocks noEditPoints="1"/>
            </p:cNvSpPr>
            <p:nvPr/>
          </p:nvSpPr>
          <p:spPr bwMode="auto">
            <a:xfrm>
              <a:off x="4559897" y="3475529"/>
              <a:ext cx="492444" cy="492443"/>
            </a:xfrm>
            <a:custGeom>
              <a:avLst/>
              <a:gdLst>
                <a:gd name="T0" fmla="*/ 168 w 227"/>
                <a:gd name="T1" fmla="*/ 15 h 227"/>
                <a:gd name="T2" fmla="*/ 212 w 227"/>
                <a:gd name="T3" fmla="*/ 59 h 227"/>
                <a:gd name="T4" fmla="*/ 68 w 227"/>
                <a:gd name="T5" fmla="*/ 203 h 227"/>
                <a:gd name="T6" fmla="*/ 13 w 227"/>
                <a:gd name="T7" fmla="*/ 214 h 227"/>
                <a:gd name="T8" fmla="*/ 24 w 227"/>
                <a:gd name="T9" fmla="*/ 159 h 227"/>
                <a:gd name="T10" fmla="*/ 168 w 227"/>
                <a:gd name="T11" fmla="*/ 15 h 227"/>
                <a:gd name="T12" fmla="*/ 168 w 227"/>
                <a:gd name="T13" fmla="*/ 0 h 227"/>
                <a:gd name="T14" fmla="*/ 15 w 227"/>
                <a:gd name="T15" fmla="*/ 154 h 227"/>
                <a:gd name="T16" fmla="*/ 0 w 227"/>
                <a:gd name="T17" fmla="*/ 227 h 227"/>
                <a:gd name="T18" fmla="*/ 74 w 227"/>
                <a:gd name="T19" fmla="*/ 213 h 227"/>
                <a:gd name="T20" fmla="*/ 227 w 227"/>
                <a:gd name="T21" fmla="*/ 59 h 227"/>
                <a:gd name="T22" fmla="*/ 168 w 227"/>
                <a:gd name="T23" fmla="*/ 0 h 227"/>
                <a:gd name="T24" fmla="*/ 141 w 227"/>
                <a:gd name="T25" fmla="*/ 27 h 227"/>
                <a:gd name="T26" fmla="*/ 134 w 227"/>
                <a:gd name="T27" fmla="*/ 34 h 227"/>
                <a:gd name="T28" fmla="*/ 193 w 227"/>
                <a:gd name="T29" fmla="*/ 93 h 227"/>
                <a:gd name="T30" fmla="*/ 200 w 227"/>
                <a:gd name="T31" fmla="*/ 86 h 227"/>
                <a:gd name="T32" fmla="*/ 141 w 227"/>
                <a:gd name="T33" fmla="*/ 27 h 227"/>
                <a:gd name="T34" fmla="*/ 128 w 227"/>
                <a:gd name="T35" fmla="*/ 40 h 227"/>
                <a:gd name="T36" fmla="*/ 120 w 227"/>
                <a:gd name="T37" fmla="*/ 48 h 227"/>
                <a:gd name="T38" fmla="*/ 179 w 227"/>
                <a:gd name="T39" fmla="*/ 107 h 227"/>
                <a:gd name="T40" fmla="*/ 187 w 227"/>
                <a:gd name="T41" fmla="*/ 99 h 227"/>
                <a:gd name="T42" fmla="*/ 128 w 227"/>
                <a:gd name="T43" fmla="*/ 40 h 227"/>
                <a:gd name="T44" fmla="*/ 22 w 227"/>
                <a:gd name="T45" fmla="*/ 146 h 227"/>
                <a:gd name="T46" fmla="*/ 14 w 227"/>
                <a:gd name="T47" fmla="*/ 154 h 227"/>
                <a:gd name="T48" fmla="*/ 73 w 227"/>
                <a:gd name="T49" fmla="*/ 213 h 227"/>
                <a:gd name="T50" fmla="*/ 81 w 227"/>
                <a:gd name="T51" fmla="*/ 205 h 227"/>
                <a:gd name="T52" fmla="*/ 22 w 227"/>
                <a:gd name="T53" fmla="*/ 146 h 227"/>
                <a:gd name="T54" fmla="*/ 140 w 227"/>
                <a:gd name="T55" fmla="*/ 64 h 227"/>
                <a:gd name="T56" fmla="*/ 38 w 227"/>
                <a:gd name="T57" fmla="*/ 166 h 227"/>
                <a:gd name="T58" fmla="*/ 45 w 227"/>
                <a:gd name="T59" fmla="*/ 173 h 227"/>
                <a:gd name="T60" fmla="*/ 147 w 227"/>
                <a:gd name="T61" fmla="*/ 72 h 227"/>
                <a:gd name="T62" fmla="*/ 140 w 227"/>
                <a:gd name="T63" fmla="*/ 64 h 227"/>
                <a:gd name="T64" fmla="*/ 155 w 227"/>
                <a:gd name="T65" fmla="*/ 80 h 227"/>
                <a:gd name="T66" fmla="*/ 54 w 227"/>
                <a:gd name="T67" fmla="*/ 182 h 227"/>
                <a:gd name="T68" fmla="*/ 61 w 227"/>
                <a:gd name="T69" fmla="*/ 189 h 227"/>
                <a:gd name="T70" fmla="*/ 163 w 227"/>
                <a:gd name="T71" fmla="*/ 88 h 227"/>
                <a:gd name="T72" fmla="*/ 155 w 227"/>
                <a:gd name="T73" fmla="*/ 80 h 227"/>
                <a:gd name="T74" fmla="*/ 155 w 227"/>
                <a:gd name="T75" fmla="*/ 80 h 227"/>
                <a:gd name="T76" fmla="*/ 155 w 227"/>
                <a:gd name="T77" fmla="*/ 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7" h="227">
                  <a:moveTo>
                    <a:pt x="168" y="15"/>
                  </a:moveTo>
                  <a:lnTo>
                    <a:pt x="212" y="59"/>
                  </a:lnTo>
                  <a:lnTo>
                    <a:pt x="68" y="203"/>
                  </a:lnTo>
                  <a:lnTo>
                    <a:pt x="13" y="214"/>
                  </a:lnTo>
                  <a:lnTo>
                    <a:pt x="24" y="159"/>
                  </a:lnTo>
                  <a:lnTo>
                    <a:pt x="168" y="15"/>
                  </a:lnTo>
                  <a:close/>
                  <a:moveTo>
                    <a:pt x="168" y="0"/>
                  </a:moveTo>
                  <a:lnTo>
                    <a:pt x="15" y="154"/>
                  </a:lnTo>
                  <a:lnTo>
                    <a:pt x="0" y="227"/>
                  </a:lnTo>
                  <a:lnTo>
                    <a:pt x="74" y="213"/>
                  </a:lnTo>
                  <a:lnTo>
                    <a:pt x="227" y="59"/>
                  </a:lnTo>
                  <a:lnTo>
                    <a:pt x="168" y="0"/>
                  </a:lnTo>
                  <a:close/>
                  <a:moveTo>
                    <a:pt x="141" y="27"/>
                  </a:moveTo>
                  <a:lnTo>
                    <a:pt x="134" y="34"/>
                  </a:lnTo>
                  <a:lnTo>
                    <a:pt x="193" y="93"/>
                  </a:lnTo>
                  <a:lnTo>
                    <a:pt x="200" y="86"/>
                  </a:lnTo>
                  <a:lnTo>
                    <a:pt x="141" y="27"/>
                  </a:lnTo>
                  <a:close/>
                  <a:moveTo>
                    <a:pt x="128" y="40"/>
                  </a:moveTo>
                  <a:lnTo>
                    <a:pt x="120" y="48"/>
                  </a:lnTo>
                  <a:lnTo>
                    <a:pt x="179" y="107"/>
                  </a:lnTo>
                  <a:lnTo>
                    <a:pt x="187" y="99"/>
                  </a:lnTo>
                  <a:lnTo>
                    <a:pt x="128" y="40"/>
                  </a:lnTo>
                  <a:close/>
                  <a:moveTo>
                    <a:pt x="22" y="146"/>
                  </a:moveTo>
                  <a:lnTo>
                    <a:pt x="14" y="154"/>
                  </a:lnTo>
                  <a:lnTo>
                    <a:pt x="73" y="213"/>
                  </a:lnTo>
                  <a:lnTo>
                    <a:pt x="81" y="205"/>
                  </a:lnTo>
                  <a:lnTo>
                    <a:pt x="22" y="146"/>
                  </a:lnTo>
                  <a:close/>
                  <a:moveTo>
                    <a:pt x="140" y="64"/>
                  </a:moveTo>
                  <a:lnTo>
                    <a:pt x="38" y="166"/>
                  </a:lnTo>
                  <a:lnTo>
                    <a:pt x="45" y="173"/>
                  </a:lnTo>
                  <a:lnTo>
                    <a:pt x="147" y="72"/>
                  </a:lnTo>
                  <a:lnTo>
                    <a:pt x="140" y="64"/>
                  </a:lnTo>
                  <a:close/>
                  <a:moveTo>
                    <a:pt x="155" y="80"/>
                  </a:moveTo>
                  <a:lnTo>
                    <a:pt x="54" y="182"/>
                  </a:lnTo>
                  <a:lnTo>
                    <a:pt x="61" y="189"/>
                  </a:lnTo>
                  <a:lnTo>
                    <a:pt x="163" y="88"/>
                  </a:lnTo>
                  <a:lnTo>
                    <a:pt x="155" y="80"/>
                  </a:lnTo>
                  <a:close/>
                  <a:moveTo>
                    <a:pt x="155" y="80"/>
                  </a:moveTo>
                  <a:lnTo>
                    <a:pt x="155" y="80"/>
                  </a:lnTo>
                  <a:close/>
                </a:path>
              </a:pathLst>
            </a:custGeom>
            <a:solidFill>
              <a:schemeClr val="bg1"/>
            </a:solidFill>
            <a:ln>
              <a:noFill/>
            </a:ln>
          </p:spPr>
          <p:txBody>
            <a:bodyPr vert="horz" wrap="square" lIns="91440" tIns="45720" rIns="91440" bIns="45720" numCol="1" anchor="t" anchorCtr="0" compatLnSpc="1"/>
            <a:lstStyle/>
            <a:p>
              <a:endParaRPr lang="zh-CN" altLang="en-US" sz="1800">
                <a:cs typeface="+mn-ea"/>
                <a:sym typeface="+mn-lt"/>
              </a:endParaRPr>
            </a:p>
          </p:txBody>
        </p:sp>
        <p:grpSp>
          <p:nvGrpSpPr>
            <p:cNvPr id="71" name="组合 70"/>
            <p:cNvGrpSpPr/>
            <p:nvPr/>
          </p:nvGrpSpPr>
          <p:grpSpPr>
            <a:xfrm>
              <a:off x="6500172" y="2348855"/>
              <a:ext cx="494544" cy="493457"/>
              <a:chOff x="3721100" y="-804863"/>
              <a:chExt cx="722313" cy="720725"/>
            </a:xfrm>
            <a:solidFill>
              <a:schemeClr val="bg1"/>
            </a:solidFill>
          </p:grpSpPr>
          <p:sp>
            <p:nvSpPr>
              <p:cNvPr id="72" name="Freeform 5"/>
              <p:cNvSpPr>
                <a:spLocks noEditPoints="1"/>
              </p:cNvSpPr>
              <p:nvPr/>
            </p:nvSpPr>
            <p:spPr bwMode="auto">
              <a:xfrm>
                <a:off x="4060825" y="-466726"/>
                <a:ext cx="241300" cy="174625"/>
              </a:xfrm>
              <a:custGeom>
                <a:avLst/>
                <a:gdLst>
                  <a:gd name="T0" fmla="*/ 961 w 1104"/>
                  <a:gd name="T1" fmla="*/ 565 h 792"/>
                  <a:gd name="T2" fmla="*/ 121 w 1104"/>
                  <a:gd name="T3" fmla="*/ 565 h 792"/>
                  <a:gd name="T4" fmla="*/ 21 w 1104"/>
                  <a:gd name="T5" fmla="*/ 621 h 792"/>
                  <a:gd name="T6" fmla="*/ 21 w 1104"/>
                  <a:gd name="T7" fmla="*/ 736 h 792"/>
                  <a:gd name="T8" fmla="*/ 121 w 1104"/>
                  <a:gd name="T9" fmla="*/ 792 h 792"/>
                  <a:gd name="T10" fmla="*/ 961 w 1104"/>
                  <a:gd name="T11" fmla="*/ 792 h 792"/>
                  <a:gd name="T12" fmla="*/ 1061 w 1104"/>
                  <a:gd name="T13" fmla="*/ 736 h 792"/>
                  <a:gd name="T14" fmla="*/ 1061 w 1104"/>
                  <a:gd name="T15" fmla="*/ 621 h 792"/>
                  <a:gd name="T16" fmla="*/ 961 w 1104"/>
                  <a:gd name="T17" fmla="*/ 565 h 792"/>
                  <a:gd name="T18" fmla="*/ 984 w 1104"/>
                  <a:gd name="T19" fmla="*/ 1 h 792"/>
                  <a:gd name="T20" fmla="*/ 314 w 1104"/>
                  <a:gd name="T21" fmla="*/ 1 h 792"/>
                  <a:gd name="T22" fmla="*/ 214 w 1104"/>
                  <a:gd name="T23" fmla="*/ 57 h 792"/>
                  <a:gd name="T24" fmla="*/ 214 w 1104"/>
                  <a:gd name="T25" fmla="*/ 171 h 792"/>
                  <a:gd name="T26" fmla="*/ 314 w 1104"/>
                  <a:gd name="T27" fmla="*/ 227 h 792"/>
                  <a:gd name="T28" fmla="*/ 984 w 1104"/>
                  <a:gd name="T29" fmla="*/ 227 h 792"/>
                  <a:gd name="T30" fmla="*/ 1084 w 1104"/>
                  <a:gd name="T31" fmla="*/ 171 h 792"/>
                  <a:gd name="T32" fmla="*/ 1084 w 1104"/>
                  <a:gd name="T33" fmla="*/ 57 h 792"/>
                  <a:gd name="T34" fmla="*/ 984 w 1104"/>
                  <a:gd name="T35" fmla="*/ 1 h 792"/>
                  <a:gd name="T36" fmla="*/ 984 w 1104"/>
                  <a:gd name="T37" fmla="*/ 1 h 792"/>
                  <a:gd name="T38" fmla="*/ 984 w 1104"/>
                  <a:gd name="T39" fmla="*/ 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4" h="792">
                    <a:moveTo>
                      <a:pt x="961" y="565"/>
                    </a:moveTo>
                    <a:cubicBezTo>
                      <a:pt x="121" y="565"/>
                      <a:pt x="121" y="565"/>
                      <a:pt x="121" y="565"/>
                    </a:cubicBezTo>
                    <a:cubicBezTo>
                      <a:pt x="80" y="564"/>
                      <a:pt x="42" y="586"/>
                      <a:pt x="21" y="621"/>
                    </a:cubicBezTo>
                    <a:cubicBezTo>
                      <a:pt x="0" y="657"/>
                      <a:pt x="0" y="700"/>
                      <a:pt x="21" y="736"/>
                    </a:cubicBezTo>
                    <a:cubicBezTo>
                      <a:pt x="42" y="771"/>
                      <a:pt x="80" y="792"/>
                      <a:pt x="121" y="792"/>
                    </a:cubicBezTo>
                    <a:cubicBezTo>
                      <a:pt x="961" y="792"/>
                      <a:pt x="961" y="792"/>
                      <a:pt x="961" y="792"/>
                    </a:cubicBezTo>
                    <a:cubicBezTo>
                      <a:pt x="1002" y="792"/>
                      <a:pt x="1040" y="771"/>
                      <a:pt x="1061" y="736"/>
                    </a:cubicBezTo>
                    <a:cubicBezTo>
                      <a:pt x="1082" y="700"/>
                      <a:pt x="1082" y="657"/>
                      <a:pt x="1061" y="621"/>
                    </a:cubicBezTo>
                    <a:cubicBezTo>
                      <a:pt x="1040" y="586"/>
                      <a:pt x="1002" y="564"/>
                      <a:pt x="961" y="565"/>
                    </a:cubicBezTo>
                    <a:close/>
                    <a:moveTo>
                      <a:pt x="984" y="1"/>
                    </a:moveTo>
                    <a:cubicBezTo>
                      <a:pt x="314" y="1"/>
                      <a:pt x="314" y="1"/>
                      <a:pt x="314" y="1"/>
                    </a:cubicBezTo>
                    <a:cubicBezTo>
                      <a:pt x="273" y="0"/>
                      <a:pt x="235" y="21"/>
                      <a:pt x="214" y="57"/>
                    </a:cubicBezTo>
                    <a:cubicBezTo>
                      <a:pt x="194" y="92"/>
                      <a:pt x="194" y="136"/>
                      <a:pt x="214" y="171"/>
                    </a:cubicBezTo>
                    <a:cubicBezTo>
                      <a:pt x="235" y="207"/>
                      <a:pt x="273" y="228"/>
                      <a:pt x="314" y="227"/>
                    </a:cubicBezTo>
                    <a:cubicBezTo>
                      <a:pt x="984" y="227"/>
                      <a:pt x="984" y="227"/>
                      <a:pt x="984" y="227"/>
                    </a:cubicBezTo>
                    <a:cubicBezTo>
                      <a:pt x="1025" y="228"/>
                      <a:pt x="1063" y="207"/>
                      <a:pt x="1084" y="171"/>
                    </a:cubicBezTo>
                    <a:cubicBezTo>
                      <a:pt x="1104" y="136"/>
                      <a:pt x="1104" y="92"/>
                      <a:pt x="1084" y="57"/>
                    </a:cubicBezTo>
                    <a:cubicBezTo>
                      <a:pt x="1063" y="21"/>
                      <a:pt x="1025" y="0"/>
                      <a:pt x="984" y="1"/>
                    </a:cubicBezTo>
                    <a:close/>
                    <a:moveTo>
                      <a:pt x="984" y="1"/>
                    </a:moveTo>
                    <a:cubicBezTo>
                      <a:pt x="984" y="1"/>
                      <a:pt x="984" y="1"/>
                      <a:pt x="984" y="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73" name="Freeform 6"/>
              <p:cNvSpPr>
                <a:spLocks noEditPoints="1"/>
              </p:cNvSpPr>
              <p:nvPr/>
            </p:nvSpPr>
            <p:spPr bwMode="auto">
              <a:xfrm>
                <a:off x="3871913" y="-804863"/>
                <a:ext cx="571500" cy="695325"/>
              </a:xfrm>
              <a:custGeom>
                <a:avLst/>
                <a:gdLst>
                  <a:gd name="T0" fmla="*/ 1812 w 2606"/>
                  <a:gd name="T1" fmla="*/ 0 h 3167"/>
                  <a:gd name="T2" fmla="*/ 451 w 2606"/>
                  <a:gd name="T3" fmla="*/ 0 h 3167"/>
                  <a:gd name="T4" fmla="*/ 0 w 2606"/>
                  <a:gd name="T5" fmla="*/ 409 h 3167"/>
                  <a:gd name="T6" fmla="*/ 0 w 2606"/>
                  <a:gd name="T7" fmla="*/ 664 h 3167"/>
                  <a:gd name="T8" fmla="*/ 0 w 2606"/>
                  <a:gd name="T9" fmla="*/ 664 h 3167"/>
                  <a:gd name="T10" fmla="*/ 0 w 2606"/>
                  <a:gd name="T11" fmla="*/ 818 h 3167"/>
                  <a:gd name="T12" fmla="*/ 243 w 2606"/>
                  <a:gd name="T13" fmla="*/ 692 h 3167"/>
                  <a:gd name="T14" fmla="*/ 243 w 2606"/>
                  <a:gd name="T15" fmla="*/ 449 h 3167"/>
                  <a:gd name="T16" fmla="*/ 452 w 2606"/>
                  <a:gd name="T17" fmla="*/ 226 h 3167"/>
                  <a:gd name="T18" fmla="*/ 1586 w 2606"/>
                  <a:gd name="T19" fmla="*/ 226 h 3167"/>
                  <a:gd name="T20" fmla="*/ 1586 w 2606"/>
                  <a:gd name="T21" fmla="*/ 681 h 3167"/>
                  <a:gd name="T22" fmla="*/ 2040 w 2606"/>
                  <a:gd name="T23" fmla="*/ 1131 h 3167"/>
                  <a:gd name="T24" fmla="*/ 2380 w 2606"/>
                  <a:gd name="T25" fmla="*/ 1131 h 3167"/>
                  <a:gd name="T26" fmla="*/ 2380 w 2606"/>
                  <a:gd name="T27" fmla="*/ 2714 h 3167"/>
                  <a:gd name="T28" fmla="*/ 2153 w 2606"/>
                  <a:gd name="T29" fmla="*/ 2940 h 3167"/>
                  <a:gd name="T30" fmla="*/ 1745 w 2606"/>
                  <a:gd name="T31" fmla="*/ 2940 h 3167"/>
                  <a:gd name="T32" fmla="*/ 1745 w 2606"/>
                  <a:gd name="T33" fmla="*/ 3012 h 3167"/>
                  <a:gd name="T34" fmla="*/ 1745 w 2606"/>
                  <a:gd name="T35" fmla="*/ 3167 h 3167"/>
                  <a:gd name="T36" fmla="*/ 2153 w 2606"/>
                  <a:gd name="T37" fmla="*/ 3167 h 3167"/>
                  <a:gd name="T38" fmla="*/ 2606 w 2606"/>
                  <a:gd name="T39" fmla="*/ 2714 h 3167"/>
                  <a:gd name="T40" fmla="*/ 2606 w 2606"/>
                  <a:gd name="T41" fmla="*/ 908 h 3167"/>
                  <a:gd name="T42" fmla="*/ 1812 w 2606"/>
                  <a:gd name="T43" fmla="*/ 0 h 3167"/>
                  <a:gd name="T44" fmla="*/ 2039 w 2606"/>
                  <a:gd name="T45" fmla="*/ 904 h 3167"/>
                  <a:gd name="T46" fmla="*/ 1813 w 2606"/>
                  <a:gd name="T47" fmla="*/ 567 h 3167"/>
                  <a:gd name="T48" fmla="*/ 1813 w 2606"/>
                  <a:gd name="T49" fmla="*/ 229 h 3167"/>
                  <a:gd name="T50" fmla="*/ 2379 w 2606"/>
                  <a:gd name="T51" fmla="*/ 904 h 3167"/>
                  <a:gd name="T52" fmla="*/ 2039 w 2606"/>
                  <a:gd name="T53" fmla="*/ 904 h 3167"/>
                  <a:gd name="T54" fmla="*/ 2039 w 2606"/>
                  <a:gd name="T55" fmla="*/ 904 h 3167"/>
                  <a:gd name="T56" fmla="*/ 2039 w 2606"/>
                  <a:gd name="T57" fmla="*/ 904 h 3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06" h="3167">
                    <a:moveTo>
                      <a:pt x="1812" y="0"/>
                    </a:moveTo>
                    <a:cubicBezTo>
                      <a:pt x="451" y="0"/>
                      <a:pt x="451" y="0"/>
                      <a:pt x="451" y="0"/>
                    </a:cubicBezTo>
                    <a:cubicBezTo>
                      <a:pt x="226" y="0"/>
                      <a:pt x="24" y="193"/>
                      <a:pt x="0" y="409"/>
                    </a:cubicBezTo>
                    <a:cubicBezTo>
                      <a:pt x="0" y="664"/>
                      <a:pt x="0" y="664"/>
                      <a:pt x="0" y="664"/>
                    </a:cubicBezTo>
                    <a:cubicBezTo>
                      <a:pt x="0" y="664"/>
                      <a:pt x="0" y="664"/>
                      <a:pt x="0" y="664"/>
                    </a:cubicBezTo>
                    <a:cubicBezTo>
                      <a:pt x="0" y="818"/>
                      <a:pt x="0" y="818"/>
                      <a:pt x="0" y="818"/>
                    </a:cubicBezTo>
                    <a:cubicBezTo>
                      <a:pt x="75" y="760"/>
                      <a:pt x="148" y="725"/>
                      <a:pt x="243" y="692"/>
                    </a:cubicBezTo>
                    <a:cubicBezTo>
                      <a:pt x="243" y="449"/>
                      <a:pt x="243" y="449"/>
                      <a:pt x="243" y="449"/>
                    </a:cubicBezTo>
                    <a:cubicBezTo>
                      <a:pt x="243" y="333"/>
                      <a:pt x="332" y="226"/>
                      <a:pt x="452" y="226"/>
                    </a:cubicBezTo>
                    <a:cubicBezTo>
                      <a:pt x="1586" y="226"/>
                      <a:pt x="1586" y="226"/>
                      <a:pt x="1586" y="226"/>
                    </a:cubicBezTo>
                    <a:cubicBezTo>
                      <a:pt x="1585" y="486"/>
                      <a:pt x="1586" y="681"/>
                      <a:pt x="1586" y="681"/>
                    </a:cubicBezTo>
                    <a:cubicBezTo>
                      <a:pt x="1586" y="916"/>
                      <a:pt x="1798" y="1131"/>
                      <a:pt x="2040" y="1131"/>
                    </a:cubicBezTo>
                    <a:cubicBezTo>
                      <a:pt x="2380" y="1131"/>
                      <a:pt x="2380" y="1131"/>
                      <a:pt x="2380" y="1131"/>
                    </a:cubicBezTo>
                    <a:cubicBezTo>
                      <a:pt x="2380" y="2714"/>
                      <a:pt x="2380" y="2714"/>
                      <a:pt x="2380" y="2714"/>
                    </a:cubicBezTo>
                    <a:cubicBezTo>
                      <a:pt x="2380" y="2829"/>
                      <a:pt x="2272" y="2940"/>
                      <a:pt x="2153" y="2940"/>
                    </a:cubicBezTo>
                    <a:cubicBezTo>
                      <a:pt x="1745" y="2940"/>
                      <a:pt x="1745" y="2940"/>
                      <a:pt x="1745" y="2940"/>
                    </a:cubicBezTo>
                    <a:cubicBezTo>
                      <a:pt x="1745" y="2986"/>
                      <a:pt x="1745" y="2985"/>
                      <a:pt x="1745" y="3012"/>
                    </a:cubicBezTo>
                    <a:cubicBezTo>
                      <a:pt x="1745" y="3167"/>
                      <a:pt x="1745" y="3167"/>
                      <a:pt x="1745" y="3167"/>
                    </a:cubicBezTo>
                    <a:cubicBezTo>
                      <a:pt x="2153" y="3167"/>
                      <a:pt x="2153" y="3167"/>
                      <a:pt x="2153" y="3167"/>
                    </a:cubicBezTo>
                    <a:cubicBezTo>
                      <a:pt x="2392" y="3167"/>
                      <a:pt x="2606" y="2947"/>
                      <a:pt x="2606" y="2714"/>
                    </a:cubicBezTo>
                    <a:cubicBezTo>
                      <a:pt x="2606" y="908"/>
                      <a:pt x="2606" y="908"/>
                      <a:pt x="2606" y="908"/>
                    </a:cubicBezTo>
                    <a:lnTo>
                      <a:pt x="1812" y="0"/>
                    </a:lnTo>
                    <a:close/>
                    <a:moveTo>
                      <a:pt x="2039" y="904"/>
                    </a:moveTo>
                    <a:cubicBezTo>
                      <a:pt x="1919" y="904"/>
                      <a:pt x="1813" y="685"/>
                      <a:pt x="1813" y="567"/>
                    </a:cubicBezTo>
                    <a:cubicBezTo>
                      <a:pt x="1813" y="229"/>
                      <a:pt x="1813" y="229"/>
                      <a:pt x="1813" y="229"/>
                    </a:cubicBezTo>
                    <a:cubicBezTo>
                      <a:pt x="2379" y="904"/>
                      <a:pt x="2379" y="904"/>
                      <a:pt x="2379" y="904"/>
                    </a:cubicBezTo>
                    <a:lnTo>
                      <a:pt x="2039" y="904"/>
                    </a:lnTo>
                    <a:close/>
                    <a:moveTo>
                      <a:pt x="2039" y="904"/>
                    </a:moveTo>
                    <a:cubicBezTo>
                      <a:pt x="2039" y="904"/>
                      <a:pt x="2039" y="904"/>
                      <a:pt x="2039" y="90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sp>
            <p:nvSpPr>
              <p:cNvPr id="74" name="Freeform 7"/>
              <p:cNvSpPr>
                <a:spLocks noEditPoints="1"/>
              </p:cNvSpPr>
              <p:nvPr/>
            </p:nvSpPr>
            <p:spPr bwMode="auto">
              <a:xfrm>
                <a:off x="3721100" y="-644526"/>
                <a:ext cx="517525" cy="560388"/>
              </a:xfrm>
              <a:custGeom>
                <a:avLst/>
                <a:gdLst>
                  <a:gd name="T0" fmla="*/ 2201 w 2361"/>
                  <a:gd name="T1" fmla="*/ 1991 h 2549"/>
                  <a:gd name="T2" fmla="*/ 1607 w 2361"/>
                  <a:gd name="T3" fmla="*/ 1662 h 2549"/>
                  <a:gd name="T4" fmla="*/ 1888 w 2361"/>
                  <a:gd name="T5" fmla="*/ 956 h 2549"/>
                  <a:gd name="T6" fmla="*/ 1888 w 2361"/>
                  <a:gd name="T7" fmla="*/ 558 h 2549"/>
                  <a:gd name="T8" fmla="*/ 1185 w 2361"/>
                  <a:gd name="T9" fmla="*/ 0 h 2549"/>
                  <a:gd name="T10" fmla="*/ 473 w 2361"/>
                  <a:gd name="T11" fmla="*/ 558 h 2549"/>
                  <a:gd name="T12" fmla="*/ 473 w 2361"/>
                  <a:gd name="T13" fmla="*/ 956 h 2549"/>
                  <a:gd name="T14" fmla="*/ 770 w 2361"/>
                  <a:gd name="T15" fmla="*/ 1661 h 2549"/>
                  <a:gd name="T16" fmla="*/ 160 w 2361"/>
                  <a:gd name="T17" fmla="*/ 1991 h 2549"/>
                  <a:gd name="T18" fmla="*/ 1 w 2361"/>
                  <a:gd name="T19" fmla="*/ 2150 h 2549"/>
                  <a:gd name="T20" fmla="*/ 1 w 2361"/>
                  <a:gd name="T21" fmla="*/ 2390 h 2549"/>
                  <a:gd name="T22" fmla="*/ 47 w 2361"/>
                  <a:gd name="T23" fmla="*/ 2502 h 2549"/>
                  <a:gd name="T24" fmla="*/ 160 w 2361"/>
                  <a:gd name="T25" fmla="*/ 2549 h 2549"/>
                  <a:gd name="T26" fmla="*/ 2201 w 2361"/>
                  <a:gd name="T27" fmla="*/ 2549 h 2549"/>
                  <a:gd name="T28" fmla="*/ 2314 w 2361"/>
                  <a:gd name="T29" fmla="*/ 2502 h 2549"/>
                  <a:gd name="T30" fmla="*/ 2361 w 2361"/>
                  <a:gd name="T31" fmla="*/ 2390 h 2549"/>
                  <a:gd name="T32" fmla="*/ 2361 w 2361"/>
                  <a:gd name="T33" fmla="*/ 2150 h 2549"/>
                  <a:gd name="T34" fmla="*/ 2201 w 2361"/>
                  <a:gd name="T35" fmla="*/ 1991 h 2549"/>
                  <a:gd name="T36" fmla="*/ 189 w 2361"/>
                  <a:gd name="T37" fmla="*/ 2360 h 2549"/>
                  <a:gd name="T38" fmla="*/ 189 w 2361"/>
                  <a:gd name="T39" fmla="*/ 2192 h 2549"/>
                  <a:gd name="T40" fmla="*/ 237 w 2361"/>
                  <a:gd name="T41" fmla="*/ 2163 h 2549"/>
                  <a:gd name="T42" fmla="*/ 250 w 2361"/>
                  <a:gd name="T43" fmla="*/ 2157 h 2549"/>
                  <a:gd name="T44" fmla="*/ 859 w 2361"/>
                  <a:gd name="T45" fmla="*/ 1826 h 2549"/>
                  <a:gd name="T46" fmla="*/ 958 w 2361"/>
                  <a:gd name="T47" fmla="*/ 1678 h 2549"/>
                  <a:gd name="T48" fmla="*/ 888 w 2361"/>
                  <a:gd name="T49" fmla="*/ 1514 h 2549"/>
                  <a:gd name="T50" fmla="*/ 661 w 2361"/>
                  <a:gd name="T51" fmla="*/ 956 h 2549"/>
                  <a:gd name="T52" fmla="*/ 661 w 2361"/>
                  <a:gd name="T53" fmla="*/ 558 h 2549"/>
                  <a:gd name="T54" fmla="*/ 1185 w 2361"/>
                  <a:gd name="T55" fmla="*/ 189 h 2549"/>
                  <a:gd name="T56" fmla="*/ 1699 w 2361"/>
                  <a:gd name="T57" fmla="*/ 558 h 2549"/>
                  <a:gd name="T58" fmla="*/ 1699 w 2361"/>
                  <a:gd name="T59" fmla="*/ 956 h 2549"/>
                  <a:gd name="T60" fmla="*/ 1490 w 2361"/>
                  <a:gd name="T61" fmla="*/ 1514 h 2549"/>
                  <a:gd name="T62" fmla="*/ 1419 w 2361"/>
                  <a:gd name="T63" fmla="*/ 1678 h 2549"/>
                  <a:gd name="T64" fmla="*/ 1517 w 2361"/>
                  <a:gd name="T65" fmla="*/ 1828 h 2549"/>
                  <a:gd name="T66" fmla="*/ 2111 w 2361"/>
                  <a:gd name="T67" fmla="*/ 2157 h 2549"/>
                  <a:gd name="T68" fmla="*/ 2128 w 2361"/>
                  <a:gd name="T69" fmla="*/ 2165 h 2549"/>
                  <a:gd name="T70" fmla="*/ 2172 w 2361"/>
                  <a:gd name="T71" fmla="*/ 2189 h 2549"/>
                  <a:gd name="T72" fmla="*/ 2172 w 2361"/>
                  <a:gd name="T73" fmla="*/ 2360 h 2549"/>
                  <a:gd name="T74" fmla="*/ 189 w 2361"/>
                  <a:gd name="T75" fmla="*/ 2360 h 2549"/>
                  <a:gd name="T76" fmla="*/ 189 w 2361"/>
                  <a:gd name="T77" fmla="*/ 2360 h 2549"/>
                  <a:gd name="T78" fmla="*/ 189 w 2361"/>
                  <a:gd name="T79" fmla="*/ 2360 h 2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61" h="2549">
                    <a:moveTo>
                      <a:pt x="2201" y="1991"/>
                    </a:moveTo>
                    <a:cubicBezTo>
                      <a:pt x="1607" y="1662"/>
                      <a:pt x="1607" y="1662"/>
                      <a:pt x="1607" y="1662"/>
                    </a:cubicBezTo>
                    <a:cubicBezTo>
                      <a:pt x="1828" y="1489"/>
                      <a:pt x="1888" y="1147"/>
                      <a:pt x="1888" y="956"/>
                    </a:cubicBezTo>
                    <a:cubicBezTo>
                      <a:pt x="1888" y="558"/>
                      <a:pt x="1888" y="558"/>
                      <a:pt x="1888" y="558"/>
                    </a:cubicBezTo>
                    <a:cubicBezTo>
                      <a:pt x="1888" y="294"/>
                      <a:pt x="1537" y="0"/>
                      <a:pt x="1185" y="0"/>
                    </a:cubicBezTo>
                    <a:cubicBezTo>
                      <a:pt x="832" y="0"/>
                      <a:pt x="473" y="294"/>
                      <a:pt x="473" y="558"/>
                    </a:cubicBezTo>
                    <a:cubicBezTo>
                      <a:pt x="473" y="956"/>
                      <a:pt x="473" y="956"/>
                      <a:pt x="473" y="956"/>
                    </a:cubicBezTo>
                    <a:cubicBezTo>
                      <a:pt x="473" y="1130"/>
                      <a:pt x="546" y="1482"/>
                      <a:pt x="770" y="1661"/>
                    </a:cubicBezTo>
                    <a:cubicBezTo>
                      <a:pt x="160" y="1991"/>
                      <a:pt x="160" y="1991"/>
                      <a:pt x="160" y="1991"/>
                    </a:cubicBezTo>
                    <a:cubicBezTo>
                      <a:pt x="160" y="1991"/>
                      <a:pt x="1" y="2062"/>
                      <a:pt x="1" y="2150"/>
                    </a:cubicBezTo>
                    <a:cubicBezTo>
                      <a:pt x="1" y="2390"/>
                      <a:pt x="1" y="2390"/>
                      <a:pt x="1" y="2390"/>
                    </a:cubicBezTo>
                    <a:cubicBezTo>
                      <a:pt x="0" y="2432"/>
                      <a:pt x="17" y="2472"/>
                      <a:pt x="47" y="2502"/>
                    </a:cubicBezTo>
                    <a:cubicBezTo>
                      <a:pt x="77" y="2532"/>
                      <a:pt x="117" y="2549"/>
                      <a:pt x="160" y="2549"/>
                    </a:cubicBezTo>
                    <a:cubicBezTo>
                      <a:pt x="2201" y="2549"/>
                      <a:pt x="2201" y="2549"/>
                      <a:pt x="2201" y="2549"/>
                    </a:cubicBezTo>
                    <a:cubicBezTo>
                      <a:pt x="2244" y="2549"/>
                      <a:pt x="2284" y="2532"/>
                      <a:pt x="2314" y="2502"/>
                    </a:cubicBezTo>
                    <a:cubicBezTo>
                      <a:pt x="2344" y="2472"/>
                      <a:pt x="2361" y="2432"/>
                      <a:pt x="2361" y="2390"/>
                    </a:cubicBezTo>
                    <a:cubicBezTo>
                      <a:pt x="2361" y="2150"/>
                      <a:pt x="2361" y="2150"/>
                      <a:pt x="2361" y="2150"/>
                    </a:cubicBezTo>
                    <a:cubicBezTo>
                      <a:pt x="2361" y="2057"/>
                      <a:pt x="2201" y="1991"/>
                      <a:pt x="2201" y="1991"/>
                    </a:cubicBezTo>
                    <a:close/>
                    <a:moveTo>
                      <a:pt x="189" y="2360"/>
                    </a:moveTo>
                    <a:cubicBezTo>
                      <a:pt x="189" y="2192"/>
                      <a:pt x="189" y="2192"/>
                      <a:pt x="189" y="2192"/>
                    </a:cubicBezTo>
                    <a:cubicBezTo>
                      <a:pt x="204" y="2181"/>
                      <a:pt x="220" y="2171"/>
                      <a:pt x="237" y="2163"/>
                    </a:cubicBezTo>
                    <a:cubicBezTo>
                      <a:pt x="241" y="2161"/>
                      <a:pt x="245" y="2159"/>
                      <a:pt x="250" y="2157"/>
                    </a:cubicBezTo>
                    <a:cubicBezTo>
                      <a:pt x="859" y="1826"/>
                      <a:pt x="859" y="1826"/>
                      <a:pt x="859" y="1826"/>
                    </a:cubicBezTo>
                    <a:cubicBezTo>
                      <a:pt x="915" y="1796"/>
                      <a:pt x="952" y="1741"/>
                      <a:pt x="958" y="1678"/>
                    </a:cubicBezTo>
                    <a:cubicBezTo>
                      <a:pt x="963" y="1615"/>
                      <a:pt x="937" y="1553"/>
                      <a:pt x="888" y="1514"/>
                    </a:cubicBezTo>
                    <a:cubicBezTo>
                      <a:pt x="729" y="1387"/>
                      <a:pt x="661" y="1106"/>
                      <a:pt x="661" y="956"/>
                    </a:cubicBezTo>
                    <a:cubicBezTo>
                      <a:pt x="661" y="558"/>
                      <a:pt x="661" y="558"/>
                      <a:pt x="661" y="558"/>
                    </a:cubicBezTo>
                    <a:cubicBezTo>
                      <a:pt x="661" y="422"/>
                      <a:pt x="917" y="189"/>
                      <a:pt x="1185" y="189"/>
                    </a:cubicBezTo>
                    <a:cubicBezTo>
                      <a:pt x="1457" y="189"/>
                      <a:pt x="1699" y="419"/>
                      <a:pt x="1699" y="558"/>
                    </a:cubicBezTo>
                    <a:cubicBezTo>
                      <a:pt x="1699" y="956"/>
                      <a:pt x="1699" y="956"/>
                      <a:pt x="1699" y="956"/>
                    </a:cubicBezTo>
                    <a:cubicBezTo>
                      <a:pt x="1699" y="1104"/>
                      <a:pt x="1653" y="1386"/>
                      <a:pt x="1490" y="1514"/>
                    </a:cubicBezTo>
                    <a:cubicBezTo>
                      <a:pt x="1440" y="1553"/>
                      <a:pt x="1414" y="1615"/>
                      <a:pt x="1419" y="1678"/>
                    </a:cubicBezTo>
                    <a:cubicBezTo>
                      <a:pt x="1424" y="1741"/>
                      <a:pt x="1461" y="1797"/>
                      <a:pt x="1517" y="1828"/>
                    </a:cubicBezTo>
                    <a:cubicBezTo>
                      <a:pt x="2111" y="2157"/>
                      <a:pt x="2111" y="2157"/>
                      <a:pt x="2111" y="2157"/>
                    </a:cubicBezTo>
                    <a:cubicBezTo>
                      <a:pt x="2116" y="2160"/>
                      <a:pt x="2123" y="2163"/>
                      <a:pt x="2128" y="2165"/>
                    </a:cubicBezTo>
                    <a:cubicBezTo>
                      <a:pt x="2144" y="2172"/>
                      <a:pt x="2158" y="2180"/>
                      <a:pt x="2172" y="2189"/>
                    </a:cubicBezTo>
                    <a:cubicBezTo>
                      <a:pt x="2172" y="2360"/>
                      <a:pt x="2172" y="2360"/>
                      <a:pt x="2172" y="2360"/>
                    </a:cubicBezTo>
                    <a:cubicBezTo>
                      <a:pt x="189" y="2360"/>
                      <a:pt x="189" y="2360"/>
                      <a:pt x="189" y="2360"/>
                    </a:cubicBezTo>
                    <a:close/>
                    <a:moveTo>
                      <a:pt x="189" y="2360"/>
                    </a:moveTo>
                    <a:cubicBezTo>
                      <a:pt x="189" y="2360"/>
                      <a:pt x="189" y="2360"/>
                      <a:pt x="189" y="236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800">
                  <a:cs typeface="+mn-ea"/>
                  <a:sym typeface="+mn-lt"/>
                </a:endParaRPr>
              </a:p>
            </p:txBody>
          </p:sp>
        </p:grpSp>
        <p:sp>
          <p:nvSpPr>
            <p:cNvPr id="75" name="Freeform 11"/>
            <p:cNvSpPr>
              <a:spLocks noEditPoints="1"/>
            </p:cNvSpPr>
            <p:nvPr/>
          </p:nvSpPr>
          <p:spPr bwMode="auto">
            <a:xfrm>
              <a:off x="5225462" y="4614131"/>
              <a:ext cx="495631" cy="492371"/>
            </a:xfrm>
            <a:custGeom>
              <a:avLst/>
              <a:gdLst>
                <a:gd name="T0" fmla="*/ 1819 w 2881"/>
                <a:gd name="T1" fmla="*/ 1849 h 2857"/>
                <a:gd name="T2" fmla="*/ 1380 w 2881"/>
                <a:gd name="T3" fmla="*/ 1410 h 2857"/>
                <a:gd name="T4" fmla="*/ 2696 w 2881"/>
                <a:gd name="T5" fmla="*/ 446 h 2857"/>
                <a:gd name="T6" fmla="*/ 2784 w 2881"/>
                <a:gd name="T7" fmla="*/ 885 h 2857"/>
                <a:gd name="T8" fmla="*/ 1751 w 2881"/>
                <a:gd name="T9" fmla="*/ 1740 h 2857"/>
                <a:gd name="T10" fmla="*/ 1512 w 2881"/>
                <a:gd name="T11" fmla="*/ 1453 h 2857"/>
                <a:gd name="T12" fmla="*/ 1329 w 2881"/>
                <a:gd name="T13" fmla="*/ 1898 h 2857"/>
                <a:gd name="T14" fmla="*/ 1863 w 2881"/>
                <a:gd name="T15" fmla="*/ 1629 h 2857"/>
                <a:gd name="T16" fmla="*/ 2256 w 2881"/>
                <a:gd name="T17" fmla="*/ 709 h 2857"/>
                <a:gd name="T18" fmla="*/ 2696 w 2881"/>
                <a:gd name="T19" fmla="*/ 620 h 2857"/>
                <a:gd name="T20" fmla="*/ 2433 w 2881"/>
                <a:gd name="T21" fmla="*/ 532 h 2857"/>
                <a:gd name="T22" fmla="*/ 2607 w 2881"/>
                <a:gd name="T23" fmla="*/ 884 h 2857"/>
                <a:gd name="T24" fmla="*/ 2696 w 2881"/>
                <a:gd name="T25" fmla="*/ 620 h 2857"/>
                <a:gd name="T26" fmla="*/ 434 w 2881"/>
                <a:gd name="T27" fmla="*/ 2050 h 2857"/>
                <a:gd name="T28" fmla="*/ 998 w 2881"/>
                <a:gd name="T29" fmla="*/ 2174 h 2857"/>
                <a:gd name="T30" fmla="*/ 1139 w 2881"/>
                <a:gd name="T31" fmla="*/ 1801 h 2857"/>
                <a:gd name="T32" fmla="*/ 434 w 2881"/>
                <a:gd name="T33" fmla="*/ 1677 h 2857"/>
                <a:gd name="T34" fmla="*/ 1139 w 2881"/>
                <a:gd name="T35" fmla="*/ 1801 h 2857"/>
                <a:gd name="T36" fmla="*/ 1055 w 2881"/>
                <a:gd name="T37" fmla="*/ 932 h 2857"/>
                <a:gd name="T38" fmla="*/ 434 w 2881"/>
                <a:gd name="T39" fmla="*/ 1056 h 2857"/>
                <a:gd name="T40" fmla="*/ 1055 w 2881"/>
                <a:gd name="T41" fmla="*/ 1429 h 2857"/>
                <a:gd name="T42" fmla="*/ 434 w 2881"/>
                <a:gd name="T43" fmla="*/ 1304 h 2857"/>
                <a:gd name="T44" fmla="*/ 1055 w 2881"/>
                <a:gd name="T45" fmla="*/ 1429 h 2857"/>
                <a:gd name="T46" fmla="*/ 1800 w 2881"/>
                <a:gd name="T47" fmla="*/ 2174 h 2857"/>
                <a:gd name="T48" fmla="*/ 1530 w 2881"/>
                <a:gd name="T49" fmla="*/ 2050 h 2857"/>
                <a:gd name="T50" fmla="*/ 1490 w 2881"/>
                <a:gd name="T51" fmla="*/ 228 h 2857"/>
                <a:gd name="T52" fmla="*/ 1614 w 2881"/>
                <a:gd name="T53" fmla="*/ 808 h 2857"/>
                <a:gd name="T54" fmla="*/ 1682 w 2881"/>
                <a:gd name="T55" fmla="*/ 932 h 2857"/>
                <a:gd name="T56" fmla="*/ 1366 w 2881"/>
                <a:gd name="T57" fmla="*/ 684 h 2857"/>
                <a:gd name="T58" fmla="*/ 248 w 2881"/>
                <a:gd name="T59" fmla="*/ 125 h 2857"/>
                <a:gd name="T60" fmla="*/ 124 w 2881"/>
                <a:gd name="T61" fmla="*/ 2608 h 2857"/>
                <a:gd name="T62" fmla="*/ 1987 w 2881"/>
                <a:gd name="T63" fmla="*/ 2733 h 2857"/>
                <a:gd name="T64" fmla="*/ 2111 w 2881"/>
                <a:gd name="T65" fmla="*/ 1733 h 2857"/>
                <a:gd name="T66" fmla="*/ 2235 w 2881"/>
                <a:gd name="T67" fmla="*/ 2608 h 2857"/>
                <a:gd name="T68" fmla="*/ 248 w 2881"/>
                <a:gd name="T69" fmla="*/ 2857 h 2857"/>
                <a:gd name="T70" fmla="*/ 0 w 2881"/>
                <a:gd name="T71" fmla="*/ 249 h 2857"/>
                <a:gd name="T72" fmla="*/ 1450 w 2881"/>
                <a:gd name="T73" fmla="*/ 0 h 2857"/>
                <a:gd name="T74" fmla="*/ 1924 w 2881"/>
                <a:gd name="T75" fmla="*/ 691 h 2857"/>
                <a:gd name="T76" fmla="*/ 1490 w 2881"/>
                <a:gd name="T77" fmla="*/ 228 h 2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881" h="2857">
                  <a:moveTo>
                    <a:pt x="2784" y="885"/>
                  </a:moveTo>
                  <a:cubicBezTo>
                    <a:pt x="1819" y="1849"/>
                    <a:pt x="1819" y="1849"/>
                    <a:pt x="1819" y="1849"/>
                  </a:cubicBezTo>
                  <a:cubicBezTo>
                    <a:pt x="1116" y="2111"/>
                    <a:pt x="1116" y="2111"/>
                    <a:pt x="1116" y="2111"/>
                  </a:cubicBezTo>
                  <a:cubicBezTo>
                    <a:pt x="1380" y="1410"/>
                    <a:pt x="1380" y="1410"/>
                    <a:pt x="1380" y="1410"/>
                  </a:cubicBezTo>
                  <a:cubicBezTo>
                    <a:pt x="2344" y="446"/>
                    <a:pt x="2344" y="446"/>
                    <a:pt x="2344" y="446"/>
                  </a:cubicBezTo>
                  <a:cubicBezTo>
                    <a:pt x="2442" y="349"/>
                    <a:pt x="2599" y="349"/>
                    <a:pt x="2696" y="446"/>
                  </a:cubicBezTo>
                  <a:cubicBezTo>
                    <a:pt x="2784" y="534"/>
                    <a:pt x="2784" y="534"/>
                    <a:pt x="2784" y="534"/>
                  </a:cubicBezTo>
                  <a:cubicBezTo>
                    <a:pt x="2881" y="631"/>
                    <a:pt x="2881" y="788"/>
                    <a:pt x="2784" y="885"/>
                  </a:cubicBezTo>
                  <a:close/>
                  <a:moveTo>
                    <a:pt x="1329" y="1898"/>
                  </a:moveTo>
                  <a:cubicBezTo>
                    <a:pt x="1751" y="1740"/>
                    <a:pt x="1751" y="1740"/>
                    <a:pt x="1751" y="1740"/>
                  </a:cubicBezTo>
                  <a:cubicBezTo>
                    <a:pt x="1775" y="1717"/>
                    <a:pt x="1775" y="1717"/>
                    <a:pt x="1775" y="1717"/>
                  </a:cubicBezTo>
                  <a:cubicBezTo>
                    <a:pt x="1512" y="1453"/>
                    <a:pt x="1512" y="1453"/>
                    <a:pt x="1512" y="1453"/>
                  </a:cubicBezTo>
                  <a:cubicBezTo>
                    <a:pt x="1488" y="1477"/>
                    <a:pt x="1488" y="1477"/>
                    <a:pt x="1488" y="1477"/>
                  </a:cubicBezTo>
                  <a:lnTo>
                    <a:pt x="1329" y="1898"/>
                  </a:lnTo>
                  <a:close/>
                  <a:moveTo>
                    <a:pt x="1599" y="1365"/>
                  </a:moveTo>
                  <a:cubicBezTo>
                    <a:pt x="1863" y="1629"/>
                    <a:pt x="1863" y="1629"/>
                    <a:pt x="1863" y="1629"/>
                  </a:cubicBezTo>
                  <a:cubicBezTo>
                    <a:pt x="2520" y="972"/>
                    <a:pt x="2520" y="972"/>
                    <a:pt x="2520" y="972"/>
                  </a:cubicBezTo>
                  <a:cubicBezTo>
                    <a:pt x="2256" y="709"/>
                    <a:pt x="2256" y="709"/>
                    <a:pt x="2256" y="709"/>
                  </a:cubicBezTo>
                  <a:lnTo>
                    <a:pt x="1599" y="1365"/>
                  </a:lnTo>
                  <a:close/>
                  <a:moveTo>
                    <a:pt x="2696" y="620"/>
                  </a:moveTo>
                  <a:cubicBezTo>
                    <a:pt x="2609" y="532"/>
                    <a:pt x="2609" y="532"/>
                    <a:pt x="2609" y="532"/>
                  </a:cubicBezTo>
                  <a:cubicBezTo>
                    <a:pt x="2560" y="484"/>
                    <a:pt x="2481" y="484"/>
                    <a:pt x="2433" y="532"/>
                  </a:cubicBezTo>
                  <a:cubicBezTo>
                    <a:pt x="2344" y="621"/>
                    <a:pt x="2344" y="621"/>
                    <a:pt x="2344" y="621"/>
                  </a:cubicBezTo>
                  <a:cubicBezTo>
                    <a:pt x="2607" y="884"/>
                    <a:pt x="2607" y="884"/>
                    <a:pt x="2607" y="884"/>
                  </a:cubicBezTo>
                  <a:cubicBezTo>
                    <a:pt x="2696" y="795"/>
                    <a:pt x="2696" y="795"/>
                    <a:pt x="2696" y="795"/>
                  </a:cubicBezTo>
                  <a:cubicBezTo>
                    <a:pt x="2745" y="747"/>
                    <a:pt x="2745" y="668"/>
                    <a:pt x="2696" y="620"/>
                  </a:cubicBezTo>
                  <a:close/>
                  <a:moveTo>
                    <a:pt x="434" y="2174"/>
                  </a:moveTo>
                  <a:cubicBezTo>
                    <a:pt x="434" y="2050"/>
                    <a:pt x="434" y="2050"/>
                    <a:pt x="434" y="2050"/>
                  </a:cubicBezTo>
                  <a:cubicBezTo>
                    <a:pt x="1045" y="2050"/>
                    <a:pt x="1045" y="2050"/>
                    <a:pt x="1045" y="2050"/>
                  </a:cubicBezTo>
                  <a:cubicBezTo>
                    <a:pt x="998" y="2174"/>
                    <a:pt x="998" y="2174"/>
                    <a:pt x="998" y="2174"/>
                  </a:cubicBezTo>
                  <a:lnTo>
                    <a:pt x="434" y="2174"/>
                  </a:lnTo>
                  <a:close/>
                  <a:moveTo>
                    <a:pt x="1139" y="1801"/>
                  </a:moveTo>
                  <a:cubicBezTo>
                    <a:pt x="434" y="1801"/>
                    <a:pt x="434" y="1801"/>
                    <a:pt x="434" y="1801"/>
                  </a:cubicBezTo>
                  <a:cubicBezTo>
                    <a:pt x="434" y="1677"/>
                    <a:pt x="434" y="1677"/>
                    <a:pt x="434" y="1677"/>
                  </a:cubicBezTo>
                  <a:cubicBezTo>
                    <a:pt x="1185" y="1677"/>
                    <a:pt x="1185" y="1677"/>
                    <a:pt x="1185" y="1677"/>
                  </a:cubicBezTo>
                  <a:lnTo>
                    <a:pt x="1139" y="1801"/>
                  </a:lnTo>
                  <a:close/>
                  <a:moveTo>
                    <a:pt x="434" y="932"/>
                  </a:moveTo>
                  <a:cubicBezTo>
                    <a:pt x="1055" y="932"/>
                    <a:pt x="1055" y="932"/>
                    <a:pt x="1055" y="932"/>
                  </a:cubicBezTo>
                  <a:cubicBezTo>
                    <a:pt x="1055" y="1056"/>
                    <a:pt x="1055" y="1056"/>
                    <a:pt x="1055" y="1056"/>
                  </a:cubicBezTo>
                  <a:cubicBezTo>
                    <a:pt x="434" y="1056"/>
                    <a:pt x="434" y="1056"/>
                    <a:pt x="434" y="1056"/>
                  </a:cubicBezTo>
                  <a:lnTo>
                    <a:pt x="434" y="932"/>
                  </a:lnTo>
                  <a:close/>
                  <a:moveTo>
                    <a:pt x="1055" y="1429"/>
                  </a:moveTo>
                  <a:cubicBezTo>
                    <a:pt x="434" y="1429"/>
                    <a:pt x="434" y="1429"/>
                    <a:pt x="434" y="1429"/>
                  </a:cubicBezTo>
                  <a:cubicBezTo>
                    <a:pt x="434" y="1304"/>
                    <a:pt x="434" y="1304"/>
                    <a:pt x="434" y="1304"/>
                  </a:cubicBezTo>
                  <a:cubicBezTo>
                    <a:pt x="1055" y="1304"/>
                    <a:pt x="1055" y="1304"/>
                    <a:pt x="1055" y="1304"/>
                  </a:cubicBezTo>
                  <a:lnTo>
                    <a:pt x="1055" y="1429"/>
                  </a:lnTo>
                  <a:close/>
                  <a:moveTo>
                    <a:pt x="1800" y="2050"/>
                  </a:moveTo>
                  <a:cubicBezTo>
                    <a:pt x="1800" y="2174"/>
                    <a:pt x="1800" y="2174"/>
                    <a:pt x="1800" y="2174"/>
                  </a:cubicBezTo>
                  <a:cubicBezTo>
                    <a:pt x="1197" y="2174"/>
                    <a:pt x="1197" y="2174"/>
                    <a:pt x="1197" y="2174"/>
                  </a:cubicBezTo>
                  <a:cubicBezTo>
                    <a:pt x="1530" y="2050"/>
                    <a:pt x="1530" y="2050"/>
                    <a:pt x="1530" y="2050"/>
                  </a:cubicBezTo>
                  <a:lnTo>
                    <a:pt x="1800" y="2050"/>
                  </a:lnTo>
                  <a:close/>
                  <a:moveTo>
                    <a:pt x="1490" y="228"/>
                  </a:moveTo>
                  <a:cubicBezTo>
                    <a:pt x="1490" y="684"/>
                    <a:pt x="1490" y="684"/>
                    <a:pt x="1490" y="684"/>
                  </a:cubicBezTo>
                  <a:cubicBezTo>
                    <a:pt x="1490" y="752"/>
                    <a:pt x="1545" y="808"/>
                    <a:pt x="1614" y="808"/>
                  </a:cubicBezTo>
                  <a:cubicBezTo>
                    <a:pt x="1807" y="808"/>
                    <a:pt x="1807" y="808"/>
                    <a:pt x="1807" y="808"/>
                  </a:cubicBezTo>
                  <a:cubicBezTo>
                    <a:pt x="1682" y="932"/>
                    <a:pt x="1682" y="932"/>
                    <a:pt x="1682" y="932"/>
                  </a:cubicBezTo>
                  <a:cubicBezTo>
                    <a:pt x="1614" y="932"/>
                    <a:pt x="1614" y="932"/>
                    <a:pt x="1614" y="932"/>
                  </a:cubicBezTo>
                  <a:cubicBezTo>
                    <a:pt x="1477" y="932"/>
                    <a:pt x="1366" y="821"/>
                    <a:pt x="1366" y="684"/>
                  </a:cubicBezTo>
                  <a:cubicBezTo>
                    <a:pt x="1366" y="125"/>
                    <a:pt x="1366" y="125"/>
                    <a:pt x="1366" y="125"/>
                  </a:cubicBezTo>
                  <a:cubicBezTo>
                    <a:pt x="248" y="125"/>
                    <a:pt x="248" y="125"/>
                    <a:pt x="248" y="125"/>
                  </a:cubicBezTo>
                  <a:cubicBezTo>
                    <a:pt x="179" y="125"/>
                    <a:pt x="124" y="180"/>
                    <a:pt x="124" y="249"/>
                  </a:cubicBezTo>
                  <a:cubicBezTo>
                    <a:pt x="124" y="2608"/>
                    <a:pt x="124" y="2608"/>
                    <a:pt x="124" y="2608"/>
                  </a:cubicBezTo>
                  <a:cubicBezTo>
                    <a:pt x="124" y="2677"/>
                    <a:pt x="179" y="2733"/>
                    <a:pt x="248" y="2733"/>
                  </a:cubicBezTo>
                  <a:cubicBezTo>
                    <a:pt x="1987" y="2733"/>
                    <a:pt x="1987" y="2733"/>
                    <a:pt x="1987" y="2733"/>
                  </a:cubicBezTo>
                  <a:cubicBezTo>
                    <a:pt x="2055" y="2733"/>
                    <a:pt x="2111" y="2677"/>
                    <a:pt x="2111" y="2608"/>
                  </a:cubicBezTo>
                  <a:cubicBezTo>
                    <a:pt x="2111" y="1733"/>
                    <a:pt x="2111" y="1733"/>
                    <a:pt x="2111" y="1733"/>
                  </a:cubicBezTo>
                  <a:cubicBezTo>
                    <a:pt x="2235" y="1609"/>
                    <a:pt x="2235" y="1609"/>
                    <a:pt x="2235" y="1609"/>
                  </a:cubicBezTo>
                  <a:cubicBezTo>
                    <a:pt x="2235" y="2608"/>
                    <a:pt x="2235" y="2608"/>
                    <a:pt x="2235" y="2608"/>
                  </a:cubicBezTo>
                  <a:cubicBezTo>
                    <a:pt x="2235" y="2746"/>
                    <a:pt x="2124" y="2857"/>
                    <a:pt x="1987" y="2857"/>
                  </a:cubicBezTo>
                  <a:cubicBezTo>
                    <a:pt x="248" y="2857"/>
                    <a:pt x="248" y="2857"/>
                    <a:pt x="248" y="2857"/>
                  </a:cubicBezTo>
                  <a:cubicBezTo>
                    <a:pt x="111" y="2857"/>
                    <a:pt x="0" y="2746"/>
                    <a:pt x="0" y="2608"/>
                  </a:cubicBezTo>
                  <a:cubicBezTo>
                    <a:pt x="0" y="249"/>
                    <a:pt x="0" y="249"/>
                    <a:pt x="0" y="249"/>
                  </a:cubicBezTo>
                  <a:cubicBezTo>
                    <a:pt x="0" y="112"/>
                    <a:pt x="111" y="0"/>
                    <a:pt x="248" y="0"/>
                  </a:cubicBezTo>
                  <a:cubicBezTo>
                    <a:pt x="1450" y="0"/>
                    <a:pt x="1450" y="0"/>
                    <a:pt x="1450" y="0"/>
                  </a:cubicBezTo>
                  <a:cubicBezTo>
                    <a:pt x="2010" y="604"/>
                    <a:pt x="2010" y="604"/>
                    <a:pt x="2010" y="604"/>
                  </a:cubicBezTo>
                  <a:cubicBezTo>
                    <a:pt x="1924" y="691"/>
                    <a:pt x="1924" y="691"/>
                    <a:pt x="1924" y="691"/>
                  </a:cubicBezTo>
                  <a:lnTo>
                    <a:pt x="1490" y="228"/>
                  </a:lnTo>
                  <a:close/>
                  <a:moveTo>
                    <a:pt x="1490" y="228"/>
                  </a:moveTo>
                  <a:cubicBezTo>
                    <a:pt x="1490" y="228"/>
                    <a:pt x="1490" y="228"/>
                    <a:pt x="1490" y="228"/>
                  </a:cubicBezTo>
                </a:path>
              </a:pathLst>
            </a:custGeom>
            <a:solidFill>
              <a:schemeClr val="bg1"/>
            </a:solidFill>
            <a:ln>
              <a:noFill/>
            </a:ln>
          </p:spPr>
          <p:txBody>
            <a:bodyPr vert="horz" wrap="square" lIns="91440" tIns="45720" rIns="91440" bIns="45720" numCol="1" anchor="t" anchorCtr="0" compatLnSpc="1"/>
            <a:lstStyle/>
            <a:p>
              <a:endParaRPr lang="zh-CN" altLang="en-US" sz="1800">
                <a:cs typeface="+mn-ea"/>
                <a:sym typeface="+mn-lt"/>
              </a:endParaRPr>
            </a:p>
          </p:txBody>
        </p:sp>
        <p:sp>
          <p:nvSpPr>
            <p:cNvPr id="76" name="Freeform 15"/>
            <p:cNvSpPr>
              <a:spLocks noEditPoints="1"/>
            </p:cNvSpPr>
            <p:nvPr/>
          </p:nvSpPr>
          <p:spPr bwMode="auto">
            <a:xfrm>
              <a:off x="6503483" y="4613749"/>
              <a:ext cx="502152" cy="502153"/>
            </a:xfrm>
            <a:custGeom>
              <a:avLst/>
              <a:gdLst>
                <a:gd name="T0" fmla="*/ 2204 w 2599"/>
                <a:gd name="T1" fmla="*/ 392 h 2595"/>
                <a:gd name="T2" fmla="*/ 1893 w 2599"/>
                <a:gd name="T3" fmla="*/ 233 h 2595"/>
                <a:gd name="T4" fmla="*/ 772 w 2599"/>
                <a:gd name="T5" fmla="*/ 165 h 2595"/>
                <a:gd name="T6" fmla="*/ 100 w 2599"/>
                <a:gd name="T7" fmla="*/ 838 h 2595"/>
                <a:gd name="T8" fmla="*/ 100 w 2599"/>
                <a:gd name="T9" fmla="*/ 1822 h 2595"/>
                <a:gd name="T10" fmla="*/ 772 w 2599"/>
                <a:gd name="T11" fmla="*/ 2495 h 2595"/>
                <a:gd name="T12" fmla="*/ 1757 w 2599"/>
                <a:gd name="T13" fmla="*/ 2495 h 2595"/>
                <a:gd name="T14" fmla="*/ 2430 w 2599"/>
                <a:gd name="T15" fmla="*/ 1822 h 2595"/>
                <a:gd name="T16" fmla="*/ 2364 w 2599"/>
                <a:gd name="T17" fmla="*/ 705 h 2595"/>
                <a:gd name="T18" fmla="*/ 1976 w 2599"/>
                <a:gd name="T19" fmla="*/ 1081 h 2595"/>
                <a:gd name="T20" fmla="*/ 2024 w 2599"/>
                <a:gd name="T21" fmla="*/ 1330 h 2595"/>
                <a:gd name="T22" fmla="*/ 1265 w 2599"/>
                <a:gd name="T23" fmla="*/ 2089 h 2595"/>
                <a:gd name="T24" fmla="*/ 506 w 2599"/>
                <a:gd name="T25" fmla="*/ 1330 h 2595"/>
                <a:gd name="T26" fmla="*/ 1265 w 2599"/>
                <a:gd name="T27" fmla="*/ 571 h 2595"/>
                <a:gd name="T28" fmla="*/ 1512 w 2599"/>
                <a:gd name="T29" fmla="*/ 613 h 2595"/>
                <a:gd name="T30" fmla="*/ 1523 w 2599"/>
                <a:gd name="T31" fmla="*/ 970 h 2595"/>
                <a:gd name="T32" fmla="*/ 822 w 2599"/>
                <a:gd name="T33" fmla="*/ 1329 h 2595"/>
                <a:gd name="T34" fmla="*/ 1707 w 2599"/>
                <a:gd name="T35" fmla="*/ 1329 h 2595"/>
                <a:gd name="T36" fmla="*/ 1669 w 2599"/>
                <a:gd name="T37" fmla="*/ 1014 h 2595"/>
                <a:gd name="T38" fmla="*/ 1580 w 2599"/>
                <a:gd name="T39" fmla="*/ 1330 h 2595"/>
                <a:gd name="T40" fmla="*/ 949 w 2599"/>
                <a:gd name="T41" fmla="*/ 1330 h 2595"/>
                <a:gd name="T42" fmla="*/ 1439 w 2599"/>
                <a:gd name="T43" fmla="*/ 1066 h 2595"/>
                <a:gd name="T44" fmla="*/ 1264 w 2599"/>
                <a:gd name="T45" fmla="*/ 1203 h 2595"/>
                <a:gd name="T46" fmla="*/ 1264 w 2599"/>
                <a:gd name="T47" fmla="*/ 1457 h 2595"/>
                <a:gd name="T48" fmla="*/ 1387 w 2599"/>
                <a:gd name="T49" fmla="*/ 1297 h 2595"/>
                <a:gd name="T50" fmla="*/ 1580 w 2599"/>
                <a:gd name="T51" fmla="*/ 1330 h 2595"/>
                <a:gd name="T52" fmla="*/ 1802 w 2599"/>
                <a:gd name="T53" fmla="*/ 502 h 2595"/>
                <a:gd name="T54" fmla="*/ 1916 w 2599"/>
                <a:gd name="T55" fmla="*/ 588 h 2595"/>
                <a:gd name="T56" fmla="*/ 1750 w 2599"/>
                <a:gd name="T57" fmla="*/ 555 h 2595"/>
                <a:gd name="T58" fmla="*/ 1682 w 2599"/>
                <a:gd name="T59" fmla="*/ 816 h 2595"/>
                <a:gd name="T60" fmla="*/ 1750 w 2599"/>
                <a:gd name="T61" fmla="*/ 555 h 2595"/>
                <a:gd name="T62" fmla="*/ 1936 w 2599"/>
                <a:gd name="T63" fmla="*/ 943 h 2595"/>
                <a:gd name="T64" fmla="*/ 1881 w 2599"/>
                <a:gd name="T65" fmla="*/ 802 h 2595"/>
                <a:gd name="T66" fmla="*/ 2021 w 2599"/>
                <a:gd name="T67" fmla="*/ 861 h 2595"/>
                <a:gd name="T68" fmla="*/ 1935 w 2599"/>
                <a:gd name="T69" fmla="*/ 749 h 2595"/>
                <a:gd name="T70" fmla="*/ 2177 w 2599"/>
                <a:gd name="T71" fmla="*/ 710 h 2595"/>
                <a:gd name="T72" fmla="*/ 2232 w 2599"/>
                <a:gd name="T73" fmla="*/ 656 h 2595"/>
                <a:gd name="T74" fmla="*/ 2159 w 2599"/>
                <a:gd name="T75" fmla="*/ 528 h 2595"/>
                <a:gd name="T76" fmla="*/ 2341 w 2599"/>
                <a:gd name="T77" fmla="*/ 551 h 2595"/>
                <a:gd name="T78" fmla="*/ 2081 w 2599"/>
                <a:gd name="T79" fmla="*/ 424 h 2595"/>
                <a:gd name="T80" fmla="*/ 1928 w 2599"/>
                <a:gd name="T81" fmla="*/ 376 h 2595"/>
                <a:gd name="T82" fmla="*/ 2081 w 2599"/>
                <a:gd name="T83" fmla="*/ 424 h 2595"/>
                <a:gd name="T84" fmla="*/ 2069 w 2599"/>
                <a:gd name="T85" fmla="*/ 2134 h 2595"/>
                <a:gd name="T86" fmla="*/ 460 w 2599"/>
                <a:gd name="T87" fmla="*/ 2134 h 2595"/>
                <a:gd name="T88" fmla="*/ 460 w 2599"/>
                <a:gd name="T89" fmla="*/ 525 h 2595"/>
                <a:gd name="T90" fmla="*/ 1800 w 2599"/>
                <a:gd name="T91" fmla="*/ 325 h 2595"/>
                <a:gd name="T92" fmla="*/ 1265 w 2599"/>
                <a:gd name="T93" fmla="*/ 444 h 2595"/>
                <a:gd name="T94" fmla="*/ 380 w 2599"/>
                <a:gd name="T95" fmla="*/ 1329 h 2595"/>
                <a:gd name="T96" fmla="*/ 1265 w 2599"/>
                <a:gd name="T97" fmla="*/ 2214 h 2595"/>
                <a:gd name="T98" fmla="*/ 2150 w 2599"/>
                <a:gd name="T99" fmla="*/ 1329 h 2595"/>
                <a:gd name="T100" fmla="*/ 2269 w 2599"/>
                <a:gd name="T101" fmla="*/ 796 h 2595"/>
                <a:gd name="T102" fmla="*/ 2403 w 2599"/>
                <a:gd name="T103" fmla="*/ 1330 h 2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599" h="2595">
                  <a:moveTo>
                    <a:pt x="2599" y="477"/>
                  </a:moveTo>
                  <a:cubicBezTo>
                    <a:pt x="2204" y="392"/>
                    <a:pt x="2204" y="392"/>
                    <a:pt x="2204" y="392"/>
                  </a:cubicBezTo>
                  <a:cubicBezTo>
                    <a:pt x="2126" y="0"/>
                    <a:pt x="2126" y="0"/>
                    <a:pt x="2126" y="0"/>
                  </a:cubicBezTo>
                  <a:cubicBezTo>
                    <a:pt x="1893" y="233"/>
                    <a:pt x="1893" y="233"/>
                    <a:pt x="1893" y="233"/>
                  </a:cubicBezTo>
                  <a:cubicBezTo>
                    <a:pt x="1703" y="123"/>
                    <a:pt x="1487" y="65"/>
                    <a:pt x="1265" y="65"/>
                  </a:cubicBezTo>
                  <a:cubicBezTo>
                    <a:pt x="1094" y="65"/>
                    <a:pt x="928" y="99"/>
                    <a:pt x="772" y="165"/>
                  </a:cubicBezTo>
                  <a:cubicBezTo>
                    <a:pt x="622" y="228"/>
                    <a:pt x="487" y="320"/>
                    <a:pt x="371" y="436"/>
                  </a:cubicBezTo>
                  <a:cubicBezTo>
                    <a:pt x="254" y="552"/>
                    <a:pt x="163" y="687"/>
                    <a:pt x="100" y="838"/>
                  </a:cubicBezTo>
                  <a:cubicBezTo>
                    <a:pt x="34" y="994"/>
                    <a:pt x="0" y="1159"/>
                    <a:pt x="0" y="1330"/>
                  </a:cubicBezTo>
                  <a:cubicBezTo>
                    <a:pt x="0" y="1500"/>
                    <a:pt x="34" y="1666"/>
                    <a:pt x="100" y="1822"/>
                  </a:cubicBezTo>
                  <a:cubicBezTo>
                    <a:pt x="163" y="1973"/>
                    <a:pt x="254" y="2108"/>
                    <a:pt x="371" y="2224"/>
                  </a:cubicBezTo>
                  <a:cubicBezTo>
                    <a:pt x="487" y="2340"/>
                    <a:pt x="622" y="2431"/>
                    <a:pt x="772" y="2495"/>
                  </a:cubicBezTo>
                  <a:cubicBezTo>
                    <a:pt x="928" y="2561"/>
                    <a:pt x="1094" y="2595"/>
                    <a:pt x="1265" y="2595"/>
                  </a:cubicBezTo>
                  <a:cubicBezTo>
                    <a:pt x="1435" y="2595"/>
                    <a:pt x="1601" y="2561"/>
                    <a:pt x="1757" y="2495"/>
                  </a:cubicBezTo>
                  <a:cubicBezTo>
                    <a:pt x="1908" y="2431"/>
                    <a:pt x="2043" y="2340"/>
                    <a:pt x="2159" y="2224"/>
                  </a:cubicBezTo>
                  <a:cubicBezTo>
                    <a:pt x="2275" y="2108"/>
                    <a:pt x="2366" y="1973"/>
                    <a:pt x="2430" y="1822"/>
                  </a:cubicBezTo>
                  <a:cubicBezTo>
                    <a:pt x="2496" y="1666"/>
                    <a:pt x="2529" y="1500"/>
                    <a:pt x="2529" y="1330"/>
                  </a:cubicBezTo>
                  <a:cubicBezTo>
                    <a:pt x="2529" y="1109"/>
                    <a:pt x="2472" y="894"/>
                    <a:pt x="2364" y="705"/>
                  </a:cubicBezTo>
                  <a:lnTo>
                    <a:pt x="2599" y="477"/>
                  </a:lnTo>
                  <a:close/>
                  <a:moveTo>
                    <a:pt x="1976" y="1081"/>
                  </a:moveTo>
                  <a:cubicBezTo>
                    <a:pt x="1980" y="1076"/>
                    <a:pt x="1980" y="1076"/>
                    <a:pt x="1980" y="1076"/>
                  </a:cubicBezTo>
                  <a:cubicBezTo>
                    <a:pt x="2009" y="1157"/>
                    <a:pt x="2024" y="1242"/>
                    <a:pt x="2024" y="1330"/>
                  </a:cubicBezTo>
                  <a:cubicBezTo>
                    <a:pt x="2024" y="1532"/>
                    <a:pt x="1945" y="1723"/>
                    <a:pt x="1801" y="1866"/>
                  </a:cubicBezTo>
                  <a:cubicBezTo>
                    <a:pt x="1658" y="2010"/>
                    <a:pt x="1468" y="2089"/>
                    <a:pt x="1265" y="2089"/>
                  </a:cubicBezTo>
                  <a:cubicBezTo>
                    <a:pt x="1062" y="2089"/>
                    <a:pt x="871" y="2010"/>
                    <a:pt x="728" y="1866"/>
                  </a:cubicBezTo>
                  <a:cubicBezTo>
                    <a:pt x="585" y="1723"/>
                    <a:pt x="506" y="1532"/>
                    <a:pt x="506" y="1330"/>
                  </a:cubicBezTo>
                  <a:cubicBezTo>
                    <a:pt x="506" y="1127"/>
                    <a:pt x="585" y="936"/>
                    <a:pt x="728" y="793"/>
                  </a:cubicBezTo>
                  <a:cubicBezTo>
                    <a:pt x="871" y="650"/>
                    <a:pt x="1062" y="571"/>
                    <a:pt x="1265" y="571"/>
                  </a:cubicBezTo>
                  <a:cubicBezTo>
                    <a:pt x="1351" y="571"/>
                    <a:pt x="1434" y="585"/>
                    <a:pt x="1513" y="612"/>
                  </a:cubicBezTo>
                  <a:cubicBezTo>
                    <a:pt x="1512" y="613"/>
                    <a:pt x="1512" y="613"/>
                    <a:pt x="1512" y="613"/>
                  </a:cubicBezTo>
                  <a:cubicBezTo>
                    <a:pt x="1574" y="920"/>
                    <a:pt x="1574" y="920"/>
                    <a:pt x="1574" y="920"/>
                  </a:cubicBezTo>
                  <a:cubicBezTo>
                    <a:pt x="1523" y="970"/>
                    <a:pt x="1523" y="970"/>
                    <a:pt x="1523" y="970"/>
                  </a:cubicBezTo>
                  <a:cubicBezTo>
                    <a:pt x="1450" y="918"/>
                    <a:pt x="1361" y="887"/>
                    <a:pt x="1265" y="887"/>
                  </a:cubicBezTo>
                  <a:cubicBezTo>
                    <a:pt x="1021" y="887"/>
                    <a:pt x="822" y="1085"/>
                    <a:pt x="822" y="1329"/>
                  </a:cubicBezTo>
                  <a:cubicBezTo>
                    <a:pt x="822" y="1573"/>
                    <a:pt x="1020" y="1772"/>
                    <a:pt x="1265" y="1772"/>
                  </a:cubicBezTo>
                  <a:cubicBezTo>
                    <a:pt x="1509" y="1772"/>
                    <a:pt x="1707" y="1573"/>
                    <a:pt x="1707" y="1329"/>
                  </a:cubicBezTo>
                  <a:cubicBezTo>
                    <a:pt x="1707" y="1230"/>
                    <a:pt x="1675" y="1139"/>
                    <a:pt x="1619" y="1065"/>
                  </a:cubicBezTo>
                  <a:cubicBezTo>
                    <a:pt x="1669" y="1014"/>
                    <a:pt x="1669" y="1014"/>
                    <a:pt x="1669" y="1014"/>
                  </a:cubicBezTo>
                  <a:lnTo>
                    <a:pt x="1976" y="1081"/>
                  </a:lnTo>
                  <a:close/>
                  <a:moveTo>
                    <a:pt x="1580" y="1330"/>
                  </a:moveTo>
                  <a:cubicBezTo>
                    <a:pt x="1580" y="1504"/>
                    <a:pt x="1439" y="1645"/>
                    <a:pt x="1265" y="1645"/>
                  </a:cubicBezTo>
                  <a:cubicBezTo>
                    <a:pt x="1091" y="1645"/>
                    <a:pt x="949" y="1504"/>
                    <a:pt x="949" y="1330"/>
                  </a:cubicBezTo>
                  <a:cubicBezTo>
                    <a:pt x="949" y="1156"/>
                    <a:pt x="1091" y="1014"/>
                    <a:pt x="1265" y="1014"/>
                  </a:cubicBezTo>
                  <a:cubicBezTo>
                    <a:pt x="1329" y="1014"/>
                    <a:pt x="1389" y="1033"/>
                    <a:pt x="1439" y="1066"/>
                  </a:cubicBezTo>
                  <a:cubicBezTo>
                    <a:pt x="1297" y="1208"/>
                    <a:pt x="1297" y="1208"/>
                    <a:pt x="1297" y="1208"/>
                  </a:cubicBezTo>
                  <a:cubicBezTo>
                    <a:pt x="1287" y="1205"/>
                    <a:pt x="1276" y="1203"/>
                    <a:pt x="1264" y="1203"/>
                  </a:cubicBezTo>
                  <a:cubicBezTo>
                    <a:pt x="1195" y="1203"/>
                    <a:pt x="1138" y="1260"/>
                    <a:pt x="1138" y="1330"/>
                  </a:cubicBezTo>
                  <a:cubicBezTo>
                    <a:pt x="1138" y="1400"/>
                    <a:pt x="1194" y="1457"/>
                    <a:pt x="1264" y="1457"/>
                  </a:cubicBezTo>
                  <a:cubicBezTo>
                    <a:pt x="1334" y="1457"/>
                    <a:pt x="1391" y="1399"/>
                    <a:pt x="1391" y="1330"/>
                  </a:cubicBezTo>
                  <a:cubicBezTo>
                    <a:pt x="1391" y="1318"/>
                    <a:pt x="1390" y="1307"/>
                    <a:pt x="1387" y="1297"/>
                  </a:cubicBezTo>
                  <a:cubicBezTo>
                    <a:pt x="1528" y="1155"/>
                    <a:pt x="1528" y="1155"/>
                    <a:pt x="1528" y="1155"/>
                  </a:cubicBezTo>
                  <a:cubicBezTo>
                    <a:pt x="1561" y="1205"/>
                    <a:pt x="1580" y="1265"/>
                    <a:pt x="1580" y="1330"/>
                  </a:cubicBezTo>
                  <a:close/>
                  <a:moveTo>
                    <a:pt x="1841" y="661"/>
                  </a:moveTo>
                  <a:cubicBezTo>
                    <a:pt x="1802" y="502"/>
                    <a:pt x="1802" y="502"/>
                    <a:pt x="1802" y="502"/>
                  </a:cubicBezTo>
                  <a:cubicBezTo>
                    <a:pt x="1876" y="428"/>
                    <a:pt x="1876" y="428"/>
                    <a:pt x="1876" y="428"/>
                  </a:cubicBezTo>
                  <a:cubicBezTo>
                    <a:pt x="1916" y="588"/>
                    <a:pt x="1916" y="588"/>
                    <a:pt x="1916" y="588"/>
                  </a:cubicBezTo>
                  <a:lnTo>
                    <a:pt x="1841" y="661"/>
                  </a:lnTo>
                  <a:close/>
                  <a:moveTo>
                    <a:pt x="1750" y="555"/>
                  </a:moveTo>
                  <a:cubicBezTo>
                    <a:pt x="1789" y="712"/>
                    <a:pt x="1789" y="712"/>
                    <a:pt x="1789" y="712"/>
                  </a:cubicBezTo>
                  <a:cubicBezTo>
                    <a:pt x="1682" y="816"/>
                    <a:pt x="1682" y="816"/>
                    <a:pt x="1682" y="816"/>
                  </a:cubicBezTo>
                  <a:cubicBezTo>
                    <a:pt x="1649" y="655"/>
                    <a:pt x="1649" y="655"/>
                    <a:pt x="1649" y="655"/>
                  </a:cubicBezTo>
                  <a:lnTo>
                    <a:pt x="1750" y="555"/>
                  </a:lnTo>
                  <a:close/>
                  <a:moveTo>
                    <a:pt x="2021" y="861"/>
                  </a:moveTo>
                  <a:cubicBezTo>
                    <a:pt x="1936" y="943"/>
                    <a:pt x="1936" y="943"/>
                    <a:pt x="1936" y="943"/>
                  </a:cubicBezTo>
                  <a:cubicBezTo>
                    <a:pt x="1775" y="908"/>
                    <a:pt x="1775" y="908"/>
                    <a:pt x="1775" y="908"/>
                  </a:cubicBezTo>
                  <a:cubicBezTo>
                    <a:pt x="1881" y="802"/>
                    <a:pt x="1881" y="802"/>
                    <a:pt x="1881" y="802"/>
                  </a:cubicBezTo>
                  <a:cubicBezTo>
                    <a:pt x="2047" y="835"/>
                    <a:pt x="2047" y="835"/>
                    <a:pt x="2047" y="835"/>
                  </a:cubicBezTo>
                  <a:lnTo>
                    <a:pt x="2021" y="861"/>
                  </a:lnTo>
                  <a:close/>
                  <a:moveTo>
                    <a:pt x="2102" y="782"/>
                  </a:moveTo>
                  <a:cubicBezTo>
                    <a:pt x="1935" y="749"/>
                    <a:pt x="1935" y="749"/>
                    <a:pt x="1935" y="749"/>
                  </a:cubicBezTo>
                  <a:cubicBezTo>
                    <a:pt x="2008" y="676"/>
                    <a:pt x="2008" y="676"/>
                    <a:pt x="2008" y="676"/>
                  </a:cubicBezTo>
                  <a:cubicBezTo>
                    <a:pt x="2177" y="710"/>
                    <a:pt x="2177" y="710"/>
                    <a:pt x="2177" y="710"/>
                  </a:cubicBezTo>
                  <a:lnTo>
                    <a:pt x="2102" y="782"/>
                  </a:lnTo>
                  <a:close/>
                  <a:moveTo>
                    <a:pt x="2232" y="656"/>
                  </a:moveTo>
                  <a:cubicBezTo>
                    <a:pt x="2062" y="622"/>
                    <a:pt x="2062" y="622"/>
                    <a:pt x="2062" y="622"/>
                  </a:cubicBezTo>
                  <a:cubicBezTo>
                    <a:pt x="2159" y="528"/>
                    <a:pt x="2159" y="528"/>
                    <a:pt x="2159" y="528"/>
                  </a:cubicBezTo>
                  <a:cubicBezTo>
                    <a:pt x="2174" y="515"/>
                    <a:pt x="2174" y="515"/>
                    <a:pt x="2174" y="515"/>
                  </a:cubicBezTo>
                  <a:cubicBezTo>
                    <a:pt x="2341" y="551"/>
                    <a:pt x="2341" y="551"/>
                    <a:pt x="2341" y="551"/>
                  </a:cubicBezTo>
                  <a:lnTo>
                    <a:pt x="2232" y="656"/>
                  </a:lnTo>
                  <a:close/>
                  <a:moveTo>
                    <a:pt x="2081" y="424"/>
                  </a:moveTo>
                  <a:cubicBezTo>
                    <a:pt x="1968" y="537"/>
                    <a:pt x="1968" y="537"/>
                    <a:pt x="1968" y="537"/>
                  </a:cubicBezTo>
                  <a:cubicBezTo>
                    <a:pt x="1928" y="376"/>
                    <a:pt x="1928" y="376"/>
                    <a:pt x="1928" y="376"/>
                  </a:cubicBezTo>
                  <a:cubicBezTo>
                    <a:pt x="2048" y="256"/>
                    <a:pt x="2048" y="256"/>
                    <a:pt x="2048" y="256"/>
                  </a:cubicBezTo>
                  <a:lnTo>
                    <a:pt x="2081" y="424"/>
                  </a:lnTo>
                  <a:close/>
                  <a:moveTo>
                    <a:pt x="2403" y="1330"/>
                  </a:moveTo>
                  <a:cubicBezTo>
                    <a:pt x="2403" y="1634"/>
                    <a:pt x="2284" y="1919"/>
                    <a:pt x="2069" y="2134"/>
                  </a:cubicBezTo>
                  <a:cubicBezTo>
                    <a:pt x="1854" y="2349"/>
                    <a:pt x="1569" y="2468"/>
                    <a:pt x="1265" y="2468"/>
                  </a:cubicBezTo>
                  <a:cubicBezTo>
                    <a:pt x="961" y="2468"/>
                    <a:pt x="675" y="2349"/>
                    <a:pt x="460" y="2134"/>
                  </a:cubicBezTo>
                  <a:cubicBezTo>
                    <a:pt x="245" y="1919"/>
                    <a:pt x="127" y="1634"/>
                    <a:pt x="127" y="1330"/>
                  </a:cubicBezTo>
                  <a:cubicBezTo>
                    <a:pt x="127" y="1026"/>
                    <a:pt x="245" y="740"/>
                    <a:pt x="460" y="525"/>
                  </a:cubicBezTo>
                  <a:cubicBezTo>
                    <a:pt x="675" y="310"/>
                    <a:pt x="961" y="191"/>
                    <a:pt x="1265" y="191"/>
                  </a:cubicBezTo>
                  <a:cubicBezTo>
                    <a:pt x="1454" y="191"/>
                    <a:pt x="1637" y="237"/>
                    <a:pt x="1800" y="325"/>
                  </a:cubicBezTo>
                  <a:cubicBezTo>
                    <a:pt x="1611" y="515"/>
                    <a:pt x="1611" y="515"/>
                    <a:pt x="1611" y="515"/>
                  </a:cubicBezTo>
                  <a:cubicBezTo>
                    <a:pt x="1502" y="468"/>
                    <a:pt x="1386" y="444"/>
                    <a:pt x="1265" y="444"/>
                  </a:cubicBezTo>
                  <a:cubicBezTo>
                    <a:pt x="1028" y="444"/>
                    <a:pt x="806" y="536"/>
                    <a:pt x="639" y="703"/>
                  </a:cubicBezTo>
                  <a:cubicBezTo>
                    <a:pt x="472" y="870"/>
                    <a:pt x="380" y="1093"/>
                    <a:pt x="380" y="1329"/>
                  </a:cubicBezTo>
                  <a:cubicBezTo>
                    <a:pt x="380" y="1566"/>
                    <a:pt x="472" y="1788"/>
                    <a:pt x="639" y="1955"/>
                  </a:cubicBezTo>
                  <a:cubicBezTo>
                    <a:pt x="806" y="2122"/>
                    <a:pt x="1028" y="2214"/>
                    <a:pt x="1265" y="2214"/>
                  </a:cubicBezTo>
                  <a:cubicBezTo>
                    <a:pt x="1501" y="2214"/>
                    <a:pt x="1724" y="2122"/>
                    <a:pt x="1891" y="1955"/>
                  </a:cubicBezTo>
                  <a:cubicBezTo>
                    <a:pt x="2058" y="1788"/>
                    <a:pt x="2150" y="1566"/>
                    <a:pt x="2150" y="1329"/>
                  </a:cubicBezTo>
                  <a:cubicBezTo>
                    <a:pt x="2150" y="1208"/>
                    <a:pt x="2126" y="1091"/>
                    <a:pt x="2078" y="981"/>
                  </a:cubicBezTo>
                  <a:cubicBezTo>
                    <a:pt x="2269" y="796"/>
                    <a:pt x="2269" y="796"/>
                    <a:pt x="2269" y="796"/>
                  </a:cubicBezTo>
                  <a:cubicBezTo>
                    <a:pt x="2357" y="959"/>
                    <a:pt x="2403" y="1142"/>
                    <a:pt x="2403" y="1330"/>
                  </a:cubicBezTo>
                  <a:close/>
                  <a:moveTo>
                    <a:pt x="2403" y="1330"/>
                  </a:moveTo>
                  <a:cubicBezTo>
                    <a:pt x="2403" y="1330"/>
                    <a:pt x="2403" y="1330"/>
                    <a:pt x="2403" y="1330"/>
                  </a:cubicBezTo>
                </a:path>
              </a:pathLst>
            </a:custGeom>
            <a:solidFill>
              <a:schemeClr val="bg1"/>
            </a:solidFill>
            <a:ln>
              <a:noFill/>
            </a:ln>
          </p:spPr>
          <p:txBody>
            <a:bodyPr vert="horz" wrap="square" lIns="91440" tIns="45720" rIns="91440" bIns="45720" numCol="1" anchor="t" anchorCtr="0" compatLnSpc="1"/>
            <a:lstStyle/>
            <a:p>
              <a:endParaRPr lang="zh-CN" altLang="en-US" sz="1800">
                <a:cs typeface="+mn-ea"/>
                <a:sym typeface="+mn-lt"/>
              </a:endParaRPr>
            </a:p>
          </p:txBody>
        </p:sp>
      </p:grpSp>
      <p:sp>
        <p:nvSpPr>
          <p:cNvPr id="77" name="文本框 76"/>
          <p:cNvSpPr txBox="1"/>
          <p:nvPr/>
        </p:nvSpPr>
        <p:spPr>
          <a:xfrm>
            <a:off x="7956824" y="2214959"/>
            <a:ext cx="3473546" cy="829945"/>
          </a:xfrm>
          <a:prstGeom prst="rect">
            <a:avLst/>
          </a:prstGeom>
          <a:noFill/>
        </p:spPr>
        <p:txBody>
          <a:bodyPr wrap="square" rtlCol="0">
            <a:spAutoFit/>
          </a:bodyPr>
          <a:lstStyle/>
          <a:p>
            <a:pPr algn="l">
              <a:lnSpc>
                <a:spcPct val="150000"/>
              </a:lnSpc>
            </a:pPr>
            <a:r>
              <a:rPr lang="en-US" altLang="en-US"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能从经验中自动改进模型，而不需要人为手工干预或重新编写规则</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78" name="文本框 77"/>
          <p:cNvSpPr txBox="1"/>
          <p:nvPr/>
        </p:nvSpPr>
        <p:spPr>
          <a:xfrm>
            <a:off x="8418469" y="3883872"/>
            <a:ext cx="3473546" cy="829945"/>
          </a:xfrm>
          <a:prstGeom prst="rect">
            <a:avLst/>
          </a:prstGeom>
          <a:noFill/>
        </p:spPr>
        <p:txBody>
          <a:bodyPr wrap="square" rtlCol="0">
            <a:sp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模型不仅记住训练数据，还能在未见过的新场景中做出正确判断</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79" name="文本框 78"/>
          <p:cNvSpPr txBox="1"/>
          <p:nvPr/>
        </p:nvSpPr>
        <p:spPr>
          <a:xfrm>
            <a:off x="1259840" y="2179955"/>
            <a:ext cx="3787140" cy="829945"/>
          </a:xfrm>
          <a:prstGeom prst="rect">
            <a:avLst/>
          </a:prstGeom>
          <a:noFill/>
        </p:spPr>
        <p:txBody>
          <a:bodyPr wrap="square" rtlCol="0">
            <a:sp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模型依赖大量数据来学习规律，不再完全依靠人工规则，数据越多性能越好</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80" name="文本框 79"/>
          <p:cNvSpPr txBox="1"/>
          <p:nvPr/>
        </p:nvSpPr>
        <p:spPr>
          <a:xfrm>
            <a:off x="749300" y="3811905"/>
            <a:ext cx="3669665" cy="829945"/>
          </a:xfrm>
          <a:prstGeom prst="rect">
            <a:avLst/>
          </a:prstGeom>
          <a:noFill/>
        </p:spPr>
        <p:txBody>
          <a:bodyPr wrap="square" rtlCol="0">
            <a:spAutoFit/>
          </a:bodyPr>
          <a:lstStyle/>
          <a:p>
            <a:pPr algn="l">
              <a:lnSpc>
                <a:spcPct val="150000"/>
              </a:lnSpc>
            </a:pPr>
            <a:r>
              <a:rPr lang="en-US" altLang="en-US"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使用深度神经网络等结构化、层级化的复杂算法来处理信息与做出决策</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81" name="文本框 80"/>
          <p:cNvSpPr txBox="1"/>
          <p:nvPr/>
        </p:nvSpPr>
        <p:spPr>
          <a:xfrm>
            <a:off x="1187450" y="5550535"/>
            <a:ext cx="3795395" cy="815340"/>
          </a:xfrm>
          <a:prstGeom prst="rect">
            <a:avLst/>
          </a:prstGeom>
          <a:noFill/>
        </p:spPr>
        <p:txBody>
          <a:bodyPr wrap="square" rtlCol="0">
            <a:noAutofit/>
          </a:bodyPr>
          <a:lstStyle/>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随着数据、模型规模或算力的增加，</a:t>
            </a:r>
            <a:r>
              <a:rPr lang="en-US" altLang="en-US"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的性能能持续提升，适合大规模应用</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83" name="文本框 47"/>
          <p:cNvSpPr txBox="1"/>
          <p:nvPr/>
        </p:nvSpPr>
        <p:spPr>
          <a:xfrm>
            <a:off x="7972425" y="5560060"/>
            <a:ext cx="3370580" cy="829945"/>
          </a:xfrm>
          <a:prstGeom prst="rect">
            <a:avLst/>
          </a:prstGeom>
          <a:noFill/>
        </p:spPr>
        <p:txBody>
          <a:bodyPr wrap="square" rtlCol="0">
            <a:spAutoFit/>
          </a:bodyPr>
          <a:p>
            <a:pPr algn="l">
              <a:lnSpc>
                <a:spcPct val="150000"/>
              </a:lnSpc>
            </a:pPr>
            <a:r>
              <a:rPr lang="en-US" altLang="en-US"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能自动从原始数据中提取有意义的特征，而无需人工设计特征</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84" name="文本框 83"/>
          <p:cNvSpPr txBox="1"/>
          <p:nvPr/>
        </p:nvSpPr>
        <p:spPr>
          <a:xfrm>
            <a:off x="3343910" y="4984115"/>
            <a:ext cx="1802765" cy="491490"/>
          </a:xfrm>
          <a:prstGeom prst="rect">
            <a:avLst/>
          </a:prstGeom>
          <a:noFill/>
        </p:spPr>
        <p:txBody>
          <a:bodyPr wrap="square" rtlCol="0">
            <a:spAutoFit/>
          </a:bodyPr>
          <a:lstStyle/>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可扩展性</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85" name="文本框 84"/>
          <p:cNvSpPr txBox="1"/>
          <p:nvPr/>
        </p:nvSpPr>
        <p:spPr>
          <a:xfrm>
            <a:off x="7668260" y="1723390"/>
            <a:ext cx="1802765" cy="491490"/>
          </a:xfrm>
          <a:prstGeom prst="rect">
            <a:avLst/>
          </a:prstGeom>
          <a:noFill/>
        </p:spPr>
        <p:txBody>
          <a:bodyPr wrap="square" rtlCol="0">
            <a:spAutoFit/>
          </a:bodyPr>
          <a:lstStyle/>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自主学习</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86" name="文本框 85"/>
          <p:cNvSpPr txBox="1"/>
          <p:nvPr/>
        </p:nvSpPr>
        <p:spPr>
          <a:xfrm>
            <a:off x="8318500" y="3306445"/>
            <a:ext cx="1691005" cy="491490"/>
          </a:xfrm>
          <a:prstGeom prst="rect">
            <a:avLst/>
          </a:prstGeom>
          <a:noFill/>
        </p:spPr>
        <p:txBody>
          <a:bodyPr wrap="square" rtlCol="0">
            <a:spAutoFit/>
          </a:bodyPr>
          <a:lstStyle/>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泛化</a:t>
            </a:r>
            <a:r>
              <a:rPr lang="zh-CN" altLang="en-US" sz="2600" b="1" spc="-150" dirty="0">
                <a:solidFill>
                  <a:srgbClr val="314371"/>
                </a:solidFill>
                <a:latin typeface="Times New Roman" panose="02020503050405090304" charset="0"/>
                <a:ea typeface="思源黑体" panose="020B0400000000000000" charset="-122"/>
                <a:cs typeface="+mn-ea"/>
                <a:sym typeface="+mn-lt"/>
              </a:rPr>
              <a:t>能力</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1" presetClass="entr" presetSubtype="0" fill="hold" nodeType="after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p:cTn id="12" dur="1000" fill="hold"/>
                                        <p:tgtEl>
                                          <p:spTgt spid="59"/>
                                        </p:tgtEl>
                                        <p:attrNameLst>
                                          <p:attrName>ppt_w</p:attrName>
                                        </p:attrNameLst>
                                      </p:cBhvr>
                                      <p:tavLst>
                                        <p:tav tm="0">
                                          <p:val>
                                            <p:fltVal val="0"/>
                                          </p:val>
                                        </p:tav>
                                        <p:tav tm="100000">
                                          <p:val>
                                            <p:strVal val="#ppt_w"/>
                                          </p:val>
                                        </p:tav>
                                      </p:tavLst>
                                    </p:anim>
                                    <p:anim calcmode="lin" valueType="num">
                                      <p:cBhvr>
                                        <p:cTn id="13" dur="1000" fill="hold"/>
                                        <p:tgtEl>
                                          <p:spTgt spid="59"/>
                                        </p:tgtEl>
                                        <p:attrNameLst>
                                          <p:attrName>ppt_h</p:attrName>
                                        </p:attrNameLst>
                                      </p:cBhvr>
                                      <p:tavLst>
                                        <p:tav tm="0">
                                          <p:val>
                                            <p:fltVal val="0"/>
                                          </p:val>
                                        </p:tav>
                                        <p:tav tm="100000">
                                          <p:val>
                                            <p:strVal val="#ppt_h"/>
                                          </p:val>
                                        </p:tav>
                                      </p:tavLst>
                                    </p:anim>
                                    <p:anim calcmode="lin" valueType="num">
                                      <p:cBhvr>
                                        <p:cTn id="14" dur="1000" fill="hold"/>
                                        <p:tgtEl>
                                          <p:spTgt spid="59"/>
                                        </p:tgtEl>
                                        <p:attrNameLst>
                                          <p:attrName>style.rotation</p:attrName>
                                        </p:attrNameLst>
                                      </p:cBhvr>
                                      <p:tavLst>
                                        <p:tav tm="0">
                                          <p:val>
                                            <p:fltVal val="90"/>
                                          </p:val>
                                        </p:tav>
                                        <p:tav tm="100000">
                                          <p:val>
                                            <p:fltVal val="0"/>
                                          </p:val>
                                        </p:tav>
                                      </p:tavLst>
                                    </p:anim>
                                    <p:animEffect transition="in" filter="fade">
                                      <p:cBhvr>
                                        <p:cTn id="15" dur="1000"/>
                                        <p:tgtEl>
                                          <p:spTgt spid="59"/>
                                        </p:tgtEl>
                                      </p:cBhvr>
                                    </p:animEffect>
                                  </p:childTnLst>
                                </p:cTn>
                              </p:par>
                            </p:childTnLst>
                          </p:cTn>
                        </p:par>
                        <p:par>
                          <p:cTn id="16" fill="hold">
                            <p:stCondLst>
                              <p:cond delay="1500"/>
                            </p:stCondLst>
                            <p:childTnLst>
                              <p:par>
                                <p:cTn id="17" presetID="53" presetClass="entr" presetSubtype="16" fill="hold" grpId="0" nodeType="after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p:cTn id="19" dur="500" fill="hold"/>
                                        <p:tgtEl>
                                          <p:spTgt spid="54"/>
                                        </p:tgtEl>
                                        <p:attrNameLst>
                                          <p:attrName>ppt_w</p:attrName>
                                        </p:attrNameLst>
                                      </p:cBhvr>
                                      <p:tavLst>
                                        <p:tav tm="0">
                                          <p:val>
                                            <p:fltVal val="0"/>
                                          </p:val>
                                        </p:tav>
                                        <p:tav tm="100000">
                                          <p:val>
                                            <p:strVal val="#ppt_w"/>
                                          </p:val>
                                        </p:tav>
                                      </p:tavLst>
                                    </p:anim>
                                    <p:anim calcmode="lin" valueType="num">
                                      <p:cBhvr>
                                        <p:cTn id="20" dur="500" fill="hold"/>
                                        <p:tgtEl>
                                          <p:spTgt spid="54"/>
                                        </p:tgtEl>
                                        <p:attrNameLst>
                                          <p:attrName>ppt_h</p:attrName>
                                        </p:attrNameLst>
                                      </p:cBhvr>
                                      <p:tavLst>
                                        <p:tav tm="0">
                                          <p:val>
                                            <p:fltVal val="0"/>
                                          </p:val>
                                        </p:tav>
                                        <p:tav tm="100000">
                                          <p:val>
                                            <p:strVal val="#ppt_h"/>
                                          </p:val>
                                        </p:tav>
                                      </p:tavLst>
                                    </p:anim>
                                    <p:animEffect transition="in" filter="fade">
                                      <p:cBhvr>
                                        <p:cTn id="21" dur="500"/>
                                        <p:tgtEl>
                                          <p:spTgt spid="5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56"/>
                                        </p:tgtEl>
                                        <p:attrNameLst>
                                          <p:attrName>style.visibility</p:attrName>
                                        </p:attrNameLst>
                                      </p:cBhvr>
                                      <p:to>
                                        <p:strVal val="visible"/>
                                      </p:to>
                                    </p:set>
                                    <p:anim calcmode="lin" valueType="num">
                                      <p:cBhvr>
                                        <p:cTn id="24" dur="500" fill="hold"/>
                                        <p:tgtEl>
                                          <p:spTgt spid="56"/>
                                        </p:tgtEl>
                                        <p:attrNameLst>
                                          <p:attrName>ppt_w</p:attrName>
                                        </p:attrNameLst>
                                      </p:cBhvr>
                                      <p:tavLst>
                                        <p:tav tm="0">
                                          <p:val>
                                            <p:fltVal val="0"/>
                                          </p:val>
                                        </p:tav>
                                        <p:tav tm="100000">
                                          <p:val>
                                            <p:strVal val="#ppt_w"/>
                                          </p:val>
                                        </p:tav>
                                      </p:tavLst>
                                    </p:anim>
                                    <p:anim calcmode="lin" valueType="num">
                                      <p:cBhvr>
                                        <p:cTn id="25" dur="500" fill="hold"/>
                                        <p:tgtEl>
                                          <p:spTgt spid="56"/>
                                        </p:tgtEl>
                                        <p:attrNameLst>
                                          <p:attrName>ppt_h</p:attrName>
                                        </p:attrNameLst>
                                      </p:cBhvr>
                                      <p:tavLst>
                                        <p:tav tm="0">
                                          <p:val>
                                            <p:fltVal val="0"/>
                                          </p:val>
                                        </p:tav>
                                        <p:tav tm="100000">
                                          <p:val>
                                            <p:strVal val="#ppt_h"/>
                                          </p:val>
                                        </p:tav>
                                      </p:tavLst>
                                    </p:anim>
                                    <p:animEffect transition="in" filter="fade">
                                      <p:cBhvr>
                                        <p:cTn id="26" dur="500"/>
                                        <p:tgtEl>
                                          <p:spTgt spid="56"/>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57"/>
                                        </p:tgtEl>
                                        <p:attrNameLst>
                                          <p:attrName>style.visibility</p:attrName>
                                        </p:attrNameLst>
                                      </p:cBhvr>
                                      <p:to>
                                        <p:strVal val="visible"/>
                                      </p:to>
                                    </p:set>
                                    <p:anim calcmode="lin" valueType="num">
                                      <p:cBhvr>
                                        <p:cTn id="29" dur="500" fill="hold"/>
                                        <p:tgtEl>
                                          <p:spTgt spid="57"/>
                                        </p:tgtEl>
                                        <p:attrNameLst>
                                          <p:attrName>ppt_w</p:attrName>
                                        </p:attrNameLst>
                                      </p:cBhvr>
                                      <p:tavLst>
                                        <p:tav tm="0">
                                          <p:val>
                                            <p:fltVal val="0"/>
                                          </p:val>
                                        </p:tav>
                                        <p:tav tm="100000">
                                          <p:val>
                                            <p:strVal val="#ppt_w"/>
                                          </p:val>
                                        </p:tav>
                                      </p:tavLst>
                                    </p:anim>
                                    <p:anim calcmode="lin" valueType="num">
                                      <p:cBhvr>
                                        <p:cTn id="30" dur="500" fill="hold"/>
                                        <p:tgtEl>
                                          <p:spTgt spid="57"/>
                                        </p:tgtEl>
                                        <p:attrNameLst>
                                          <p:attrName>ppt_h</p:attrName>
                                        </p:attrNameLst>
                                      </p:cBhvr>
                                      <p:tavLst>
                                        <p:tav tm="0">
                                          <p:val>
                                            <p:fltVal val="0"/>
                                          </p:val>
                                        </p:tav>
                                        <p:tav tm="100000">
                                          <p:val>
                                            <p:strVal val="#ppt_h"/>
                                          </p:val>
                                        </p:tav>
                                      </p:tavLst>
                                    </p:anim>
                                    <p:animEffect transition="in" filter="fade">
                                      <p:cBhvr>
                                        <p:cTn id="31" dur="500"/>
                                        <p:tgtEl>
                                          <p:spTgt spid="5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77"/>
                                        </p:tgtEl>
                                        <p:attrNameLst>
                                          <p:attrName>style.visibility</p:attrName>
                                        </p:attrNameLst>
                                      </p:cBhvr>
                                      <p:to>
                                        <p:strVal val="visible"/>
                                      </p:to>
                                    </p:set>
                                    <p:anim calcmode="lin" valueType="num">
                                      <p:cBhvr>
                                        <p:cTn id="34" dur="500" fill="hold"/>
                                        <p:tgtEl>
                                          <p:spTgt spid="77"/>
                                        </p:tgtEl>
                                        <p:attrNameLst>
                                          <p:attrName>ppt_w</p:attrName>
                                        </p:attrNameLst>
                                      </p:cBhvr>
                                      <p:tavLst>
                                        <p:tav tm="0">
                                          <p:val>
                                            <p:fltVal val="0"/>
                                          </p:val>
                                        </p:tav>
                                        <p:tav tm="100000">
                                          <p:val>
                                            <p:strVal val="#ppt_w"/>
                                          </p:val>
                                        </p:tav>
                                      </p:tavLst>
                                    </p:anim>
                                    <p:anim calcmode="lin" valueType="num">
                                      <p:cBhvr>
                                        <p:cTn id="35" dur="500" fill="hold"/>
                                        <p:tgtEl>
                                          <p:spTgt spid="77"/>
                                        </p:tgtEl>
                                        <p:attrNameLst>
                                          <p:attrName>ppt_h</p:attrName>
                                        </p:attrNameLst>
                                      </p:cBhvr>
                                      <p:tavLst>
                                        <p:tav tm="0">
                                          <p:val>
                                            <p:fltVal val="0"/>
                                          </p:val>
                                        </p:tav>
                                        <p:tav tm="100000">
                                          <p:val>
                                            <p:strVal val="#ppt_h"/>
                                          </p:val>
                                        </p:tav>
                                      </p:tavLst>
                                    </p:anim>
                                    <p:animEffect transition="in" filter="fade">
                                      <p:cBhvr>
                                        <p:cTn id="36" dur="500"/>
                                        <p:tgtEl>
                                          <p:spTgt spid="77"/>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78"/>
                                        </p:tgtEl>
                                        <p:attrNameLst>
                                          <p:attrName>style.visibility</p:attrName>
                                        </p:attrNameLst>
                                      </p:cBhvr>
                                      <p:to>
                                        <p:strVal val="visible"/>
                                      </p:to>
                                    </p:set>
                                    <p:anim calcmode="lin" valueType="num">
                                      <p:cBhvr>
                                        <p:cTn id="39" dur="500" fill="hold"/>
                                        <p:tgtEl>
                                          <p:spTgt spid="78"/>
                                        </p:tgtEl>
                                        <p:attrNameLst>
                                          <p:attrName>ppt_w</p:attrName>
                                        </p:attrNameLst>
                                      </p:cBhvr>
                                      <p:tavLst>
                                        <p:tav tm="0">
                                          <p:val>
                                            <p:fltVal val="0"/>
                                          </p:val>
                                        </p:tav>
                                        <p:tav tm="100000">
                                          <p:val>
                                            <p:strVal val="#ppt_w"/>
                                          </p:val>
                                        </p:tav>
                                      </p:tavLst>
                                    </p:anim>
                                    <p:anim calcmode="lin" valueType="num">
                                      <p:cBhvr>
                                        <p:cTn id="40" dur="500" fill="hold"/>
                                        <p:tgtEl>
                                          <p:spTgt spid="78"/>
                                        </p:tgtEl>
                                        <p:attrNameLst>
                                          <p:attrName>ppt_h</p:attrName>
                                        </p:attrNameLst>
                                      </p:cBhvr>
                                      <p:tavLst>
                                        <p:tav tm="0">
                                          <p:val>
                                            <p:fltVal val="0"/>
                                          </p:val>
                                        </p:tav>
                                        <p:tav tm="100000">
                                          <p:val>
                                            <p:strVal val="#ppt_h"/>
                                          </p:val>
                                        </p:tav>
                                      </p:tavLst>
                                    </p:anim>
                                    <p:animEffect transition="in" filter="fade">
                                      <p:cBhvr>
                                        <p:cTn id="41" dur="500"/>
                                        <p:tgtEl>
                                          <p:spTgt spid="7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79"/>
                                        </p:tgtEl>
                                        <p:attrNameLst>
                                          <p:attrName>style.visibility</p:attrName>
                                        </p:attrNameLst>
                                      </p:cBhvr>
                                      <p:to>
                                        <p:strVal val="visible"/>
                                      </p:to>
                                    </p:set>
                                    <p:anim calcmode="lin" valueType="num">
                                      <p:cBhvr>
                                        <p:cTn id="44" dur="500" fill="hold"/>
                                        <p:tgtEl>
                                          <p:spTgt spid="79"/>
                                        </p:tgtEl>
                                        <p:attrNameLst>
                                          <p:attrName>ppt_w</p:attrName>
                                        </p:attrNameLst>
                                      </p:cBhvr>
                                      <p:tavLst>
                                        <p:tav tm="0">
                                          <p:val>
                                            <p:fltVal val="0"/>
                                          </p:val>
                                        </p:tav>
                                        <p:tav tm="100000">
                                          <p:val>
                                            <p:strVal val="#ppt_w"/>
                                          </p:val>
                                        </p:tav>
                                      </p:tavLst>
                                    </p:anim>
                                    <p:anim calcmode="lin" valueType="num">
                                      <p:cBhvr>
                                        <p:cTn id="45" dur="500" fill="hold"/>
                                        <p:tgtEl>
                                          <p:spTgt spid="79"/>
                                        </p:tgtEl>
                                        <p:attrNameLst>
                                          <p:attrName>ppt_h</p:attrName>
                                        </p:attrNameLst>
                                      </p:cBhvr>
                                      <p:tavLst>
                                        <p:tav tm="0">
                                          <p:val>
                                            <p:fltVal val="0"/>
                                          </p:val>
                                        </p:tav>
                                        <p:tav tm="100000">
                                          <p:val>
                                            <p:strVal val="#ppt_h"/>
                                          </p:val>
                                        </p:tav>
                                      </p:tavLst>
                                    </p:anim>
                                    <p:animEffect transition="in" filter="fade">
                                      <p:cBhvr>
                                        <p:cTn id="46" dur="500"/>
                                        <p:tgtEl>
                                          <p:spTgt spid="79"/>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anim calcmode="lin" valueType="num">
                                      <p:cBhvr>
                                        <p:cTn id="49" dur="500" fill="hold"/>
                                        <p:tgtEl>
                                          <p:spTgt spid="80"/>
                                        </p:tgtEl>
                                        <p:attrNameLst>
                                          <p:attrName>ppt_w</p:attrName>
                                        </p:attrNameLst>
                                      </p:cBhvr>
                                      <p:tavLst>
                                        <p:tav tm="0">
                                          <p:val>
                                            <p:fltVal val="0"/>
                                          </p:val>
                                        </p:tav>
                                        <p:tav tm="100000">
                                          <p:val>
                                            <p:strVal val="#ppt_w"/>
                                          </p:val>
                                        </p:tav>
                                      </p:tavLst>
                                    </p:anim>
                                    <p:anim calcmode="lin" valueType="num">
                                      <p:cBhvr>
                                        <p:cTn id="50" dur="500" fill="hold"/>
                                        <p:tgtEl>
                                          <p:spTgt spid="80"/>
                                        </p:tgtEl>
                                        <p:attrNameLst>
                                          <p:attrName>ppt_h</p:attrName>
                                        </p:attrNameLst>
                                      </p:cBhvr>
                                      <p:tavLst>
                                        <p:tav tm="0">
                                          <p:val>
                                            <p:fltVal val="0"/>
                                          </p:val>
                                        </p:tav>
                                        <p:tav tm="100000">
                                          <p:val>
                                            <p:strVal val="#ppt_h"/>
                                          </p:val>
                                        </p:tav>
                                      </p:tavLst>
                                    </p:anim>
                                    <p:animEffect transition="in" filter="fade">
                                      <p:cBhvr>
                                        <p:cTn id="51" dur="500"/>
                                        <p:tgtEl>
                                          <p:spTgt spid="80"/>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81"/>
                                        </p:tgtEl>
                                        <p:attrNameLst>
                                          <p:attrName>style.visibility</p:attrName>
                                        </p:attrNameLst>
                                      </p:cBhvr>
                                      <p:to>
                                        <p:strVal val="visible"/>
                                      </p:to>
                                    </p:set>
                                    <p:anim calcmode="lin" valueType="num">
                                      <p:cBhvr>
                                        <p:cTn id="54" dur="500" fill="hold"/>
                                        <p:tgtEl>
                                          <p:spTgt spid="81"/>
                                        </p:tgtEl>
                                        <p:attrNameLst>
                                          <p:attrName>ppt_w</p:attrName>
                                        </p:attrNameLst>
                                      </p:cBhvr>
                                      <p:tavLst>
                                        <p:tav tm="0">
                                          <p:val>
                                            <p:fltVal val="0"/>
                                          </p:val>
                                        </p:tav>
                                        <p:tav tm="100000">
                                          <p:val>
                                            <p:strVal val="#ppt_w"/>
                                          </p:val>
                                        </p:tav>
                                      </p:tavLst>
                                    </p:anim>
                                    <p:anim calcmode="lin" valueType="num">
                                      <p:cBhvr>
                                        <p:cTn id="55" dur="500" fill="hold"/>
                                        <p:tgtEl>
                                          <p:spTgt spid="81"/>
                                        </p:tgtEl>
                                        <p:attrNameLst>
                                          <p:attrName>ppt_h</p:attrName>
                                        </p:attrNameLst>
                                      </p:cBhvr>
                                      <p:tavLst>
                                        <p:tav tm="0">
                                          <p:val>
                                            <p:fltVal val="0"/>
                                          </p:val>
                                        </p:tav>
                                        <p:tav tm="100000">
                                          <p:val>
                                            <p:strVal val="#ppt_h"/>
                                          </p:val>
                                        </p:tav>
                                      </p:tavLst>
                                    </p:anim>
                                    <p:animEffect transition="in" filter="fade">
                                      <p:cBhvr>
                                        <p:cTn id="56" dur="500"/>
                                        <p:tgtEl>
                                          <p:spTgt spid="8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83"/>
                                        </p:tgtEl>
                                        <p:attrNameLst>
                                          <p:attrName>style.visibility</p:attrName>
                                        </p:attrNameLst>
                                      </p:cBhvr>
                                      <p:to>
                                        <p:strVal val="visible"/>
                                      </p:to>
                                    </p:set>
                                    <p:anim calcmode="lin" valueType="num">
                                      <p:cBhvr>
                                        <p:cTn id="59" dur="500" fill="hold"/>
                                        <p:tgtEl>
                                          <p:spTgt spid="83"/>
                                        </p:tgtEl>
                                        <p:attrNameLst>
                                          <p:attrName>ppt_w</p:attrName>
                                        </p:attrNameLst>
                                      </p:cBhvr>
                                      <p:tavLst>
                                        <p:tav tm="0">
                                          <p:val>
                                            <p:fltVal val="0"/>
                                          </p:val>
                                        </p:tav>
                                        <p:tav tm="100000">
                                          <p:val>
                                            <p:strVal val="#ppt_w"/>
                                          </p:val>
                                        </p:tav>
                                      </p:tavLst>
                                    </p:anim>
                                    <p:anim calcmode="lin" valueType="num">
                                      <p:cBhvr>
                                        <p:cTn id="60" dur="500" fill="hold"/>
                                        <p:tgtEl>
                                          <p:spTgt spid="83"/>
                                        </p:tgtEl>
                                        <p:attrNameLst>
                                          <p:attrName>ppt_h</p:attrName>
                                        </p:attrNameLst>
                                      </p:cBhvr>
                                      <p:tavLst>
                                        <p:tav tm="0">
                                          <p:val>
                                            <p:fltVal val="0"/>
                                          </p:val>
                                        </p:tav>
                                        <p:tav tm="100000">
                                          <p:val>
                                            <p:strVal val="#ppt_h"/>
                                          </p:val>
                                        </p:tav>
                                      </p:tavLst>
                                    </p:anim>
                                    <p:animEffect transition="in" filter="fade">
                                      <p:cBhvr>
                                        <p:cTn id="61" dur="500"/>
                                        <p:tgtEl>
                                          <p:spTgt spid="83"/>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84"/>
                                        </p:tgtEl>
                                        <p:attrNameLst>
                                          <p:attrName>style.visibility</p:attrName>
                                        </p:attrNameLst>
                                      </p:cBhvr>
                                      <p:to>
                                        <p:strVal val="visible"/>
                                      </p:to>
                                    </p:set>
                                    <p:anim calcmode="lin" valueType="num">
                                      <p:cBhvr>
                                        <p:cTn id="64" dur="500" fill="hold"/>
                                        <p:tgtEl>
                                          <p:spTgt spid="84"/>
                                        </p:tgtEl>
                                        <p:attrNameLst>
                                          <p:attrName>ppt_w</p:attrName>
                                        </p:attrNameLst>
                                      </p:cBhvr>
                                      <p:tavLst>
                                        <p:tav tm="0">
                                          <p:val>
                                            <p:fltVal val="0"/>
                                          </p:val>
                                        </p:tav>
                                        <p:tav tm="100000">
                                          <p:val>
                                            <p:strVal val="#ppt_w"/>
                                          </p:val>
                                        </p:tav>
                                      </p:tavLst>
                                    </p:anim>
                                    <p:anim calcmode="lin" valueType="num">
                                      <p:cBhvr>
                                        <p:cTn id="65" dur="500" fill="hold"/>
                                        <p:tgtEl>
                                          <p:spTgt spid="84"/>
                                        </p:tgtEl>
                                        <p:attrNameLst>
                                          <p:attrName>ppt_h</p:attrName>
                                        </p:attrNameLst>
                                      </p:cBhvr>
                                      <p:tavLst>
                                        <p:tav tm="0">
                                          <p:val>
                                            <p:fltVal val="0"/>
                                          </p:val>
                                        </p:tav>
                                        <p:tav tm="100000">
                                          <p:val>
                                            <p:strVal val="#ppt_h"/>
                                          </p:val>
                                        </p:tav>
                                      </p:tavLst>
                                    </p:anim>
                                    <p:animEffect transition="in" filter="fade">
                                      <p:cBhvr>
                                        <p:cTn id="66" dur="500"/>
                                        <p:tgtEl>
                                          <p:spTgt spid="84"/>
                                        </p:tgtEl>
                                      </p:cBhvr>
                                    </p:animEffect>
                                  </p:childTnLst>
                                </p:cTn>
                              </p:par>
                            </p:childTnLst>
                          </p:cTn>
                        </p:par>
                        <p:par>
                          <p:cTn id="67" fill="hold">
                            <p:stCondLst>
                              <p:cond delay="2000"/>
                            </p:stCondLst>
                            <p:childTnLst>
                              <p:par>
                                <p:cTn id="68" presetID="53" presetClass="entr" presetSubtype="16" fill="hold" grpId="0" nodeType="afterEffect">
                                  <p:stCondLst>
                                    <p:cond delay="0"/>
                                  </p:stCondLst>
                                  <p:childTnLst>
                                    <p:set>
                                      <p:cBhvr>
                                        <p:cTn id="69" dur="1" fill="hold">
                                          <p:stCondLst>
                                            <p:cond delay="0"/>
                                          </p:stCondLst>
                                        </p:cTn>
                                        <p:tgtEl>
                                          <p:spTgt spid="85"/>
                                        </p:tgtEl>
                                        <p:attrNameLst>
                                          <p:attrName>style.visibility</p:attrName>
                                        </p:attrNameLst>
                                      </p:cBhvr>
                                      <p:to>
                                        <p:strVal val="visible"/>
                                      </p:to>
                                    </p:set>
                                    <p:anim calcmode="lin" valueType="num">
                                      <p:cBhvr>
                                        <p:cTn id="70" dur="500" fill="hold"/>
                                        <p:tgtEl>
                                          <p:spTgt spid="85"/>
                                        </p:tgtEl>
                                        <p:attrNameLst>
                                          <p:attrName>ppt_w</p:attrName>
                                        </p:attrNameLst>
                                      </p:cBhvr>
                                      <p:tavLst>
                                        <p:tav tm="0">
                                          <p:val>
                                            <p:fltVal val="0"/>
                                          </p:val>
                                        </p:tav>
                                        <p:tav tm="100000">
                                          <p:val>
                                            <p:strVal val="#ppt_w"/>
                                          </p:val>
                                        </p:tav>
                                      </p:tavLst>
                                    </p:anim>
                                    <p:anim calcmode="lin" valueType="num">
                                      <p:cBhvr>
                                        <p:cTn id="71" dur="500" fill="hold"/>
                                        <p:tgtEl>
                                          <p:spTgt spid="85"/>
                                        </p:tgtEl>
                                        <p:attrNameLst>
                                          <p:attrName>ppt_h</p:attrName>
                                        </p:attrNameLst>
                                      </p:cBhvr>
                                      <p:tavLst>
                                        <p:tav tm="0">
                                          <p:val>
                                            <p:fltVal val="0"/>
                                          </p:val>
                                        </p:tav>
                                        <p:tav tm="100000">
                                          <p:val>
                                            <p:strVal val="#ppt_h"/>
                                          </p:val>
                                        </p:tav>
                                      </p:tavLst>
                                    </p:anim>
                                    <p:animEffect transition="in" filter="fade">
                                      <p:cBhvr>
                                        <p:cTn id="72" dur="500"/>
                                        <p:tgtEl>
                                          <p:spTgt spid="85"/>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86"/>
                                        </p:tgtEl>
                                        <p:attrNameLst>
                                          <p:attrName>style.visibility</p:attrName>
                                        </p:attrNameLst>
                                      </p:cBhvr>
                                      <p:to>
                                        <p:strVal val="visible"/>
                                      </p:to>
                                    </p:set>
                                    <p:anim calcmode="lin" valueType="num">
                                      <p:cBhvr>
                                        <p:cTn id="75" dur="500" fill="hold"/>
                                        <p:tgtEl>
                                          <p:spTgt spid="86"/>
                                        </p:tgtEl>
                                        <p:attrNameLst>
                                          <p:attrName>ppt_w</p:attrName>
                                        </p:attrNameLst>
                                      </p:cBhvr>
                                      <p:tavLst>
                                        <p:tav tm="0">
                                          <p:val>
                                            <p:fltVal val="0"/>
                                          </p:val>
                                        </p:tav>
                                        <p:tav tm="100000">
                                          <p:val>
                                            <p:strVal val="#ppt_w"/>
                                          </p:val>
                                        </p:tav>
                                      </p:tavLst>
                                    </p:anim>
                                    <p:anim calcmode="lin" valueType="num">
                                      <p:cBhvr>
                                        <p:cTn id="76" dur="500" fill="hold"/>
                                        <p:tgtEl>
                                          <p:spTgt spid="86"/>
                                        </p:tgtEl>
                                        <p:attrNameLst>
                                          <p:attrName>ppt_h</p:attrName>
                                        </p:attrNameLst>
                                      </p:cBhvr>
                                      <p:tavLst>
                                        <p:tav tm="0">
                                          <p:val>
                                            <p:fltVal val="0"/>
                                          </p:val>
                                        </p:tav>
                                        <p:tav tm="100000">
                                          <p:val>
                                            <p:strVal val="#ppt_h"/>
                                          </p:val>
                                        </p:tav>
                                      </p:tavLst>
                                    </p:anim>
                                    <p:animEffect transition="in" filter="fade">
                                      <p:cBhvr>
                                        <p:cTn id="7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56" grpId="0"/>
      <p:bldP spid="57" grpId="0"/>
      <p:bldP spid="77" grpId="0"/>
      <p:bldP spid="78" grpId="0"/>
      <p:bldP spid="79" grpId="0"/>
      <p:bldP spid="80" grpId="0"/>
      <p:bldP spid="81" grpId="0"/>
      <p:bldP spid="83" grpId="0"/>
      <p:bldP spid="84" grpId="0"/>
      <p:bldP spid="85" grpId="0"/>
      <p:bldP spid="8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发</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展</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特</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36526"/>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3" name="文本框 52"/>
          <p:cNvSpPr txBox="1"/>
          <p:nvPr/>
        </p:nvSpPr>
        <p:spPr>
          <a:xfrm>
            <a:off x="524510" y="1167765"/>
            <a:ext cx="3973195" cy="491490"/>
          </a:xfrm>
          <a:prstGeom prst="rect">
            <a:avLst/>
          </a:prstGeom>
          <a:noFill/>
        </p:spPr>
        <p:txBody>
          <a:bodyPr wrap="square" rtlCol="0">
            <a:spAutoFit/>
          </a:bodyPr>
          <a:lstStyle/>
          <a:p>
            <a:pPr algn="l"/>
            <a:r>
              <a:rPr lang="en-US" altLang="zh-CN" sz="2600" b="1" spc="-150" dirty="0">
                <a:solidFill>
                  <a:srgbClr val="314371"/>
                </a:solidFill>
                <a:latin typeface="Times New Roman" panose="02020503050405090304" charset="0"/>
                <a:ea typeface="思源黑体" panose="020B0400000000000000" charset="-122"/>
                <a:cs typeface="+mn-ea"/>
                <a:sym typeface="+mn-lt"/>
              </a:rPr>
              <a:t>AI </a:t>
            </a:r>
            <a:r>
              <a:rPr lang="zh-CN" altLang="en-US" sz="2600" b="1" spc="-150" dirty="0">
                <a:solidFill>
                  <a:srgbClr val="314371"/>
                </a:solidFill>
                <a:latin typeface="Times New Roman" panose="02020503050405090304" charset="0"/>
                <a:ea typeface="思源黑体" panose="020B0400000000000000" charset="-122"/>
                <a:cs typeface="+mn-ea"/>
                <a:sym typeface="+mn-lt"/>
              </a:rPr>
              <a:t>发展的三大要素</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grpSp>
        <p:nvGrpSpPr>
          <p:cNvPr id="85" name="组合 52"/>
          <p:cNvGrpSpPr/>
          <p:nvPr/>
        </p:nvGrpSpPr>
        <p:grpSpPr>
          <a:xfrm>
            <a:off x="2006600" y="2383155"/>
            <a:ext cx="1437005" cy="1414145"/>
            <a:chOff x="6270911" y="4724409"/>
            <a:chExt cx="2016432" cy="2016432"/>
          </a:xfrm>
        </p:grpSpPr>
        <p:sp>
          <p:nvSpPr>
            <p:cNvPr id="86" name="椭圆 54"/>
            <p:cNvSpPr/>
            <p:nvPr/>
          </p:nvSpPr>
          <p:spPr>
            <a:xfrm>
              <a:off x="6360123" y="4813621"/>
              <a:ext cx="1838008" cy="1838008"/>
            </a:xfrm>
            <a:prstGeom prst="ellipse">
              <a:avLst/>
            </a:prstGeom>
            <a:solidFill>
              <a:srgbClr val="31437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mn-ea"/>
                <a:sym typeface="+mn-lt"/>
              </a:endParaRPr>
            </a:p>
          </p:txBody>
        </p:sp>
        <p:sp>
          <p:nvSpPr>
            <p:cNvPr id="90" name="椭圆 58"/>
            <p:cNvSpPr/>
            <p:nvPr/>
          </p:nvSpPr>
          <p:spPr>
            <a:xfrm>
              <a:off x="6270911" y="4724409"/>
              <a:ext cx="2016432" cy="2016432"/>
            </a:xfrm>
            <a:prstGeom prst="ellipse">
              <a:avLst/>
            </a:prstGeom>
            <a:noFill/>
            <a:ln w="19050">
              <a:solidFill>
                <a:srgbClr val="314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mn-ea"/>
                <a:sym typeface="+mn-lt"/>
              </a:endParaRPr>
            </a:p>
          </p:txBody>
        </p:sp>
      </p:grpSp>
      <p:grpSp>
        <p:nvGrpSpPr>
          <p:cNvPr id="91" name="组合 59"/>
          <p:cNvGrpSpPr/>
          <p:nvPr/>
        </p:nvGrpSpPr>
        <p:grpSpPr>
          <a:xfrm>
            <a:off x="5786120" y="2383155"/>
            <a:ext cx="1437005" cy="1414145"/>
            <a:chOff x="1439019" y="4724409"/>
            <a:chExt cx="2016432" cy="2016432"/>
          </a:xfrm>
        </p:grpSpPr>
        <p:sp>
          <p:nvSpPr>
            <p:cNvPr id="92" name="椭圆 60"/>
            <p:cNvSpPr/>
            <p:nvPr/>
          </p:nvSpPr>
          <p:spPr>
            <a:xfrm>
              <a:off x="1528231" y="4813621"/>
              <a:ext cx="1838008" cy="1838008"/>
            </a:xfrm>
            <a:prstGeom prst="ellipse">
              <a:avLst/>
            </a:prstGeom>
            <a:solidFill>
              <a:srgbClr val="31437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mn-ea"/>
                <a:sym typeface="+mn-lt"/>
              </a:endParaRPr>
            </a:p>
          </p:txBody>
        </p:sp>
        <p:sp>
          <p:nvSpPr>
            <p:cNvPr id="97" name="椭圆 65"/>
            <p:cNvSpPr/>
            <p:nvPr/>
          </p:nvSpPr>
          <p:spPr>
            <a:xfrm>
              <a:off x="1439019" y="4724409"/>
              <a:ext cx="2016432" cy="2016432"/>
            </a:xfrm>
            <a:prstGeom prst="ellipse">
              <a:avLst/>
            </a:prstGeom>
            <a:noFill/>
            <a:ln w="19050">
              <a:solidFill>
                <a:srgbClr val="314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mn-ea"/>
                <a:sym typeface="+mn-lt"/>
              </a:endParaRPr>
            </a:p>
          </p:txBody>
        </p:sp>
      </p:grpSp>
      <p:grpSp>
        <p:nvGrpSpPr>
          <p:cNvPr id="98" name="组合 66"/>
          <p:cNvGrpSpPr/>
          <p:nvPr/>
        </p:nvGrpSpPr>
        <p:grpSpPr>
          <a:xfrm>
            <a:off x="9639300" y="2372360"/>
            <a:ext cx="1437005" cy="1414145"/>
            <a:chOff x="1439019" y="2809213"/>
            <a:chExt cx="2016432" cy="2016432"/>
          </a:xfrm>
        </p:grpSpPr>
        <p:sp>
          <p:nvSpPr>
            <p:cNvPr id="99" name="椭圆 67"/>
            <p:cNvSpPr/>
            <p:nvPr/>
          </p:nvSpPr>
          <p:spPr>
            <a:xfrm>
              <a:off x="1528231" y="2898425"/>
              <a:ext cx="1838008" cy="1838008"/>
            </a:xfrm>
            <a:prstGeom prst="ellipse">
              <a:avLst/>
            </a:prstGeom>
            <a:solidFill>
              <a:srgbClr val="31437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mn-ea"/>
                <a:sym typeface="+mn-lt"/>
              </a:endParaRPr>
            </a:p>
          </p:txBody>
        </p:sp>
        <p:sp>
          <p:nvSpPr>
            <p:cNvPr id="103" name="椭圆 71"/>
            <p:cNvSpPr/>
            <p:nvPr/>
          </p:nvSpPr>
          <p:spPr>
            <a:xfrm>
              <a:off x="1439019" y="2809213"/>
              <a:ext cx="2016432" cy="2016432"/>
            </a:xfrm>
            <a:prstGeom prst="ellipse">
              <a:avLst/>
            </a:prstGeom>
            <a:noFill/>
            <a:ln w="19050">
              <a:solidFill>
                <a:srgbClr val="3143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800">
                <a:cs typeface="+mn-ea"/>
                <a:sym typeface="+mn-lt"/>
              </a:endParaRPr>
            </a:p>
          </p:txBody>
        </p:sp>
      </p:grpSp>
      <p:pic>
        <p:nvPicPr>
          <p:cNvPr id="109" name="Picture 108" descr="大数据"/>
          <p:cNvPicPr>
            <a:picLocks noChangeAspect="1"/>
          </p:cNvPicPr>
          <p:nvPr/>
        </p:nvPicPr>
        <p:blipFill>
          <a:blip r:embed="rId2"/>
          <a:stretch>
            <a:fillRect/>
          </a:stretch>
        </p:blipFill>
        <p:spPr>
          <a:xfrm>
            <a:off x="2336165" y="2698115"/>
            <a:ext cx="795655" cy="795655"/>
          </a:xfrm>
          <a:prstGeom prst="rect">
            <a:avLst/>
          </a:prstGeom>
        </p:spPr>
      </p:pic>
      <p:pic>
        <p:nvPicPr>
          <p:cNvPr id="110" name="Picture 109" descr="芯片型号"/>
          <p:cNvPicPr>
            <a:picLocks noChangeAspect="1"/>
          </p:cNvPicPr>
          <p:nvPr/>
        </p:nvPicPr>
        <p:blipFill>
          <a:blip r:embed="rId3"/>
          <a:stretch>
            <a:fillRect/>
          </a:stretch>
        </p:blipFill>
        <p:spPr>
          <a:xfrm>
            <a:off x="6162675" y="2765425"/>
            <a:ext cx="701675" cy="701675"/>
          </a:xfrm>
          <a:prstGeom prst="rect">
            <a:avLst/>
          </a:prstGeom>
        </p:spPr>
      </p:pic>
      <p:pic>
        <p:nvPicPr>
          <p:cNvPr id="112" name="Picture 111" descr="算法管理工具"/>
          <p:cNvPicPr>
            <a:picLocks noChangeAspect="1"/>
          </p:cNvPicPr>
          <p:nvPr/>
        </p:nvPicPr>
        <p:blipFill>
          <a:blip r:embed="rId4"/>
          <a:stretch>
            <a:fillRect/>
          </a:stretch>
        </p:blipFill>
        <p:spPr>
          <a:xfrm>
            <a:off x="9922510" y="2699385"/>
            <a:ext cx="903605" cy="753110"/>
          </a:xfrm>
          <a:prstGeom prst="rect">
            <a:avLst/>
          </a:prstGeom>
        </p:spPr>
      </p:pic>
      <p:sp>
        <p:nvSpPr>
          <p:cNvPr id="113" name="文本框 3"/>
          <p:cNvSpPr txBox="1"/>
          <p:nvPr/>
        </p:nvSpPr>
        <p:spPr>
          <a:xfrm>
            <a:off x="2181225" y="4010025"/>
            <a:ext cx="1095375" cy="491490"/>
          </a:xfrm>
          <a:prstGeom prst="rect">
            <a:avLst/>
          </a:prstGeom>
          <a:noFill/>
        </p:spPr>
        <p:txBody>
          <a:bodyPr wrap="square" rtlCol="0">
            <a:spAutoFit/>
          </a:bodyPr>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数据</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114" name="文本框 49"/>
          <p:cNvSpPr txBox="1"/>
          <p:nvPr/>
        </p:nvSpPr>
        <p:spPr>
          <a:xfrm>
            <a:off x="884786" y="4794329"/>
            <a:ext cx="3473546" cy="1198880"/>
          </a:xfrm>
          <a:prstGeom prst="rect">
            <a:avLst/>
          </a:prstGeom>
          <a:noFill/>
        </p:spPr>
        <p:txBody>
          <a:bodyPr wrap="square" rtlCol="0">
            <a:spAutoFit/>
          </a:bodyPr>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数据量迎来爆炸式增长，型训练数据的丰富程度、清洗的干净程度一定程度上决定了</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en-US" altLang="en-US"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算法的优劣。</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115" name="文本框 3"/>
          <p:cNvSpPr txBox="1"/>
          <p:nvPr/>
        </p:nvSpPr>
        <p:spPr>
          <a:xfrm>
            <a:off x="5997575" y="4010025"/>
            <a:ext cx="1038225" cy="491490"/>
          </a:xfrm>
          <a:prstGeom prst="rect">
            <a:avLst/>
          </a:prstGeom>
          <a:noFill/>
        </p:spPr>
        <p:txBody>
          <a:bodyPr wrap="square" rtlCol="0">
            <a:spAutoFit/>
          </a:bodyPr>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算力</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116" name="文本框 49"/>
          <p:cNvSpPr txBox="1"/>
          <p:nvPr/>
        </p:nvSpPr>
        <p:spPr>
          <a:xfrm>
            <a:off x="4961486" y="4720034"/>
            <a:ext cx="3473546" cy="1568450"/>
          </a:xfrm>
          <a:prstGeom prst="rect">
            <a:avLst/>
          </a:prstGeom>
          <a:noFill/>
        </p:spPr>
        <p:txBody>
          <a:bodyPr wrap="square" rtlCol="0">
            <a:spAutoFit/>
          </a:bodyPr>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在处理大量数据，尤其是进行</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预训练</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时，算力至关重要</a:t>
            </a:r>
            <a:r>
              <a:rPr lang="en-US" altLang="zh-CN" sz="1600" spc="40" dirty="0">
                <a:solidFill>
                  <a:srgbClr val="314371"/>
                </a:solidFill>
                <a:latin typeface="Times New Roman" panose="02020503050405090304" charset="0"/>
                <a:ea typeface="思源黑体" panose="020B0400000000000000" charset="-122"/>
                <a:cs typeface="+mn-ea"/>
                <a:sym typeface="+mn-lt"/>
              </a:rPr>
              <a:t>，DeepSeek-R1 </a:t>
            </a:r>
            <a:r>
              <a:rPr lang="zh-CN" altLang="en-US" sz="1600" spc="40" dirty="0">
                <a:solidFill>
                  <a:srgbClr val="314371"/>
                </a:solidFill>
                <a:latin typeface="Times New Roman" panose="02020503050405090304" charset="0"/>
                <a:ea typeface="思源黑体" panose="020B0400000000000000" charset="-122"/>
                <a:cs typeface="+mn-ea"/>
                <a:sym typeface="+mn-lt"/>
              </a:rPr>
              <a:t>的训练，使用了</a:t>
            </a:r>
            <a:r>
              <a:rPr lang="en-US" altLang="zh-CN" sz="1600" spc="40" dirty="0">
                <a:solidFill>
                  <a:srgbClr val="314371"/>
                </a:solidFill>
                <a:latin typeface="Times New Roman" panose="02020503050405090304" charset="0"/>
                <a:ea typeface="思源黑体" panose="020B0400000000000000" charset="-122"/>
                <a:cs typeface="+mn-ea"/>
                <a:sym typeface="+mn-lt"/>
              </a:rPr>
              <a:t> 648 </a:t>
            </a:r>
            <a:r>
              <a:rPr lang="zh-CN" altLang="en-US" sz="1600" spc="40" dirty="0">
                <a:solidFill>
                  <a:srgbClr val="314371"/>
                </a:solidFill>
                <a:latin typeface="Times New Roman" panose="02020503050405090304" charset="0"/>
                <a:ea typeface="思源黑体" panose="020B0400000000000000" charset="-122"/>
                <a:cs typeface="+mn-ea"/>
                <a:sym typeface="+mn-lt"/>
              </a:rPr>
              <a:t>张</a:t>
            </a:r>
            <a:r>
              <a:rPr lang="en-US" altLang="zh-CN" sz="1600" spc="40" dirty="0">
                <a:solidFill>
                  <a:srgbClr val="314371"/>
                </a:solidFill>
                <a:latin typeface="Times New Roman" panose="02020503050405090304" charset="0"/>
                <a:ea typeface="思源黑体" panose="020B0400000000000000" charset="-122"/>
                <a:cs typeface="+mn-ea"/>
                <a:sym typeface="+mn-lt"/>
              </a:rPr>
              <a:t> H100 GPU，</a:t>
            </a:r>
            <a:r>
              <a:rPr lang="zh-CN" altLang="en-US" sz="1600" spc="40" dirty="0">
                <a:solidFill>
                  <a:srgbClr val="314371"/>
                </a:solidFill>
                <a:latin typeface="Times New Roman" panose="02020503050405090304" charset="0"/>
                <a:ea typeface="思源黑体" panose="020B0400000000000000" charset="-122"/>
                <a:cs typeface="+mn-ea"/>
                <a:sym typeface="+mn-lt"/>
              </a:rPr>
              <a:t>消耗了</a:t>
            </a:r>
            <a:r>
              <a:rPr lang="en-US" altLang="zh-CN" sz="1600" spc="40" dirty="0">
                <a:solidFill>
                  <a:srgbClr val="314371"/>
                </a:solidFill>
                <a:latin typeface="Times New Roman" panose="02020503050405090304" charset="0"/>
                <a:ea typeface="思源黑体" panose="020B0400000000000000" charset="-122"/>
                <a:cs typeface="+mn-ea"/>
                <a:sym typeface="+mn-lt"/>
              </a:rPr>
              <a:t> 600 </a:t>
            </a:r>
            <a:r>
              <a:rPr lang="zh-CN" altLang="en-US" sz="1600" spc="40" dirty="0">
                <a:solidFill>
                  <a:srgbClr val="314371"/>
                </a:solidFill>
                <a:latin typeface="Times New Roman" panose="02020503050405090304" charset="0"/>
                <a:ea typeface="思源黑体" panose="020B0400000000000000" charset="-122"/>
                <a:cs typeface="+mn-ea"/>
                <a:sym typeface="+mn-lt"/>
              </a:rPr>
              <a:t>万美元。</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117" name="文本框 3"/>
          <p:cNvSpPr txBox="1"/>
          <p:nvPr/>
        </p:nvSpPr>
        <p:spPr>
          <a:xfrm>
            <a:off x="9785985" y="3976370"/>
            <a:ext cx="1170940" cy="491490"/>
          </a:xfrm>
          <a:prstGeom prst="rect">
            <a:avLst/>
          </a:prstGeom>
          <a:noFill/>
        </p:spPr>
        <p:txBody>
          <a:bodyPr wrap="square" rtlCol="0">
            <a:spAutoFit/>
          </a:bodyPr>
          <a:p>
            <a:pPr algn="ctr"/>
            <a:r>
              <a:rPr lang="zh-CN" altLang="en-US" sz="2600" b="1" spc="-150" dirty="0">
                <a:solidFill>
                  <a:srgbClr val="314371"/>
                </a:solidFill>
                <a:latin typeface="Times New Roman" panose="02020503050405090304" charset="0"/>
                <a:ea typeface="思源黑体" panose="020B0400000000000000" charset="-122"/>
                <a:cs typeface="+mn-ea"/>
                <a:sym typeface="+mn-lt"/>
              </a:rPr>
              <a:t>算法</a:t>
            </a:r>
            <a:endParaRPr lang="zh-CN" altLang="en-US" sz="2600" b="1" spc="-150" dirty="0">
              <a:solidFill>
                <a:srgbClr val="314371"/>
              </a:solidFill>
              <a:latin typeface="Times New Roman" panose="02020503050405090304" charset="0"/>
              <a:ea typeface="思源黑体" panose="020B0400000000000000" charset="-122"/>
              <a:cs typeface="+mn-ea"/>
              <a:sym typeface="+mn-lt"/>
            </a:endParaRPr>
          </a:p>
        </p:txBody>
      </p:sp>
      <p:sp>
        <p:nvSpPr>
          <p:cNvPr id="118" name="文本框 49"/>
          <p:cNvSpPr txBox="1"/>
          <p:nvPr/>
        </p:nvSpPr>
        <p:spPr>
          <a:xfrm>
            <a:off x="8774026" y="4720669"/>
            <a:ext cx="3473546" cy="1568450"/>
          </a:xfrm>
          <a:prstGeom prst="rect">
            <a:avLst/>
          </a:prstGeom>
          <a:noFill/>
        </p:spPr>
        <p:txBody>
          <a:bodyPr wrap="square" rtlCol="0">
            <a:spAutoFit/>
          </a:bodyPr>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模型复杂度指数级提升，算法的不断突破创新也持续提升了算法模型的准确率和效率，模型的持续丰富也使得场景的适应能力逐步提升。</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5"/>
                                        </p:tgtEl>
                                        <p:attrNameLst>
                                          <p:attrName>style.visibility</p:attrName>
                                        </p:attrNameLst>
                                      </p:cBhvr>
                                      <p:to>
                                        <p:strVal val="visible"/>
                                      </p:to>
                                    </p:set>
                                    <p:anim calcmode="lin" valueType="num">
                                      <p:cBhvr additive="base">
                                        <p:cTn id="12" dur="500" fill="hold"/>
                                        <p:tgtEl>
                                          <p:spTgt spid="85"/>
                                        </p:tgtEl>
                                        <p:attrNameLst>
                                          <p:attrName>ppt_x</p:attrName>
                                        </p:attrNameLst>
                                      </p:cBhvr>
                                      <p:tavLst>
                                        <p:tav tm="0">
                                          <p:val>
                                            <p:strVal val="#ppt_x"/>
                                          </p:val>
                                        </p:tav>
                                        <p:tav tm="100000">
                                          <p:val>
                                            <p:strVal val="#ppt_x"/>
                                          </p:val>
                                        </p:tav>
                                      </p:tavLst>
                                    </p:anim>
                                    <p:anim calcmode="lin" valueType="num">
                                      <p:cBhvr additive="base">
                                        <p:cTn id="13" dur="500" fill="hold"/>
                                        <p:tgtEl>
                                          <p:spTgt spid="8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91"/>
                                        </p:tgtEl>
                                        <p:attrNameLst>
                                          <p:attrName>style.visibility</p:attrName>
                                        </p:attrNameLst>
                                      </p:cBhvr>
                                      <p:to>
                                        <p:strVal val="visible"/>
                                      </p:to>
                                    </p:set>
                                    <p:anim calcmode="lin" valueType="num">
                                      <p:cBhvr additive="base">
                                        <p:cTn id="17" dur="500" fill="hold"/>
                                        <p:tgtEl>
                                          <p:spTgt spid="91"/>
                                        </p:tgtEl>
                                        <p:attrNameLst>
                                          <p:attrName>ppt_x</p:attrName>
                                        </p:attrNameLst>
                                      </p:cBhvr>
                                      <p:tavLst>
                                        <p:tav tm="0">
                                          <p:val>
                                            <p:strVal val="#ppt_x"/>
                                          </p:val>
                                        </p:tav>
                                        <p:tav tm="100000">
                                          <p:val>
                                            <p:strVal val="#ppt_x"/>
                                          </p:val>
                                        </p:tav>
                                      </p:tavLst>
                                    </p:anim>
                                    <p:anim calcmode="lin" valueType="num">
                                      <p:cBhvr additive="base">
                                        <p:cTn id="18" dur="500" fill="hold"/>
                                        <p:tgtEl>
                                          <p:spTgt spid="91"/>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98"/>
                                        </p:tgtEl>
                                        <p:attrNameLst>
                                          <p:attrName>style.visibility</p:attrName>
                                        </p:attrNameLst>
                                      </p:cBhvr>
                                      <p:to>
                                        <p:strVal val="visible"/>
                                      </p:to>
                                    </p:set>
                                    <p:anim calcmode="lin" valueType="num">
                                      <p:cBhvr additive="base">
                                        <p:cTn id="22" dur="500" fill="hold"/>
                                        <p:tgtEl>
                                          <p:spTgt spid="98"/>
                                        </p:tgtEl>
                                        <p:attrNameLst>
                                          <p:attrName>ppt_x</p:attrName>
                                        </p:attrNameLst>
                                      </p:cBhvr>
                                      <p:tavLst>
                                        <p:tav tm="0">
                                          <p:val>
                                            <p:strVal val="#ppt_x"/>
                                          </p:val>
                                        </p:tav>
                                        <p:tav tm="100000">
                                          <p:val>
                                            <p:strVal val="#ppt_x"/>
                                          </p:val>
                                        </p:tav>
                                      </p:tavLst>
                                    </p:anim>
                                    <p:anim calcmode="lin" valueType="num">
                                      <p:cBhvr additive="base">
                                        <p:cTn id="23" dur="500" fill="hold"/>
                                        <p:tgtEl>
                                          <p:spTgt spid="9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113"/>
                                        </p:tgtEl>
                                        <p:attrNameLst>
                                          <p:attrName>style.visibility</p:attrName>
                                        </p:attrNameLst>
                                      </p:cBhvr>
                                      <p:to>
                                        <p:strVal val="visible"/>
                                      </p:to>
                                    </p:set>
                                    <p:anim calcmode="lin" valueType="num">
                                      <p:cBhvr>
                                        <p:cTn id="27" dur="500" fill="hold"/>
                                        <p:tgtEl>
                                          <p:spTgt spid="113"/>
                                        </p:tgtEl>
                                        <p:attrNameLst>
                                          <p:attrName>ppt_w</p:attrName>
                                        </p:attrNameLst>
                                      </p:cBhvr>
                                      <p:tavLst>
                                        <p:tav tm="0">
                                          <p:val>
                                            <p:fltVal val="0"/>
                                          </p:val>
                                        </p:tav>
                                        <p:tav tm="100000">
                                          <p:val>
                                            <p:strVal val="#ppt_w"/>
                                          </p:val>
                                        </p:tav>
                                      </p:tavLst>
                                    </p:anim>
                                    <p:anim calcmode="lin" valueType="num">
                                      <p:cBhvr>
                                        <p:cTn id="28" dur="500" fill="hold"/>
                                        <p:tgtEl>
                                          <p:spTgt spid="113"/>
                                        </p:tgtEl>
                                        <p:attrNameLst>
                                          <p:attrName>ppt_h</p:attrName>
                                        </p:attrNameLst>
                                      </p:cBhvr>
                                      <p:tavLst>
                                        <p:tav tm="0">
                                          <p:val>
                                            <p:fltVal val="0"/>
                                          </p:val>
                                        </p:tav>
                                        <p:tav tm="100000">
                                          <p:val>
                                            <p:strVal val="#ppt_h"/>
                                          </p:val>
                                        </p:tav>
                                      </p:tavLst>
                                    </p:anim>
                                    <p:animEffect transition="in" filter="fade">
                                      <p:cBhvr>
                                        <p:cTn id="29" dur="500"/>
                                        <p:tgtEl>
                                          <p:spTgt spid="113"/>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4"/>
                                        </p:tgtEl>
                                        <p:attrNameLst>
                                          <p:attrName>style.visibility</p:attrName>
                                        </p:attrNameLst>
                                      </p:cBhvr>
                                      <p:to>
                                        <p:strVal val="visible"/>
                                      </p:to>
                                    </p:set>
                                    <p:anim calcmode="lin" valueType="num">
                                      <p:cBhvr>
                                        <p:cTn id="32" dur="500" fill="hold"/>
                                        <p:tgtEl>
                                          <p:spTgt spid="114"/>
                                        </p:tgtEl>
                                        <p:attrNameLst>
                                          <p:attrName>ppt_w</p:attrName>
                                        </p:attrNameLst>
                                      </p:cBhvr>
                                      <p:tavLst>
                                        <p:tav tm="0">
                                          <p:val>
                                            <p:fltVal val="0"/>
                                          </p:val>
                                        </p:tav>
                                        <p:tav tm="100000">
                                          <p:val>
                                            <p:strVal val="#ppt_w"/>
                                          </p:val>
                                        </p:tav>
                                      </p:tavLst>
                                    </p:anim>
                                    <p:anim calcmode="lin" valueType="num">
                                      <p:cBhvr>
                                        <p:cTn id="33" dur="500" fill="hold"/>
                                        <p:tgtEl>
                                          <p:spTgt spid="114"/>
                                        </p:tgtEl>
                                        <p:attrNameLst>
                                          <p:attrName>ppt_h</p:attrName>
                                        </p:attrNameLst>
                                      </p:cBhvr>
                                      <p:tavLst>
                                        <p:tav tm="0">
                                          <p:val>
                                            <p:fltVal val="0"/>
                                          </p:val>
                                        </p:tav>
                                        <p:tav tm="100000">
                                          <p:val>
                                            <p:strVal val="#ppt_h"/>
                                          </p:val>
                                        </p:tav>
                                      </p:tavLst>
                                    </p:anim>
                                    <p:animEffect transition="in" filter="fade">
                                      <p:cBhvr>
                                        <p:cTn id="34" dur="500"/>
                                        <p:tgtEl>
                                          <p:spTgt spid="114"/>
                                        </p:tgtEl>
                                      </p:cBhvr>
                                    </p:animEffect>
                                  </p:childTnLst>
                                </p:cTn>
                              </p:par>
                            </p:childTnLst>
                          </p:cTn>
                        </p:par>
                        <p:par>
                          <p:cTn id="35" fill="hold">
                            <p:stCondLst>
                              <p:cond delay="2500"/>
                            </p:stCondLst>
                            <p:childTnLst>
                              <p:par>
                                <p:cTn id="36" presetID="53" presetClass="entr" presetSubtype="16" fill="hold" grpId="0" nodeType="afterEffect">
                                  <p:stCondLst>
                                    <p:cond delay="0"/>
                                  </p:stCondLst>
                                  <p:childTnLst>
                                    <p:set>
                                      <p:cBhvr>
                                        <p:cTn id="37" dur="1" fill="hold">
                                          <p:stCondLst>
                                            <p:cond delay="0"/>
                                          </p:stCondLst>
                                        </p:cTn>
                                        <p:tgtEl>
                                          <p:spTgt spid="115"/>
                                        </p:tgtEl>
                                        <p:attrNameLst>
                                          <p:attrName>style.visibility</p:attrName>
                                        </p:attrNameLst>
                                      </p:cBhvr>
                                      <p:to>
                                        <p:strVal val="visible"/>
                                      </p:to>
                                    </p:set>
                                    <p:anim calcmode="lin" valueType="num">
                                      <p:cBhvr>
                                        <p:cTn id="38" dur="500" fill="hold"/>
                                        <p:tgtEl>
                                          <p:spTgt spid="115"/>
                                        </p:tgtEl>
                                        <p:attrNameLst>
                                          <p:attrName>ppt_w</p:attrName>
                                        </p:attrNameLst>
                                      </p:cBhvr>
                                      <p:tavLst>
                                        <p:tav tm="0">
                                          <p:val>
                                            <p:fltVal val="0"/>
                                          </p:val>
                                        </p:tav>
                                        <p:tav tm="100000">
                                          <p:val>
                                            <p:strVal val="#ppt_w"/>
                                          </p:val>
                                        </p:tav>
                                      </p:tavLst>
                                    </p:anim>
                                    <p:anim calcmode="lin" valueType="num">
                                      <p:cBhvr>
                                        <p:cTn id="39" dur="500" fill="hold"/>
                                        <p:tgtEl>
                                          <p:spTgt spid="115"/>
                                        </p:tgtEl>
                                        <p:attrNameLst>
                                          <p:attrName>ppt_h</p:attrName>
                                        </p:attrNameLst>
                                      </p:cBhvr>
                                      <p:tavLst>
                                        <p:tav tm="0">
                                          <p:val>
                                            <p:fltVal val="0"/>
                                          </p:val>
                                        </p:tav>
                                        <p:tav tm="100000">
                                          <p:val>
                                            <p:strVal val="#ppt_h"/>
                                          </p:val>
                                        </p:tav>
                                      </p:tavLst>
                                    </p:anim>
                                    <p:animEffect transition="in" filter="fade">
                                      <p:cBhvr>
                                        <p:cTn id="40" dur="500"/>
                                        <p:tgtEl>
                                          <p:spTgt spid="115"/>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16"/>
                                        </p:tgtEl>
                                        <p:attrNameLst>
                                          <p:attrName>style.visibility</p:attrName>
                                        </p:attrNameLst>
                                      </p:cBhvr>
                                      <p:to>
                                        <p:strVal val="visible"/>
                                      </p:to>
                                    </p:set>
                                    <p:anim calcmode="lin" valueType="num">
                                      <p:cBhvr>
                                        <p:cTn id="43" dur="500" fill="hold"/>
                                        <p:tgtEl>
                                          <p:spTgt spid="116"/>
                                        </p:tgtEl>
                                        <p:attrNameLst>
                                          <p:attrName>ppt_w</p:attrName>
                                        </p:attrNameLst>
                                      </p:cBhvr>
                                      <p:tavLst>
                                        <p:tav tm="0">
                                          <p:val>
                                            <p:fltVal val="0"/>
                                          </p:val>
                                        </p:tav>
                                        <p:tav tm="100000">
                                          <p:val>
                                            <p:strVal val="#ppt_w"/>
                                          </p:val>
                                        </p:tav>
                                      </p:tavLst>
                                    </p:anim>
                                    <p:anim calcmode="lin" valueType="num">
                                      <p:cBhvr>
                                        <p:cTn id="44" dur="500" fill="hold"/>
                                        <p:tgtEl>
                                          <p:spTgt spid="116"/>
                                        </p:tgtEl>
                                        <p:attrNameLst>
                                          <p:attrName>ppt_h</p:attrName>
                                        </p:attrNameLst>
                                      </p:cBhvr>
                                      <p:tavLst>
                                        <p:tav tm="0">
                                          <p:val>
                                            <p:fltVal val="0"/>
                                          </p:val>
                                        </p:tav>
                                        <p:tav tm="100000">
                                          <p:val>
                                            <p:strVal val="#ppt_h"/>
                                          </p:val>
                                        </p:tav>
                                      </p:tavLst>
                                    </p:anim>
                                    <p:animEffect transition="in" filter="fade">
                                      <p:cBhvr>
                                        <p:cTn id="45" dur="500"/>
                                        <p:tgtEl>
                                          <p:spTgt spid="116"/>
                                        </p:tgtEl>
                                      </p:cBhvr>
                                    </p:animEffect>
                                  </p:childTnLst>
                                </p:cTn>
                              </p:par>
                            </p:childTnLst>
                          </p:cTn>
                        </p:par>
                        <p:par>
                          <p:cTn id="46" fill="hold">
                            <p:stCondLst>
                              <p:cond delay="3000"/>
                            </p:stCondLst>
                            <p:childTnLst>
                              <p:par>
                                <p:cTn id="47" presetID="53" presetClass="entr" presetSubtype="16" fill="hold" grpId="0" nodeType="afterEffect">
                                  <p:stCondLst>
                                    <p:cond delay="0"/>
                                  </p:stCondLst>
                                  <p:childTnLst>
                                    <p:set>
                                      <p:cBhvr>
                                        <p:cTn id="48" dur="1" fill="hold">
                                          <p:stCondLst>
                                            <p:cond delay="0"/>
                                          </p:stCondLst>
                                        </p:cTn>
                                        <p:tgtEl>
                                          <p:spTgt spid="117"/>
                                        </p:tgtEl>
                                        <p:attrNameLst>
                                          <p:attrName>style.visibility</p:attrName>
                                        </p:attrNameLst>
                                      </p:cBhvr>
                                      <p:to>
                                        <p:strVal val="visible"/>
                                      </p:to>
                                    </p:set>
                                    <p:anim calcmode="lin" valueType="num">
                                      <p:cBhvr>
                                        <p:cTn id="49" dur="500" fill="hold"/>
                                        <p:tgtEl>
                                          <p:spTgt spid="117"/>
                                        </p:tgtEl>
                                        <p:attrNameLst>
                                          <p:attrName>ppt_w</p:attrName>
                                        </p:attrNameLst>
                                      </p:cBhvr>
                                      <p:tavLst>
                                        <p:tav tm="0">
                                          <p:val>
                                            <p:fltVal val="0"/>
                                          </p:val>
                                        </p:tav>
                                        <p:tav tm="100000">
                                          <p:val>
                                            <p:strVal val="#ppt_w"/>
                                          </p:val>
                                        </p:tav>
                                      </p:tavLst>
                                    </p:anim>
                                    <p:anim calcmode="lin" valueType="num">
                                      <p:cBhvr>
                                        <p:cTn id="50" dur="500" fill="hold"/>
                                        <p:tgtEl>
                                          <p:spTgt spid="117"/>
                                        </p:tgtEl>
                                        <p:attrNameLst>
                                          <p:attrName>ppt_h</p:attrName>
                                        </p:attrNameLst>
                                      </p:cBhvr>
                                      <p:tavLst>
                                        <p:tav tm="0">
                                          <p:val>
                                            <p:fltVal val="0"/>
                                          </p:val>
                                        </p:tav>
                                        <p:tav tm="100000">
                                          <p:val>
                                            <p:strVal val="#ppt_h"/>
                                          </p:val>
                                        </p:tav>
                                      </p:tavLst>
                                    </p:anim>
                                    <p:animEffect transition="in" filter="fade">
                                      <p:cBhvr>
                                        <p:cTn id="51" dur="500"/>
                                        <p:tgtEl>
                                          <p:spTgt spid="117"/>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18"/>
                                        </p:tgtEl>
                                        <p:attrNameLst>
                                          <p:attrName>style.visibility</p:attrName>
                                        </p:attrNameLst>
                                      </p:cBhvr>
                                      <p:to>
                                        <p:strVal val="visible"/>
                                      </p:to>
                                    </p:set>
                                    <p:anim calcmode="lin" valueType="num">
                                      <p:cBhvr>
                                        <p:cTn id="54" dur="500" fill="hold"/>
                                        <p:tgtEl>
                                          <p:spTgt spid="118"/>
                                        </p:tgtEl>
                                        <p:attrNameLst>
                                          <p:attrName>ppt_w</p:attrName>
                                        </p:attrNameLst>
                                      </p:cBhvr>
                                      <p:tavLst>
                                        <p:tav tm="0">
                                          <p:val>
                                            <p:fltVal val="0"/>
                                          </p:val>
                                        </p:tav>
                                        <p:tav tm="100000">
                                          <p:val>
                                            <p:strVal val="#ppt_w"/>
                                          </p:val>
                                        </p:tav>
                                      </p:tavLst>
                                    </p:anim>
                                    <p:anim calcmode="lin" valueType="num">
                                      <p:cBhvr>
                                        <p:cTn id="55" dur="500" fill="hold"/>
                                        <p:tgtEl>
                                          <p:spTgt spid="118"/>
                                        </p:tgtEl>
                                        <p:attrNameLst>
                                          <p:attrName>ppt_h</p:attrName>
                                        </p:attrNameLst>
                                      </p:cBhvr>
                                      <p:tavLst>
                                        <p:tav tm="0">
                                          <p:val>
                                            <p:fltVal val="0"/>
                                          </p:val>
                                        </p:tav>
                                        <p:tav tm="100000">
                                          <p:val>
                                            <p:strVal val="#ppt_h"/>
                                          </p:val>
                                        </p:tav>
                                      </p:tavLst>
                                    </p:anim>
                                    <p:animEffect transition="in" filter="fade">
                                      <p:cBhvr>
                                        <p:cTn id="56"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113" grpId="0"/>
      <p:bldP spid="114" grpId="0"/>
      <p:bldP spid="115" grpId="0"/>
      <p:bldP spid="116" grpId="0"/>
      <p:bldP spid="117" grpId="0"/>
      <p:bldP spid="1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0"/>
            <a:ext cx="12858044" cy="7232649"/>
          </a:xfrm>
          <a:prstGeom prst="rect">
            <a:avLst/>
          </a:prstGeom>
        </p:spPr>
      </p:pic>
      <p:sp>
        <p:nvSpPr>
          <p:cNvPr id="6" name="矩形 5"/>
          <p:cNvSpPr/>
          <p:nvPr/>
        </p:nvSpPr>
        <p:spPr>
          <a:xfrm>
            <a:off x="706" y="-13183"/>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4396525" y="1585158"/>
            <a:ext cx="4062334" cy="4062334"/>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18" name="组合 17"/>
            <p:cNvGrpSpPr/>
            <p:nvPr/>
          </p:nvGrpSpPr>
          <p:grpSpPr>
            <a:xfrm>
              <a:off x="4170422" y="2020329"/>
              <a:ext cx="3845404" cy="2298663"/>
              <a:chOff x="4061837" y="1920634"/>
              <a:chExt cx="3845404" cy="2298663"/>
            </a:xfrm>
          </p:grpSpPr>
          <p:sp>
            <p:nvSpPr>
              <p:cNvPr id="20" name="文本框 19"/>
              <p:cNvSpPr txBox="1"/>
              <p:nvPr/>
            </p:nvSpPr>
            <p:spPr>
              <a:xfrm>
                <a:off x="4061837" y="1920634"/>
                <a:ext cx="3844925" cy="768350"/>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3</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21" name="文本框 20"/>
              <p:cNvSpPr txBox="1"/>
              <p:nvPr/>
            </p:nvSpPr>
            <p:spPr>
              <a:xfrm>
                <a:off x="4062316" y="3820517"/>
                <a:ext cx="3844925" cy="398780"/>
              </a:xfrm>
              <a:prstGeom prst="rect">
                <a:avLst/>
              </a:prstGeom>
              <a:noFill/>
              <a:ln w="9525">
                <a:noFill/>
              </a:ln>
            </p:spPr>
            <p:txBody>
              <a:bodyPr wrap="square">
                <a:spAutoFit/>
              </a:bodyPr>
              <a:lstStyle/>
              <a:p>
                <a:pPr indent="0" algn="ctr"/>
                <a:r>
                  <a:rPr lang="zh-CN" altLang="en-US" sz="2000" spc="-211" dirty="0">
                    <a:solidFill>
                      <a:schemeClr val="bg1"/>
                    </a:solidFill>
                    <a:latin typeface="Times New Roman" panose="02020503050405090304" charset="0"/>
                    <a:ea typeface="思源黑体" panose="020B0400000000000000" charset="-122"/>
                    <a:cs typeface="+mn-ea"/>
                    <a:sym typeface="+mn-lt"/>
                  </a:rPr>
                  <a:t>人工智能带来的社会变革</a:t>
                </a:r>
                <a:endParaRPr lang="zh-CN" altLang="en-US" sz="2000" dirty="0">
                  <a:solidFill>
                    <a:schemeClr val="bg1"/>
                  </a:solidFill>
                  <a:latin typeface="Times New Roman" panose="02020503050405090304" charset="0"/>
                  <a:ea typeface="思源黑体" panose="020B0400000000000000" charset="-122"/>
                  <a:cs typeface="等线" panose="02010600030101010101" charset="-122"/>
                </a:endParaRPr>
              </a:p>
            </p:txBody>
          </p:sp>
        </p:grpSp>
        <p:sp>
          <p:nvSpPr>
            <p:cNvPr id="19" name="文本框 18"/>
            <p:cNvSpPr txBox="1"/>
            <p:nvPr/>
          </p:nvSpPr>
          <p:spPr>
            <a:xfrm>
              <a:off x="4170661" y="2905519"/>
              <a:ext cx="3844925" cy="706755"/>
            </a:xfrm>
            <a:prstGeom prst="rect">
              <a:avLst/>
            </a:prstGeom>
            <a:noFill/>
            <a:ln w="9525">
              <a:noFill/>
            </a:ln>
          </p:spPr>
          <p:txBody>
            <a:bodyPr wrap="square">
              <a:spAutoFit/>
            </a:bodyPr>
            <a:lstStyle/>
            <a:p>
              <a:pPr marL="419100" indent="-419100" algn="ct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社会</a:t>
              </a: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变革</a:t>
              </a:r>
              <a:endParaRPr lang="zh-CN" altLang="en-US" sz="4000" b="1" dirty="0">
                <a:solidFill>
                  <a:schemeClr val="bg1"/>
                </a:solidFill>
                <a:latin typeface="Times New Roman" panose="02020503050405090304" charset="0"/>
                <a:ea typeface="思源黑体" panose="020B0400000000000000"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文本框 53"/>
          <p:cNvSpPr txBox="1"/>
          <p:nvPr/>
        </p:nvSpPr>
        <p:spPr>
          <a:xfrm>
            <a:off x="4737100" y="1599565"/>
            <a:ext cx="3009265" cy="651510"/>
          </a:xfrm>
          <a:prstGeom prst="rect">
            <a:avLst/>
          </a:prstGeom>
          <a:noFill/>
        </p:spPr>
        <p:txBody>
          <a:bodyPr wrap="square" rtlCol="0">
            <a:noAutofit/>
          </a:bodyPr>
          <a:lstStyle/>
          <a:p>
            <a:pPr>
              <a:lnSpc>
                <a:spcPct val="130000"/>
              </a:lnSpc>
            </a:pPr>
            <a:r>
              <a:rPr lang="zh-CN" altLang="en-US" sz="2400" b="1" spc="40" dirty="0">
                <a:solidFill>
                  <a:srgbClr val="314371"/>
                </a:solidFill>
                <a:latin typeface="Times New Roman" panose="02020503050405090304" charset="0"/>
                <a:ea typeface="思源黑体" panose="020B0400000000000000" charset="-122"/>
                <a:cs typeface="+mn-ea"/>
                <a:sym typeface="+mn-lt"/>
              </a:rPr>
              <a:t>生产力的革命性跃升</a:t>
            </a:r>
            <a:endParaRPr lang="zh-CN" altLang="en-US" sz="2400" b="1" spc="4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524510" y="1167765"/>
            <a:ext cx="168275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经济层面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grpSp>
        <p:nvGrpSpPr>
          <p:cNvPr id="8" name="组合 7"/>
          <p:cNvGrpSpPr/>
          <p:nvPr/>
        </p:nvGrpSpPr>
        <p:grpSpPr>
          <a:xfrm>
            <a:off x="913437" y="2481766"/>
            <a:ext cx="7955867" cy="975995"/>
            <a:chOff x="1206911" y="2505670"/>
            <a:chExt cx="7955867" cy="975995"/>
          </a:xfrm>
        </p:grpSpPr>
        <p:sp>
          <p:nvSpPr>
            <p:cNvPr id="9" name="文本框 8"/>
            <p:cNvSpPr txBox="1"/>
            <p:nvPr/>
          </p:nvSpPr>
          <p:spPr>
            <a:xfrm>
              <a:off x="1650036" y="2505670"/>
              <a:ext cx="7512742" cy="975995"/>
            </a:xfrm>
            <a:prstGeom prst="rect">
              <a:avLst/>
            </a:prstGeom>
            <a:noFill/>
          </p:spPr>
          <p:txBody>
            <a:bodyPr wrap="square" rtlCol="0">
              <a:spAutoFit/>
            </a:bodyPr>
            <a:lstStyle/>
            <a:p>
              <a:pPr>
                <a:lnSpc>
                  <a:spcPts val="2300"/>
                </a:lnSpc>
              </a:pPr>
              <a:r>
                <a:rPr lang="zh-CN" altLang="en-US" sz="1800" b="1" dirty="0">
                  <a:solidFill>
                    <a:srgbClr val="174994"/>
                  </a:solidFill>
                  <a:latin typeface="Times New Roman" panose="02020503050405090304" charset="0"/>
                  <a:ea typeface="思源黑体" panose="020B0400000000000000" charset="-122"/>
                </a:rPr>
                <a:t>核心变革：从自动化到自主化</a:t>
              </a:r>
              <a:endParaRPr lang="en-US" altLang="zh-CN" sz="1800" b="1" dirty="0">
                <a:solidFill>
                  <a:srgbClr val="174994"/>
                </a:solidFill>
                <a:latin typeface="Times New Roman" panose="02020503050405090304" charset="0"/>
                <a:ea typeface="思源黑体" panose="020B0400000000000000" charset="-122"/>
              </a:endParaRPr>
            </a:p>
            <a:p>
              <a:pPr>
                <a:lnSpc>
                  <a:spcPts val="2300"/>
                </a:lnSpc>
              </a:pPr>
              <a:r>
                <a:rPr lang="en-GB" altLang="zh-CN" sz="1600" kern="700" dirty="0">
                  <a:latin typeface="Times New Roman" panose="02020503050405090304" charset="0"/>
                  <a:ea typeface="思源黑体" panose="020B0400000000000000" charset="-122"/>
                </a:rPr>
                <a:t>AI</a:t>
              </a:r>
              <a:r>
                <a:rPr lang="en-US" altLang="en-GB" sz="1600" kern="700" dirty="0">
                  <a:latin typeface="Times New Roman" panose="02020503050405090304" charset="0"/>
                  <a:ea typeface="思源黑体" panose="020B0400000000000000" charset="-122"/>
                </a:rPr>
                <a:t> </a:t>
              </a:r>
              <a:r>
                <a:rPr lang="zh-CN" altLang="en-US" sz="1600" kern="700" dirty="0">
                  <a:latin typeface="Times New Roman" panose="02020503050405090304" charset="0"/>
                  <a:ea typeface="思源黑体" panose="020B0400000000000000" charset="-122"/>
                </a:rPr>
                <a:t>不仅在自动执行体力劳动，更在大规模接管认知任务（如分析、编码、设计）。</a:t>
              </a:r>
              <a:endParaRPr lang="zh-CN" altLang="en-US" sz="1600" kern="700" dirty="0">
                <a:latin typeface="Times New Roman" panose="02020503050405090304" charset="0"/>
                <a:ea typeface="思源黑体" panose="020B0400000000000000" charset="-122"/>
              </a:endParaRPr>
            </a:p>
            <a:p>
              <a:pPr>
                <a:lnSpc>
                  <a:spcPts val="2300"/>
                </a:lnSpc>
              </a:pPr>
              <a:r>
                <a:rPr lang="zh-CN" altLang="en-US" sz="1600" kern="700" dirty="0">
                  <a:latin typeface="Times New Roman" panose="02020503050405090304" charset="0"/>
                  <a:ea typeface="思源黑体" panose="020B0400000000000000" charset="-122"/>
                </a:rPr>
                <a:t>生产效率从</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rPr>
                <a:t>线性提升</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rPr>
                <a:t>转向</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rPr>
                <a:t>指数级增长</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rPr>
                <a:t>。</a:t>
              </a:r>
              <a:endParaRPr lang="zh-CN" altLang="en-US" sz="1600" dirty="0">
                <a:latin typeface="Times New Roman" panose="02020503050405090304" charset="0"/>
                <a:ea typeface="思源黑体" panose="020B0400000000000000" charset="-122"/>
              </a:endParaRPr>
            </a:p>
          </p:txBody>
        </p:sp>
        <p:sp>
          <p:nvSpPr>
            <p:cNvPr id="10" name="矩形 9"/>
            <p:cNvSpPr/>
            <p:nvPr/>
          </p:nvSpPr>
          <p:spPr>
            <a:xfrm>
              <a:off x="1206911" y="2646114"/>
              <a:ext cx="252295" cy="252295"/>
            </a:xfrm>
            <a:prstGeom prst="rect">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sp>
          <p:nvSpPr>
            <p:cNvPr id="11" name="矩形 10"/>
            <p:cNvSpPr/>
            <p:nvPr/>
          </p:nvSpPr>
          <p:spPr>
            <a:xfrm>
              <a:off x="1317906" y="2772261"/>
              <a:ext cx="252295" cy="252295"/>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grpSp>
      <p:grpSp>
        <p:nvGrpSpPr>
          <p:cNvPr id="12" name="组合 11"/>
          <p:cNvGrpSpPr/>
          <p:nvPr/>
        </p:nvGrpSpPr>
        <p:grpSpPr>
          <a:xfrm>
            <a:off x="858827" y="3895911"/>
            <a:ext cx="5368925" cy="1271270"/>
            <a:chOff x="1206911" y="2505670"/>
            <a:chExt cx="5368925" cy="1271270"/>
          </a:xfrm>
        </p:grpSpPr>
        <p:sp>
          <p:nvSpPr>
            <p:cNvPr id="13" name="文本框 12"/>
            <p:cNvSpPr txBox="1"/>
            <p:nvPr/>
          </p:nvSpPr>
          <p:spPr>
            <a:xfrm>
              <a:off x="1650141" y="2505670"/>
              <a:ext cx="4925695" cy="1271270"/>
            </a:xfrm>
            <a:prstGeom prst="rect">
              <a:avLst/>
            </a:prstGeom>
            <a:noFill/>
          </p:spPr>
          <p:txBody>
            <a:bodyPr wrap="square" rtlCol="0">
              <a:spAutoFit/>
            </a:bodyPr>
            <a:lstStyle/>
            <a:p>
              <a:pPr>
                <a:lnSpc>
                  <a:spcPts val="2300"/>
                </a:lnSpc>
              </a:pPr>
              <a:r>
                <a:rPr lang="zh-CN" altLang="en-US" sz="1800" b="1" dirty="0">
                  <a:solidFill>
                    <a:srgbClr val="174994"/>
                  </a:solidFill>
                  <a:latin typeface="Times New Roman" panose="02020503050405090304" charset="0"/>
                  <a:ea typeface="思源黑体" panose="020B0400000000000000" charset="-122"/>
                  <a:sym typeface="+mn-ea"/>
                </a:rPr>
                <a:t>新生产要素：数据与算法</a:t>
              </a:r>
              <a:endParaRPr lang="en-US" altLang="zh-CN" sz="1800" b="1" dirty="0">
                <a:solidFill>
                  <a:srgbClr val="174994"/>
                </a:solidFill>
                <a:latin typeface="Times New Roman" panose="02020503050405090304" charset="0"/>
                <a:ea typeface="思源黑体" panose="020B0400000000000000" charset="-122"/>
              </a:endParaRPr>
            </a:p>
            <a:p>
              <a:pPr>
                <a:lnSpc>
                  <a:spcPts val="2300"/>
                </a:lnSpc>
              </a:pPr>
              <a:r>
                <a:rPr lang="zh-CN" altLang="en-US" sz="1600" kern="700" dirty="0">
                  <a:latin typeface="Times New Roman" panose="02020503050405090304" charset="0"/>
                  <a:ea typeface="思源黑体" panose="020B0400000000000000" charset="-122"/>
                  <a:sym typeface="+mn-ea"/>
                </a:rPr>
                <a:t>经济增长不再仅依赖传统的劳动力和资本。</a:t>
              </a:r>
              <a:endParaRPr lang="zh-CN" altLang="en-US" sz="1600" kern="700" dirty="0">
                <a:latin typeface="Times New Roman" panose="02020503050405090304" charset="0"/>
                <a:ea typeface="思源黑体" panose="020B0400000000000000" charset="-122"/>
              </a:endParaRPr>
            </a:p>
            <a:p>
              <a:pPr>
                <a:lnSpc>
                  <a:spcPts val="2300"/>
                </a:lnSpc>
              </a:pPr>
              <a:r>
                <a:rPr lang="zh-CN" altLang="en-US" sz="1600" kern="700" dirty="0">
                  <a:latin typeface="Times New Roman" panose="02020503050405090304" charset="0"/>
                  <a:ea typeface="思源黑体" panose="020B0400000000000000" charset="-122"/>
                  <a:sym typeface="+mn-ea"/>
                </a:rPr>
                <a:t>数据成为训练</a:t>
              </a:r>
              <a:r>
                <a:rPr lang="en-US" altLang="zh-CN" sz="1600" kern="700" dirty="0">
                  <a:latin typeface="Times New Roman" panose="02020503050405090304" charset="0"/>
                  <a:ea typeface="思源黑体" panose="020B0400000000000000" charset="-122"/>
                  <a:sym typeface="+mn-ea"/>
                </a:rPr>
                <a:t> </a:t>
              </a:r>
              <a:r>
                <a:rPr lang="en-GB" altLang="zh-CN" sz="1600" kern="700" dirty="0">
                  <a:latin typeface="Times New Roman" panose="02020503050405090304" charset="0"/>
                  <a:ea typeface="思源黑体" panose="020B0400000000000000" charset="-122"/>
                  <a:sym typeface="+mn-ea"/>
                </a:rPr>
                <a:t>AI</a:t>
              </a:r>
              <a:r>
                <a:rPr lang="en-US" altLang="en-GB" sz="1600" kern="700" dirty="0">
                  <a:latin typeface="Times New Roman" panose="02020503050405090304" charset="0"/>
                  <a:ea typeface="思源黑体" panose="020B0400000000000000" charset="-122"/>
                  <a:sym typeface="+mn-ea"/>
                </a:rPr>
                <a:t> </a:t>
              </a:r>
              <a:r>
                <a:rPr lang="zh-CN" altLang="en-US" sz="1600" kern="700" dirty="0">
                  <a:latin typeface="Times New Roman" panose="02020503050405090304" charset="0"/>
                  <a:ea typeface="思源黑体" panose="020B0400000000000000" charset="-122"/>
                  <a:sym typeface="+mn-ea"/>
                </a:rPr>
                <a:t>的</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sym typeface="+mn-ea"/>
                </a:rPr>
                <a:t>新石油</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sym typeface="+mn-ea"/>
                </a:rPr>
                <a:t>核心原料</a:t>
              </a:r>
              <a:r>
                <a:rPr lang="en-US" altLang="zh-CN" sz="1600" kern="700" dirty="0">
                  <a:latin typeface="Times New Roman" panose="02020503050405090304" charset="0"/>
                  <a:ea typeface="思源黑体" panose="020B0400000000000000" charset="-122"/>
                  <a:sym typeface="+mn-ea"/>
                </a:rPr>
                <a:t>）</a:t>
              </a:r>
              <a:r>
                <a:rPr lang="zh-CN" altLang="en-US" sz="1600" kern="700" dirty="0">
                  <a:latin typeface="Times New Roman" panose="02020503050405090304" charset="0"/>
                  <a:ea typeface="思源黑体" panose="020B0400000000000000" charset="-122"/>
                  <a:sym typeface="+mn-ea"/>
                </a:rPr>
                <a:t>。</a:t>
              </a:r>
              <a:endParaRPr lang="zh-CN" altLang="en-US" sz="1600" kern="700" dirty="0">
                <a:latin typeface="Times New Roman" panose="02020503050405090304" charset="0"/>
                <a:ea typeface="思源黑体" panose="020B0400000000000000" charset="-122"/>
              </a:endParaRPr>
            </a:p>
            <a:p>
              <a:pPr>
                <a:lnSpc>
                  <a:spcPts val="2300"/>
                </a:lnSpc>
              </a:pPr>
              <a:r>
                <a:rPr lang="zh-CN" altLang="en-US" sz="1600" kern="700" dirty="0">
                  <a:latin typeface="Times New Roman" panose="02020503050405090304" charset="0"/>
                  <a:ea typeface="思源黑体" panose="020B0400000000000000" charset="-122"/>
                  <a:sym typeface="+mn-ea"/>
                </a:rPr>
                <a:t>算法本身成为可重复使用、不断增值的</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sym typeface="+mn-ea"/>
                </a:rPr>
                <a:t>新资本品</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sym typeface="+mn-ea"/>
                </a:rPr>
                <a:t>。</a:t>
              </a:r>
              <a:endParaRPr lang="zh-CN" altLang="en-US" sz="1600" dirty="0">
                <a:latin typeface="Times New Roman" panose="02020503050405090304" charset="0"/>
                <a:ea typeface="思源黑体" panose="020B0400000000000000" charset="-122"/>
              </a:endParaRPr>
            </a:p>
          </p:txBody>
        </p:sp>
        <p:sp>
          <p:nvSpPr>
            <p:cNvPr id="14" name="矩形 13"/>
            <p:cNvSpPr/>
            <p:nvPr/>
          </p:nvSpPr>
          <p:spPr>
            <a:xfrm>
              <a:off x="1206911" y="2646114"/>
              <a:ext cx="252295" cy="252295"/>
            </a:xfrm>
            <a:prstGeom prst="rect">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sp>
          <p:nvSpPr>
            <p:cNvPr id="15" name="矩形 14"/>
            <p:cNvSpPr/>
            <p:nvPr/>
          </p:nvSpPr>
          <p:spPr>
            <a:xfrm>
              <a:off x="1317906" y="2772261"/>
              <a:ext cx="252295" cy="252295"/>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grpSp>
      <p:grpSp>
        <p:nvGrpSpPr>
          <p:cNvPr id="16" name="组合 15"/>
          <p:cNvGrpSpPr/>
          <p:nvPr/>
        </p:nvGrpSpPr>
        <p:grpSpPr>
          <a:xfrm>
            <a:off x="841047" y="5576756"/>
            <a:ext cx="6078855" cy="975995"/>
            <a:chOff x="1206911" y="2505670"/>
            <a:chExt cx="6078855" cy="975995"/>
          </a:xfrm>
        </p:grpSpPr>
        <p:sp>
          <p:nvSpPr>
            <p:cNvPr id="17" name="文本框 16"/>
            <p:cNvSpPr txBox="1"/>
            <p:nvPr/>
          </p:nvSpPr>
          <p:spPr>
            <a:xfrm>
              <a:off x="1650141" y="2505670"/>
              <a:ext cx="5635625" cy="975995"/>
            </a:xfrm>
            <a:prstGeom prst="rect">
              <a:avLst/>
            </a:prstGeom>
            <a:noFill/>
          </p:spPr>
          <p:txBody>
            <a:bodyPr wrap="square" rtlCol="0">
              <a:spAutoFit/>
            </a:bodyPr>
            <a:lstStyle/>
            <a:p>
              <a:pPr>
                <a:lnSpc>
                  <a:spcPts val="2300"/>
                </a:lnSpc>
              </a:pPr>
              <a:r>
                <a:rPr lang="zh-CN" altLang="en-US" sz="1800" b="1" dirty="0">
                  <a:solidFill>
                    <a:srgbClr val="174994"/>
                  </a:solidFill>
                  <a:latin typeface="Times New Roman" panose="02020503050405090304" charset="0"/>
                  <a:ea typeface="思源黑体" panose="020B0400000000000000" charset="-122"/>
                  <a:sym typeface="+mn-ea"/>
                </a:rPr>
                <a:t>创新范式转移</a:t>
              </a:r>
              <a:endParaRPr lang="en-US" altLang="zh-CN" sz="1800" b="1" dirty="0">
                <a:solidFill>
                  <a:srgbClr val="174994"/>
                </a:solidFill>
                <a:latin typeface="Times New Roman" panose="02020503050405090304" charset="0"/>
                <a:ea typeface="思源黑体" panose="020B0400000000000000" charset="-122"/>
              </a:endParaRPr>
            </a:p>
            <a:p>
              <a:pPr>
                <a:lnSpc>
                  <a:spcPts val="2300"/>
                </a:lnSpc>
              </a:pPr>
              <a:r>
                <a:rPr lang="en-GB" altLang="zh-CN" sz="1600" kern="700" dirty="0">
                  <a:latin typeface="Times New Roman" panose="02020503050405090304" charset="0"/>
                  <a:ea typeface="思源黑体" panose="020B0400000000000000" charset="-122"/>
                  <a:sym typeface="+mn-ea"/>
                </a:rPr>
                <a:t>AI</a:t>
              </a:r>
              <a:r>
                <a:rPr lang="en-US" altLang="en-GB" sz="1600" kern="700" dirty="0">
                  <a:latin typeface="Times New Roman" panose="02020503050405090304" charset="0"/>
                  <a:ea typeface="思源黑体" panose="020B0400000000000000" charset="-122"/>
                  <a:sym typeface="+mn-ea"/>
                </a:rPr>
                <a:t> </a:t>
              </a:r>
              <a:r>
                <a:rPr lang="zh-CN" altLang="en-US" sz="1600" kern="700" dirty="0">
                  <a:latin typeface="Times New Roman" panose="02020503050405090304" charset="0"/>
                  <a:ea typeface="思源黑体" panose="020B0400000000000000" charset="-122"/>
                  <a:sym typeface="+mn-ea"/>
                </a:rPr>
                <a:t>加速科学发现（如生物医药</a:t>
              </a:r>
              <a:r>
                <a:rPr lang="en-US" altLang="zh-CN" sz="1600" kern="700" dirty="0">
                  <a:latin typeface="Times New Roman" panose="02020503050405090304" charset="0"/>
                  <a:ea typeface="思源黑体" panose="020B0400000000000000" charset="-122"/>
                  <a:sym typeface="+mn-ea"/>
                </a:rPr>
                <a:t>），</a:t>
              </a:r>
              <a:r>
                <a:rPr lang="zh-CN" altLang="en-US" sz="1600" kern="700" dirty="0">
                  <a:latin typeface="Times New Roman" panose="02020503050405090304" charset="0"/>
                  <a:ea typeface="思源黑体" panose="020B0400000000000000" charset="-122"/>
                  <a:sym typeface="+mn-ea"/>
                </a:rPr>
                <a:t>大幅缩短研发周期。</a:t>
              </a:r>
              <a:endParaRPr lang="zh-CN" altLang="en-US" sz="1600" kern="700" dirty="0">
                <a:latin typeface="Times New Roman" panose="02020503050405090304" charset="0"/>
                <a:ea typeface="思源黑体" panose="020B0400000000000000" charset="-122"/>
                <a:sym typeface="+mn-ea"/>
              </a:endParaRPr>
            </a:p>
            <a:p>
              <a:pPr>
                <a:lnSpc>
                  <a:spcPts val="2300"/>
                </a:lnSpc>
              </a:pPr>
              <a:r>
                <a:rPr lang="zh-CN" altLang="en-US" sz="1600" kern="700" dirty="0">
                  <a:latin typeface="Times New Roman" panose="02020503050405090304" charset="0"/>
                  <a:ea typeface="思源黑体" panose="020B0400000000000000" charset="-122"/>
                  <a:sym typeface="+mn-ea"/>
                </a:rPr>
                <a:t>生成式</a:t>
              </a:r>
              <a:r>
                <a:rPr lang="en-US" altLang="zh-CN" sz="1600" kern="700" dirty="0">
                  <a:latin typeface="Times New Roman" panose="02020503050405090304" charset="0"/>
                  <a:ea typeface="思源黑体" panose="020B0400000000000000" charset="-122"/>
                  <a:sym typeface="+mn-ea"/>
                </a:rPr>
                <a:t> </a:t>
              </a:r>
              <a:r>
                <a:rPr lang="en-GB" altLang="zh-CN" sz="1600" kern="700" dirty="0">
                  <a:latin typeface="Times New Roman" panose="02020503050405090304" charset="0"/>
                  <a:ea typeface="思源黑体" panose="020B0400000000000000" charset="-122"/>
                  <a:sym typeface="+mn-ea"/>
                </a:rPr>
                <a:t>AI</a:t>
              </a:r>
              <a:r>
                <a:rPr lang="en-US" altLang="en-GB" sz="1600" kern="700" dirty="0">
                  <a:latin typeface="Times New Roman" panose="02020503050405090304" charset="0"/>
                  <a:ea typeface="思源黑体" panose="020B0400000000000000" charset="-122"/>
                  <a:sym typeface="+mn-ea"/>
                </a:rPr>
                <a:t>（</a:t>
              </a:r>
              <a:r>
                <a:rPr lang="en-GB" altLang="zh-CN" sz="1600" kern="700" dirty="0">
                  <a:latin typeface="Times New Roman" panose="02020503050405090304" charset="0"/>
                  <a:ea typeface="思源黑体" panose="020B0400000000000000" charset="-122"/>
                  <a:sym typeface="+mn-ea"/>
                </a:rPr>
                <a:t>AIGC</a:t>
              </a:r>
              <a:r>
                <a:rPr lang="en-US" altLang="en-GB" sz="1600" kern="700" dirty="0">
                  <a:latin typeface="Times New Roman" panose="02020503050405090304" charset="0"/>
                  <a:ea typeface="思源黑体" panose="020B0400000000000000" charset="-122"/>
                  <a:sym typeface="+mn-ea"/>
                </a:rPr>
                <a:t>）</a:t>
              </a:r>
              <a:r>
                <a:rPr lang="zh-CN" altLang="en-US" sz="1600" kern="700" dirty="0">
                  <a:latin typeface="Times New Roman" panose="02020503050405090304" charset="0"/>
                  <a:ea typeface="思源黑体" panose="020B0400000000000000" charset="-122"/>
                  <a:sym typeface="+mn-ea"/>
                </a:rPr>
                <a:t>降低了创新门槛</a:t>
              </a:r>
              <a:r>
                <a:rPr lang="en-US" altLang="zh-CN" sz="1600" kern="700" dirty="0">
                  <a:latin typeface="Times New Roman" panose="02020503050405090304" charset="0"/>
                  <a:ea typeface="思源黑体" panose="020B0400000000000000" charset="-122"/>
                  <a:sym typeface="+mn-ea"/>
                </a:rPr>
                <a:t>，</a:t>
              </a:r>
              <a:r>
                <a:rPr lang="zh-CN" altLang="en-US" sz="1600" kern="700" dirty="0">
                  <a:latin typeface="Times New Roman" panose="02020503050405090304" charset="0"/>
                  <a:ea typeface="思源黑体" panose="020B0400000000000000" charset="-122"/>
                  <a:sym typeface="+mn-ea"/>
                </a:rPr>
                <a:t>实现</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sym typeface="+mn-ea"/>
                </a:rPr>
                <a:t>创意即生产</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kern="700" dirty="0">
                  <a:latin typeface="Times New Roman" panose="02020503050405090304" charset="0"/>
                  <a:ea typeface="思源黑体" panose="020B0400000000000000" charset="-122"/>
                  <a:sym typeface="+mn-ea"/>
                </a:rPr>
                <a:t>。</a:t>
              </a:r>
              <a:endParaRPr lang="zh-CN" altLang="en-US" sz="1600" dirty="0">
                <a:latin typeface="Times New Roman" panose="02020503050405090304" charset="0"/>
                <a:ea typeface="思源黑体" panose="020B0400000000000000" charset="-122"/>
              </a:endParaRPr>
            </a:p>
          </p:txBody>
        </p:sp>
        <p:sp>
          <p:nvSpPr>
            <p:cNvPr id="18" name="矩形 17"/>
            <p:cNvSpPr/>
            <p:nvPr/>
          </p:nvSpPr>
          <p:spPr>
            <a:xfrm>
              <a:off x="1206911" y="2646114"/>
              <a:ext cx="252295" cy="252295"/>
            </a:xfrm>
            <a:prstGeom prst="rect">
              <a:avLst/>
            </a:prstGeom>
            <a:solidFill>
              <a:srgbClr val="6D9FE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sp>
          <p:nvSpPr>
            <p:cNvPr id="19" name="矩形 18"/>
            <p:cNvSpPr/>
            <p:nvPr/>
          </p:nvSpPr>
          <p:spPr>
            <a:xfrm>
              <a:off x="1317906" y="2772261"/>
              <a:ext cx="252295" cy="252295"/>
            </a:xfrm>
            <a:prstGeom prst="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ts val="2300"/>
                </a:lnSpc>
              </a:pPr>
              <a:endParaRPr lang="zh-CN" altLang="en-US"/>
            </a:p>
          </p:txBody>
        </p:sp>
      </p:grpSp>
      <p:pic>
        <p:nvPicPr>
          <p:cNvPr id="59" name="图片 58"/>
          <p:cNvPicPr>
            <a:picLocks noChangeAspect="1"/>
          </p:cNvPicPr>
          <p:nvPr/>
        </p:nvPicPr>
        <p:blipFill>
          <a:blip r:embed="rId2">
            <a:extLst>
              <a:ext uri="{28A0092B-C50C-407E-A947-70E740481C1C}">
                <a14:useLocalDpi xmlns:a14="http://schemas.microsoft.com/office/drawing/2010/main" val="0"/>
              </a:ext>
            </a:extLst>
          </a:blip>
          <a:srcRect l="5902" t="911" r="28039"/>
          <a:stretch>
            <a:fillRect/>
          </a:stretch>
        </p:blipFill>
        <p:spPr>
          <a:xfrm>
            <a:off x="8661357" y="3256033"/>
            <a:ext cx="3500634" cy="3500634"/>
          </a:xfrm>
          <a:custGeom>
            <a:avLst/>
            <a:gdLst>
              <a:gd name="connsiteX0" fmla="*/ 1750317 w 3500634"/>
              <a:gd name="connsiteY0" fmla="*/ 0 h 3500634"/>
              <a:gd name="connsiteX1" fmla="*/ 3500634 w 3500634"/>
              <a:gd name="connsiteY1" fmla="*/ 1750317 h 3500634"/>
              <a:gd name="connsiteX2" fmla="*/ 1750317 w 3500634"/>
              <a:gd name="connsiteY2" fmla="*/ 3500634 h 3500634"/>
              <a:gd name="connsiteX3" fmla="*/ 0 w 3500634"/>
              <a:gd name="connsiteY3" fmla="*/ 1750317 h 3500634"/>
              <a:gd name="connsiteX4" fmla="*/ 1750317 w 3500634"/>
              <a:gd name="connsiteY4" fmla="*/ 0 h 3500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634" h="3500634">
                <a:moveTo>
                  <a:pt x="1750317" y="0"/>
                </a:moveTo>
                <a:cubicBezTo>
                  <a:pt x="2716990" y="0"/>
                  <a:pt x="3500634" y="783644"/>
                  <a:pt x="3500634" y="1750317"/>
                </a:cubicBezTo>
                <a:cubicBezTo>
                  <a:pt x="3500634" y="2716990"/>
                  <a:pt x="2716990" y="3500634"/>
                  <a:pt x="1750317" y="3500634"/>
                </a:cubicBezTo>
                <a:cubicBezTo>
                  <a:pt x="783644" y="3500634"/>
                  <a:pt x="0" y="2716990"/>
                  <a:pt x="0" y="1750317"/>
                </a:cubicBezTo>
                <a:cubicBezTo>
                  <a:pt x="0" y="783644"/>
                  <a:pt x="783644" y="0"/>
                  <a:pt x="1750317" y="0"/>
                </a:cubicBezTo>
                <a:close/>
              </a:path>
            </a:pathLst>
          </a:cu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文本框 53"/>
          <p:cNvSpPr txBox="1"/>
          <p:nvPr/>
        </p:nvSpPr>
        <p:spPr>
          <a:xfrm>
            <a:off x="4737100" y="1599565"/>
            <a:ext cx="3903345" cy="651510"/>
          </a:xfrm>
          <a:prstGeom prst="rect">
            <a:avLst/>
          </a:prstGeom>
          <a:noFill/>
        </p:spPr>
        <p:txBody>
          <a:bodyPr wrap="square" rtlCol="0">
            <a:noAutofit/>
          </a:bodyPr>
          <a:lstStyle/>
          <a:p>
            <a:pPr>
              <a:lnSpc>
                <a:spcPct val="130000"/>
              </a:lnSpc>
            </a:pPr>
            <a:r>
              <a:rPr lang="zh-CN" altLang="en-US" sz="2400" b="1" spc="40" dirty="0">
                <a:solidFill>
                  <a:srgbClr val="314371"/>
                </a:solidFill>
                <a:latin typeface="Times New Roman" panose="02020503050405090304" charset="0"/>
                <a:ea typeface="思源黑体" panose="020B0400000000000000" charset="-122"/>
                <a:cs typeface="+mn-ea"/>
                <a:sym typeface="+mn-lt"/>
              </a:rPr>
              <a:t>生产关系的数字化重塑</a:t>
            </a:r>
            <a:endParaRPr lang="zh-CN" altLang="en-US" sz="2400" b="1" spc="4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524510" y="1167765"/>
            <a:ext cx="168275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经济层面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6" name="Oval 4"/>
          <p:cNvSpPr/>
          <p:nvPr/>
        </p:nvSpPr>
        <p:spPr>
          <a:xfrm>
            <a:off x="5420788" y="2598627"/>
            <a:ext cx="676215" cy="676215"/>
          </a:xfrm>
          <a:prstGeom prst="ellipse">
            <a:avLst/>
          </a:prstGeom>
          <a:solidFill>
            <a:srgbClr val="174994"/>
          </a:solidFill>
          <a:ln>
            <a:noFill/>
          </a:ln>
          <a:effectLst/>
        </p:spPr>
        <p:txBody>
          <a:bodyPr anchor="ctr"/>
          <a:lstStyle/>
          <a:p>
            <a:pPr algn="ctr">
              <a:lnSpc>
                <a:spcPct val="130000"/>
              </a:lnSpc>
            </a:pPr>
            <a:r>
              <a:rPr lang="en-US" b="1" dirty="0">
                <a:solidFill>
                  <a:schemeClr val="lt1"/>
                </a:solidFill>
                <a:latin typeface="微软雅黑" panose="020B0503020204020204" pitchFamily="34" charset="-122"/>
                <a:ea typeface="微软雅黑" panose="020B0503020204020204" pitchFamily="34" charset="-122"/>
              </a:rPr>
              <a:t>01</a:t>
            </a:r>
            <a:endParaRPr lang="id-ID" b="1" dirty="0">
              <a:solidFill>
                <a:schemeClr val="lt1"/>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6285230" y="2526030"/>
            <a:ext cx="5740400" cy="1367790"/>
            <a:chOff x="7175325" y="1088126"/>
            <a:chExt cx="6274746" cy="830820"/>
          </a:xfrm>
        </p:grpSpPr>
        <p:sp>
          <p:nvSpPr>
            <p:cNvPr id="21" name="Text Box 7"/>
            <p:cNvSpPr txBox="1">
              <a:spLocks noChangeArrowheads="1"/>
            </p:cNvSpPr>
            <p:nvPr/>
          </p:nvSpPr>
          <p:spPr>
            <a:xfrm>
              <a:off x="7175325" y="1088126"/>
              <a:ext cx="4459026" cy="242226"/>
            </a:xfrm>
            <a:prstGeom prst="rect">
              <a:avLst/>
            </a:prstGeom>
            <a:noFill/>
            <a:ln>
              <a:noFill/>
            </a:ln>
          </p:spPr>
          <p:txBody>
            <a:bodyPr wrap="square">
              <a:spAutoFit/>
            </a:bodyPr>
            <a:lstStyle>
              <a:lvl1pPr lvl="0">
                <a:defRPr>
                  <a:solidFill>
                    <a:schemeClr val="tx1"/>
                  </a:solidFill>
                  <a:latin typeface="Arial" panose="020B0604020202090204"/>
                  <a:ea typeface="宋体" pitchFamily="2" charset="-122"/>
                </a:defRPr>
              </a:lvl1pPr>
              <a:lvl2pPr marL="742950" lvl="1" indent="-285750">
                <a:defRPr>
                  <a:solidFill>
                    <a:schemeClr val="tx1"/>
                  </a:solidFill>
                  <a:latin typeface="Arial" panose="020B0604020202090204"/>
                  <a:ea typeface="宋体" pitchFamily="2" charset="-122"/>
                </a:defRPr>
              </a:lvl2pPr>
              <a:lvl3pPr marL="1143000" lvl="2" indent="-228600">
                <a:defRPr>
                  <a:solidFill>
                    <a:schemeClr val="tx1"/>
                  </a:solidFill>
                  <a:latin typeface="Arial" panose="020B0604020202090204"/>
                  <a:ea typeface="宋体" pitchFamily="2" charset="-122"/>
                </a:defRPr>
              </a:lvl3pPr>
              <a:lvl4pPr marL="1600200" lvl="3" indent="-228600">
                <a:defRPr>
                  <a:solidFill>
                    <a:schemeClr val="tx1"/>
                  </a:solidFill>
                  <a:latin typeface="Arial" panose="020B0604020202090204"/>
                  <a:ea typeface="宋体" pitchFamily="2" charset="-122"/>
                </a:defRPr>
              </a:lvl4pPr>
              <a:lvl5pPr marL="2057400" lvl="4" indent="-228600">
                <a:defRPr>
                  <a:solidFill>
                    <a:schemeClr val="tx1"/>
                  </a:solidFill>
                  <a:latin typeface="Arial" panose="020B0604020202090204"/>
                  <a:ea typeface="宋体" pitchFamily="2" charset="-122"/>
                </a:defRPr>
              </a:lvl5pPr>
              <a:lvl6pPr marL="2514600" lvl="5" indent="-228600">
                <a:spcBef>
                  <a:spcPct val="0"/>
                </a:spcBef>
                <a:spcAft>
                  <a:spcPct val="0"/>
                </a:spcAft>
                <a:defRPr>
                  <a:solidFill>
                    <a:schemeClr val="tx1"/>
                  </a:solidFill>
                  <a:latin typeface="Arial" panose="020B0604020202090204"/>
                  <a:ea typeface="宋体" pitchFamily="2" charset="-122"/>
                </a:defRPr>
              </a:lvl6pPr>
              <a:lvl7pPr marL="2971800" lvl="6" indent="-228600">
                <a:spcBef>
                  <a:spcPct val="0"/>
                </a:spcBef>
                <a:spcAft>
                  <a:spcPct val="0"/>
                </a:spcAft>
                <a:defRPr>
                  <a:solidFill>
                    <a:schemeClr val="tx1"/>
                  </a:solidFill>
                  <a:latin typeface="Arial" panose="020B0604020202090204"/>
                  <a:ea typeface="宋体" pitchFamily="2" charset="-122"/>
                </a:defRPr>
              </a:lvl7pPr>
              <a:lvl8pPr marL="3429000" lvl="7" indent="-228600">
                <a:spcBef>
                  <a:spcPct val="0"/>
                </a:spcBef>
                <a:spcAft>
                  <a:spcPct val="0"/>
                </a:spcAft>
                <a:defRPr>
                  <a:solidFill>
                    <a:schemeClr val="tx1"/>
                  </a:solidFill>
                  <a:latin typeface="Arial" panose="020B0604020202090204"/>
                  <a:ea typeface="宋体" pitchFamily="2" charset="-122"/>
                </a:defRPr>
              </a:lvl8pPr>
              <a:lvl9pPr marL="3886200" lvl="8" indent="-228600">
                <a:spcBef>
                  <a:spcPct val="0"/>
                </a:spcBef>
                <a:spcAft>
                  <a:spcPct val="0"/>
                </a:spcAft>
                <a:defRPr>
                  <a:solidFill>
                    <a:schemeClr val="tx1"/>
                  </a:solidFill>
                  <a:latin typeface="Arial" panose="020B0604020202090204"/>
                  <a:ea typeface="宋体" pitchFamily="2" charset="-122"/>
                </a:defRPr>
              </a:lvl9pPr>
            </a:lstStyle>
            <a:p>
              <a:r>
                <a:rPr lang="zh-CN" altLang="en-US" sz="2000" b="1" dirty="0">
                  <a:solidFill>
                    <a:srgbClr val="174994"/>
                  </a:solidFill>
                  <a:latin typeface="Times New Roman" panose="02020503050405090304" charset="0"/>
                  <a:ea typeface="思源黑体" panose="020B0400000000000000" charset="-122"/>
                </a:rPr>
                <a:t>管理变革</a:t>
              </a:r>
              <a:r>
                <a:rPr lang="en-US" altLang="zh-CN" sz="2000" b="1" dirty="0">
                  <a:solidFill>
                    <a:srgbClr val="174994"/>
                  </a:solidFill>
                  <a:latin typeface="Times New Roman" panose="02020503050405090304" charset="0"/>
                  <a:ea typeface="思源黑体" panose="020B0400000000000000" charset="-122"/>
                </a:rPr>
                <a:t>：</a:t>
              </a:r>
              <a:r>
                <a:rPr lang="en-US" altLang="zh-CN" sz="2000" spc="40" dirty="0">
                  <a:solidFill>
                    <a:srgbClr val="314371"/>
                  </a:solidFill>
                  <a:latin typeface="Times New Roman" panose="02020503050405090304" charset="0"/>
                  <a:ea typeface="思源黑体" panose="020B0400000000000000" charset="-122"/>
                  <a:cs typeface="+mn-ea"/>
                  <a:sym typeface="+mn-lt"/>
                </a:rPr>
                <a:t>“</a:t>
              </a:r>
              <a:r>
                <a:rPr lang="zh-CN" altLang="en-US" sz="2000" b="1" dirty="0">
                  <a:solidFill>
                    <a:srgbClr val="174994"/>
                  </a:solidFill>
                  <a:latin typeface="Times New Roman" panose="02020503050405090304" charset="0"/>
                  <a:ea typeface="思源黑体" panose="020B0400000000000000" charset="-122"/>
                </a:rPr>
                <a:t>数字泰勒主义</a:t>
              </a:r>
              <a:r>
                <a:rPr lang="en-US" altLang="zh-CN" sz="2000" spc="40" dirty="0">
                  <a:solidFill>
                    <a:srgbClr val="314371"/>
                  </a:solidFill>
                  <a:latin typeface="Times New Roman" panose="02020503050405090304" charset="0"/>
                  <a:ea typeface="思源黑体" panose="020B0400000000000000" charset="-122"/>
                  <a:cs typeface="+mn-ea"/>
                  <a:sym typeface="+mn-lt"/>
                </a:rPr>
                <a:t>”</a:t>
              </a:r>
              <a:endParaRPr lang="zh-CN" sz="2000" b="1" dirty="0">
                <a:solidFill>
                  <a:srgbClr val="174994"/>
                </a:solidFill>
                <a:latin typeface="Times New Roman" panose="02020503050405090304" charset="0"/>
                <a:ea typeface="思源黑体" panose="020B0400000000000000" charset="-122"/>
              </a:endParaRPr>
            </a:p>
          </p:txBody>
        </p:sp>
        <p:sp>
          <p:nvSpPr>
            <p:cNvPr id="32" name="Rectangle 5"/>
            <p:cNvSpPr/>
            <p:nvPr/>
          </p:nvSpPr>
          <p:spPr>
            <a:xfrm>
              <a:off x="7247512" y="1437965"/>
              <a:ext cx="6202559" cy="480981"/>
            </a:xfrm>
            <a:prstGeom prst="rect">
              <a:avLst/>
            </a:prstGeom>
            <a:noFill/>
            <a:ln>
              <a:noFill/>
            </a:ln>
          </p:spPr>
          <p:txBody>
            <a:bodyPr lIns="0" tIns="0" rIns="0" bIns="0" anchor="t"/>
            <a:lstStyle/>
            <a:p>
              <a:r>
                <a:rPr lang="zh-CN" altLang="en-US" sz="1600" dirty="0"/>
                <a:t>算法成为新的“管理者”或“老板”（尤其在平台经济中）。</a:t>
              </a:r>
              <a:endParaRPr lang="zh-CN" altLang="en-US" sz="1600" dirty="0"/>
            </a:p>
            <a:p>
              <a:r>
                <a:rPr lang="zh-CN" altLang="en-US" sz="1600" dirty="0"/>
                <a:t>劳动过程被深度数据化、量化和精细监控，追求极致效率。</a:t>
              </a:r>
              <a:endParaRPr lang="zh-CN" altLang="en-US" sz="1600" dirty="0"/>
            </a:p>
            <a:p>
              <a:r>
                <a:rPr lang="zh-CN" altLang="en-US" sz="1600" dirty="0"/>
                <a:t>劳资关系从“人管人”变为“算法管人”。</a:t>
              </a:r>
              <a:endParaRPr lang="zh-CN" altLang="en-US" sz="1600" dirty="0"/>
            </a:p>
          </p:txBody>
        </p:sp>
      </p:grpSp>
      <p:sp>
        <p:nvSpPr>
          <p:cNvPr id="7" name="Oval 4"/>
          <p:cNvSpPr/>
          <p:nvPr/>
        </p:nvSpPr>
        <p:spPr>
          <a:xfrm>
            <a:off x="5420788" y="4143582"/>
            <a:ext cx="676215" cy="676215"/>
          </a:xfrm>
          <a:prstGeom prst="ellipse">
            <a:avLst/>
          </a:prstGeom>
          <a:solidFill>
            <a:srgbClr val="174994"/>
          </a:solidFill>
          <a:ln>
            <a:noFill/>
          </a:ln>
          <a:effectLst/>
        </p:spPr>
        <p:txBody>
          <a:bodyPr anchor="ctr"/>
          <a:lstStyle/>
          <a:p>
            <a:pPr algn="ctr">
              <a:lnSpc>
                <a:spcPct val="130000"/>
              </a:lnSpc>
            </a:pPr>
            <a:r>
              <a:rPr lang="en-US" b="1" dirty="0">
                <a:solidFill>
                  <a:schemeClr val="lt1"/>
                </a:solidFill>
                <a:latin typeface="微软雅黑" panose="020B0503020204020204" pitchFamily="34" charset="-122"/>
                <a:ea typeface="微软雅黑" panose="020B0503020204020204" pitchFamily="34" charset="-122"/>
              </a:rPr>
              <a:t>02</a:t>
            </a:r>
            <a:endParaRPr lang="id-ID" b="1" dirty="0">
              <a:solidFill>
                <a:schemeClr val="lt1"/>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6285230" y="4070985"/>
            <a:ext cx="5962015" cy="1139190"/>
            <a:chOff x="7175325" y="1088126"/>
            <a:chExt cx="6516990" cy="691964"/>
          </a:xfrm>
        </p:grpSpPr>
        <p:sp>
          <p:nvSpPr>
            <p:cNvPr id="41" name="Text Box 7"/>
            <p:cNvSpPr txBox="1">
              <a:spLocks noChangeArrowheads="1"/>
            </p:cNvSpPr>
            <p:nvPr/>
          </p:nvSpPr>
          <p:spPr>
            <a:xfrm>
              <a:off x="7175325" y="1088126"/>
              <a:ext cx="4459026" cy="242226"/>
            </a:xfrm>
            <a:prstGeom prst="rect">
              <a:avLst/>
            </a:prstGeom>
            <a:noFill/>
            <a:ln>
              <a:noFill/>
            </a:ln>
          </p:spPr>
          <p:txBody>
            <a:bodyPr wrap="square">
              <a:spAutoFit/>
            </a:bodyPr>
            <a:lstStyle>
              <a:lvl1pPr lvl="0">
                <a:defRPr>
                  <a:solidFill>
                    <a:schemeClr val="tx1"/>
                  </a:solidFill>
                  <a:latin typeface="Arial" panose="020B0604020202090204"/>
                  <a:ea typeface="宋体" pitchFamily="2" charset="-122"/>
                </a:defRPr>
              </a:lvl1pPr>
              <a:lvl2pPr marL="742950" lvl="1" indent="-285750">
                <a:defRPr>
                  <a:solidFill>
                    <a:schemeClr val="tx1"/>
                  </a:solidFill>
                  <a:latin typeface="Arial" panose="020B0604020202090204"/>
                  <a:ea typeface="宋体" pitchFamily="2" charset="-122"/>
                </a:defRPr>
              </a:lvl2pPr>
              <a:lvl3pPr marL="1143000" lvl="2" indent="-228600">
                <a:defRPr>
                  <a:solidFill>
                    <a:schemeClr val="tx1"/>
                  </a:solidFill>
                  <a:latin typeface="Arial" panose="020B0604020202090204"/>
                  <a:ea typeface="宋体" pitchFamily="2" charset="-122"/>
                </a:defRPr>
              </a:lvl3pPr>
              <a:lvl4pPr marL="1600200" lvl="3" indent="-228600">
                <a:defRPr>
                  <a:solidFill>
                    <a:schemeClr val="tx1"/>
                  </a:solidFill>
                  <a:latin typeface="Arial" panose="020B0604020202090204"/>
                  <a:ea typeface="宋体" pitchFamily="2" charset="-122"/>
                </a:defRPr>
              </a:lvl4pPr>
              <a:lvl5pPr marL="2057400" lvl="4" indent="-228600">
                <a:defRPr>
                  <a:solidFill>
                    <a:schemeClr val="tx1"/>
                  </a:solidFill>
                  <a:latin typeface="Arial" panose="020B0604020202090204"/>
                  <a:ea typeface="宋体" pitchFamily="2" charset="-122"/>
                </a:defRPr>
              </a:lvl5pPr>
              <a:lvl6pPr marL="2514600" lvl="5" indent="-228600">
                <a:spcBef>
                  <a:spcPct val="0"/>
                </a:spcBef>
                <a:spcAft>
                  <a:spcPct val="0"/>
                </a:spcAft>
                <a:defRPr>
                  <a:solidFill>
                    <a:schemeClr val="tx1"/>
                  </a:solidFill>
                  <a:latin typeface="Arial" panose="020B0604020202090204"/>
                  <a:ea typeface="宋体" pitchFamily="2" charset="-122"/>
                </a:defRPr>
              </a:lvl6pPr>
              <a:lvl7pPr marL="2971800" lvl="6" indent="-228600">
                <a:spcBef>
                  <a:spcPct val="0"/>
                </a:spcBef>
                <a:spcAft>
                  <a:spcPct val="0"/>
                </a:spcAft>
                <a:defRPr>
                  <a:solidFill>
                    <a:schemeClr val="tx1"/>
                  </a:solidFill>
                  <a:latin typeface="Arial" panose="020B0604020202090204"/>
                  <a:ea typeface="宋体" pitchFamily="2" charset="-122"/>
                </a:defRPr>
              </a:lvl7pPr>
              <a:lvl8pPr marL="3429000" lvl="7" indent="-228600">
                <a:spcBef>
                  <a:spcPct val="0"/>
                </a:spcBef>
                <a:spcAft>
                  <a:spcPct val="0"/>
                </a:spcAft>
                <a:defRPr>
                  <a:solidFill>
                    <a:schemeClr val="tx1"/>
                  </a:solidFill>
                  <a:latin typeface="Arial" panose="020B0604020202090204"/>
                  <a:ea typeface="宋体" pitchFamily="2" charset="-122"/>
                </a:defRPr>
              </a:lvl8pPr>
              <a:lvl9pPr marL="3886200" lvl="8" indent="-228600">
                <a:spcBef>
                  <a:spcPct val="0"/>
                </a:spcBef>
                <a:spcAft>
                  <a:spcPct val="0"/>
                </a:spcAft>
                <a:defRPr>
                  <a:solidFill>
                    <a:schemeClr val="tx1"/>
                  </a:solidFill>
                  <a:latin typeface="Arial" panose="020B0604020202090204"/>
                  <a:ea typeface="宋体" pitchFamily="2" charset="-122"/>
                </a:defRPr>
              </a:lvl9pPr>
            </a:lstStyle>
            <a:p>
              <a:r>
                <a:rPr lang="zh-CN" altLang="en-US" sz="2000" b="1" dirty="0">
                  <a:solidFill>
                    <a:srgbClr val="174994"/>
                  </a:solidFill>
                  <a:latin typeface="Times New Roman" panose="02020503050405090304" charset="0"/>
                  <a:ea typeface="思源黑体" panose="020B0400000000000000" charset="-122"/>
                  <a:sym typeface="+mn-ea"/>
                </a:rPr>
                <a:t>劳动过程异化：人机边界模糊</a:t>
              </a:r>
              <a:endParaRPr lang="zh-CN" sz="2000" b="1" dirty="0">
                <a:solidFill>
                  <a:srgbClr val="174994"/>
                </a:solidFill>
                <a:latin typeface="Times New Roman" panose="02020503050405090304" charset="0"/>
                <a:ea typeface="思源黑体" panose="020B0400000000000000" charset="-122"/>
              </a:endParaRPr>
            </a:p>
          </p:txBody>
        </p:sp>
        <p:sp>
          <p:nvSpPr>
            <p:cNvPr id="43" name="Rectangle 5"/>
            <p:cNvSpPr/>
            <p:nvPr/>
          </p:nvSpPr>
          <p:spPr>
            <a:xfrm>
              <a:off x="7247512" y="1437965"/>
              <a:ext cx="6444803" cy="342125"/>
            </a:xfrm>
            <a:prstGeom prst="rect">
              <a:avLst/>
            </a:prstGeom>
            <a:noFill/>
            <a:ln>
              <a:noFill/>
            </a:ln>
          </p:spPr>
          <p:txBody>
            <a:bodyPr lIns="0" tIns="0" rIns="0" bIns="0" anchor="t"/>
            <a:lstStyle/>
            <a:p>
              <a:r>
                <a:rPr lang="zh-CN" altLang="en-US" sz="1600" dirty="0">
                  <a:sym typeface="+mn-ea"/>
                </a:rPr>
                <a:t>工作模式转向人机协作，但价值归属（</a:t>
              </a:r>
              <a:r>
                <a:rPr lang="en-GB" altLang="zh-CN" sz="1600" dirty="0">
                  <a:latin typeface="Times New Roman Regular" panose="02020503050405090304" charset="0"/>
                  <a:cs typeface="Times New Roman Regular" panose="02020503050405090304" charset="0"/>
                  <a:sym typeface="+mn-ea"/>
                </a:rPr>
                <a:t>who did what?</a:t>
              </a:r>
              <a:r>
                <a:rPr lang="zh-CN" altLang="en-GB" sz="1600" dirty="0">
                  <a:sym typeface="+mn-ea"/>
                </a:rPr>
                <a:t>）</a:t>
              </a:r>
              <a:r>
                <a:rPr lang="zh-CN" altLang="en-US" sz="1600" dirty="0">
                  <a:sym typeface="+mn-ea"/>
                </a:rPr>
                <a:t>变得困难。催生了新的底层劳动者</a:t>
              </a:r>
              <a:r>
                <a:rPr lang="en-US" altLang="zh-CN" sz="1600" dirty="0">
                  <a:sym typeface="+mn-ea"/>
                </a:rPr>
                <a:t>“</a:t>
              </a:r>
              <a:r>
                <a:rPr lang="zh-CN" altLang="en-US" sz="1600" dirty="0">
                  <a:sym typeface="+mn-ea"/>
                </a:rPr>
                <a:t>数据标注工”</a:t>
              </a:r>
              <a:r>
                <a:rPr lang="en-US" altLang="zh-CN" sz="1600" dirty="0">
                  <a:sym typeface="+mn-ea"/>
                </a:rPr>
                <a:t>，</a:t>
              </a:r>
              <a:r>
                <a:rPr lang="zh-CN" altLang="en-US" sz="1600" dirty="0">
                  <a:sym typeface="+mn-ea"/>
                </a:rPr>
                <a:t>他们是</a:t>
              </a:r>
              <a:r>
                <a:rPr lang="en-US" altLang="zh-CN" sz="1600" dirty="0">
                  <a:sym typeface="+mn-ea"/>
                </a:rPr>
                <a:t> </a:t>
              </a:r>
              <a:r>
                <a:rPr lang="en-US" altLang="zh-CN" sz="1600" dirty="0">
                  <a:latin typeface="Times New Roman Regular" panose="02020503050405090304" charset="0"/>
                  <a:cs typeface="Times New Roman Regular" panose="02020503050405090304" charset="0"/>
                  <a:sym typeface="+mn-ea"/>
                </a:rPr>
                <a:t>AI</a:t>
              </a:r>
              <a:r>
                <a:rPr lang="en-US" altLang="zh-CN" sz="1600" dirty="0">
                  <a:sym typeface="+mn-ea"/>
                </a:rPr>
                <a:t> </a:t>
              </a:r>
              <a:r>
                <a:rPr lang="zh-CN" altLang="en-US" sz="1600" dirty="0">
                  <a:sym typeface="+mn-ea"/>
                </a:rPr>
                <a:t>的“喂养者”。</a:t>
              </a:r>
              <a:endParaRPr lang="zh-CN" altLang="en-US" sz="1600" dirty="0"/>
            </a:p>
          </p:txBody>
        </p:sp>
      </p:grpSp>
      <p:sp>
        <p:nvSpPr>
          <p:cNvPr id="44" name="Oval 4"/>
          <p:cNvSpPr/>
          <p:nvPr/>
        </p:nvSpPr>
        <p:spPr>
          <a:xfrm>
            <a:off x="5420788" y="5760927"/>
            <a:ext cx="676215" cy="676215"/>
          </a:xfrm>
          <a:prstGeom prst="ellipse">
            <a:avLst/>
          </a:prstGeom>
          <a:solidFill>
            <a:srgbClr val="174994"/>
          </a:solidFill>
          <a:ln>
            <a:noFill/>
          </a:ln>
          <a:effectLst/>
        </p:spPr>
        <p:txBody>
          <a:bodyPr anchor="ctr"/>
          <a:lstStyle/>
          <a:p>
            <a:pPr algn="ctr">
              <a:lnSpc>
                <a:spcPct val="130000"/>
              </a:lnSpc>
            </a:pPr>
            <a:r>
              <a:rPr lang="en-US" b="1" dirty="0">
                <a:solidFill>
                  <a:schemeClr val="lt1"/>
                </a:solidFill>
                <a:latin typeface="微软雅黑" panose="020B0503020204020204" pitchFamily="34" charset="-122"/>
                <a:ea typeface="微软雅黑" panose="020B0503020204020204" pitchFamily="34" charset="-122"/>
              </a:rPr>
              <a:t>03</a:t>
            </a:r>
            <a:endParaRPr lang="id-ID" b="1" dirty="0">
              <a:solidFill>
                <a:schemeClr val="lt1"/>
              </a:solidFill>
              <a:latin typeface="微软雅黑" panose="020B0503020204020204" pitchFamily="34" charset="-122"/>
              <a:ea typeface="微软雅黑" panose="020B0503020204020204" pitchFamily="34" charset="-122"/>
            </a:endParaRPr>
          </a:p>
        </p:txBody>
      </p:sp>
      <p:grpSp>
        <p:nvGrpSpPr>
          <p:cNvPr id="45" name="组合 44"/>
          <p:cNvGrpSpPr/>
          <p:nvPr/>
        </p:nvGrpSpPr>
        <p:grpSpPr>
          <a:xfrm>
            <a:off x="6285230" y="5688330"/>
            <a:ext cx="5962015" cy="1139190"/>
            <a:chOff x="7175325" y="1088126"/>
            <a:chExt cx="6516990" cy="691964"/>
          </a:xfrm>
        </p:grpSpPr>
        <p:sp>
          <p:nvSpPr>
            <p:cNvPr id="46" name="Text Box 7"/>
            <p:cNvSpPr txBox="1">
              <a:spLocks noChangeArrowheads="1"/>
            </p:cNvSpPr>
            <p:nvPr/>
          </p:nvSpPr>
          <p:spPr>
            <a:xfrm>
              <a:off x="7175325" y="1088126"/>
              <a:ext cx="4459026" cy="242226"/>
            </a:xfrm>
            <a:prstGeom prst="rect">
              <a:avLst/>
            </a:prstGeom>
            <a:noFill/>
            <a:ln>
              <a:noFill/>
            </a:ln>
          </p:spPr>
          <p:txBody>
            <a:bodyPr wrap="square">
              <a:spAutoFit/>
            </a:bodyPr>
            <a:lstStyle>
              <a:lvl1pPr lvl="0">
                <a:defRPr>
                  <a:solidFill>
                    <a:schemeClr val="tx1"/>
                  </a:solidFill>
                  <a:latin typeface="Arial" panose="020B0604020202090204"/>
                  <a:ea typeface="宋体" pitchFamily="2" charset="-122"/>
                </a:defRPr>
              </a:lvl1pPr>
              <a:lvl2pPr marL="742950" lvl="1" indent="-285750">
                <a:defRPr>
                  <a:solidFill>
                    <a:schemeClr val="tx1"/>
                  </a:solidFill>
                  <a:latin typeface="Arial" panose="020B0604020202090204"/>
                  <a:ea typeface="宋体" pitchFamily="2" charset="-122"/>
                </a:defRPr>
              </a:lvl2pPr>
              <a:lvl3pPr marL="1143000" lvl="2" indent="-228600">
                <a:defRPr>
                  <a:solidFill>
                    <a:schemeClr val="tx1"/>
                  </a:solidFill>
                  <a:latin typeface="Arial" panose="020B0604020202090204"/>
                  <a:ea typeface="宋体" pitchFamily="2" charset="-122"/>
                </a:defRPr>
              </a:lvl3pPr>
              <a:lvl4pPr marL="1600200" lvl="3" indent="-228600">
                <a:defRPr>
                  <a:solidFill>
                    <a:schemeClr val="tx1"/>
                  </a:solidFill>
                  <a:latin typeface="Arial" panose="020B0604020202090204"/>
                  <a:ea typeface="宋体" pitchFamily="2" charset="-122"/>
                </a:defRPr>
              </a:lvl4pPr>
              <a:lvl5pPr marL="2057400" lvl="4" indent="-228600">
                <a:defRPr>
                  <a:solidFill>
                    <a:schemeClr val="tx1"/>
                  </a:solidFill>
                  <a:latin typeface="Arial" panose="020B0604020202090204"/>
                  <a:ea typeface="宋体" pitchFamily="2" charset="-122"/>
                </a:defRPr>
              </a:lvl5pPr>
              <a:lvl6pPr marL="2514600" lvl="5" indent="-228600">
                <a:spcBef>
                  <a:spcPct val="0"/>
                </a:spcBef>
                <a:spcAft>
                  <a:spcPct val="0"/>
                </a:spcAft>
                <a:defRPr>
                  <a:solidFill>
                    <a:schemeClr val="tx1"/>
                  </a:solidFill>
                  <a:latin typeface="Arial" panose="020B0604020202090204"/>
                  <a:ea typeface="宋体" pitchFamily="2" charset="-122"/>
                </a:defRPr>
              </a:lvl6pPr>
              <a:lvl7pPr marL="2971800" lvl="6" indent="-228600">
                <a:spcBef>
                  <a:spcPct val="0"/>
                </a:spcBef>
                <a:spcAft>
                  <a:spcPct val="0"/>
                </a:spcAft>
                <a:defRPr>
                  <a:solidFill>
                    <a:schemeClr val="tx1"/>
                  </a:solidFill>
                  <a:latin typeface="Arial" panose="020B0604020202090204"/>
                  <a:ea typeface="宋体" pitchFamily="2" charset="-122"/>
                </a:defRPr>
              </a:lvl7pPr>
              <a:lvl8pPr marL="3429000" lvl="7" indent="-228600">
                <a:spcBef>
                  <a:spcPct val="0"/>
                </a:spcBef>
                <a:spcAft>
                  <a:spcPct val="0"/>
                </a:spcAft>
                <a:defRPr>
                  <a:solidFill>
                    <a:schemeClr val="tx1"/>
                  </a:solidFill>
                  <a:latin typeface="Arial" panose="020B0604020202090204"/>
                  <a:ea typeface="宋体" pitchFamily="2" charset="-122"/>
                </a:defRPr>
              </a:lvl8pPr>
              <a:lvl9pPr marL="3886200" lvl="8" indent="-228600">
                <a:spcBef>
                  <a:spcPct val="0"/>
                </a:spcBef>
                <a:spcAft>
                  <a:spcPct val="0"/>
                </a:spcAft>
                <a:defRPr>
                  <a:solidFill>
                    <a:schemeClr val="tx1"/>
                  </a:solidFill>
                  <a:latin typeface="Arial" panose="020B0604020202090204"/>
                  <a:ea typeface="宋体" pitchFamily="2" charset="-122"/>
                </a:defRPr>
              </a:lvl9pPr>
            </a:lstStyle>
            <a:p>
              <a:r>
                <a:rPr lang="zh-CN" altLang="en-US" sz="2000" b="1" dirty="0">
                  <a:solidFill>
                    <a:srgbClr val="174994"/>
                  </a:solidFill>
                  <a:latin typeface="Times New Roman" panose="02020503050405090304" charset="0"/>
                  <a:ea typeface="思源黑体" panose="020B0400000000000000" charset="-122"/>
                  <a:sym typeface="+mn-ea"/>
                </a:rPr>
                <a:t>雇佣关系解体</a:t>
              </a:r>
              <a:endParaRPr lang="zh-CN" sz="2000" b="1" dirty="0">
                <a:solidFill>
                  <a:srgbClr val="174994"/>
                </a:solidFill>
                <a:latin typeface="Times New Roman" panose="02020503050405090304" charset="0"/>
                <a:ea typeface="思源黑体" panose="020B0400000000000000" charset="-122"/>
              </a:endParaRPr>
            </a:p>
          </p:txBody>
        </p:sp>
        <p:sp>
          <p:nvSpPr>
            <p:cNvPr id="47" name="Rectangle 5"/>
            <p:cNvSpPr/>
            <p:nvPr/>
          </p:nvSpPr>
          <p:spPr>
            <a:xfrm>
              <a:off x="7247512" y="1437965"/>
              <a:ext cx="6444803" cy="342125"/>
            </a:xfrm>
            <a:prstGeom prst="rect">
              <a:avLst/>
            </a:prstGeom>
            <a:noFill/>
            <a:ln>
              <a:noFill/>
            </a:ln>
          </p:spPr>
          <p:txBody>
            <a:bodyPr lIns="0" tIns="0" rIns="0" bIns="0" anchor="t"/>
            <a:lstStyle/>
            <a:p>
              <a:r>
                <a:rPr lang="zh-CN" altLang="en-US" sz="1600" dirty="0">
                  <a:sym typeface="+mn-ea"/>
                </a:rPr>
                <a:t>企业倾向于“购买服务”（通过</a:t>
              </a:r>
              <a:r>
                <a:rPr lang="en-US" altLang="zh-CN" sz="1600" dirty="0">
                  <a:sym typeface="+mn-ea"/>
                </a:rPr>
                <a:t> </a:t>
              </a:r>
              <a:r>
                <a:rPr lang="en-GB" altLang="zh-CN" sz="1600" dirty="0">
                  <a:latin typeface="Times New Roman Regular" panose="02020503050405090304" charset="0"/>
                  <a:cs typeface="Times New Roman Regular" panose="02020503050405090304" charset="0"/>
                  <a:sym typeface="+mn-ea"/>
                </a:rPr>
                <a:t>AI</a:t>
              </a:r>
              <a:r>
                <a:rPr lang="en-US" altLang="en-GB" sz="1600" dirty="0">
                  <a:sym typeface="+mn-ea"/>
                </a:rPr>
                <a:t> </a:t>
              </a:r>
              <a:r>
                <a:rPr lang="zh-CN" altLang="en-US" sz="1600" dirty="0">
                  <a:sym typeface="+mn-ea"/>
                </a:rPr>
                <a:t>或零工）而非“雇佣员工”。</a:t>
              </a:r>
              <a:endParaRPr lang="zh-CN" altLang="en-US" sz="1600" dirty="0"/>
            </a:p>
            <a:p>
              <a:r>
                <a:rPr lang="zh-CN" altLang="en-US" sz="1600" dirty="0">
                  <a:sym typeface="+mn-ea"/>
                </a:rPr>
                <a:t>劳动者稳定性下降，传统社会保障体系面临挑战。</a:t>
              </a:r>
              <a:endParaRPr lang="zh-CN" altLang="en-US" sz="1600" dirty="0"/>
            </a:p>
          </p:txBody>
        </p:sp>
      </p:grpSp>
      <p:pic>
        <p:nvPicPr>
          <p:cNvPr id="48" name="图片 47"/>
          <p:cNvPicPr>
            <a:picLocks noChangeAspect="1"/>
          </p:cNvPicPr>
          <p:nvPr/>
        </p:nvPicPr>
        <p:blipFill rotWithShape="1">
          <a:blip r:embed="rId2" cstate="print">
            <a:extLst>
              <a:ext uri="{28A0092B-C50C-407E-A947-70E740481C1C}">
                <a14:useLocalDpi xmlns:a14="http://schemas.microsoft.com/office/drawing/2010/main" val="0"/>
              </a:ext>
            </a:extLst>
          </a:blip>
          <a:srcRect l="9373"/>
          <a:stretch>
            <a:fillRect/>
          </a:stretch>
        </p:blipFill>
        <p:spPr>
          <a:xfrm>
            <a:off x="597019" y="2824028"/>
            <a:ext cx="4079295" cy="337586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文本框 53"/>
          <p:cNvSpPr txBox="1"/>
          <p:nvPr/>
        </p:nvSpPr>
        <p:spPr>
          <a:xfrm>
            <a:off x="4737100" y="1599565"/>
            <a:ext cx="3903345" cy="651510"/>
          </a:xfrm>
          <a:prstGeom prst="rect">
            <a:avLst/>
          </a:prstGeom>
          <a:noFill/>
        </p:spPr>
        <p:txBody>
          <a:bodyPr wrap="square" rtlCol="0">
            <a:noAutofit/>
          </a:bodyPr>
          <a:lstStyle/>
          <a:p>
            <a:pPr>
              <a:lnSpc>
                <a:spcPct val="130000"/>
              </a:lnSpc>
            </a:pPr>
            <a:r>
              <a:rPr lang="zh-CN" altLang="en-US" sz="2400" b="1" spc="40" dirty="0">
                <a:solidFill>
                  <a:srgbClr val="314371"/>
                </a:solidFill>
                <a:latin typeface="Times New Roman" panose="02020503050405090304" charset="0"/>
                <a:ea typeface="思源黑体" panose="020B0400000000000000" charset="-122"/>
                <a:cs typeface="+mn-ea"/>
                <a:sym typeface="+mn-lt"/>
              </a:rPr>
              <a:t>资本新形态与高度集中</a:t>
            </a:r>
            <a:endParaRPr lang="zh-CN" altLang="en-US" sz="2400" b="1" spc="4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524510" y="1167765"/>
            <a:ext cx="168275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经济层面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b="12949"/>
          <a:stretch>
            <a:fillRect/>
          </a:stretch>
        </p:blipFill>
        <p:spPr>
          <a:xfrm>
            <a:off x="4607251" y="2301587"/>
            <a:ext cx="3171821" cy="2019052"/>
          </a:xfrm>
          <a:prstGeom prst="round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6069" y="2301587"/>
            <a:ext cx="3177480" cy="1874217"/>
          </a:xfrm>
          <a:prstGeom prst="roundRect">
            <a:avLst/>
          </a:prstGeom>
        </p:spPr>
      </p:pic>
      <p:pic>
        <p:nvPicPr>
          <p:cNvPr id="10" name="图片 9"/>
          <p:cNvPicPr>
            <a:picLocks noChangeAspect="1"/>
          </p:cNvPicPr>
          <p:nvPr/>
        </p:nvPicPr>
        <p:blipFill rotWithShape="1">
          <a:blip r:embed="rId4" cstate="print">
            <a:extLst>
              <a:ext uri="{28A0092B-C50C-407E-A947-70E740481C1C}">
                <a14:useLocalDpi xmlns:a14="http://schemas.microsoft.com/office/drawing/2010/main" val="0"/>
              </a:ext>
            </a:extLst>
          </a:blip>
          <a:srcRect t="16960"/>
          <a:stretch>
            <a:fillRect/>
          </a:stretch>
        </p:blipFill>
        <p:spPr>
          <a:xfrm>
            <a:off x="8392774" y="2301587"/>
            <a:ext cx="3171820" cy="1972966"/>
          </a:xfrm>
          <a:prstGeom prst="roundRect">
            <a:avLst>
              <a:gd name="adj" fmla="val 13561"/>
            </a:avLst>
          </a:prstGeom>
        </p:spPr>
      </p:pic>
      <p:sp>
        <p:nvSpPr>
          <p:cNvPr id="11" name="矩形: 圆角 10"/>
          <p:cNvSpPr/>
          <p:nvPr/>
        </p:nvSpPr>
        <p:spPr>
          <a:xfrm>
            <a:off x="914399" y="4019910"/>
            <a:ext cx="2805543" cy="509286"/>
          </a:xfrm>
          <a:prstGeom prst="round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latin typeface="Times New Roman" panose="02020503050405090304" charset="0"/>
                <a:ea typeface="思源黑体" panose="020B0400000000000000" charset="-122"/>
              </a:rPr>
              <a:t>新资本形态：算力与数据</a:t>
            </a:r>
            <a:endParaRPr lang="zh-CN" altLang="en-US" b="1" dirty="0">
              <a:latin typeface="Times New Roman" panose="02020503050405090304" charset="0"/>
              <a:ea typeface="思源黑体" panose="020B0400000000000000" charset="-122"/>
            </a:endParaRPr>
          </a:p>
        </p:txBody>
      </p:sp>
      <p:sp>
        <p:nvSpPr>
          <p:cNvPr id="12" name="文本框 11"/>
          <p:cNvSpPr txBox="1"/>
          <p:nvPr/>
        </p:nvSpPr>
        <p:spPr>
          <a:xfrm>
            <a:off x="914400" y="5139159"/>
            <a:ext cx="184731" cy="369332"/>
          </a:xfrm>
          <a:prstGeom prst="rect">
            <a:avLst/>
          </a:prstGeom>
          <a:noFill/>
        </p:spPr>
        <p:txBody>
          <a:bodyPr wrap="none" rtlCol="0">
            <a:spAutoFit/>
          </a:bodyPr>
          <a:lstStyle/>
          <a:p>
            <a:endParaRPr lang="zh-CN" altLang="en-US" dirty="0"/>
          </a:p>
        </p:txBody>
      </p:sp>
      <p:sp>
        <p:nvSpPr>
          <p:cNvPr id="13" name="矩形 12"/>
          <p:cNvSpPr/>
          <p:nvPr/>
        </p:nvSpPr>
        <p:spPr>
          <a:xfrm>
            <a:off x="829861" y="4723660"/>
            <a:ext cx="3211677" cy="1861185"/>
          </a:xfrm>
          <a:prstGeom prst="rect">
            <a:avLst/>
          </a:prstGeom>
        </p:spPr>
        <p:txBody>
          <a:bodyPr wrap="square">
            <a:spAutoFit/>
          </a:bodyPr>
          <a:lstStyle/>
          <a:p>
            <a:pPr algn="just">
              <a:lnSpc>
                <a:spcPts val="2300"/>
              </a:lnSpc>
            </a:pPr>
            <a:r>
              <a:rPr lang="zh-CN" altLang="en-US" sz="1450" b="1" dirty="0">
                <a:latin typeface="Times New Roman" panose="02020503050405090304" charset="0"/>
                <a:ea typeface="思源黑体" panose="020B0400000000000000" charset="-122"/>
              </a:rPr>
              <a:t>算力</a:t>
            </a:r>
            <a:r>
              <a:rPr lang="zh-CN" altLang="en-GB"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成为</a:t>
            </a:r>
            <a:r>
              <a:rPr lang="en-US" altLang="zh-CN" sz="1450" dirty="0">
                <a:latin typeface="Times New Roman" panose="02020503050405090304" charset="0"/>
                <a:ea typeface="思源黑体" panose="020B0400000000000000" charset="-122"/>
              </a:rPr>
              <a:t> </a:t>
            </a:r>
            <a:r>
              <a:rPr lang="en-GB" altLang="zh-CN" sz="1450" dirty="0">
                <a:latin typeface="Times New Roman" panose="02020503050405090304" charset="0"/>
                <a:ea typeface="思源黑体" panose="020B0400000000000000" charset="-122"/>
              </a:rPr>
              <a:t>AI</a:t>
            </a:r>
            <a:r>
              <a:rPr lang="en-US" altLang="en-GB" sz="1450" dirty="0">
                <a:latin typeface="Times New Roman" panose="02020503050405090304" charset="0"/>
                <a:ea typeface="思源黑体" panose="020B0400000000000000" charset="-122"/>
              </a:rPr>
              <a:t> </a:t>
            </a:r>
            <a:r>
              <a:rPr lang="zh-CN" altLang="en-US" sz="1450" dirty="0">
                <a:latin typeface="Times New Roman" panose="02020503050405090304" charset="0"/>
                <a:ea typeface="思源黑体" panose="020B0400000000000000" charset="-122"/>
              </a:rPr>
              <a:t>时代的</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数字土地</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，是极其稀缺和昂贵的准入门槛。</a:t>
            </a:r>
            <a:endParaRPr lang="zh-CN" altLang="en-US" sz="1450" dirty="0">
              <a:latin typeface="Times New Roman" panose="02020503050405090304" charset="0"/>
              <a:ea typeface="思源黑体" panose="020B0400000000000000" charset="-122"/>
            </a:endParaRPr>
          </a:p>
          <a:p>
            <a:pPr algn="just">
              <a:lnSpc>
                <a:spcPts val="2300"/>
              </a:lnSpc>
            </a:pPr>
            <a:endParaRPr lang="en-US" altLang="zh-CN" sz="1450" dirty="0">
              <a:latin typeface="Times New Roman" panose="02020503050405090304" charset="0"/>
              <a:ea typeface="思源黑体" panose="020B0400000000000000" charset="-122"/>
            </a:endParaRPr>
          </a:p>
          <a:p>
            <a:pPr algn="just">
              <a:lnSpc>
                <a:spcPts val="2300"/>
              </a:lnSpc>
            </a:pPr>
            <a:r>
              <a:rPr lang="zh-CN" altLang="en-US" sz="1450" b="1" dirty="0">
                <a:latin typeface="Times New Roman" panose="02020503050405090304" charset="0"/>
                <a:ea typeface="思源黑体" panose="020B0400000000000000" charset="-122"/>
              </a:rPr>
              <a:t>数据资本化</a:t>
            </a:r>
            <a:r>
              <a:rPr lang="zh-CN" altLang="en-US" sz="1450" dirty="0">
                <a:latin typeface="Times New Roman" panose="02020503050405090304" charset="0"/>
                <a:ea typeface="思源黑体" panose="020B0400000000000000" charset="-122"/>
              </a:rPr>
              <a:t>：用户数据被收集、加工并训练成</a:t>
            </a:r>
            <a:r>
              <a:rPr lang="en-US" altLang="zh-CN" sz="1450" dirty="0">
                <a:latin typeface="Times New Roman" panose="02020503050405090304" charset="0"/>
                <a:ea typeface="思源黑体" panose="020B0400000000000000" charset="-122"/>
              </a:rPr>
              <a:t> </a:t>
            </a:r>
            <a:r>
              <a:rPr lang="en-GB" altLang="zh-CN" sz="1450" dirty="0">
                <a:latin typeface="Times New Roman" panose="02020503050405090304" charset="0"/>
                <a:ea typeface="思源黑体" panose="020B0400000000000000" charset="-122"/>
              </a:rPr>
              <a:t>AI</a:t>
            </a:r>
            <a:r>
              <a:rPr lang="en-US" altLang="en-GB" sz="1450" dirty="0">
                <a:latin typeface="Times New Roman" panose="02020503050405090304" charset="0"/>
                <a:ea typeface="思源黑体" panose="020B0400000000000000" charset="-122"/>
              </a:rPr>
              <a:t> </a:t>
            </a:r>
            <a:r>
              <a:rPr lang="zh-CN" altLang="en-US" sz="1450" dirty="0">
                <a:latin typeface="Times New Roman" panose="02020503050405090304" charset="0"/>
                <a:ea typeface="思源黑体" panose="020B0400000000000000" charset="-122"/>
              </a:rPr>
              <a:t>服务，形成</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数据</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智能</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利润</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的闭环。</a:t>
            </a:r>
            <a:endParaRPr lang="zh-CN" altLang="zh-CN" sz="1450" dirty="0">
              <a:latin typeface="Times New Roman" panose="02020503050405090304" charset="0"/>
              <a:ea typeface="思源黑体" panose="020B0400000000000000" charset="-122"/>
            </a:endParaRPr>
          </a:p>
        </p:txBody>
      </p:sp>
      <p:sp>
        <p:nvSpPr>
          <p:cNvPr id="14" name="矩形 13"/>
          <p:cNvSpPr/>
          <p:nvPr/>
        </p:nvSpPr>
        <p:spPr>
          <a:xfrm>
            <a:off x="4607251" y="4723660"/>
            <a:ext cx="3211677" cy="1861185"/>
          </a:xfrm>
          <a:prstGeom prst="rect">
            <a:avLst/>
          </a:prstGeom>
        </p:spPr>
        <p:txBody>
          <a:bodyPr wrap="square">
            <a:spAutoFit/>
          </a:bodyPr>
          <a:lstStyle/>
          <a:p>
            <a:pPr algn="just">
              <a:lnSpc>
                <a:spcPts val="2300"/>
              </a:lnSpc>
            </a:pPr>
            <a:r>
              <a:rPr lang="en-GB" altLang="zh-CN" sz="1450" dirty="0">
                <a:latin typeface="Times New Roman" panose="02020503050405090304" charset="0"/>
                <a:ea typeface="思源黑体" panose="020B0400000000000000" charset="-122"/>
              </a:rPr>
              <a:t>AI</a:t>
            </a:r>
            <a:r>
              <a:rPr lang="en-US" altLang="en-GB" sz="1450" dirty="0">
                <a:latin typeface="Times New Roman" panose="02020503050405090304" charset="0"/>
                <a:ea typeface="思源黑体" panose="020B0400000000000000" charset="-122"/>
              </a:rPr>
              <a:t> </a:t>
            </a:r>
            <a:r>
              <a:rPr lang="zh-CN" altLang="en-US" sz="1450" dirty="0">
                <a:latin typeface="Times New Roman" panose="02020503050405090304" charset="0"/>
                <a:ea typeface="思源黑体" panose="020B0400000000000000" charset="-122"/>
              </a:rPr>
              <a:t>具有极强的马太效应：</a:t>
            </a:r>
            <a:endParaRPr lang="zh-CN" altLang="en-US" sz="1450" dirty="0">
              <a:latin typeface="Times New Roman" panose="02020503050405090304" charset="0"/>
              <a:ea typeface="思源黑体" panose="020B0400000000000000" charset="-122"/>
            </a:endParaRPr>
          </a:p>
          <a:p>
            <a:pPr algn="just">
              <a:lnSpc>
                <a:spcPts val="2300"/>
              </a:lnSpc>
            </a:pPr>
            <a:r>
              <a:rPr lang="zh-CN" altLang="en-US" sz="1450" b="1" dirty="0">
                <a:latin typeface="Times New Roman" panose="02020503050405090304" charset="0"/>
                <a:ea typeface="思源黑体" panose="020B0400000000000000" charset="-122"/>
              </a:rPr>
              <a:t>数据飞轮</a:t>
            </a:r>
            <a:r>
              <a:rPr lang="zh-CN" altLang="en-US" sz="1450" dirty="0">
                <a:latin typeface="Times New Roman" panose="02020503050405090304" charset="0"/>
                <a:ea typeface="思源黑体" panose="020B0400000000000000" charset="-122"/>
              </a:rPr>
              <a:t>：更多用户 </a:t>
            </a:r>
            <a:r>
              <a:rPr lang="en-US" altLang="zh-CN" sz="1450" dirty="0">
                <a:latin typeface="Times New Roman" panose="02020503050405090304" charset="0"/>
                <a:ea typeface="思源黑体" panose="020B0400000000000000" charset="-122"/>
              </a:rPr>
              <a:t>-&gt; </a:t>
            </a:r>
            <a:r>
              <a:rPr lang="zh-CN" altLang="en-US" sz="1450" dirty="0">
                <a:latin typeface="Times New Roman" panose="02020503050405090304" charset="0"/>
                <a:ea typeface="思源黑体" panose="020B0400000000000000" charset="-122"/>
              </a:rPr>
              <a:t>更多数据 </a:t>
            </a:r>
            <a:r>
              <a:rPr lang="en-US" altLang="zh-CN" sz="1450" dirty="0">
                <a:latin typeface="Times New Roman" panose="02020503050405090304" charset="0"/>
                <a:ea typeface="思源黑体" panose="020B0400000000000000" charset="-122"/>
              </a:rPr>
              <a:t>-&gt; </a:t>
            </a:r>
            <a:r>
              <a:rPr lang="zh-CN" altLang="en-US" sz="1450" dirty="0">
                <a:latin typeface="Times New Roman" panose="02020503050405090304" charset="0"/>
                <a:ea typeface="思源黑体" panose="020B0400000000000000" charset="-122"/>
              </a:rPr>
              <a:t>更好</a:t>
            </a:r>
            <a:r>
              <a:rPr lang="en-US" altLang="zh-CN" sz="1450" dirty="0">
                <a:latin typeface="Times New Roman" panose="02020503050405090304" charset="0"/>
                <a:ea typeface="思源黑体" panose="020B0400000000000000" charset="-122"/>
              </a:rPr>
              <a:t> </a:t>
            </a:r>
            <a:r>
              <a:rPr lang="en-GB" altLang="zh-CN" sz="1450" dirty="0">
                <a:latin typeface="Times New Roman" panose="02020503050405090304" charset="0"/>
                <a:ea typeface="思源黑体" panose="020B0400000000000000" charset="-122"/>
              </a:rPr>
              <a:t>AI -&gt; </a:t>
            </a:r>
            <a:r>
              <a:rPr lang="zh-CN" altLang="en-US" sz="1450" dirty="0">
                <a:latin typeface="Times New Roman" panose="02020503050405090304" charset="0"/>
                <a:ea typeface="思源黑体" panose="020B0400000000000000" charset="-122"/>
              </a:rPr>
              <a:t>更多用户。</a:t>
            </a:r>
            <a:endParaRPr lang="zh-CN" altLang="en-US" sz="1450" dirty="0">
              <a:latin typeface="Times New Roman" panose="02020503050405090304" charset="0"/>
              <a:ea typeface="思源黑体" panose="020B0400000000000000" charset="-122"/>
            </a:endParaRPr>
          </a:p>
          <a:p>
            <a:pPr algn="just">
              <a:lnSpc>
                <a:spcPts val="2300"/>
              </a:lnSpc>
            </a:pPr>
            <a:endParaRPr lang="zh-CN" altLang="en-US" sz="1450" dirty="0">
              <a:latin typeface="Times New Roman" panose="02020503050405090304" charset="0"/>
              <a:ea typeface="思源黑体" panose="020B0400000000000000" charset="-122"/>
            </a:endParaRPr>
          </a:p>
          <a:p>
            <a:pPr algn="just">
              <a:lnSpc>
                <a:spcPts val="2300"/>
              </a:lnSpc>
            </a:pPr>
            <a:r>
              <a:rPr lang="zh-CN" altLang="en-US" sz="1450" b="1" dirty="0">
                <a:latin typeface="Times New Roman" panose="02020503050405090304" charset="0"/>
                <a:ea typeface="思源黑体" panose="020B0400000000000000" charset="-122"/>
              </a:rPr>
              <a:t>算力壁垒</a:t>
            </a:r>
            <a:r>
              <a:rPr lang="zh-CN" altLang="en-US" sz="1450" dirty="0">
                <a:latin typeface="Times New Roman" panose="02020503050405090304" charset="0"/>
                <a:ea typeface="思源黑体" panose="020B0400000000000000" charset="-122"/>
              </a:rPr>
              <a:t>：只有科技巨头能承担天价的算力成本。</a:t>
            </a:r>
            <a:endParaRPr lang="zh-CN" altLang="zh-CN" sz="1450" dirty="0">
              <a:latin typeface="Times New Roman" panose="02020503050405090304" charset="0"/>
              <a:ea typeface="思源黑体" panose="020B0400000000000000" charset="-122"/>
            </a:endParaRPr>
          </a:p>
        </p:txBody>
      </p:sp>
      <p:sp>
        <p:nvSpPr>
          <p:cNvPr id="15" name="矩形 14"/>
          <p:cNvSpPr/>
          <p:nvPr/>
        </p:nvSpPr>
        <p:spPr>
          <a:xfrm>
            <a:off x="8392774" y="4723660"/>
            <a:ext cx="3211677" cy="1861185"/>
          </a:xfrm>
          <a:prstGeom prst="rect">
            <a:avLst/>
          </a:prstGeom>
        </p:spPr>
        <p:txBody>
          <a:bodyPr wrap="square">
            <a:spAutoFit/>
          </a:bodyPr>
          <a:lstStyle/>
          <a:p>
            <a:pPr algn="just">
              <a:lnSpc>
                <a:spcPts val="2300"/>
              </a:lnSpc>
            </a:pPr>
            <a:r>
              <a:rPr lang="zh-CN" altLang="en-US" sz="1450" dirty="0">
                <a:latin typeface="Times New Roman" panose="02020503050405090304" charset="0"/>
                <a:ea typeface="思源黑体" panose="020B0400000000000000" charset="-122"/>
              </a:rPr>
              <a:t>资本、数据、算力和顶尖人才正高速向少数科技平台公司（如谷歌、微软</a:t>
            </a:r>
            <a:r>
              <a:rPr lang="en-US" altLang="zh-CN" sz="1450" dirty="0">
                <a:latin typeface="Times New Roman" panose="02020503050405090304" charset="0"/>
                <a:ea typeface="思源黑体" panose="020B0400000000000000" charset="-122"/>
              </a:rPr>
              <a:t>、</a:t>
            </a:r>
            <a:r>
              <a:rPr lang="en-GB" altLang="zh-CN" sz="1450" dirty="0">
                <a:latin typeface="Times New Roman" panose="02020503050405090304" charset="0"/>
                <a:ea typeface="思源黑体" panose="020B0400000000000000" charset="-122"/>
              </a:rPr>
              <a:t>OpenAI</a:t>
            </a:r>
            <a:r>
              <a:rPr lang="zh-CN" altLang="en-GB"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集中。</a:t>
            </a:r>
            <a:endParaRPr lang="zh-CN" altLang="en-US" sz="1450" dirty="0">
              <a:latin typeface="Times New Roman" panose="02020503050405090304" charset="0"/>
              <a:ea typeface="思源黑体" panose="020B0400000000000000" charset="-122"/>
            </a:endParaRPr>
          </a:p>
          <a:p>
            <a:pPr algn="just">
              <a:lnSpc>
                <a:spcPts val="2300"/>
              </a:lnSpc>
            </a:pPr>
            <a:endParaRPr lang="zh-CN" altLang="en-US" sz="1450" dirty="0">
              <a:latin typeface="Times New Roman" panose="02020503050405090304" charset="0"/>
              <a:ea typeface="思源黑体" panose="020B0400000000000000" charset="-122"/>
            </a:endParaRPr>
          </a:p>
          <a:p>
            <a:pPr algn="just">
              <a:lnSpc>
                <a:spcPts val="2300"/>
              </a:lnSpc>
            </a:pPr>
            <a:r>
              <a:rPr lang="zh-CN" altLang="en-US" sz="1450" dirty="0">
                <a:latin typeface="Times New Roman" panose="02020503050405090304" charset="0"/>
                <a:ea typeface="思源黑体" panose="020B0400000000000000" charset="-122"/>
              </a:rPr>
              <a:t>中小企业在底层</a:t>
            </a:r>
            <a:r>
              <a:rPr lang="en-US" altLang="zh-CN" sz="1450" dirty="0">
                <a:latin typeface="Times New Roman" panose="02020503050405090304" charset="0"/>
                <a:ea typeface="思源黑体" panose="020B0400000000000000" charset="-122"/>
              </a:rPr>
              <a:t> </a:t>
            </a:r>
            <a:r>
              <a:rPr lang="en-GB" altLang="zh-CN" sz="1450" dirty="0">
                <a:latin typeface="Times New Roman" panose="02020503050405090304" charset="0"/>
                <a:ea typeface="思源黑体" panose="020B0400000000000000" charset="-122"/>
              </a:rPr>
              <a:t>AI</a:t>
            </a:r>
            <a:r>
              <a:rPr lang="en-US" altLang="en-GB" sz="1450" dirty="0">
                <a:latin typeface="Times New Roman" panose="02020503050405090304" charset="0"/>
                <a:ea typeface="思源黑体" panose="020B0400000000000000" charset="-122"/>
              </a:rPr>
              <a:t> </a:t>
            </a:r>
            <a:r>
              <a:rPr lang="zh-CN" altLang="en-US" sz="1450" dirty="0">
                <a:latin typeface="Times New Roman" panose="02020503050405090304" charset="0"/>
                <a:ea typeface="思源黑体" panose="020B0400000000000000" charset="-122"/>
              </a:rPr>
              <a:t>能力上难以竞争，易沦为巨头平台的</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租户</a:t>
            </a:r>
            <a:r>
              <a:rPr lang="en-US" altLang="zh-CN" sz="1450" dirty="0">
                <a:latin typeface="Times New Roman" panose="02020503050405090304" charset="0"/>
                <a:ea typeface="思源黑体" panose="020B0400000000000000" charset="-122"/>
              </a:rPr>
              <a:t>”</a:t>
            </a:r>
            <a:r>
              <a:rPr lang="zh-CN" altLang="en-US" sz="1450" dirty="0">
                <a:latin typeface="Times New Roman" panose="02020503050405090304" charset="0"/>
                <a:ea typeface="思源黑体" panose="020B0400000000000000" charset="-122"/>
              </a:rPr>
              <a:t>。</a:t>
            </a:r>
            <a:endParaRPr lang="zh-CN" altLang="zh-CN" sz="1450" dirty="0">
              <a:latin typeface="Times New Roman" panose="02020503050405090304" charset="0"/>
              <a:ea typeface="思源黑体" panose="020B0400000000000000" charset="-122"/>
            </a:endParaRPr>
          </a:p>
        </p:txBody>
      </p:sp>
      <p:sp>
        <p:nvSpPr>
          <p:cNvPr id="16" name="矩形: 圆角 86"/>
          <p:cNvSpPr/>
          <p:nvPr/>
        </p:nvSpPr>
        <p:spPr>
          <a:xfrm>
            <a:off x="5003649" y="4019910"/>
            <a:ext cx="2433837" cy="509286"/>
          </a:xfrm>
          <a:prstGeom prst="round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latin typeface="Times New Roman" panose="02020503050405090304" charset="0"/>
                <a:ea typeface="思源黑体" panose="020B0400000000000000" charset="-122"/>
              </a:rPr>
              <a:t>趋势：</a:t>
            </a:r>
            <a:r>
              <a:rPr lang="en-US" altLang="zh-CN" b="1" dirty="0">
                <a:latin typeface="Times New Roman" panose="02020503050405090304" charset="0"/>
                <a:ea typeface="思源黑体" panose="020B0400000000000000" charset="-122"/>
              </a:rPr>
              <a:t>“</a:t>
            </a:r>
            <a:r>
              <a:rPr lang="zh-CN" altLang="en-US" b="1" dirty="0">
                <a:latin typeface="Times New Roman" panose="02020503050405090304" charset="0"/>
                <a:ea typeface="思源黑体" panose="020B0400000000000000" charset="-122"/>
              </a:rPr>
              <a:t>赢家通吃</a:t>
            </a:r>
            <a:r>
              <a:rPr lang="en-US" altLang="zh-CN" b="1" dirty="0">
                <a:latin typeface="Times New Roman" panose="02020503050405090304" charset="0"/>
                <a:ea typeface="思源黑体" panose="020B0400000000000000" charset="-122"/>
              </a:rPr>
              <a:t>”</a:t>
            </a:r>
            <a:endParaRPr lang="en-US" altLang="zh-CN" b="1" dirty="0">
              <a:latin typeface="Times New Roman" panose="02020503050405090304" charset="0"/>
              <a:ea typeface="思源黑体" panose="020B0400000000000000" charset="-122"/>
            </a:endParaRPr>
          </a:p>
        </p:txBody>
      </p:sp>
      <p:sp>
        <p:nvSpPr>
          <p:cNvPr id="17" name="矩形: 圆角 87"/>
          <p:cNvSpPr/>
          <p:nvPr/>
        </p:nvSpPr>
        <p:spPr>
          <a:xfrm>
            <a:off x="8789172" y="4019910"/>
            <a:ext cx="2697721" cy="509286"/>
          </a:xfrm>
          <a:prstGeom prst="roundRect">
            <a:avLst/>
          </a:prstGeom>
          <a:solidFill>
            <a:srgbClr val="1749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zh-CN" altLang="en-US" b="1" dirty="0">
                <a:latin typeface="Times New Roman" panose="02020503050405090304" charset="0"/>
                <a:ea typeface="思源黑体" panose="020B0400000000000000" charset="-122"/>
              </a:rPr>
              <a:t>结果：资本寡头垄断</a:t>
            </a:r>
            <a:endParaRPr lang="zh-CN" altLang="en-US" b="1" dirty="0">
              <a:latin typeface="Times New Roman" panose="02020503050405090304" charset="0"/>
              <a:ea typeface="思源黑体" panose="020B04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6" name="文本框 55"/>
          <p:cNvSpPr txBox="1"/>
          <p:nvPr/>
        </p:nvSpPr>
        <p:spPr>
          <a:xfrm>
            <a:off x="593090" y="2320290"/>
            <a:ext cx="2073275" cy="447040"/>
          </a:xfrm>
          <a:prstGeom prst="rect">
            <a:avLst/>
          </a:prstGeom>
          <a:noFill/>
        </p:spPr>
        <p:txBody>
          <a:bodyPr wrap="square" rtlCol="0">
            <a:noAutofit/>
          </a:bodyPr>
          <a:lstStyle/>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1. </a:t>
            </a:r>
            <a:r>
              <a:rPr lang="zh-CN" altLang="en-US" sz="1800" b="1" spc="40" dirty="0">
                <a:solidFill>
                  <a:srgbClr val="314371"/>
                </a:solidFill>
                <a:latin typeface="Times New Roman" panose="02020503050405090304" charset="0"/>
                <a:ea typeface="思源黑体" panose="020B0400000000000000" charset="-122"/>
                <a:cs typeface="+mn-ea"/>
                <a:sym typeface="+mn-lt"/>
              </a:rPr>
              <a:t>就业结构优化</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524510" y="1167765"/>
            <a:ext cx="161544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社会层面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6" name="文本框 5"/>
          <p:cNvSpPr txBox="1"/>
          <p:nvPr/>
        </p:nvSpPr>
        <p:spPr>
          <a:xfrm>
            <a:off x="593090" y="3681095"/>
            <a:ext cx="2301875" cy="447040"/>
          </a:xfrm>
          <a:prstGeom prst="rect">
            <a:avLst/>
          </a:prstGeom>
          <a:noFill/>
        </p:spPr>
        <p:txBody>
          <a:bodyPr wrap="square" rtlCol="0">
            <a:noAutofit/>
          </a:bodyPr>
          <a:lstStyle/>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2. </a:t>
            </a:r>
            <a:r>
              <a:rPr lang="zh-CN" altLang="en-US" sz="1800" b="1" spc="40" dirty="0">
                <a:solidFill>
                  <a:srgbClr val="314371"/>
                </a:solidFill>
                <a:latin typeface="Times New Roman" panose="02020503050405090304" charset="0"/>
                <a:ea typeface="思源黑体" panose="020B0400000000000000" charset="-122"/>
                <a:cs typeface="+mn-ea"/>
                <a:sym typeface="+mn-lt"/>
              </a:rPr>
              <a:t>生活智能化便利</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593090" y="5112385"/>
            <a:ext cx="2040255" cy="447040"/>
          </a:xfrm>
          <a:prstGeom prst="rect">
            <a:avLst/>
          </a:prstGeom>
          <a:noFill/>
        </p:spPr>
        <p:txBody>
          <a:bodyPr wrap="square" rtlCol="0">
            <a:noAutofit/>
          </a:bodyPr>
          <a:lstStyle/>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3. </a:t>
            </a:r>
            <a:r>
              <a:rPr lang="zh-CN" altLang="en-US" sz="1800" b="1" spc="40" dirty="0">
                <a:solidFill>
                  <a:srgbClr val="314371"/>
                </a:solidFill>
                <a:latin typeface="Times New Roman" panose="02020503050405090304" charset="0"/>
                <a:ea typeface="思源黑体" panose="020B0400000000000000" charset="-122"/>
                <a:cs typeface="+mn-ea"/>
                <a:sym typeface="+mn-lt"/>
              </a:rPr>
              <a:t>信息传播升级</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p:txBody>
      </p:sp>
      <p:sp>
        <p:nvSpPr>
          <p:cNvPr id="8" name="文本框 7"/>
          <p:cNvSpPr txBox="1"/>
          <p:nvPr/>
        </p:nvSpPr>
        <p:spPr>
          <a:xfrm>
            <a:off x="3044825" y="2320290"/>
            <a:ext cx="5909310" cy="783590"/>
          </a:xfrm>
          <a:prstGeom prst="rect">
            <a:avLst/>
          </a:prstGeom>
          <a:noFill/>
        </p:spPr>
        <p:txBody>
          <a:bodyPr wrap="square" rtlCol="0">
            <a:noAutofit/>
          </a:bodyPr>
          <a:lstStyle/>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催生新职业：</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训练师、算法工程师、数据标注师等</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解放重复劳动：工业自动化、行政流程简化，提升生产效率</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3033395" y="3688715"/>
            <a:ext cx="6551295" cy="783590"/>
          </a:xfrm>
          <a:prstGeom prst="rect">
            <a:avLst/>
          </a:prstGeom>
          <a:noFill/>
        </p:spPr>
        <p:txBody>
          <a:bodyPr wrap="square" rtlCol="0">
            <a:noAutofit/>
          </a:bodyPr>
          <a:lstStyle/>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衣食住行：智能导航、无人零售、智能家居（语音控制、远程操控）</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公共服务：</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医疗诊断辅助、教育个性化推荐、政务线上办理</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10" name="文本框 9"/>
          <p:cNvSpPr txBox="1"/>
          <p:nvPr/>
        </p:nvSpPr>
        <p:spPr>
          <a:xfrm>
            <a:off x="3044825" y="5128895"/>
            <a:ext cx="6551295" cy="783590"/>
          </a:xfrm>
          <a:prstGeom prst="rect">
            <a:avLst/>
          </a:prstGeom>
          <a:noFill/>
        </p:spPr>
        <p:txBody>
          <a:bodyPr wrap="square" rtlCol="0">
            <a:noAutofit/>
          </a:bodyPr>
          <a:lstStyle/>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算法精准匹配需求：新闻、知识、服务快速触达目标人群</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跨地域沟通无界：智能翻译、远程协作工具打破空间限制</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11" name="图片 10"/>
          <p:cNvPicPr>
            <a:picLocks noChangeAspect="1"/>
          </p:cNvPicPr>
          <p:nvPr/>
        </p:nvPicPr>
        <p:blipFill>
          <a:blip r:embed="rId2"/>
          <a:stretch>
            <a:fillRect/>
          </a:stretch>
        </p:blipFill>
        <p:spPr>
          <a:xfrm>
            <a:off x="9541510" y="3543935"/>
            <a:ext cx="3004185" cy="3355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ppt_x</p:attrName>
                                        </p:attrNameLst>
                                      </p:cBhvr>
                                      <p:tavLst>
                                        <p:tav tm="0">
                                          <p:val>
                                            <p:strVal val="#ppt_x"/>
                                          </p:val>
                                        </p:tav>
                                        <p:tav tm="100000">
                                          <p:val>
                                            <p:strVal val="#ppt_x"/>
                                          </p:val>
                                        </p:tav>
                                      </p:tavLst>
                                    </p:anim>
                                    <p:anim calcmode="lin" valueType="num">
                                      <p:cBhvr additive="base">
                                        <p:cTn id="11" dur="500" fill="hold"/>
                                        <p:tgtEl>
                                          <p:spTgt spid="4"/>
                                        </p:tgtEl>
                                        <p:attrNameLst>
                                          <p:attrName>ppt_y</p:attrName>
                                        </p:attrNameLst>
                                      </p:cBhvr>
                                      <p:tavLst>
                                        <p:tav tm="0">
                                          <p:val>
                                            <p:strVal val="1+#ppt_h/2"/>
                                          </p:val>
                                        </p:tav>
                                        <p:tav tm="100000">
                                          <p:val>
                                            <p:strVal val="#ppt_y"/>
                                          </p:val>
                                        </p:tav>
                                      </p:tavLst>
                                    </p:anim>
                                  </p:childTnLst>
                                </p:cTn>
                              </p:par>
                            </p:childTnLst>
                          </p:cTn>
                        </p:par>
                        <p:par>
                          <p:cTn id="12" fill="hold">
                            <p:stCondLst>
                              <p:cond delay="750"/>
                            </p:stCondLst>
                            <p:childTnLst>
                              <p:par>
                                <p:cTn id="13" presetID="10" presetClass="entr" presetSubtype="0" fill="hold" grpId="0" nodeType="afterEffect">
                                  <p:stCondLst>
                                    <p:cond delay="2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25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250"/>
                            </p:stCondLst>
                            <p:childTnLst>
                              <p:par>
                                <p:cTn id="21" presetID="10" presetClass="entr" presetSubtype="0" fill="hold" grpId="0" nodeType="afterEffect">
                                  <p:stCondLst>
                                    <p:cond delay="25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3000"/>
                            </p:stCondLst>
                            <p:childTnLst>
                              <p:par>
                                <p:cTn id="25" presetID="10" presetClass="entr" presetSubtype="0" fill="hold" grpId="0" nodeType="afterEffect">
                                  <p:stCondLst>
                                    <p:cond delay="25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3750"/>
                            </p:stCondLst>
                            <p:childTnLst>
                              <p:par>
                                <p:cTn id="29" presetID="10" presetClass="entr" presetSubtype="0" fill="hold" grpId="0" nodeType="afterEffect">
                                  <p:stCondLst>
                                    <p:cond delay="2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4" grpId="0"/>
      <p:bldP spid="6" grpId="0"/>
      <p:bldP spid="7" grpId="0"/>
      <p:bldP spid="8" grpId="0"/>
      <p:bldP spid="9"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 name="文本框 3"/>
          <p:cNvSpPr txBox="1"/>
          <p:nvPr/>
        </p:nvSpPr>
        <p:spPr>
          <a:xfrm>
            <a:off x="524510" y="1167765"/>
            <a:ext cx="161544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社会层面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10" name="文本框 9"/>
          <p:cNvSpPr txBox="1"/>
          <p:nvPr/>
        </p:nvSpPr>
        <p:spPr>
          <a:xfrm>
            <a:off x="452755" y="1816100"/>
            <a:ext cx="11892280" cy="4991100"/>
          </a:xfrm>
          <a:prstGeom prst="rect">
            <a:avLst/>
          </a:prstGeom>
          <a:noFill/>
        </p:spPr>
        <p:txBody>
          <a:bodyPr wrap="square" rtlCol="0">
            <a:noAutofit/>
          </a:bodyPr>
          <a:lstStyle/>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1. </a:t>
            </a:r>
            <a:r>
              <a:rPr lang="zh-CN" altLang="en-US" sz="1800" b="1" spc="40" dirty="0">
                <a:solidFill>
                  <a:srgbClr val="314371"/>
                </a:solidFill>
                <a:latin typeface="Times New Roman" panose="02020503050405090304" charset="0"/>
                <a:ea typeface="思源黑体" panose="020B0400000000000000" charset="-122"/>
                <a:cs typeface="+mn-ea"/>
                <a:sym typeface="+mn-lt"/>
              </a:rPr>
              <a:t>就业与产业升级案例</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据人社部《新职业发展报告</a:t>
            </a:r>
            <a:r>
              <a:rPr lang="en-US" altLang="zh-CN" sz="1600" spc="40" dirty="0">
                <a:solidFill>
                  <a:srgbClr val="314371"/>
                </a:solidFill>
                <a:latin typeface="Times New Roman" panose="02020503050405090304" charset="0"/>
                <a:ea typeface="思源黑体" panose="020B0400000000000000" charset="-122"/>
                <a:cs typeface="+mn-ea"/>
                <a:sym typeface="+mn-lt"/>
              </a:rPr>
              <a:t> (2024)</a:t>
            </a:r>
            <a:r>
              <a:rPr lang="zh-CN" altLang="en-US" sz="1600" spc="40" dirty="0">
                <a:solidFill>
                  <a:srgbClr val="314371"/>
                </a:solidFill>
                <a:latin typeface="Times New Roman" panose="02020503050405090304" charset="0"/>
                <a:ea typeface="思源黑体" panose="020B0400000000000000" charset="-122"/>
                <a:cs typeface="+mn-ea"/>
                <a:sym typeface="+mn-lt"/>
              </a:rPr>
              <a:t>》及智联招聘数据，</a:t>
            </a:r>
            <a:r>
              <a:rPr lang="en-US" altLang="zh-CN" sz="1600" spc="40" dirty="0">
                <a:solidFill>
                  <a:srgbClr val="314371"/>
                </a:solidFill>
                <a:latin typeface="Times New Roman" panose="02020503050405090304" charset="0"/>
                <a:ea typeface="思源黑体" panose="020B0400000000000000" charset="-122"/>
                <a:cs typeface="+mn-ea"/>
                <a:sym typeface="+mn-lt"/>
              </a:rPr>
              <a:t>2024 </a:t>
            </a:r>
            <a:r>
              <a:rPr lang="zh-CN" altLang="en-US" sz="1600" spc="40" dirty="0">
                <a:solidFill>
                  <a:srgbClr val="314371"/>
                </a:solidFill>
                <a:latin typeface="Times New Roman" panose="02020503050405090304" charset="0"/>
                <a:ea typeface="思源黑体" panose="020B0400000000000000" charset="-122"/>
                <a:cs typeface="+mn-ea"/>
                <a:sym typeface="+mn-lt"/>
              </a:rPr>
              <a:t>年</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相关新职业岗位需求同比增长</a:t>
            </a:r>
            <a:r>
              <a:rPr lang="en-US" altLang="zh-CN" sz="1600" spc="40" dirty="0">
                <a:solidFill>
                  <a:srgbClr val="314371"/>
                </a:solidFill>
                <a:latin typeface="Times New Roman" panose="02020503050405090304" charset="0"/>
                <a:ea typeface="思源黑体" panose="020B0400000000000000" charset="-122"/>
                <a:cs typeface="+mn-ea"/>
                <a:sym typeface="+mn-lt"/>
              </a:rPr>
              <a:t> 126%</a:t>
            </a:r>
            <a:r>
              <a:rPr lang="zh-CN" altLang="en-US" sz="1600" spc="40" dirty="0">
                <a:solidFill>
                  <a:srgbClr val="314371"/>
                </a:solidFill>
                <a:latin typeface="Times New Roman" panose="02020503050405090304" charset="0"/>
                <a:ea typeface="思源黑体" panose="020B0400000000000000" charset="-122"/>
                <a:cs typeface="+mn-ea"/>
                <a:sym typeface="+mn-lt"/>
              </a:rPr>
              <a:t>，其中</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训练师</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岗位缺口达</a:t>
            </a:r>
            <a:r>
              <a:rPr lang="en-US" altLang="zh-CN" sz="1600" spc="40" dirty="0">
                <a:solidFill>
                  <a:srgbClr val="314371"/>
                </a:solidFill>
                <a:latin typeface="Times New Roman" panose="02020503050405090304" charset="0"/>
                <a:ea typeface="思源黑体" panose="020B0400000000000000" charset="-122"/>
                <a:cs typeface="+mn-ea"/>
                <a:sym typeface="+mn-lt"/>
              </a:rPr>
              <a:t> 32 </a:t>
            </a:r>
            <a:r>
              <a:rPr lang="zh-CN" altLang="en-US" sz="1600" spc="40" dirty="0">
                <a:solidFill>
                  <a:srgbClr val="314371"/>
                </a:solidFill>
                <a:latin typeface="Times New Roman" panose="02020503050405090304" charset="0"/>
                <a:ea typeface="思源黑体" panose="020B0400000000000000" charset="-122"/>
                <a:cs typeface="+mn-ea"/>
                <a:sym typeface="+mn-lt"/>
              </a:rPr>
              <a:t>万，平均月薪</a:t>
            </a:r>
            <a:r>
              <a:rPr lang="en-US" altLang="zh-CN" sz="1600" spc="40" dirty="0">
                <a:solidFill>
                  <a:srgbClr val="314371"/>
                </a:solidFill>
                <a:latin typeface="Times New Roman" panose="02020503050405090304" charset="0"/>
                <a:ea typeface="思源黑体" panose="020B0400000000000000" charset="-122"/>
                <a:cs typeface="+mn-ea"/>
                <a:sym typeface="+mn-lt"/>
              </a:rPr>
              <a:t> 1.8 </a:t>
            </a:r>
            <a:r>
              <a:rPr lang="zh-CN" altLang="en-US" sz="1600" spc="40" dirty="0">
                <a:solidFill>
                  <a:srgbClr val="314371"/>
                </a:solidFill>
                <a:latin typeface="Times New Roman" panose="02020503050405090304" charset="0"/>
                <a:ea typeface="思源黑体" panose="020B0400000000000000" charset="-122"/>
                <a:cs typeface="+mn-ea"/>
                <a:sym typeface="+mn-lt"/>
              </a:rPr>
              <a:t>万元。</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广汽埃安长沙工厂引入</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自动化生产线后，产线节拍提升</a:t>
            </a:r>
            <a:r>
              <a:rPr lang="en-US" altLang="zh-CN" sz="1600" spc="40" dirty="0">
                <a:solidFill>
                  <a:srgbClr val="314371"/>
                </a:solidFill>
                <a:latin typeface="Times New Roman" panose="02020503050405090304" charset="0"/>
                <a:ea typeface="思源黑体" panose="020B0400000000000000" charset="-122"/>
                <a:cs typeface="+mn-ea"/>
                <a:sym typeface="+mn-lt"/>
              </a:rPr>
              <a:t> 35%</a:t>
            </a:r>
            <a:r>
              <a:rPr lang="zh-CN" altLang="en-US"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53 </a:t>
            </a:r>
            <a:r>
              <a:rPr lang="zh-CN" altLang="en-US" sz="1600" spc="40" dirty="0">
                <a:solidFill>
                  <a:srgbClr val="314371"/>
                </a:solidFill>
                <a:latin typeface="Times New Roman" panose="02020503050405090304" charset="0"/>
                <a:ea typeface="思源黑体" panose="020B0400000000000000" charset="-122"/>
                <a:cs typeface="+mn-ea"/>
                <a:sym typeface="+mn-lt"/>
              </a:rPr>
              <a:t>秒下线一台新能源车），同时新增</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智能设备运维师</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工艺工程师</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等技术岗位</a:t>
            </a:r>
            <a:r>
              <a:rPr lang="en-US" altLang="zh-CN" sz="1600" spc="40" dirty="0">
                <a:solidFill>
                  <a:srgbClr val="314371"/>
                </a:solidFill>
                <a:latin typeface="Times New Roman" panose="02020503050405090304" charset="0"/>
                <a:ea typeface="思源黑体" panose="020B0400000000000000" charset="-122"/>
                <a:cs typeface="+mn-ea"/>
                <a:sym typeface="+mn-lt"/>
              </a:rPr>
              <a:t> 120 </a:t>
            </a:r>
            <a:r>
              <a:rPr lang="zh-CN" altLang="en-US" sz="1600" spc="40" dirty="0">
                <a:solidFill>
                  <a:srgbClr val="314371"/>
                </a:solidFill>
                <a:latin typeface="Times New Roman" panose="02020503050405090304" charset="0"/>
                <a:ea typeface="思源黑体" panose="020B0400000000000000" charset="-122"/>
                <a:cs typeface="+mn-ea"/>
                <a:sym typeface="+mn-lt"/>
              </a:rPr>
              <a:t>余个。</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2. </a:t>
            </a:r>
            <a:r>
              <a:rPr lang="zh-CN" altLang="en-US" sz="1800" b="1" spc="40" dirty="0">
                <a:solidFill>
                  <a:srgbClr val="314371"/>
                </a:solidFill>
                <a:latin typeface="Times New Roman" panose="02020503050405090304" charset="0"/>
                <a:ea typeface="思源黑体" panose="020B0400000000000000" charset="-122"/>
                <a:cs typeface="+mn-ea"/>
                <a:sym typeface="+mn-lt"/>
              </a:rPr>
              <a:t>生活智能化便利实例</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智能家居领域：据中国电子技术标准化研究院测算，</a:t>
            </a:r>
            <a:r>
              <a:rPr lang="en-US" altLang="zh-CN" sz="1600" spc="40" dirty="0">
                <a:solidFill>
                  <a:srgbClr val="314371"/>
                </a:solidFill>
                <a:latin typeface="Times New Roman" panose="02020503050405090304" charset="0"/>
                <a:ea typeface="思源黑体" panose="020B0400000000000000" charset="-122"/>
                <a:cs typeface="+mn-ea"/>
                <a:sym typeface="+mn-lt"/>
              </a:rPr>
              <a:t>2024 </a:t>
            </a:r>
            <a:r>
              <a:rPr lang="zh-CN" altLang="en-US" sz="1600" spc="40" dirty="0">
                <a:solidFill>
                  <a:srgbClr val="314371"/>
                </a:solidFill>
                <a:latin typeface="Times New Roman" panose="02020503050405090304" charset="0"/>
                <a:ea typeface="思源黑体" panose="020B0400000000000000" charset="-122"/>
                <a:cs typeface="+mn-ea"/>
                <a:sym typeface="+mn-lt"/>
              </a:rPr>
              <a:t>年中国智能家居渗透率达</a:t>
            </a:r>
            <a:r>
              <a:rPr lang="en-US" altLang="zh-CN" sz="1600" spc="40" dirty="0">
                <a:solidFill>
                  <a:srgbClr val="314371"/>
                </a:solidFill>
                <a:latin typeface="Times New Roman" panose="02020503050405090304" charset="0"/>
                <a:ea typeface="思源黑体" panose="020B0400000000000000" charset="-122"/>
                <a:cs typeface="+mn-ea"/>
                <a:sym typeface="+mn-lt"/>
              </a:rPr>
              <a:t> 46.8%</a:t>
            </a:r>
            <a:r>
              <a:rPr lang="zh-CN" altLang="en-US" sz="1600" spc="40" dirty="0">
                <a:solidFill>
                  <a:srgbClr val="314371"/>
                </a:solidFill>
                <a:latin typeface="Times New Roman" panose="02020503050405090304" charset="0"/>
                <a:ea typeface="思源黑体" panose="020B0400000000000000" charset="-122"/>
                <a:cs typeface="+mn-ea"/>
                <a:sym typeface="+mn-lt"/>
              </a:rPr>
              <a:t>，小米</a:t>
            </a:r>
            <a:r>
              <a:rPr lang="en-US" altLang="zh-CN" sz="1600" spc="40" dirty="0">
                <a:solidFill>
                  <a:srgbClr val="314371"/>
                </a:solidFill>
                <a:latin typeface="Times New Roman" panose="02020503050405090304" charset="0"/>
                <a:ea typeface="思源黑体" panose="020B0400000000000000" charset="-122"/>
                <a:cs typeface="+mn-ea"/>
                <a:sym typeface="+mn-lt"/>
              </a:rPr>
              <a:t> AIoT </a:t>
            </a:r>
            <a:r>
              <a:rPr lang="zh-CN" altLang="en-US" sz="1600" spc="40" dirty="0">
                <a:solidFill>
                  <a:srgbClr val="314371"/>
                </a:solidFill>
                <a:latin typeface="Times New Roman" panose="02020503050405090304" charset="0"/>
                <a:ea typeface="思源黑体" panose="020B0400000000000000" charset="-122"/>
                <a:cs typeface="+mn-ea"/>
                <a:sym typeface="+mn-lt"/>
              </a:rPr>
              <a:t>平台语音控制家电用户超</a:t>
            </a:r>
            <a:r>
              <a:rPr lang="en-US" altLang="zh-CN" sz="1600" spc="40" dirty="0">
                <a:solidFill>
                  <a:srgbClr val="314371"/>
                </a:solidFill>
                <a:latin typeface="Times New Roman" panose="02020503050405090304" charset="0"/>
                <a:ea typeface="思源黑体" panose="020B0400000000000000" charset="-122"/>
                <a:cs typeface="+mn-ea"/>
                <a:sym typeface="+mn-lt"/>
              </a:rPr>
              <a:t> 3.1 </a:t>
            </a:r>
            <a:r>
              <a:rPr lang="zh-CN" altLang="en-US" sz="1600" spc="40" dirty="0">
                <a:solidFill>
                  <a:srgbClr val="314371"/>
                </a:solidFill>
                <a:latin typeface="Times New Roman" panose="02020503050405090304" charset="0"/>
                <a:ea typeface="思源黑体" panose="020B0400000000000000" charset="-122"/>
                <a:cs typeface="+mn-ea"/>
                <a:sym typeface="+mn-lt"/>
              </a:rPr>
              <a:t>亿，平均每天为用户节省家务时间</a:t>
            </a:r>
            <a:r>
              <a:rPr lang="en-US" altLang="zh-CN" sz="1600" spc="40" dirty="0">
                <a:solidFill>
                  <a:srgbClr val="314371"/>
                </a:solidFill>
                <a:latin typeface="Times New Roman" panose="02020503050405090304" charset="0"/>
                <a:ea typeface="思源黑体" panose="020B0400000000000000" charset="-122"/>
                <a:cs typeface="+mn-ea"/>
                <a:sym typeface="+mn-lt"/>
              </a:rPr>
              <a:t> 1.1 </a:t>
            </a:r>
            <a:r>
              <a:rPr lang="zh-CN" altLang="en-US" sz="1600" spc="40" dirty="0">
                <a:solidFill>
                  <a:srgbClr val="314371"/>
                </a:solidFill>
                <a:latin typeface="Times New Roman" panose="02020503050405090304" charset="0"/>
                <a:ea typeface="思源黑体" panose="020B0400000000000000" charset="-122"/>
                <a:cs typeface="+mn-ea"/>
                <a:sym typeface="+mn-lt"/>
              </a:rPr>
              <a:t>小时。</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公共服务：海南省肿瘤医院</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辅助诊断系统对肺结节的识别准确率超</a:t>
            </a:r>
            <a:r>
              <a:rPr lang="en-US" altLang="zh-CN" sz="1600" spc="40" dirty="0">
                <a:solidFill>
                  <a:srgbClr val="314371"/>
                </a:solidFill>
                <a:latin typeface="Times New Roman" panose="02020503050405090304" charset="0"/>
                <a:ea typeface="思源黑体" panose="020B0400000000000000" charset="-122"/>
                <a:cs typeface="+mn-ea"/>
                <a:sym typeface="+mn-lt"/>
              </a:rPr>
              <a:t> 90%</a:t>
            </a:r>
            <a:r>
              <a:rPr lang="zh-CN" altLang="en-US" sz="1600" spc="40" dirty="0">
                <a:solidFill>
                  <a:srgbClr val="314371"/>
                </a:solidFill>
                <a:latin typeface="Times New Roman" panose="02020503050405090304" charset="0"/>
                <a:ea typeface="思源黑体" panose="020B0400000000000000" charset="-122"/>
                <a:cs typeface="+mn-ea"/>
                <a:sym typeface="+mn-lt"/>
              </a:rPr>
              <a:t>，将多发结节诊断时间从传统</a:t>
            </a:r>
            <a:r>
              <a:rPr lang="en-US" altLang="zh-CN" sz="1600" spc="40" dirty="0">
                <a:solidFill>
                  <a:srgbClr val="314371"/>
                </a:solidFill>
                <a:latin typeface="Times New Roman" panose="02020503050405090304" charset="0"/>
                <a:ea typeface="思源黑体" panose="020B0400000000000000" charset="-122"/>
                <a:cs typeface="+mn-ea"/>
                <a:sym typeface="+mn-lt"/>
              </a:rPr>
              <a:t> 40 </a:t>
            </a:r>
            <a:r>
              <a:rPr lang="zh-CN" altLang="en-US" sz="1600" spc="40" dirty="0">
                <a:solidFill>
                  <a:srgbClr val="314371"/>
                </a:solidFill>
                <a:latin typeface="Times New Roman" panose="02020503050405090304" charset="0"/>
                <a:ea typeface="思源黑体" panose="020B0400000000000000" charset="-122"/>
                <a:cs typeface="+mn-ea"/>
                <a:sym typeface="+mn-lt"/>
              </a:rPr>
              <a:t>分钟缩短至</a:t>
            </a:r>
            <a:r>
              <a:rPr lang="en-US" altLang="zh-CN" sz="1600" spc="40" dirty="0">
                <a:solidFill>
                  <a:srgbClr val="314371"/>
                </a:solidFill>
                <a:latin typeface="Times New Roman" panose="02020503050405090304" charset="0"/>
                <a:ea typeface="思源黑体" panose="020B0400000000000000" charset="-122"/>
                <a:cs typeface="+mn-ea"/>
                <a:sym typeface="+mn-lt"/>
              </a:rPr>
              <a:t> 8 </a:t>
            </a:r>
            <a:r>
              <a:rPr lang="zh-CN" altLang="en-US" sz="1600" spc="40" dirty="0">
                <a:solidFill>
                  <a:srgbClr val="314371"/>
                </a:solidFill>
                <a:latin typeface="Times New Roman" panose="02020503050405090304" charset="0"/>
                <a:ea typeface="思源黑体" panose="020B0400000000000000" charset="-122"/>
                <a:cs typeface="+mn-ea"/>
                <a:sym typeface="+mn-lt"/>
              </a:rPr>
              <a:t>分钟，某患者手术中借助</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三维成像技术精准切除</a:t>
            </a:r>
            <a:r>
              <a:rPr lang="en-US" altLang="zh-CN" sz="1600" spc="40" dirty="0">
                <a:solidFill>
                  <a:srgbClr val="314371"/>
                </a:solidFill>
                <a:latin typeface="Times New Roman" panose="02020503050405090304" charset="0"/>
                <a:ea typeface="思源黑体" panose="020B0400000000000000" charset="-122"/>
                <a:cs typeface="+mn-ea"/>
                <a:sym typeface="+mn-lt"/>
              </a:rPr>
              <a:t> 10 </a:t>
            </a:r>
            <a:r>
              <a:rPr lang="zh-CN" altLang="en-US" sz="1600" spc="40" dirty="0">
                <a:solidFill>
                  <a:srgbClr val="314371"/>
                </a:solidFill>
                <a:latin typeface="Times New Roman" panose="02020503050405090304" charset="0"/>
                <a:ea typeface="思源黑体" panose="020B0400000000000000" charset="-122"/>
                <a:cs typeface="+mn-ea"/>
                <a:sym typeface="+mn-lt"/>
              </a:rPr>
              <a:t>个早期肺癌结节，准确率</a:t>
            </a:r>
            <a:r>
              <a:rPr lang="en-US" altLang="zh-CN" sz="1600" spc="40" dirty="0">
                <a:solidFill>
                  <a:srgbClr val="314371"/>
                </a:solidFill>
                <a:latin typeface="Times New Roman" panose="02020503050405090304" charset="0"/>
                <a:ea typeface="思源黑体" panose="020B0400000000000000" charset="-122"/>
                <a:cs typeface="+mn-ea"/>
                <a:sym typeface="+mn-lt"/>
              </a:rPr>
              <a:t> 100%</a:t>
            </a:r>
            <a:r>
              <a:rPr lang="zh-CN" altLang="en-US"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3. </a:t>
            </a:r>
            <a:r>
              <a:rPr lang="zh-CN" altLang="en-US" sz="1800" b="1" spc="40" dirty="0">
                <a:solidFill>
                  <a:srgbClr val="314371"/>
                </a:solidFill>
                <a:latin typeface="Times New Roman" panose="02020503050405090304" charset="0"/>
                <a:ea typeface="思源黑体" panose="020B0400000000000000" charset="-122"/>
                <a:cs typeface="+mn-ea"/>
                <a:sym typeface="+mn-lt"/>
              </a:rPr>
              <a:t>信息传播与沟通突破</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智能翻译工具：谷歌翻译</a:t>
            </a:r>
            <a:r>
              <a:rPr lang="en-US" altLang="zh-CN" sz="1600" spc="40" dirty="0">
                <a:solidFill>
                  <a:srgbClr val="314371"/>
                </a:solidFill>
                <a:latin typeface="Times New Roman" panose="02020503050405090304" charset="0"/>
                <a:ea typeface="思源黑体" panose="020B0400000000000000" charset="-122"/>
                <a:cs typeface="+mn-ea"/>
                <a:sym typeface="+mn-lt"/>
              </a:rPr>
              <a:t> 2024 </a:t>
            </a:r>
            <a:r>
              <a:rPr lang="zh-CN" altLang="en-US" sz="1600" spc="40" dirty="0">
                <a:solidFill>
                  <a:srgbClr val="314371"/>
                </a:solidFill>
                <a:latin typeface="Times New Roman" panose="02020503050405090304" charset="0"/>
                <a:ea typeface="思源黑体" panose="020B0400000000000000" charset="-122"/>
                <a:cs typeface="+mn-ea"/>
                <a:sym typeface="+mn-lt"/>
              </a:rPr>
              <a:t>年新增</a:t>
            </a:r>
            <a:r>
              <a:rPr lang="en-US" altLang="zh-CN" sz="1600" spc="40" dirty="0">
                <a:solidFill>
                  <a:srgbClr val="314371"/>
                </a:solidFill>
                <a:latin typeface="Times New Roman" panose="02020503050405090304" charset="0"/>
                <a:ea typeface="思源黑体" panose="020B0400000000000000" charset="-122"/>
                <a:cs typeface="+mn-ea"/>
                <a:sym typeface="+mn-lt"/>
              </a:rPr>
              <a:t> 110 </a:t>
            </a:r>
            <a:r>
              <a:rPr lang="zh-CN" altLang="en-US" sz="1600" spc="40" dirty="0">
                <a:solidFill>
                  <a:srgbClr val="314371"/>
                </a:solidFill>
                <a:latin typeface="Times New Roman" panose="02020503050405090304" charset="0"/>
                <a:ea typeface="思源黑体" panose="020B0400000000000000" charset="-122"/>
                <a:cs typeface="+mn-ea"/>
                <a:sym typeface="+mn-lt"/>
              </a:rPr>
              <a:t>种语言支持，累计覆盖</a:t>
            </a:r>
            <a:r>
              <a:rPr lang="en-US" altLang="zh-CN" sz="1600" spc="40" dirty="0">
                <a:solidFill>
                  <a:srgbClr val="314371"/>
                </a:solidFill>
                <a:latin typeface="Times New Roman" panose="02020503050405090304" charset="0"/>
                <a:ea typeface="思源黑体" panose="020B0400000000000000" charset="-122"/>
                <a:cs typeface="+mn-ea"/>
                <a:sym typeface="+mn-lt"/>
              </a:rPr>
              <a:t> 240 </a:t>
            </a:r>
            <a:r>
              <a:rPr lang="zh-CN" altLang="en-US" sz="1600" spc="40" dirty="0">
                <a:solidFill>
                  <a:srgbClr val="314371"/>
                </a:solidFill>
                <a:latin typeface="Times New Roman" panose="02020503050405090304" charset="0"/>
                <a:ea typeface="思源黑体" panose="020B0400000000000000" charset="-122"/>
                <a:cs typeface="+mn-ea"/>
                <a:sym typeface="+mn-lt"/>
              </a:rPr>
              <a:t>余种语言，跨境商务沟通效率提升</a:t>
            </a:r>
            <a:r>
              <a:rPr lang="en-US" altLang="zh-CN" sz="1600" spc="40" dirty="0">
                <a:solidFill>
                  <a:srgbClr val="314371"/>
                </a:solidFill>
                <a:latin typeface="Times New Roman" panose="02020503050405090304" charset="0"/>
                <a:ea typeface="思源黑体" panose="020B0400000000000000" charset="-122"/>
                <a:cs typeface="+mn-ea"/>
                <a:sym typeface="+mn-lt"/>
              </a:rPr>
              <a:t> 58%</a:t>
            </a:r>
            <a:r>
              <a:rPr lang="zh-CN" altLang="en-US" sz="1600" spc="40" dirty="0">
                <a:solidFill>
                  <a:srgbClr val="314371"/>
                </a:solidFill>
                <a:latin typeface="Times New Roman" panose="02020503050405090304" charset="0"/>
                <a:ea typeface="思源黑体" panose="020B0400000000000000" charset="-122"/>
                <a:cs typeface="+mn-ea"/>
                <a:sym typeface="+mn-lt"/>
              </a:rPr>
              <a:t>，全球月活跃用户超</a:t>
            </a:r>
            <a:r>
              <a:rPr lang="en-US" altLang="zh-CN" sz="1600" spc="40" dirty="0">
                <a:solidFill>
                  <a:srgbClr val="314371"/>
                </a:solidFill>
                <a:latin typeface="Times New Roman" panose="02020503050405090304" charset="0"/>
                <a:ea typeface="思源黑体" panose="020B0400000000000000" charset="-122"/>
                <a:cs typeface="+mn-ea"/>
                <a:sym typeface="+mn-lt"/>
              </a:rPr>
              <a:t> 5.2 </a:t>
            </a:r>
            <a:r>
              <a:rPr lang="zh-CN" altLang="en-US" sz="1600" spc="40" dirty="0">
                <a:solidFill>
                  <a:srgbClr val="314371"/>
                </a:solidFill>
                <a:latin typeface="Times New Roman" panose="02020503050405090304" charset="0"/>
                <a:ea typeface="思源黑体" panose="020B0400000000000000" charset="-122"/>
                <a:cs typeface="+mn-ea"/>
                <a:sym typeface="+mn-lt"/>
              </a:rPr>
              <a:t>亿。</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远程协作：飞书多维表格</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功能（智能会议纪要、跨时区日程匹配）上线后，相关功能用户量较疫情前增长</a:t>
            </a:r>
            <a:r>
              <a:rPr lang="en-US" altLang="zh-CN" sz="1600" spc="40" dirty="0">
                <a:solidFill>
                  <a:srgbClr val="314371"/>
                </a:solidFill>
                <a:latin typeface="Times New Roman" panose="02020503050405090304" charset="0"/>
                <a:ea typeface="思源黑体" panose="020B0400000000000000" charset="-122"/>
                <a:cs typeface="+mn-ea"/>
                <a:sym typeface="+mn-lt"/>
              </a:rPr>
              <a:t> 270%</a:t>
            </a:r>
            <a:r>
              <a:rPr lang="zh-CN" altLang="en-US"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2024 </a:t>
            </a:r>
            <a:r>
              <a:rPr lang="zh-CN" altLang="en-US" sz="1600" spc="40" dirty="0">
                <a:solidFill>
                  <a:srgbClr val="314371"/>
                </a:solidFill>
                <a:latin typeface="Times New Roman" panose="02020503050405090304" charset="0"/>
                <a:ea typeface="思源黑体" panose="020B0400000000000000" charset="-122"/>
                <a:cs typeface="+mn-ea"/>
                <a:sym typeface="+mn-lt"/>
              </a:rPr>
              <a:t>年月活跃用户突破</a:t>
            </a:r>
            <a:r>
              <a:rPr lang="en-US" altLang="zh-CN" sz="1600" spc="40" dirty="0">
                <a:solidFill>
                  <a:srgbClr val="314371"/>
                </a:solidFill>
                <a:latin typeface="Times New Roman" panose="02020503050405090304" charset="0"/>
                <a:ea typeface="思源黑体" panose="020B0400000000000000" charset="-122"/>
                <a:cs typeface="+mn-ea"/>
                <a:sym typeface="+mn-lt"/>
              </a:rPr>
              <a:t> 600 </a:t>
            </a:r>
            <a:r>
              <a:rPr lang="zh-CN" altLang="en-US" sz="1600" spc="40" dirty="0">
                <a:solidFill>
                  <a:srgbClr val="314371"/>
                </a:solidFill>
                <a:latin typeface="Times New Roman" panose="02020503050405090304" charset="0"/>
                <a:ea typeface="思源黑体" panose="020B0400000000000000" charset="-122"/>
                <a:cs typeface="+mn-ea"/>
                <a:sym typeface="+mn-lt"/>
              </a:rPr>
              <a:t>万。</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 name="文本框 3"/>
          <p:cNvSpPr txBox="1"/>
          <p:nvPr/>
        </p:nvSpPr>
        <p:spPr>
          <a:xfrm>
            <a:off x="524510" y="1167765"/>
            <a:ext cx="161544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社会层面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10" name="文本框 9"/>
          <p:cNvSpPr txBox="1"/>
          <p:nvPr/>
        </p:nvSpPr>
        <p:spPr>
          <a:xfrm>
            <a:off x="596900" y="1887855"/>
            <a:ext cx="6907530" cy="5062220"/>
          </a:xfrm>
          <a:prstGeom prst="rect">
            <a:avLst/>
          </a:prstGeom>
          <a:noFill/>
        </p:spPr>
        <p:txBody>
          <a:bodyPr wrap="square" rtlCol="0">
            <a:noAutofit/>
          </a:bodyPr>
          <a:lstStyle/>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1. </a:t>
            </a:r>
            <a:r>
              <a:rPr lang="zh-CN" altLang="en-US" sz="1800" b="1" spc="40" dirty="0">
                <a:solidFill>
                  <a:srgbClr val="314371"/>
                </a:solidFill>
                <a:latin typeface="Times New Roman" panose="02020503050405090304" charset="0"/>
                <a:ea typeface="思源黑体" panose="020B0400000000000000" charset="-122"/>
                <a:cs typeface="+mn-ea"/>
                <a:sym typeface="+mn-lt"/>
              </a:rPr>
              <a:t>就业结构冲击</a:t>
            </a:r>
            <a:r>
              <a:rPr lang="en-US" altLang="zh-CN" sz="1800" b="1" spc="40" dirty="0">
                <a:solidFill>
                  <a:srgbClr val="314371"/>
                </a:solidFill>
                <a:latin typeface="Times New Roman" panose="02020503050405090304" charset="0"/>
                <a:ea typeface="思源黑体" panose="020B0400000000000000" charset="-122"/>
                <a:cs typeface="+mn-ea"/>
                <a:sym typeface="+mn-lt"/>
              </a:rPr>
              <a:t>​</a:t>
            </a:r>
            <a:endParaRPr lang="en-US" altLang="zh-CN" sz="18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传统岗位替代</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制造业工人、客服、基础文员等面临失业风险</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技能鸿沟扩大</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中老年、低技能人群难以适应</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时代就业需求</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2. </a:t>
            </a:r>
            <a:r>
              <a:rPr lang="zh-CN" altLang="en-US" sz="1800" b="1" spc="40" dirty="0">
                <a:solidFill>
                  <a:srgbClr val="314371"/>
                </a:solidFill>
                <a:latin typeface="Times New Roman" panose="02020503050405090304" charset="0"/>
                <a:ea typeface="思源黑体" panose="020B0400000000000000" charset="-122"/>
                <a:cs typeface="+mn-ea"/>
                <a:sym typeface="+mn-lt"/>
              </a:rPr>
              <a:t>信息茧房与认知固化</a:t>
            </a:r>
            <a:r>
              <a:rPr lang="en-US" altLang="zh-CN" sz="1800" b="1" spc="40" dirty="0">
                <a:solidFill>
                  <a:srgbClr val="314371"/>
                </a:solidFill>
                <a:latin typeface="Times New Roman" panose="02020503050405090304" charset="0"/>
                <a:ea typeface="思源黑体" panose="020B0400000000000000" charset="-122"/>
                <a:cs typeface="+mn-ea"/>
                <a:sym typeface="+mn-lt"/>
              </a:rPr>
              <a:t>​</a:t>
            </a:r>
            <a:endParaRPr lang="en-US" altLang="zh-CN" sz="18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算法推送同质化内容，限制视野广度</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社交媒体</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回声室效应</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，加剧观点极化与社会撕裂</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3. </a:t>
            </a:r>
            <a:r>
              <a:rPr lang="zh-CN" altLang="en-US" sz="1800" b="1" spc="40" dirty="0">
                <a:solidFill>
                  <a:srgbClr val="314371"/>
                </a:solidFill>
                <a:latin typeface="Times New Roman" panose="02020503050405090304" charset="0"/>
                <a:ea typeface="思源黑体" panose="020B0400000000000000" charset="-122"/>
                <a:cs typeface="+mn-ea"/>
                <a:sym typeface="+mn-lt"/>
              </a:rPr>
              <a:t>隐私侵蚀与安全风险</a:t>
            </a:r>
            <a:r>
              <a:rPr lang="en-US" altLang="zh-CN" sz="1800" b="1" spc="40" dirty="0">
                <a:solidFill>
                  <a:srgbClr val="314371"/>
                </a:solidFill>
                <a:latin typeface="Times New Roman" panose="02020503050405090304" charset="0"/>
                <a:ea typeface="思源黑体" panose="020B0400000000000000" charset="-122"/>
                <a:cs typeface="+mn-ea"/>
                <a:sym typeface="+mn-lt"/>
              </a:rPr>
              <a:t>​</a:t>
            </a:r>
            <a:endParaRPr lang="en-US" altLang="zh-CN" sz="18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数据采集无孔不入</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消费记录、位置信息、行为偏好被过度收集</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数据泄露与滥用</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个人隐私沦为商业营销或恶意攻击的工具</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4. </a:t>
            </a:r>
            <a:r>
              <a:rPr lang="zh-CN" altLang="en-US" sz="1800" b="1" spc="40" dirty="0">
                <a:solidFill>
                  <a:srgbClr val="314371"/>
                </a:solidFill>
                <a:latin typeface="Times New Roman" panose="02020503050405090304" charset="0"/>
                <a:ea typeface="思源黑体" panose="020B0400000000000000" charset="-122"/>
                <a:cs typeface="+mn-ea"/>
                <a:sym typeface="+mn-lt"/>
              </a:rPr>
              <a:t>主体异化风险</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过度依赖</a:t>
            </a:r>
            <a:r>
              <a:rPr lang="en-US" altLang="zh-CN" sz="1600" spc="40" dirty="0">
                <a:solidFill>
                  <a:srgbClr val="314371"/>
                </a:solidFill>
                <a:latin typeface="Times New Roman" panose="02020503050405090304" charset="0"/>
                <a:ea typeface="思源黑体" panose="020B0400000000000000" charset="-122"/>
                <a:cs typeface="+mn-ea"/>
                <a:sym typeface="+mn-lt"/>
              </a:rPr>
              <a:t> AI：</a:t>
            </a:r>
            <a:r>
              <a:rPr lang="zh-CN" altLang="en-US" sz="1600" spc="40" dirty="0">
                <a:solidFill>
                  <a:srgbClr val="314371"/>
                </a:solidFill>
                <a:latin typeface="Times New Roman" panose="02020503050405090304" charset="0"/>
                <a:ea typeface="思源黑体" panose="020B0400000000000000" charset="-122"/>
                <a:cs typeface="+mn-ea"/>
                <a:sym typeface="+mn-lt"/>
              </a:rPr>
              <a:t>决策能力、独立思考能力退化（如依赖导航迷失方向）</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算法偏见固化不公：招聘、信贷等场景中，算法可能复刻性别、种族歧视</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60" name="图片 59"/>
          <p:cNvPicPr>
            <a:picLocks noChangeAspect="1"/>
          </p:cNvPicPr>
          <p:nvPr/>
        </p:nvPicPr>
        <p:blipFill>
          <a:blip r:embed="rId2"/>
          <a:stretch>
            <a:fillRect/>
          </a:stretch>
        </p:blipFill>
        <p:spPr>
          <a:xfrm>
            <a:off x="7581265" y="2823845"/>
            <a:ext cx="4097655" cy="31286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22193"/>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6092266"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8" name="TextBox 9"/>
          <p:cNvSpPr txBox="1"/>
          <p:nvPr/>
        </p:nvSpPr>
        <p:spPr>
          <a:xfrm>
            <a:off x="632854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rgbClr val="7F7F7F"/>
              </a:solidFill>
              <a:latin typeface="Times New Roman" panose="02020503050405090304" charset="0"/>
              <a:ea typeface="思源黑体" panose="020B0400000000000000" charset="-122"/>
              <a:cs typeface="+mn-ea"/>
              <a:sym typeface="+mn-lt"/>
            </a:endParaRPr>
          </a:p>
        </p:txBody>
      </p:sp>
      <p:sp>
        <p:nvSpPr>
          <p:cNvPr id="39" name="TextBox 10"/>
          <p:cNvSpPr txBox="1"/>
          <p:nvPr/>
        </p:nvSpPr>
        <p:spPr>
          <a:xfrm>
            <a:off x="8686001" y="213365"/>
            <a:ext cx="1606098"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社</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会</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变</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革</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54145" y="213365"/>
            <a:ext cx="1683136"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思</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考</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与</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结</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论</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4" name="文本框 3"/>
          <p:cNvSpPr txBox="1"/>
          <p:nvPr/>
        </p:nvSpPr>
        <p:spPr>
          <a:xfrm>
            <a:off x="524510" y="1167765"/>
            <a:ext cx="161544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社会层面</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8" name="文本框 7"/>
          <p:cNvSpPr txBox="1"/>
          <p:nvPr/>
        </p:nvSpPr>
        <p:spPr>
          <a:xfrm>
            <a:off x="381000" y="1659255"/>
            <a:ext cx="11962130" cy="5397500"/>
          </a:xfrm>
          <a:prstGeom prst="rect">
            <a:avLst/>
          </a:prstGeom>
          <a:noFill/>
        </p:spPr>
        <p:txBody>
          <a:bodyPr wrap="square" rtlCol="0">
            <a:noAutofit/>
          </a:bodyPr>
          <a:lstStyle/>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1. </a:t>
            </a:r>
            <a:r>
              <a:rPr lang="zh-CN" altLang="en-US" sz="1800" b="1" spc="40" dirty="0">
                <a:solidFill>
                  <a:srgbClr val="314371"/>
                </a:solidFill>
                <a:latin typeface="Times New Roman" panose="02020503050405090304" charset="0"/>
                <a:ea typeface="思源黑体" panose="020B0400000000000000" charset="-122"/>
                <a:cs typeface="+mn-ea"/>
                <a:sym typeface="+mn-lt"/>
              </a:rPr>
              <a:t>优点与缺点的本质</a:t>
            </a:r>
            <a:r>
              <a:rPr lang="zh-CN" altLang="en-US" sz="18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本身无</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善恶</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属性，其对社会的影响取决于</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人与技术的互动模式</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当技术服务于人的需求时，便释放效率价值；当技术脱离人文约束时，便滋生风险隐患。</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2. </a:t>
            </a:r>
            <a:r>
              <a:rPr lang="zh-CN" altLang="en-US" sz="1800" b="1" spc="40" dirty="0">
                <a:solidFill>
                  <a:srgbClr val="314371"/>
                </a:solidFill>
                <a:latin typeface="Times New Roman" panose="02020503050405090304" charset="0"/>
                <a:ea typeface="思源黑体" panose="020B0400000000000000" charset="-122"/>
                <a:cs typeface="+mn-ea"/>
                <a:sym typeface="+mn-lt"/>
              </a:rPr>
              <a:t>应对方向（政策层面）：</a:t>
            </a:r>
            <a:r>
              <a:rPr lang="en-US" altLang="zh-CN" sz="1600" b="1" spc="40" dirty="0">
                <a:solidFill>
                  <a:srgbClr val="314371"/>
                </a:solidFill>
                <a:latin typeface="Times New Roman" panose="02020503050405090304" charset="0"/>
                <a:ea typeface="思源黑体" panose="020B0400000000000000" charset="-122"/>
                <a:cs typeface="+mn-ea"/>
                <a:sym typeface="+mn-lt"/>
              </a:rPr>
              <a:t>​</a:t>
            </a:r>
            <a:endParaRPr lang="en-US" altLang="zh-CN" sz="1600" b="1"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600" b="1" spc="40" dirty="0">
                <a:solidFill>
                  <a:srgbClr val="314371"/>
                </a:solidFill>
                <a:latin typeface="Times New Roman" panose="02020503050405090304" charset="0"/>
                <a:ea typeface="思源黑体" panose="020B0400000000000000" charset="-122"/>
                <a:cs typeface="+mn-ea"/>
                <a:sym typeface="+mn-lt"/>
              </a:rPr>
              <a:t>a. </a:t>
            </a:r>
            <a:r>
              <a:rPr lang="zh-CN" altLang="en-US" sz="1600" b="1" spc="40" dirty="0">
                <a:solidFill>
                  <a:srgbClr val="314371"/>
                </a:solidFill>
                <a:latin typeface="Times New Roman" panose="02020503050405090304" charset="0"/>
                <a:ea typeface="思源黑体" panose="020B0400000000000000" charset="-122"/>
                <a:cs typeface="+mn-ea"/>
                <a:sym typeface="+mn-lt"/>
              </a:rPr>
              <a:t>隐私保护：</a:t>
            </a:r>
            <a:r>
              <a:rPr lang="zh-CN" altLang="en-US" sz="1600" spc="40" dirty="0">
                <a:solidFill>
                  <a:srgbClr val="314371"/>
                </a:solidFill>
                <a:latin typeface="Times New Roman" panose="02020503050405090304" charset="0"/>
                <a:ea typeface="思源黑体" panose="020B0400000000000000" charset="-122"/>
                <a:cs typeface="+mn-ea"/>
                <a:sym typeface="+mn-lt"/>
              </a:rPr>
              <a:t>完善《个人信息保护法》配套细则，建立</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数据分级分类管理</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机制（如敏感数据需双重授权），</a:t>
            </a:r>
            <a:r>
              <a:rPr lang="en-US" altLang="zh-CN" sz="1600" spc="40" dirty="0">
                <a:solidFill>
                  <a:srgbClr val="314371"/>
                </a:solidFill>
                <a:latin typeface="Times New Roman" panose="02020503050405090304" charset="0"/>
                <a:ea typeface="思源黑体" panose="020B0400000000000000" charset="-122"/>
                <a:cs typeface="+mn-ea"/>
                <a:sym typeface="+mn-lt"/>
              </a:rPr>
              <a:t>2024 </a:t>
            </a:r>
            <a:r>
              <a:rPr lang="zh-CN" altLang="en-US" sz="1600" spc="40" dirty="0">
                <a:solidFill>
                  <a:srgbClr val="314371"/>
                </a:solidFill>
                <a:latin typeface="Times New Roman" panose="02020503050405090304" charset="0"/>
                <a:ea typeface="思源黑体" panose="020B0400000000000000" charset="-122"/>
                <a:cs typeface="+mn-ea"/>
                <a:sym typeface="+mn-lt"/>
              </a:rPr>
              <a:t>年已有</a:t>
            </a:r>
            <a:r>
              <a:rPr lang="en-US" altLang="zh-CN" sz="1600" spc="40" dirty="0">
                <a:solidFill>
                  <a:srgbClr val="314371"/>
                </a:solidFill>
                <a:latin typeface="Times New Roman" panose="02020503050405090304" charset="0"/>
                <a:ea typeface="思源黑体" panose="020B0400000000000000" charset="-122"/>
                <a:cs typeface="+mn-ea"/>
                <a:sym typeface="+mn-lt"/>
              </a:rPr>
              <a:t> 12 </a:t>
            </a:r>
            <a:r>
              <a:rPr lang="zh-CN" altLang="en-US" sz="1600" spc="40" dirty="0">
                <a:solidFill>
                  <a:srgbClr val="314371"/>
                </a:solidFill>
                <a:latin typeface="Times New Roman" panose="02020503050405090304" charset="0"/>
                <a:ea typeface="思源黑体" panose="020B0400000000000000" charset="-122"/>
                <a:cs typeface="+mn-ea"/>
                <a:sym typeface="+mn-lt"/>
              </a:rPr>
              <a:t>省市试点</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数据合规审查平台，查处违规企业超</a:t>
            </a:r>
            <a:r>
              <a:rPr lang="en-US" altLang="zh-CN" sz="1600" spc="40" dirty="0">
                <a:solidFill>
                  <a:srgbClr val="314371"/>
                </a:solidFill>
                <a:latin typeface="Times New Roman" panose="02020503050405090304" charset="0"/>
                <a:ea typeface="思源黑体" panose="020B0400000000000000" charset="-122"/>
                <a:cs typeface="+mn-ea"/>
                <a:sym typeface="+mn-lt"/>
              </a:rPr>
              <a:t> 500 </a:t>
            </a:r>
            <a:r>
              <a:rPr lang="zh-CN" altLang="en-US" sz="1600" spc="40" dirty="0">
                <a:solidFill>
                  <a:srgbClr val="314371"/>
                </a:solidFill>
                <a:latin typeface="Times New Roman" panose="02020503050405090304" charset="0"/>
                <a:ea typeface="思源黑体" panose="020B0400000000000000" charset="-122"/>
                <a:cs typeface="+mn-ea"/>
                <a:sym typeface="+mn-lt"/>
              </a:rPr>
              <a:t>家</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600" b="1" spc="40" dirty="0">
                <a:solidFill>
                  <a:srgbClr val="314371"/>
                </a:solidFill>
                <a:latin typeface="Times New Roman" panose="02020503050405090304" charset="0"/>
                <a:ea typeface="思源黑体" panose="020B0400000000000000" charset="-122"/>
                <a:cs typeface="+mn-ea"/>
                <a:sym typeface="+mn-lt"/>
              </a:rPr>
              <a:t>b. </a:t>
            </a:r>
            <a:r>
              <a:rPr lang="zh-CN" altLang="en-US" sz="1600" b="1" spc="40" dirty="0">
                <a:solidFill>
                  <a:srgbClr val="314371"/>
                </a:solidFill>
                <a:latin typeface="Times New Roman" panose="02020503050405090304" charset="0"/>
                <a:ea typeface="思源黑体" panose="020B0400000000000000" charset="-122"/>
                <a:cs typeface="+mn-ea"/>
                <a:sym typeface="+mn-lt"/>
              </a:rPr>
              <a:t>算法治理：</a:t>
            </a:r>
            <a:r>
              <a:rPr lang="zh-CN" altLang="en-US" sz="1600" spc="40" dirty="0">
                <a:solidFill>
                  <a:srgbClr val="314371"/>
                </a:solidFill>
                <a:latin typeface="Times New Roman" panose="02020503050405090304" charset="0"/>
                <a:ea typeface="思源黑体" panose="020B0400000000000000" charset="-122"/>
                <a:cs typeface="+mn-ea"/>
                <a:sym typeface="+mn-lt"/>
              </a:rPr>
              <a:t>成立</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跨领域算法审查委员会</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（含技术专家、法律学者、公众代表），对招聘、信贷、医疗等高风险领域</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系统实施</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事前备案</a:t>
            </a:r>
            <a:r>
              <a:rPr lang="en-US" altLang="zh-CN" sz="1600" spc="40" dirty="0">
                <a:solidFill>
                  <a:srgbClr val="314371"/>
                </a:solidFill>
                <a:latin typeface="Times New Roman" panose="02020503050405090304" charset="0"/>
                <a:ea typeface="思源黑体" panose="020B0400000000000000" charset="-122"/>
                <a:cs typeface="+mn-ea"/>
                <a:sym typeface="+mn-lt"/>
              </a:rPr>
              <a:t> + </a:t>
            </a:r>
            <a:r>
              <a:rPr lang="zh-CN" altLang="en-US" sz="1600" spc="40" dirty="0">
                <a:solidFill>
                  <a:srgbClr val="314371"/>
                </a:solidFill>
                <a:latin typeface="Times New Roman" panose="02020503050405090304" charset="0"/>
                <a:ea typeface="思源黑体" panose="020B0400000000000000" charset="-122"/>
                <a:cs typeface="+mn-ea"/>
                <a:sym typeface="+mn-lt"/>
              </a:rPr>
              <a:t>事后评估</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2025 </a:t>
            </a:r>
            <a:r>
              <a:rPr lang="zh-CN" altLang="en-US" sz="1600" spc="40" dirty="0">
                <a:solidFill>
                  <a:srgbClr val="314371"/>
                </a:solidFill>
                <a:latin typeface="Times New Roman" panose="02020503050405090304" charset="0"/>
                <a:ea typeface="思源黑体" panose="020B0400000000000000" charset="-122"/>
                <a:cs typeface="+mn-ea"/>
                <a:sym typeface="+mn-lt"/>
              </a:rPr>
              <a:t>年将实现重点行业算法透明化率超</a:t>
            </a:r>
            <a:r>
              <a:rPr lang="en-US" altLang="zh-CN" sz="1600" spc="40" dirty="0">
                <a:solidFill>
                  <a:srgbClr val="314371"/>
                </a:solidFill>
                <a:latin typeface="Times New Roman" panose="02020503050405090304" charset="0"/>
                <a:ea typeface="思源黑体" panose="020B0400000000000000" charset="-122"/>
                <a:cs typeface="+mn-ea"/>
                <a:sym typeface="+mn-lt"/>
              </a:rPr>
              <a:t> 60%​</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600" b="1" spc="40" dirty="0">
                <a:solidFill>
                  <a:srgbClr val="314371"/>
                </a:solidFill>
                <a:latin typeface="Times New Roman" panose="02020503050405090304" charset="0"/>
                <a:ea typeface="思源黑体" panose="020B0400000000000000" charset="-122"/>
                <a:cs typeface="+mn-ea"/>
                <a:sym typeface="+mn-lt"/>
              </a:rPr>
              <a:t>c. </a:t>
            </a:r>
            <a:r>
              <a:rPr lang="zh-CN" altLang="en-US" sz="1600" b="1" spc="40" dirty="0">
                <a:solidFill>
                  <a:srgbClr val="314371"/>
                </a:solidFill>
                <a:latin typeface="Times New Roman" panose="02020503050405090304" charset="0"/>
                <a:ea typeface="思源黑体" panose="020B0400000000000000" charset="-122"/>
                <a:cs typeface="+mn-ea"/>
                <a:sym typeface="+mn-lt"/>
              </a:rPr>
              <a:t>就业保障</a:t>
            </a:r>
            <a:r>
              <a:rPr lang="zh-CN" altLang="en-US" sz="1600" spc="40" dirty="0">
                <a:solidFill>
                  <a:srgbClr val="314371"/>
                </a:solidFill>
                <a:latin typeface="Times New Roman" panose="02020503050405090304" charset="0"/>
                <a:ea typeface="思源黑体" panose="020B0400000000000000" charset="-122"/>
                <a:cs typeface="+mn-ea"/>
                <a:sym typeface="+mn-lt"/>
              </a:rPr>
              <a:t>：推动</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政府</a:t>
            </a:r>
            <a:r>
              <a:rPr lang="en-US" altLang="zh-CN" sz="1600" spc="40" dirty="0">
                <a:solidFill>
                  <a:srgbClr val="314371"/>
                </a:solidFill>
                <a:latin typeface="Times New Roman" panose="02020503050405090304" charset="0"/>
                <a:ea typeface="思源黑体" panose="020B0400000000000000" charset="-122"/>
                <a:cs typeface="+mn-ea"/>
                <a:sym typeface="+mn-lt"/>
              </a:rPr>
              <a:t> - </a:t>
            </a:r>
            <a:r>
              <a:rPr lang="zh-CN" altLang="en-US" sz="1600" spc="40" dirty="0">
                <a:solidFill>
                  <a:srgbClr val="314371"/>
                </a:solidFill>
                <a:latin typeface="Times New Roman" panose="02020503050405090304" charset="0"/>
                <a:ea typeface="思源黑体" panose="020B0400000000000000" charset="-122"/>
                <a:cs typeface="+mn-ea"/>
                <a:sym typeface="+mn-lt"/>
              </a:rPr>
              <a:t>企业</a:t>
            </a:r>
            <a:r>
              <a:rPr lang="en-US" altLang="zh-CN" sz="1600" spc="40" dirty="0">
                <a:solidFill>
                  <a:srgbClr val="314371"/>
                </a:solidFill>
                <a:latin typeface="Times New Roman" panose="02020503050405090304" charset="0"/>
                <a:ea typeface="思源黑体" panose="020B0400000000000000" charset="-122"/>
                <a:cs typeface="+mn-ea"/>
                <a:sym typeface="+mn-lt"/>
              </a:rPr>
              <a:t> - </a:t>
            </a:r>
            <a:r>
              <a:rPr lang="zh-CN" altLang="en-US" sz="1600" spc="40" dirty="0">
                <a:solidFill>
                  <a:srgbClr val="314371"/>
                </a:solidFill>
                <a:latin typeface="Times New Roman" panose="02020503050405090304" charset="0"/>
                <a:ea typeface="思源黑体" panose="020B0400000000000000" charset="-122"/>
                <a:cs typeface="+mn-ea"/>
                <a:sym typeface="+mn-lt"/>
              </a:rPr>
              <a:t>高校</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三方培训体系，针对制造业工人开设</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设备运维</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专项课程（</a:t>
            </a:r>
            <a:r>
              <a:rPr lang="en-US" altLang="zh-CN" sz="1600" spc="40" dirty="0">
                <a:solidFill>
                  <a:srgbClr val="314371"/>
                </a:solidFill>
                <a:latin typeface="Times New Roman" panose="02020503050405090304" charset="0"/>
                <a:ea typeface="思源黑体" panose="020B0400000000000000" charset="-122"/>
                <a:cs typeface="+mn-ea"/>
                <a:sym typeface="+mn-lt"/>
              </a:rPr>
              <a:t>2024 </a:t>
            </a:r>
            <a:r>
              <a:rPr lang="zh-CN" altLang="en-US" sz="1600" spc="40" dirty="0">
                <a:solidFill>
                  <a:srgbClr val="314371"/>
                </a:solidFill>
                <a:latin typeface="Times New Roman" panose="02020503050405090304" charset="0"/>
                <a:ea typeface="思源黑体" panose="020B0400000000000000" charset="-122"/>
                <a:cs typeface="+mn-ea"/>
                <a:sym typeface="+mn-lt"/>
              </a:rPr>
              <a:t>年培训超</a:t>
            </a:r>
            <a:r>
              <a:rPr lang="en-US" altLang="zh-CN" sz="1600" spc="40" dirty="0">
                <a:solidFill>
                  <a:srgbClr val="314371"/>
                </a:solidFill>
                <a:latin typeface="Times New Roman" panose="02020503050405090304" charset="0"/>
                <a:ea typeface="思源黑体" panose="020B0400000000000000" charset="-122"/>
                <a:cs typeface="+mn-ea"/>
                <a:sym typeface="+mn-lt"/>
              </a:rPr>
              <a:t> 20 </a:t>
            </a:r>
            <a:r>
              <a:rPr lang="zh-CN" altLang="en-US" sz="1600" spc="40" dirty="0">
                <a:solidFill>
                  <a:srgbClr val="314371"/>
                </a:solidFill>
                <a:latin typeface="Times New Roman" panose="02020503050405090304" charset="0"/>
                <a:ea typeface="思源黑体" panose="020B0400000000000000" charset="-122"/>
                <a:cs typeface="+mn-ea"/>
                <a:sym typeface="+mn-lt"/>
              </a:rPr>
              <a:t>万人次），为中老年群体提供</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数字技能公益课堂</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，补贴率达</a:t>
            </a:r>
            <a:r>
              <a:rPr lang="en-US" altLang="zh-CN" sz="1600" spc="40" dirty="0">
                <a:solidFill>
                  <a:srgbClr val="314371"/>
                </a:solidFill>
                <a:latin typeface="Times New Roman" panose="02020503050405090304" charset="0"/>
                <a:ea typeface="思源黑体" panose="020B0400000000000000" charset="-122"/>
                <a:cs typeface="+mn-ea"/>
                <a:sym typeface="+mn-lt"/>
              </a:rPr>
              <a:t> 80%​</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800" b="1" spc="40" dirty="0">
                <a:solidFill>
                  <a:srgbClr val="314371"/>
                </a:solidFill>
                <a:latin typeface="Times New Roman" panose="02020503050405090304" charset="0"/>
                <a:ea typeface="思源黑体" panose="020B0400000000000000" charset="-122"/>
                <a:cs typeface="+mn-ea"/>
                <a:sym typeface="+mn-lt"/>
              </a:rPr>
              <a:t>3. </a:t>
            </a:r>
            <a:r>
              <a:rPr lang="zh-CN" altLang="en-US" sz="1800" b="1" spc="40" dirty="0">
                <a:solidFill>
                  <a:srgbClr val="314371"/>
                </a:solidFill>
                <a:latin typeface="Times New Roman" panose="02020503050405090304" charset="0"/>
                <a:ea typeface="思源黑体" panose="020B0400000000000000" charset="-122"/>
                <a:cs typeface="+mn-ea"/>
                <a:sym typeface="+mn-lt"/>
              </a:rPr>
              <a:t>应对方向（个人层面）</a:t>
            </a:r>
            <a:r>
              <a:rPr lang="zh-CN" altLang="en-US" sz="1600" b="1" spc="40" dirty="0">
                <a:solidFill>
                  <a:srgbClr val="314371"/>
                </a:solidFill>
                <a:latin typeface="Times New Roman" panose="02020503050405090304" charset="0"/>
                <a:ea typeface="思源黑体" panose="020B0400000000000000" charset="-122"/>
                <a:cs typeface="+mn-ea"/>
                <a:sym typeface="+mn-lt"/>
              </a:rPr>
              <a:t>：</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600" b="1" spc="40" dirty="0">
                <a:solidFill>
                  <a:srgbClr val="314371"/>
                </a:solidFill>
                <a:latin typeface="Times New Roman" panose="02020503050405090304" charset="0"/>
                <a:ea typeface="思源黑体" panose="020B0400000000000000" charset="-122"/>
                <a:cs typeface="+mn-ea"/>
                <a:sym typeface="+mn-lt"/>
              </a:rPr>
              <a:t>a. </a:t>
            </a:r>
            <a:r>
              <a:rPr lang="zh-CN" altLang="en-US" sz="1600" b="1" spc="40" dirty="0">
                <a:solidFill>
                  <a:srgbClr val="314371"/>
                </a:solidFill>
                <a:latin typeface="Times New Roman" panose="02020503050405090304" charset="0"/>
                <a:ea typeface="思源黑体" panose="020B0400000000000000" charset="-122"/>
                <a:cs typeface="+mn-ea"/>
                <a:sym typeface="+mn-lt"/>
              </a:rPr>
              <a:t>提升数字素养：</a:t>
            </a:r>
            <a:r>
              <a:rPr lang="zh-CN" altLang="en-US" sz="1600" spc="40" dirty="0">
                <a:solidFill>
                  <a:srgbClr val="314371"/>
                </a:solidFill>
                <a:latin typeface="Times New Roman" panose="02020503050405090304" charset="0"/>
                <a:ea typeface="思源黑体" panose="020B0400000000000000" charset="-122"/>
                <a:cs typeface="+mn-ea"/>
                <a:sym typeface="+mn-lt"/>
              </a:rPr>
              <a:t>主动学习《数据安全常识》（如关闭</a:t>
            </a:r>
            <a:r>
              <a:rPr lang="en-US" altLang="zh-CN" sz="1600" spc="40" dirty="0">
                <a:solidFill>
                  <a:srgbClr val="314371"/>
                </a:solidFill>
                <a:latin typeface="Times New Roman" panose="02020503050405090304" charset="0"/>
                <a:ea typeface="思源黑体" panose="020B0400000000000000" charset="-122"/>
                <a:cs typeface="+mn-ea"/>
                <a:sym typeface="+mn-lt"/>
              </a:rPr>
              <a:t> APP </a:t>
            </a:r>
            <a:r>
              <a:rPr lang="zh-CN" altLang="en-US" sz="1600" spc="40" dirty="0">
                <a:solidFill>
                  <a:srgbClr val="314371"/>
                </a:solidFill>
                <a:latin typeface="Times New Roman" panose="02020503050405090304" charset="0"/>
                <a:ea typeface="思源黑体" panose="020B0400000000000000" charset="-122"/>
                <a:cs typeface="+mn-ea"/>
                <a:sym typeface="+mn-lt"/>
              </a:rPr>
              <a:t>不必要权限、识别</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诈骗特征），通过官方平台（如国家中小学智慧教育平台）了解</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基本原理，避免</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技术盲从</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600" b="1" spc="40" dirty="0">
                <a:solidFill>
                  <a:srgbClr val="314371"/>
                </a:solidFill>
                <a:latin typeface="Times New Roman" panose="02020503050405090304" charset="0"/>
                <a:ea typeface="思源黑体" panose="020B0400000000000000" charset="-122"/>
                <a:cs typeface="+mn-ea"/>
                <a:sym typeface="+mn-lt"/>
              </a:rPr>
              <a:t>b. </a:t>
            </a:r>
            <a:r>
              <a:rPr lang="zh-CN" altLang="en-US" sz="1600" b="1" spc="40" dirty="0">
                <a:solidFill>
                  <a:srgbClr val="314371"/>
                </a:solidFill>
                <a:latin typeface="Times New Roman" panose="02020503050405090304" charset="0"/>
                <a:ea typeface="思源黑体" panose="020B0400000000000000" charset="-122"/>
                <a:cs typeface="+mn-ea"/>
                <a:sym typeface="+mn-lt"/>
              </a:rPr>
              <a:t>保持独立思考：</a:t>
            </a:r>
            <a:r>
              <a:rPr lang="zh-CN" altLang="en-US" sz="1600" spc="40" dirty="0">
                <a:solidFill>
                  <a:srgbClr val="314371"/>
                </a:solidFill>
                <a:latin typeface="Times New Roman" panose="02020503050405090304" charset="0"/>
                <a:ea typeface="思源黑体" panose="020B0400000000000000" charset="-122"/>
                <a:cs typeface="+mn-ea"/>
                <a:sym typeface="+mn-lt"/>
              </a:rPr>
              <a:t>刻意打破信息茧房（如每周固定浏览</a:t>
            </a:r>
            <a:r>
              <a:rPr lang="en-US" altLang="zh-CN" sz="1600" spc="40" dirty="0">
                <a:solidFill>
                  <a:srgbClr val="314371"/>
                </a:solidFill>
                <a:latin typeface="Times New Roman" panose="02020503050405090304" charset="0"/>
                <a:ea typeface="思源黑体" panose="020B0400000000000000" charset="-122"/>
                <a:cs typeface="+mn-ea"/>
                <a:sym typeface="+mn-lt"/>
              </a:rPr>
              <a:t> 3 </a:t>
            </a:r>
            <a:r>
              <a:rPr lang="zh-CN" altLang="en-US" sz="1600" spc="40" dirty="0">
                <a:solidFill>
                  <a:srgbClr val="314371"/>
                </a:solidFill>
                <a:latin typeface="Times New Roman" panose="02020503050405090304" charset="0"/>
                <a:ea typeface="思源黑体" panose="020B0400000000000000" charset="-122"/>
                <a:cs typeface="+mn-ea"/>
                <a:sym typeface="+mn-lt"/>
              </a:rPr>
              <a:t>个不同观点的媒体平台），对重要决策（如职业选择、医疗方案）坚持</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参考</a:t>
            </a:r>
            <a:r>
              <a:rPr lang="en-US" altLang="zh-CN" sz="1600" spc="40" dirty="0">
                <a:solidFill>
                  <a:srgbClr val="314371"/>
                </a:solidFill>
                <a:latin typeface="Times New Roman" panose="02020503050405090304" charset="0"/>
                <a:ea typeface="思源黑体" panose="020B0400000000000000" charset="-122"/>
                <a:cs typeface="+mn-ea"/>
                <a:sym typeface="+mn-lt"/>
              </a:rPr>
              <a:t> + </a:t>
            </a:r>
            <a:r>
              <a:rPr lang="zh-CN" altLang="en-US" sz="1600" spc="40" dirty="0">
                <a:solidFill>
                  <a:srgbClr val="314371"/>
                </a:solidFill>
                <a:latin typeface="Times New Roman" panose="02020503050405090304" charset="0"/>
                <a:ea typeface="思源黑体" panose="020B0400000000000000" charset="-122"/>
                <a:cs typeface="+mn-ea"/>
                <a:sym typeface="+mn-lt"/>
              </a:rPr>
              <a:t>人工判断</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，不将关键选择权完全交予技术</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en-US" altLang="zh-CN"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r>
              <a:rPr lang="en-US" altLang="zh-CN" sz="1600" b="1" spc="40" dirty="0">
                <a:solidFill>
                  <a:srgbClr val="314371"/>
                </a:solidFill>
                <a:latin typeface="Times New Roman" panose="02020503050405090304" charset="0"/>
                <a:ea typeface="思源黑体" panose="020B0400000000000000" charset="-122"/>
                <a:cs typeface="+mn-ea"/>
                <a:sym typeface="+mn-lt"/>
              </a:rPr>
              <a:t>c. </a:t>
            </a:r>
            <a:r>
              <a:rPr lang="zh-CN" altLang="en-US" sz="1600" b="1" spc="40" dirty="0">
                <a:solidFill>
                  <a:srgbClr val="314371"/>
                </a:solidFill>
                <a:latin typeface="Times New Roman" panose="02020503050405090304" charset="0"/>
                <a:ea typeface="思源黑体" panose="020B0400000000000000" charset="-122"/>
                <a:cs typeface="+mn-ea"/>
                <a:sym typeface="+mn-lt"/>
              </a:rPr>
              <a:t>适应技术迭代：</a:t>
            </a:r>
            <a:r>
              <a:rPr lang="zh-CN" altLang="en-US" sz="1600" spc="40" dirty="0">
                <a:solidFill>
                  <a:srgbClr val="314371"/>
                </a:solidFill>
                <a:latin typeface="Times New Roman" panose="02020503050405090304" charset="0"/>
                <a:ea typeface="思源黑体" panose="020B0400000000000000" charset="-122"/>
                <a:cs typeface="+mn-ea"/>
                <a:sym typeface="+mn-lt"/>
              </a:rPr>
              <a:t>通过</a:t>
            </a:r>
            <a:r>
              <a:rPr lang="en-US" altLang="zh-CN" sz="1600" spc="40" dirty="0">
                <a:solidFill>
                  <a:srgbClr val="314371"/>
                </a:solidFill>
                <a:latin typeface="Times New Roman" panose="02020503050405090304" charset="0"/>
                <a:ea typeface="思源黑体" panose="020B0400000000000000" charset="-122"/>
                <a:cs typeface="+mn-ea"/>
                <a:sym typeface="+mn-lt"/>
              </a:rPr>
              <a:t> Coursera</a:t>
            </a:r>
            <a:r>
              <a:rPr lang="zh-CN" altLang="en-US" sz="1600" spc="40" dirty="0">
                <a:solidFill>
                  <a:srgbClr val="314371"/>
                </a:solidFill>
                <a:latin typeface="Times New Roman" panose="02020503050405090304" charset="0"/>
                <a:ea typeface="思源黑体" panose="020B0400000000000000" charset="-122"/>
                <a:cs typeface="+mn-ea"/>
                <a:sym typeface="+mn-lt"/>
              </a:rPr>
              <a:t>、网易云课堂等平台学习</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基础工具（如</a:t>
            </a:r>
            <a:r>
              <a:rPr lang="en-US" altLang="zh-CN" sz="1600" spc="40" dirty="0">
                <a:solidFill>
                  <a:srgbClr val="314371"/>
                </a:solidFill>
                <a:latin typeface="Times New Roman" panose="02020503050405090304" charset="0"/>
                <a:ea typeface="思源黑体" panose="020B0400000000000000" charset="-122"/>
                <a:cs typeface="+mn-ea"/>
                <a:sym typeface="+mn-lt"/>
              </a:rPr>
              <a:t> Excel AI </a:t>
            </a:r>
            <a:r>
              <a:rPr lang="zh-CN" altLang="en-US" sz="1600" spc="40" dirty="0">
                <a:solidFill>
                  <a:srgbClr val="314371"/>
                </a:solidFill>
                <a:latin typeface="Times New Roman" panose="02020503050405090304" charset="0"/>
                <a:ea typeface="思源黑体" panose="020B0400000000000000" charset="-122"/>
                <a:cs typeface="+mn-ea"/>
                <a:sym typeface="+mn-lt"/>
              </a:rPr>
              <a:t>函数、简单数据分析），培养</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可迁移技能</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（如沟通协调、创新思维）</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这些是</a:t>
            </a:r>
            <a:r>
              <a:rPr lang="en-US" altLang="zh-CN" sz="1600" spc="40" dirty="0">
                <a:solidFill>
                  <a:srgbClr val="314371"/>
                </a:solidFill>
                <a:latin typeface="Times New Roman" panose="02020503050405090304" charset="0"/>
                <a:ea typeface="思源黑体" panose="020B0400000000000000" charset="-122"/>
                <a:cs typeface="+mn-ea"/>
                <a:sym typeface="+mn-lt"/>
              </a:rPr>
              <a:t> AI </a:t>
            </a:r>
            <a:r>
              <a:rPr lang="zh-CN" altLang="en-US" sz="1600" spc="40" dirty="0">
                <a:solidFill>
                  <a:srgbClr val="314371"/>
                </a:solidFill>
                <a:latin typeface="Times New Roman" panose="02020503050405090304" charset="0"/>
                <a:ea typeface="思源黑体" panose="020B0400000000000000" charset="-122"/>
                <a:cs typeface="+mn-ea"/>
                <a:sym typeface="+mn-lt"/>
              </a:rPr>
              <a:t>短期内难以替代的核心竞争力</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nSpc>
                <a:spcPct val="130000"/>
              </a:lnSpc>
            </a:pP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25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a:stretch>
            <a:fillRect/>
          </a:stretch>
        </p:blipFill>
        <p:spPr>
          <a:xfrm>
            <a:off x="353" y="3763"/>
            <a:ext cx="12858044" cy="7225123"/>
          </a:xfrm>
          <a:prstGeom prst="rect">
            <a:avLst/>
          </a:prstGeom>
        </p:spPr>
      </p:pic>
      <p:sp>
        <p:nvSpPr>
          <p:cNvPr id="6" name="矩形 5"/>
          <p:cNvSpPr/>
          <p:nvPr/>
        </p:nvSpPr>
        <p:spPr>
          <a:xfrm>
            <a:off x="11432" y="-3764"/>
            <a:ext cx="12858044" cy="7232650"/>
          </a:xfrm>
          <a:prstGeom prst="rect">
            <a:avLst/>
          </a:prstGeom>
          <a:solidFill>
            <a:schemeClr val="accent1">
              <a:lumMod val="90000"/>
              <a:lumOff val="10000"/>
              <a:alpha val="3555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cs typeface="+mn-ea"/>
              <a:sym typeface="+mn-lt"/>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7207" y="6432302"/>
            <a:ext cx="2697427" cy="569181"/>
          </a:xfrm>
          <a:prstGeom prst="rect">
            <a:avLst/>
          </a:prstGeom>
        </p:spPr>
      </p:pic>
      <p:grpSp>
        <p:nvGrpSpPr>
          <p:cNvPr id="14" name="组合 13"/>
          <p:cNvGrpSpPr/>
          <p:nvPr/>
        </p:nvGrpSpPr>
        <p:grpSpPr>
          <a:xfrm>
            <a:off x="3978910" y="746125"/>
            <a:ext cx="4900930" cy="4900930"/>
            <a:chOff x="4062335" y="1143536"/>
            <a:chExt cx="4062334" cy="4062334"/>
          </a:xfrm>
        </p:grpSpPr>
        <p:grpSp>
          <p:nvGrpSpPr>
            <p:cNvPr id="15" name="组合 14"/>
            <p:cNvGrpSpPr/>
            <p:nvPr/>
          </p:nvGrpSpPr>
          <p:grpSpPr>
            <a:xfrm>
              <a:off x="4062335" y="1143536"/>
              <a:ext cx="4062334" cy="4062334"/>
              <a:chOff x="4062335" y="1143536"/>
              <a:chExt cx="4062334" cy="4062334"/>
            </a:xfrm>
          </p:grpSpPr>
          <p:sp>
            <p:nvSpPr>
              <p:cNvPr id="22" name="椭圆 21"/>
              <p:cNvSpPr>
                <a:spLocks noChangeAspect="1"/>
              </p:cNvSpPr>
              <p:nvPr/>
            </p:nvSpPr>
            <p:spPr>
              <a:xfrm>
                <a:off x="4227226" y="1323417"/>
                <a:ext cx="3743258" cy="3743258"/>
              </a:xfrm>
              <a:prstGeom prst="ellipse">
                <a:avLst/>
              </a:prstGeom>
              <a:solidFill>
                <a:schemeClr val="bg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23" name="椭圆 22"/>
              <p:cNvSpPr>
                <a:spLocks noChangeAspect="1"/>
              </p:cNvSpPr>
              <p:nvPr/>
            </p:nvSpPr>
            <p:spPr>
              <a:xfrm>
                <a:off x="4062335" y="1143536"/>
                <a:ext cx="4062334" cy="4062334"/>
              </a:xfrm>
              <a:prstGeom prst="ellipse">
                <a:avLst/>
              </a:prstGeom>
              <a:noFill/>
              <a:ln w="19050">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18" name="组合 17"/>
            <p:cNvGrpSpPr/>
            <p:nvPr/>
          </p:nvGrpSpPr>
          <p:grpSpPr>
            <a:xfrm>
              <a:off x="4170422" y="2020329"/>
              <a:ext cx="3845404" cy="2230428"/>
              <a:chOff x="4061837" y="1920634"/>
              <a:chExt cx="3845404" cy="2230428"/>
            </a:xfrm>
          </p:grpSpPr>
          <p:sp>
            <p:nvSpPr>
              <p:cNvPr id="20" name="文本框 19"/>
              <p:cNvSpPr txBox="1"/>
              <p:nvPr/>
            </p:nvSpPr>
            <p:spPr>
              <a:xfrm>
                <a:off x="4061837" y="1920634"/>
                <a:ext cx="3844925" cy="636878"/>
              </a:xfrm>
              <a:prstGeom prst="rect">
                <a:avLst/>
              </a:prstGeom>
              <a:noFill/>
              <a:ln w="9525">
                <a:noFill/>
              </a:ln>
            </p:spPr>
            <p:txBody>
              <a:bodyPr wrap="square">
                <a:spAutoFit/>
              </a:bodyPr>
              <a:lstStyle/>
              <a:p>
                <a:pPr marL="419100" indent="-419100" algn="ctr"/>
                <a:r>
                  <a:rPr lang="en-US" altLang="zh-CN" sz="4400" b="1" dirty="0">
                    <a:solidFill>
                      <a:schemeClr val="bg1"/>
                    </a:solidFill>
                    <a:latin typeface="Times New Roman" panose="02020503050405090304" charset="0"/>
                    <a:ea typeface="思源黑体" panose="020B0400000000000000" charset="-122"/>
                    <a:cs typeface="等线 Light" panose="02010600030101010101" charset="-122"/>
                  </a:rPr>
                  <a:t>4</a:t>
                </a:r>
                <a:endParaRPr lang="en-US" altLang="zh-CN" sz="4400" b="1" dirty="0">
                  <a:solidFill>
                    <a:schemeClr val="bg1"/>
                  </a:solidFill>
                  <a:latin typeface="Times New Roman" panose="02020503050405090304" charset="0"/>
                  <a:ea typeface="思源黑体" panose="020B0400000000000000" charset="-122"/>
                  <a:cs typeface="等线 Light" panose="02010600030101010101" charset="-122"/>
                </a:endParaRPr>
              </a:p>
            </p:txBody>
          </p:sp>
          <p:sp>
            <p:nvSpPr>
              <p:cNvPr id="21" name="文本框 20"/>
              <p:cNvSpPr txBox="1"/>
              <p:nvPr/>
            </p:nvSpPr>
            <p:spPr>
              <a:xfrm>
                <a:off x="4062316" y="3820517"/>
                <a:ext cx="3844925" cy="330545"/>
              </a:xfrm>
              <a:prstGeom prst="rect">
                <a:avLst/>
              </a:prstGeom>
              <a:noFill/>
              <a:ln w="9525">
                <a:noFill/>
              </a:ln>
            </p:spPr>
            <p:txBody>
              <a:bodyPr wrap="square">
                <a:spAutoFit/>
              </a:bodyPr>
              <a:lstStyle/>
              <a:p>
                <a:pPr indent="0" algn="ctr"/>
                <a:r>
                  <a:rPr lang="zh-CN" altLang="en-US" sz="2000" spc="-211" dirty="0">
                    <a:solidFill>
                      <a:schemeClr val="bg1"/>
                    </a:solidFill>
                    <a:latin typeface="Times New Roman" panose="02020503050405090304" charset="0"/>
                    <a:ea typeface="思源黑体" panose="020B0400000000000000" charset="-122"/>
                    <a:cs typeface="+mn-ea"/>
                    <a:sym typeface="+mn-lt"/>
                  </a:rPr>
                  <a:t>自然辩证法视角下的伦理与哲学思考</a:t>
                </a:r>
                <a:endParaRPr lang="zh-CN" altLang="en-US" sz="2000" dirty="0">
                  <a:solidFill>
                    <a:schemeClr val="bg1"/>
                  </a:solidFill>
                  <a:latin typeface="Times New Roman" panose="02020503050405090304" charset="0"/>
                  <a:ea typeface="思源黑体" panose="020B0400000000000000" charset="-122"/>
                  <a:cs typeface="等线" panose="02010600030101010101" charset="-122"/>
                </a:endParaRPr>
              </a:p>
            </p:txBody>
          </p:sp>
        </p:grpSp>
        <p:sp>
          <p:nvSpPr>
            <p:cNvPr id="19" name="文本框 18"/>
            <p:cNvSpPr txBox="1"/>
            <p:nvPr/>
          </p:nvSpPr>
          <p:spPr>
            <a:xfrm>
              <a:off x="4170661" y="2905519"/>
              <a:ext cx="3844925" cy="585822"/>
            </a:xfrm>
            <a:prstGeom prst="rect">
              <a:avLst/>
            </a:prstGeom>
            <a:noFill/>
            <a:ln w="9525">
              <a:noFill/>
            </a:ln>
          </p:spPr>
          <p:txBody>
            <a:bodyPr wrap="square">
              <a:spAutoFit/>
            </a:bodyPr>
            <a:lstStyle/>
            <a:p>
              <a:pPr marL="419100" indent="-419100" algn="ct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思考与</a:t>
              </a:r>
              <a:r>
                <a:rPr lang="zh-CN" altLang="en-US" sz="4000" b="1" dirty="0">
                  <a:solidFill>
                    <a:schemeClr val="bg1"/>
                  </a:solidFill>
                  <a:latin typeface="Times New Roman" panose="02020503050405090304" charset="0"/>
                  <a:ea typeface="思源黑体" panose="020B0400000000000000" charset="-122"/>
                  <a:cs typeface="等线 Light" panose="02010600030101010101" charset="-122"/>
                </a:rPr>
                <a:t>结论</a:t>
              </a:r>
              <a:endParaRPr lang="zh-CN" altLang="en-US" sz="4000" b="1" dirty="0">
                <a:solidFill>
                  <a:schemeClr val="bg1"/>
                </a:solidFill>
                <a:latin typeface="Times New Roman" panose="02020503050405090304" charset="0"/>
                <a:ea typeface="思源黑体" panose="020B0400000000000000" charset="-122"/>
                <a:cs typeface="等线 Light"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思</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考</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结</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论</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78" name="文本框 77"/>
          <p:cNvSpPr txBox="1"/>
          <p:nvPr/>
        </p:nvSpPr>
        <p:spPr>
          <a:xfrm>
            <a:off x="1532890" y="1991995"/>
            <a:ext cx="6857365" cy="128905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数据治理与隐私保护</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的训练依赖大规模数据，数据采集不透明会导致隐私侵犯</a:t>
            </a:r>
            <a:r>
              <a:rPr lang="en-US" altLang="zh-CN"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自然辩证法强调</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联系与发展</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，数据滥用会破坏技术与社会的良性互动。</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79" name="文本框 78"/>
          <p:cNvSpPr txBox="1"/>
          <p:nvPr/>
        </p:nvSpPr>
        <p:spPr>
          <a:xfrm>
            <a:off x="524510" y="1167765"/>
            <a:ext cx="1575435"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伦理思考</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1532890" y="3328670"/>
            <a:ext cx="7200900" cy="163576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算法偏见与算法权力</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算法基于历史数据，可能固化社会偏见（如性别、种族、地域）。</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算法在公共决策中所占权力不断上升，存在</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技术垄断</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可能。</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辩证观点：技术既能促进公平，也可能放大不公，关键在于制度与价值引导。</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6" name="文本框 5"/>
          <p:cNvSpPr txBox="1"/>
          <p:nvPr/>
        </p:nvSpPr>
        <p:spPr>
          <a:xfrm>
            <a:off x="1532890" y="5056505"/>
            <a:ext cx="7129145" cy="128270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责任归属问题</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自动驾驶失误、</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推荐导致的伤害</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责任由谁承担？</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辩证观点</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复杂系统中需要</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整体性</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思考，必须构建明确的责任链条。</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7" name="图片 6" descr="yinsixieyi"/>
          <p:cNvPicPr>
            <a:picLocks noChangeAspect="1"/>
          </p:cNvPicPr>
          <p:nvPr/>
        </p:nvPicPr>
        <p:blipFill>
          <a:blip r:embed="rId2"/>
          <a:stretch>
            <a:fillRect/>
          </a:stretch>
        </p:blipFill>
        <p:spPr>
          <a:xfrm>
            <a:off x="11109960" y="5632450"/>
            <a:ext cx="1071880" cy="1071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9"/>
                                        </p:tgtEl>
                                        <p:attrNameLst>
                                          <p:attrName>style.visibility</p:attrName>
                                        </p:attrNameLst>
                                      </p:cBhvr>
                                      <p:to>
                                        <p:strVal val="visible"/>
                                      </p:to>
                                    </p:set>
                                    <p:anim calcmode="lin" valueType="num">
                                      <p:cBhvr additive="base">
                                        <p:cTn id="11" dur="500" fill="hold"/>
                                        <p:tgtEl>
                                          <p:spTgt spid="79"/>
                                        </p:tgtEl>
                                        <p:attrNameLst>
                                          <p:attrName>ppt_x</p:attrName>
                                        </p:attrNameLst>
                                      </p:cBhvr>
                                      <p:tavLst>
                                        <p:tav tm="0">
                                          <p:val>
                                            <p:strVal val="#ppt_x"/>
                                          </p:val>
                                        </p:tav>
                                        <p:tav tm="100000">
                                          <p:val>
                                            <p:strVal val="#ppt_x"/>
                                          </p:val>
                                        </p:tav>
                                      </p:tavLst>
                                    </p:anim>
                                    <p:anim calcmode="lin" valueType="num">
                                      <p:cBhvr additive="base">
                                        <p:cTn id="12" dur="500" fill="hold"/>
                                        <p:tgtEl>
                                          <p:spTgt spid="7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P spid="4"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思</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考</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结</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论</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78" name="文本框 77"/>
          <p:cNvSpPr txBox="1"/>
          <p:nvPr/>
        </p:nvSpPr>
        <p:spPr>
          <a:xfrm>
            <a:off x="1532890" y="1991995"/>
            <a:ext cx="6857365" cy="128905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人的主体性与自由意志挑战</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在决策、推荐甚至创作领域替代人类，弱化</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主体性</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与</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自主选择</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。大量行为被算法预测与塑造，自由意志受到侵蚀。</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79" name="文本框 78"/>
          <p:cNvSpPr txBox="1"/>
          <p:nvPr/>
        </p:nvSpPr>
        <p:spPr>
          <a:xfrm>
            <a:off x="524510" y="1167765"/>
            <a:ext cx="1575435"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哲学思考</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4" name="文本框 3"/>
          <p:cNvSpPr txBox="1"/>
          <p:nvPr/>
        </p:nvSpPr>
        <p:spPr>
          <a:xfrm>
            <a:off x="1532890" y="3328670"/>
            <a:ext cx="7200900" cy="163576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技术异化与人的价值危机</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马克思</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异化</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概念：人被自己创造的力量所支配。</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若过度依赖</a:t>
            </a:r>
            <a:r>
              <a:rPr lang="en-US" altLang="zh-CN" sz="1600" spc="40" dirty="0">
                <a:solidFill>
                  <a:srgbClr val="314371"/>
                </a:solidFill>
                <a:latin typeface="Times New Roman" panose="02020503050405090304" charset="0"/>
                <a:ea typeface="思源黑体" panose="020B0400000000000000" charset="-122"/>
                <a:cs typeface="+mn-ea"/>
                <a:sym typeface="+mn-lt"/>
              </a:rPr>
              <a:t> AI</a:t>
            </a:r>
            <a:r>
              <a:rPr lang="zh-CN" altLang="en-US" sz="1600" spc="40" dirty="0">
                <a:solidFill>
                  <a:srgbClr val="314371"/>
                </a:solidFill>
                <a:latin typeface="Times New Roman" panose="02020503050405090304" charset="0"/>
                <a:ea typeface="思源黑体" panose="020B0400000000000000" charset="-122"/>
                <a:cs typeface="+mn-ea"/>
                <a:sym typeface="+mn-lt"/>
              </a:rPr>
              <a:t>，人可能沦为算法决策的</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执行者</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自然辩证法强调</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实践决定论</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，技术必须植根人的实践活动，不能反客为主。</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6" name="文本框 5"/>
          <p:cNvSpPr txBox="1"/>
          <p:nvPr/>
        </p:nvSpPr>
        <p:spPr>
          <a:xfrm>
            <a:off x="1532890" y="5056505"/>
            <a:ext cx="7129145" cy="168910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人工智能是否会超越人类</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从计算速度、信息记忆、模式识别看，</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已经超越人类。</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从意识、本质判断、社会实践能力看，</a:t>
            </a:r>
            <a:r>
              <a:rPr lang="en-US" altLang="zh-CN" sz="1600" spc="40" dirty="0">
                <a:solidFill>
                  <a:srgbClr val="314371"/>
                </a:solidFill>
                <a:latin typeface="Times New Roman" panose="02020503050405090304" charset="0"/>
                <a:ea typeface="思源黑体" panose="020B0400000000000000" charset="-122"/>
                <a:cs typeface="+mn-ea"/>
                <a:sym typeface="+mn-lt"/>
              </a:rPr>
              <a:t>AI </a:t>
            </a:r>
            <a:r>
              <a:rPr lang="zh-CN" altLang="en-US" sz="1600" spc="40" dirty="0">
                <a:solidFill>
                  <a:srgbClr val="314371"/>
                </a:solidFill>
                <a:latin typeface="Times New Roman" panose="02020503050405090304" charset="0"/>
                <a:ea typeface="思源黑体" panose="020B0400000000000000" charset="-122"/>
                <a:cs typeface="+mn-ea"/>
                <a:sym typeface="+mn-lt"/>
              </a:rPr>
              <a:t>无法替代人类主体。</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辩证观点：人机关系不是替代，而是互补与共同发展。</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pic>
        <p:nvPicPr>
          <p:cNvPr id="8" name="图片 7"/>
          <p:cNvPicPr>
            <a:picLocks noChangeAspect="1"/>
          </p:cNvPicPr>
          <p:nvPr/>
        </p:nvPicPr>
        <p:blipFill>
          <a:blip r:embed="rId2" cstate="print">
            <a:extLst>
              <a:ext uri="{BEBA8EAE-BF5A-486C-A8C5-ECC9F3942E4B}">
                <a14:imgProps xmlns:a14="http://schemas.microsoft.com/office/drawing/2010/main">
                  <a14:imgLayer r:embed="rId3">
                    <a14:imgEffect>
                      <a14:saturation sat="150000"/>
                    </a14:imgEffect>
                  </a14:imgLayer>
                </a14:imgProps>
              </a:ext>
              <a:ext uri="{28A0092B-C50C-407E-A947-70E740481C1C}">
                <a14:useLocalDpi xmlns:a14="http://schemas.microsoft.com/office/drawing/2010/main" val="0"/>
              </a:ext>
            </a:extLst>
          </a:blip>
          <a:stretch>
            <a:fillRect/>
          </a:stretch>
        </p:blipFill>
        <p:spPr>
          <a:xfrm>
            <a:off x="9309876" y="1991808"/>
            <a:ext cx="2770630" cy="416364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9"/>
                                        </p:tgtEl>
                                        <p:attrNameLst>
                                          <p:attrName>style.visibility</p:attrName>
                                        </p:attrNameLst>
                                      </p:cBhvr>
                                      <p:to>
                                        <p:strVal val="visible"/>
                                      </p:to>
                                    </p:set>
                                    <p:anim calcmode="lin" valueType="num">
                                      <p:cBhvr additive="base">
                                        <p:cTn id="11" dur="500" fill="hold"/>
                                        <p:tgtEl>
                                          <p:spTgt spid="79"/>
                                        </p:tgtEl>
                                        <p:attrNameLst>
                                          <p:attrName>ppt_x</p:attrName>
                                        </p:attrNameLst>
                                      </p:cBhvr>
                                      <p:tavLst>
                                        <p:tav tm="0">
                                          <p:val>
                                            <p:strVal val="#ppt_x"/>
                                          </p:val>
                                        </p:tav>
                                        <p:tav tm="100000">
                                          <p:val>
                                            <p:strVal val="#ppt_x"/>
                                          </p:val>
                                        </p:tav>
                                      </p:tavLst>
                                    </p:anim>
                                    <p:anim calcmode="lin" valueType="num">
                                      <p:cBhvr additive="base">
                                        <p:cTn id="12" dur="500" fill="hold"/>
                                        <p:tgtEl>
                                          <p:spTgt spid="7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P spid="4"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cxnSp>
        <p:nvCxnSpPr>
          <p:cNvPr id="23" name="直接连接符 22"/>
          <p:cNvCxnSpPr/>
          <p:nvPr/>
        </p:nvCxnSpPr>
        <p:spPr>
          <a:xfrm>
            <a:off x="807617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408758" y="0"/>
            <a:ext cx="1757014" cy="835267"/>
          </a:xfrm>
          <a:prstGeom prst="rect">
            <a:avLst/>
          </a:prstGeom>
          <a:solidFill>
            <a:srgbClr val="194A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cxnSp>
        <p:nvCxnSpPr>
          <p:cNvPr id="25" name="直接连接符 24"/>
          <p:cNvCxnSpPr/>
          <p:nvPr/>
        </p:nvCxnSpPr>
        <p:spPr>
          <a:xfrm>
            <a:off x="9948718"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559674" y="227698"/>
            <a:ext cx="1417422"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毕业典礼报道</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27" name="TextBox 7"/>
          <p:cNvSpPr txBox="1"/>
          <p:nvPr/>
        </p:nvSpPr>
        <p:spPr>
          <a:xfrm>
            <a:off x="5270530" y="227699"/>
            <a:ext cx="141742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特稿</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8" name="TextBox 9"/>
          <p:cNvSpPr txBox="1"/>
          <p:nvPr/>
        </p:nvSpPr>
        <p:spPr>
          <a:xfrm>
            <a:off x="7105308" y="227698"/>
            <a:ext cx="1417422" cy="619125"/>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专访领雁奖获得者</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29" name="TextBox 10"/>
          <p:cNvSpPr txBox="1"/>
          <p:nvPr/>
        </p:nvSpPr>
        <p:spPr>
          <a:xfrm>
            <a:off x="8789172" y="24918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校园文化活动</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sp>
        <p:nvSpPr>
          <p:cNvPr id="30" name="TextBox 11"/>
          <p:cNvSpPr txBox="1"/>
          <p:nvPr/>
        </p:nvSpPr>
        <p:spPr>
          <a:xfrm>
            <a:off x="10738750" y="227698"/>
            <a:ext cx="1757012"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技能培训</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cxnSp>
        <p:nvCxnSpPr>
          <p:cNvPr id="31" name="直接连接符 30"/>
          <p:cNvCxnSpPr/>
          <p:nvPr/>
        </p:nvCxnSpPr>
        <p:spPr>
          <a:xfrm>
            <a:off x="6241400" y="300666"/>
            <a:ext cx="0" cy="25924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34" name="矩形 4"/>
          <p:cNvSpPr/>
          <p:nvPr/>
        </p:nvSpPr>
        <p:spPr>
          <a:xfrm>
            <a:off x="353" y="0"/>
            <a:ext cx="12858044" cy="835267"/>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035">
              <a:cs typeface="+mn-ea"/>
              <a:sym typeface="+mn-lt"/>
            </a:endParaRPr>
          </a:p>
        </p:txBody>
      </p:sp>
      <p:sp>
        <p:nvSpPr>
          <p:cNvPr id="35" name="矩形 34"/>
          <p:cNvSpPr/>
          <p:nvPr/>
        </p:nvSpPr>
        <p:spPr>
          <a:xfrm>
            <a:off x="3837087" y="-17513"/>
            <a:ext cx="9036000" cy="8527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2" name="矩形 1"/>
          <p:cNvSpPr/>
          <p:nvPr/>
        </p:nvSpPr>
        <p:spPr>
          <a:xfrm>
            <a:off x="383908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6" name="TextBox 6"/>
          <p:cNvSpPr txBox="1"/>
          <p:nvPr/>
        </p:nvSpPr>
        <p:spPr>
          <a:xfrm>
            <a:off x="4116152" y="236526"/>
            <a:ext cx="1794768" cy="346075"/>
          </a:xfrm>
          <a:prstGeom prst="rect">
            <a:avLst/>
          </a:prstGeom>
          <a:noFill/>
        </p:spPr>
        <p:txBody>
          <a:bodyPr wrap="square" lIns="0" tIns="50622" rIns="0" bIns="50622" rtlCol="0">
            <a:spAutoFit/>
          </a:bodyPr>
          <a:lstStyle/>
          <a:p>
            <a:pPr algn="ctr"/>
            <a:r>
              <a:rPr lang="zh-CN" altLang="en-US" sz="1600" b="1" spc="-211" dirty="0">
                <a:solidFill>
                  <a:srgbClr val="7F7F7F"/>
                </a:solidFill>
                <a:latin typeface="Times New Roman" panose="02020503050405090304" charset="0"/>
                <a:ea typeface="思源黑体" panose="020B0400000000000000" charset="-122"/>
                <a:cs typeface="+mn-ea"/>
                <a:sym typeface="+mn-lt"/>
              </a:rPr>
              <a:t>研</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究</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背</a:t>
            </a:r>
            <a:r>
              <a:rPr lang="en-US" altLang="zh-CN" sz="1600" b="1" spc="-211" dirty="0">
                <a:solidFill>
                  <a:srgbClr val="7F7F7F"/>
                </a:solidFill>
                <a:latin typeface="Times New Roman" panose="02020503050405090304" charset="0"/>
                <a:ea typeface="思源黑体" panose="020B0400000000000000" charset="-122"/>
                <a:cs typeface="+mn-ea"/>
                <a:sym typeface="+mn-lt"/>
              </a:rPr>
              <a:t>    </a:t>
            </a:r>
            <a:r>
              <a:rPr lang="zh-CN" altLang="en-US" sz="1600" b="1" spc="-211" dirty="0">
                <a:solidFill>
                  <a:srgbClr val="7F7F7F"/>
                </a:solidFill>
                <a:latin typeface="Times New Roman" panose="02020503050405090304" charset="0"/>
                <a:ea typeface="思源黑体" panose="020B0400000000000000" charset="-122"/>
                <a:cs typeface="+mn-ea"/>
                <a:sym typeface="+mn-lt"/>
              </a:rPr>
              <a:t>景</a:t>
            </a:r>
            <a:endParaRPr lang="zh-CN" altLang="en-US" sz="1600" b="1" spc="-211" dirty="0">
              <a:solidFill>
                <a:srgbClr val="7F7F7F"/>
              </a:solidFill>
              <a:latin typeface="Times New Roman" panose="02020503050405090304" charset="0"/>
              <a:ea typeface="思源黑体" panose="020B0400000000000000" charset="-122"/>
              <a:cs typeface="+mn-ea"/>
              <a:sym typeface="+mn-lt"/>
            </a:endParaRPr>
          </a:p>
        </p:txBody>
      </p:sp>
      <p:sp>
        <p:nvSpPr>
          <p:cNvPr id="3" name="矩形 2"/>
          <p:cNvSpPr/>
          <p:nvPr/>
        </p:nvSpPr>
        <p:spPr>
          <a:xfrm>
            <a:off x="8349041"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5" name="矩形 4"/>
          <p:cNvSpPr/>
          <p:nvPr/>
        </p:nvSpPr>
        <p:spPr>
          <a:xfrm>
            <a:off x="10611064" y="-10195"/>
            <a:ext cx="2260800" cy="84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dirty="0">
              <a:solidFill>
                <a:schemeClr val="bg1"/>
              </a:solidFill>
              <a:cs typeface="+mn-ea"/>
              <a:sym typeface="+mn-lt"/>
            </a:endParaRPr>
          </a:p>
        </p:txBody>
      </p:sp>
      <p:sp>
        <p:nvSpPr>
          <p:cNvPr id="39" name="TextBox 10"/>
          <p:cNvSpPr txBox="1"/>
          <p:nvPr/>
        </p:nvSpPr>
        <p:spPr>
          <a:xfrm>
            <a:off x="8686001" y="236526"/>
            <a:ext cx="1606098" cy="359410"/>
          </a:xfrm>
          <a:prstGeom prst="rect">
            <a:avLst/>
          </a:prstGeom>
          <a:noFill/>
        </p:spPr>
        <p:txBody>
          <a:bodyPr wrap="square" lIns="0" tIns="50622" rIns="0" bIns="50622" rtlCol="0">
            <a:spAutoFit/>
          </a:bodyPr>
          <a:lstStyle/>
          <a:p>
            <a:pPr algn="ct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社</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会</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变</a:t>
            </a:r>
            <a:r>
              <a:rPr lang="en-US" altLang="zh-CN" sz="1685" b="1" dirty="0">
                <a:solidFill>
                  <a:schemeClr val="bg1">
                    <a:lumMod val="50000"/>
                  </a:schemeClr>
                </a:solidFill>
                <a:latin typeface="Times New Roman" panose="02020503050405090304" charset="0"/>
                <a:ea typeface="思源黑体" panose="020B0400000000000000" charset="-122"/>
                <a:cs typeface="+mn-ea"/>
                <a:sym typeface="+mn-lt"/>
              </a:rPr>
              <a:t>  </a:t>
            </a:r>
            <a:r>
              <a:rPr lang="zh-CN" altLang="en-US" sz="1685" b="1" dirty="0">
                <a:solidFill>
                  <a:schemeClr val="bg1">
                    <a:lumMod val="50000"/>
                  </a:schemeClr>
                </a:solidFill>
                <a:latin typeface="Times New Roman" panose="02020503050405090304" charset="0"/>
                <a:ea typeface="思源黑体" panose="020B0400000000000000" charset="-122"/>
                <a:cs typeface="+mn-ea"/>
                <a:sym typeface="+mn-lt"/>
              </a:rPr>
              <a:t>革</a:t>
            </a:r>
            <a:endParaRPr lang="zh-CN" altLang="en-US" sz="1685" b="1" dirty="0">
              <a:solidFill>
                <a:schemeClr val="bg1">
                  <a:lumMod val="50000"/>
                </a:schemeClr>
              </a:solidFill>
              <a:latin typeface="Times New Roman" panose="02020503050405090304" charset="0"/>
              <a:ea typeface="思源黑体" panose="020B0400000000000000" charset="-122"/>
              <a:cs typeface="+mn-ea"/>
              <a:sym typeface="+mn-lt"/>
            </a:endParaRPr>
          </a:p>
        </p:txBody>
      </p:sp>
      <p:pic>
        <p:nvPicPr>
          <p:cNvPr id="42" name="图片 4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339626" y="144659"/>
            <a:ext cx="2517822" cy="527982"/>
          </a:xfrm>
          <a:prstGeom prst="rect">
            <a:avLst/>
          </a:prstGeom>
        </p:spPr>
      </p:pic>
      <p:sp>
        <p:nvSpPr>
          <p:cNvPr id="54" name="矩形 53"/>
          <p:cNvSpPr/>
          <p:nvPr/>
        </p:nvSpPr>
        <p:spPr>
          <a:xfrm>
            <a:off x="10622915" y="-10795"/>
            <a:ext cx="2249170" cy="863600"/>
          </a:xfrm>
          <a:prstGeom prst="rect">
            <a:avLst/>
          </a:prstGeom>
          <a:solidFill>
            <a:srgbClr val="3142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530" b="1">
              <a:solidFill>
                <a:schemeClr val="bg1"/>
              </a:solidFill>
              <a:cs typeface="+mn-ea"/>
              <a:sym typeface="+mn-lt"/>
            </a:endParaRPr>
          </a:p>
        </p:txBody>
      </p:sp>
      <p:sp>
        <p:nvSpPr>
          <p:cNvPr id="38" name="TextBox 9"/>
          <p:cNvSpPr txBox="1"/>
          <p:nvPr/>
        </p:nvSpPr>
        <p:spPr>
          <a:xfrm>
            <a:off x="6357367" y="236526"/>
            <a:ext cx="1757012" cy="359410"/>
          </a:xfrm>
          <a:prstGeom prst="rect">
            <a:avLst/>
          </a:prstGeom>
          <a:noFill/>
        </p:spPr>
        <p:txBody>
          <a:bodyPr wrap="square" lIns="0" tIns="50622" rIns="0" bIns="50622" rtlCol="0">
            <a:spAutoFit/>
          </a:bodyPr>
          <a:lstStyle/>
          <a:p>
            <a:pPr algn="ctr"/>
            <a:r>
              <a:rPr lang="zh-CN" altLang="en-US" sz="1685" b="1" dirty="0">
                <a:solidFill>
                  <a:srgbClr val="7F7F7F"/>
                </a:solidFill>
                <a:latin typeface="Times New Roman" panose="02020503050405090304" charset="0"/>
                <a:ea typeface="思源黑体" panose="020B0400000000000000" charset="-122"/>
                <a:cs typeface="+mn-ea"/>
                <a:sym typeface="+mn-lt"/>
              </a:rPr>
              <a:t>发</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展</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与</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特</a:t>
            </a:r>
            <a:r>
              <a:rPr lang="en-US" altLang="zh-CN" sz="1685" b="1" dirty="0">
                <a:solidFill>
                  <a:srgbClr val="7F7F7F"/>
                </a:solidFill>
                <a:latin typeface="Times New Roman" panose="02020503050405090304" charset="0"/>
                <a:ea typeface="思源黑体" panose="020B0400000000000000" charset="-122"/>
                <a:cs typeface="+mn-ea"/>
                <a:sym typeface="+mn-lt"/>
              </a:rPr>
              <a:t>  </a:t>
            </a:r>
            <a:r>
              <a:rPr lang="zh-CN" altLang="en-US" sz="1685" b="1" dirty="0">
                <a:solidFill>
                  <a:srgbClr val="7F7F7F"/>
                </a:solidFill>
                <a:latin typeface="Times New Roman" panose="02020503050405090304" charset="0"/>
                <a:ea typeface="思源黑体" panose="020B0400000000000000" charset="-122"/>
                <a:cs typeface="+mn-ea"/>
                <a:sym typeface="+mn-lt"/>
              </a:rPr>
              <a:t>征</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40" name="TextBox 11"/>
          <p:cNvSpPr txBox="1"/>
          <p:nvPr/>
        </p:nvSpPr>
        <p:spPr>
          <a:xfrm>
            <a:off x="10905885" y="228271"/>
            <a:ext cx="1683136" cy="359410"/>
          </a:xfrm>
          <a:prstGeom prst="rect">
            <a:avLst/>
          </a:prstGeom>
          <a:noFill/>
        </p:spPr>
        <p:txBody>
          <a:bodyPr wrap="square" lIns="0" tIns="50622" rIns="0" bIns="50622" rtlCol="0">
            <a:spAutoFit/>
          </a:bodyPr>
          <a:lstStyle/>
          <a:p>
            <a:pPr algn="ctr"/>
            <a:r>
              <a:rPr lang="zh-CN" altLang="en-US" sz="1685" b="1" dirty="0">
                <a:solidFill>
                  <a:schemeClr val="bg1"/>
                </a:solidFill>
                <a:latin typeface="Times New Roman" panose="02020503050405090304" charset="0"/>
                <a:ea typeface="思源黑体" panose="020B0400000000000000" charset="-122"/>
                <a:cs typeface="+mn-ea"/>
                <a:sym typeface="+mn-lt"/>
              </a:rPr>
              <a:t>思</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考</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与</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结</a:t>
            </a:r>
            <a:r>
              <a:rPr lang="en-US" altLang="zh-CN" sz="1685" b="1" dirty="0">
                <a:solidFill>
                  <a:schemeClr val="bg1"/>
                </a:solidFill>
                <a:latin typeface="Times New Roman" panose="02020503050405090304" charset="0"/>
                <a:ea typeface="思源黑体" panose="020B0400000000000000" charset="-122"/>
                <a:cs typeface="+mn-ea"/>
                <a:sym typeface="+mn-lt"/>
              </a:rPr>
              <a:t> </a:t>
            </a:r>
            <a:r>
              <a:rPr lang="zh-CN" altLang="en-US" sz="1685" b="1" dirty="0">
                <a:solidFill>
                  <a:schemeClr val="bg1"/>
                </a:solidFill>
                <a:latin typeface="Times New Roman" panose="02020503050405090304" charset="0"/>
                <a:ea typeface="思源黑体" panose="020B0400000000000000" charset="-122"/>
                <a:cs typeface="+mn-ea"/>
                <a:sym typeface="+mn-lt"/>
              </a:rPr>
              <a:t>论</a:t>
            </a:r>
            <a:endParaRPr lang="zh-CN" altLang="en-US" sz="1685" b="1" dirty="0">
              <a:solidFill>
                <a:schemeClr val="bg1"/>
              </a:solidFill>
              <a:latin typeface="Times New Roman" panose="02020503050405090304" charset="0"/>
              <a:ea typeface="思源黑体" panose="020B0400000000000000" charset="-122"/>
              <a:cs typeface="+mn-ea"/>
              <a:sym typeface="+mn-lt"/>
            </a:endParaRPr>
          </a:p>
        </p:txBody>
      </p:sp>
      <p:sp>
        <p:nvSpPr>
          <p:cNvPr id="79" name="文本框 78"/>
          <p:cNvSpPr txBox="1"/>
          <p:nvPr/>
        </p:nvSpPr>
        <p:spPr>
          <a:xfrm>
            <a:off x="524510" y="1167765"/>
            <a:ext cx="1605280" cy="491490"/>
          </a:xfrm>
          <a:prstGeom prst="rect">
            <a:avLst/>
          </a:prstGeom>
          <a:noFill/>
        </p:spPr>
        <p:txBody>
          <a:bodyPr wrap="square" rtlCol="0">
            <a:spAutoFit/>
          </a:bodyPr>
          <a:lstStyle/>
          <a:p>
            <a:pPr algn="l"/>
            <a:r>
              <a:rPr lang="zh-CN" altLang="en-US" sz="2600" b="1" spc="-150" dirty="0">
                <a:solidFill>
                  <a:srgbClr val="314371"/>
                </a:solidFill>
                <a:latin typeface="Times New Roman" panose="02020503050405090304" charset="0"/>
                <a:ea typeface="思源黑体" panose="020B0400000000000000" charset="-122"/>
                <a:cs typeface="+mn-ea"/>
                <a:sym typeface="+mn-lt"/>
              </a:rPr>
              <a:t>辩证看待</a:t>
            </a:r>
            <a:endParaRPr lang="en-US" altLang="zh-CN" sz="2600" b="1" spc="-150" dirty="0">
              <a:solidFill>
                <a:srgbClr val="314371"/>
              </a:solidFill>
              <a:latin typeface="Times New Roman" panose="02020503050405090304" charset="0"/>
              <a:ea typeface="思源黑体" panose="020B0400000000000000" charset="-122"/>
              <a:cs typeface="+mn-ea"/>
              <a:sym typeface="+mn-lt"/>
            </a:endParaRPr>
          </a:p>
        </p:txBody>
      </p:sp>
      <p:sp>
        <p:nvSpPr>
          <p:cNvPr id="7" name="文本框 6"/>
          <p:cNvSpPr txBox="1"/>
          <p:nvPr/>
        </p:nvSpPr>
        <p:spPr>
          <a:xfrm>
            <a:off x="550545" y="1991995"/>
            <a:ext cx="11894185" cy="128905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技术应服务于人的发展</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人与技术不是孤立的，而是相互联系、相互作用的。技术是工具，人是目的</a:t>
            </a:r>
            <a:r>
              <a:rPr lang="en-US" altLang="zh-CN" sz="1600" spc="40" dirty="0">
                <a:solidFill>
                  <a:srgbClr val="314371"/>
                </a:solidFill>
                <a:latin typeface="Times New Roman" panose="02020503050405090304" charset="0"/>
                <a:ea typeface="思源黑体" panose="020B0400000000000000" charset="-122"/>
                <a:cs typeface="+mn-ea"/>
                <a:sym typeface="+mn-lt"/>
              </a:rPr>
              <a:t>， </a:t>
            </a:r>
            <a:r>
              <a:rPr lang="zh-CN" altLang="en-US" sz="1600" spc="40" dirty="0">
                <a:solidFill>
                  <a:srgbClr val="314371"/>
                </a:solidFill>
                <a:latin typeface="Times New Roman" panose="02020503050405090304" charset="0"/>
                <a:ea typeface="思源黑体" panose="020B0400000000000000" charset="-122"/>
                <a:cs typeface="+mn-ea"/>
                <a:sym typeface="+mn-lt"/>
              </a:rPr>
              <a:t>人工智能的本质是人类知识和智慧的延伸，它必须服务于人类的福祉和发展，解决社会问题。警惕技术</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脱缰</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，避免技术异化控制或限制人力量，将人</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工具化</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或</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数据化</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8" name="文本框 7"/>
          <p:cNvSpPr txBox="1"/>
          <p:nvPr/>
        </p:nvSpPr>
        <p:spPr>
          <a:xfrm>
            <a:off x="567055" y="3328670"/>
            <a:ext cx="11769090" cy="163576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构建以人为本的技术价值观</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人工智能等新技术的出现，是人类文明和物质世界的又一次高级发展。它必然带来旧的社会规范、伦理道德、法律框架的瓦解和挑战</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在技术发展过程中，必须确保人的尊严、自由和权利不被侵犯，这是技术发展的根本立足点</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以人为本是社会文明向更高级阶段发展的内在要求和正确</a:t>
            </a:r>
            <a:r>
              <a:rPr lang="zh-CN" altLang="en-US" sz="1600" spc="40" dirty="0">
                <a:solidFill>
                  <a:srgbClr val="314371"/>
                </a:solidFill>
                <a:latin typeface="Times New Roman" panose="02020503050405090304" charset="0"/>
                <a:ea typeface="思源黑体" panose="020B0400000000000000" charset="-122"/>
                <a:cs typeface="+mn-ea"/>
                <a:sym typeface="+mn-lt"/>
              </a:rPr>
              <a:t>方向。</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
        <p:nvSpPr>
          <p:cNvPr id="9" name="文本框 8"/>
          <p:cNvSpPr txBox="1"/>
          <p:nvPr/>
        </p:nvSpPr>
        <p:spPr>
          <a:xfrm>
            <a:off x="567690" y="5056505"/>
            <a:ext cx="11769090" cy="1689100"/>
          </a:xfrm>
          <a:prstGeom prst="rect">
            <a:avLst/>
          </a:prstGeom>
          <a:noFill/>
        </p:spPr>
        <p:txBody>
          <a:bodyPr wrap="square" rtlCol="0">
            <a:noAutofit/>
          </a:bodyPr>
          <a:lstStyle/>
          <a:p>
            <a:pPr algn="l">
              <a:lnSpc>
                <a:spcPct val="150000"/>
              </a:lnSpc>
            </a:pPr>
            <a:r>
              <a:rPr lang="zh-CN" altLang="en-US" sz="1800" b="1" spc="40" dirty="0">
                <a:solidFill>
                  <a:srgbClr val="314371"/>
                </a:solidFill>
                <a:latin typeface="Times New Roman" panose="02020503050405090304" charset="0"/>
                <a:ea typeface="思源黑体" panose="020B0400000000000000" charset="-122"/>
                <a:cs typeface="+mn-ea"/>
                <a:sym typeface="+mn-lt"/>
              </a:rPr>
              <a:t>推动科学技术与人文艺术的协调发展</a:t>
            </a:r>
            <a:endParaRPr lang="zh-CN" altLang="en-US" sz="1800" b="1" spc="40" dirty="0">
              <a:solidFill>
                <a:srgbClr val="314371"/>
              </a:solidFill>
              <a:latin typeface="Times New Roman" panose="02020503050405090304" charset="0"/>
              <a:ea typeface="思源黑体" panose="020B0400000000000000" charset="-122"/>
              <a:cs typeface="+mn-ea"/>
              <a:sym typeface="+mn-lt"/>
            </a:endParaRPr>
          </a:p>
          <a:p>
            <a:pPr algn="l">
              <a:lnSpc>
                <a:spcPct val="150000"/>
              </a:lnSpc>
            </a:pPr>
            <a:r>
              <a:rPr lang="zh-CN" altLang="en-US" sz="1600" spc="40" dirty="0">
                <a:solidFill>
                  <a:srgbClr val="314371"/>
                </a:solidFill>
                <a:latin typeface="Times New Roman" panose="02020503050405090304" charset="0"/>
                <a:ea typeface="思源黑体" panose="020B0400000000000000" charset="-122"/>
                <a:cs typeface="+mn-ea"/>
                <a:sym typeface="+mn-lt"/>
              </a:rPr>
              <a:t>科学技术代表的是理性、求真和效率，而人文艺术代表的是价值、审美和情感</a:t>
            </a:r>
            <a:r>
              <a:rPr lang="en-US" altLang="zh-CN" sz="1600" spc="40" dirty="0">
                <a:solidFill>
                  <a:srgbClr val="314371"/>
                </a:solidFill>
                <a:latin typeface="Times New Roman" panose="02020503050405090304" charset="0"/>
                <a:ea typeface="思源黑体" panose="020B0400000000000000" charset="-122"/>
                <a:cs typeface="+mn-ea"/>
                <a:sym typeface="+mn-lt"/>
              </a:rPr>
              <a:t>，</a:t>
            </a:r>
            <a:r>
              <a:rPr lang="zh-CN" altLang="en-US" sz="1600" spc="40" dirty="0">
                <a:solidFill>
                  <a:srgbClr val="314371"/>
                </a:solidFill>
                <a:latin typeface="Times New Roman" panose="02020503050405090304" charset="0"/>
                <a:ea typeface="思源黑体" panose="020B0400000000000000" charset="-122"/>
                <a:cs typeface="+mn-ea"/>
                <a:sym typeface="+mn-lt"/>
              </a:rPr>
              <a:t>过去我们往往片面地将两者割裂开来。推动两者协调发展，正是要将理性（技术）与</a:t>
            </a:r>
            <a:r>
              <a:rPr lang="zh-CN" altLang="en-US" sz="1600" spc="40" dirty="0">
                <a:solidFill>
                  <a:srgbClr val="314371"/>
                </a:solidFill>
                <a:latin typeface="Times New Roman" panose="02020503050405090304" charset="0"/>
                <a:ea typeface="思源黑体" panose="020B0400000000000000" charset="-122"/>
                <a:cs typeface="+mn-ea"/>
                <a:sym typeface="+mn-lt"/>
              </a:rPr>
              <a:t>感性（人文）进行有机结合，实现真、善、美的统一。用人文价值指导技术方向，用技术手段服务艺术表达。</a:t>
            </a:r>
            <a:endParaRPr lang="zh-CN" altLang="en-US" sz="1600" spc="40" dirty="0">
              <a:solidFill>
                <a:srgbClr val="314371"/>
              </a:solidFill>
              <a:latin typeface="Times New Roman" panose="02020503050405090304" charset="0"/>
              <a:ea typeface="思源黑体" panose="020B0400000000000000"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500" fill="hold"/>
                                        <p:tgtEl>
                                          <p:spTgt spid="79"/>
                                        </p:tgtEl>
                                        <p:attrNameLst>
                                          <p:attrName>ppt_x</p:attrName>
                                        </p:attrNameLst>
                                      </p:cBhvr>
                                      <p:tavLst>
                                        <p:tav tm="0">
                                          <p:val>
                                            <p:strVal val="#ppt_x"/>
                                          </p:val>
                                        </p:tav>
                                        <p:tav tm="100000">
                                          <p:val>
                                            <p:strVal val="#ppt_x"/>
                                          </p:val>
                                        </p:tav>
                                      </p:tavLst>
                                    </p:anim>
                                    <p:anim calcmode="lin" valueType="num">
                                      <p:cBhvr additive="base">
                                        <p:cTn id="8" dur="500" fill="hold"/>
                                        <p:tgtEl>
                                          <p:spTgt spid="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7" grpId="0"/>
      <p:bldP spid="8" grpId="0"/>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rcRect t="7647" b="7647"/>
          <a:stretch>
            <a:fillRect/>
          </a:stretch>
        </p:blipFill>
        <p:spPr>
          <a:xfrm>
            <a:off x="353" y="0"/>
            <a:ext cx="12858044" cy="7232650"/>
          </a:xfrm>
          <a:prstGeom prst="rect">
            <a:avLst/>
          </a:prstGeom>
        </p:spPr>
      </p:pic>
      <p:sp>
        <p:nvSpPr>
          <p:cNvPr id="6" name="矩形 5"/>
          <p:cNvSpPr/>
          <p:nvPr/>
        </p:nvSpPr>
        <p:spPr>
          <a:xfrm>
            <a:off x="706" y="0"/>
            <a:ext cx="12858044" cy="7232650"/>
          </a:xfrm>
          <a:prstGeom prst="rect">
            <a:avLst/>
          </a:prstGeom>
          <a:gradFill flip="none" rotWithShape="1">
            <a:gsLst>
              <a:gs pos="5000">
                <a:srgbClr val="314371">
                  <a:lumMod val="43000"/>
                </a:srgbClr>
              </a:gs>
              <a:gs pos="40000">
                <a:srgbClr val="314371">
                  <a:alpha val="88000"/>
                </a:srgbClr>
              </a:gs>
              <a:gs pos="66000">
                <a:schemeClr val="accent5">
                  <a:alpha val="41000"/>
                  <a:lumMod val="94000"/>
                  <a:lumOff val="6000"/>
                </a:schemeClr>
              </a:gs>
              <a:gs pos="100000">
                <a:schemeClr val="accent5">
                  <a:lumMod val="10000"/>
                  <a:lumOff val="90000"/>
                  <a:alpha val="38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cs typeface="+mn-ea"/>
              <a:sym typeface="+mn-lt"/>
            </a:endParaRPr>
          </a:p>
        </p:txBody>
      </p:sp>
      <p:sp>
        <p:nvSpPr>
          <p:cNvPr id="9" name="文本框 8"/>
          <p:cNvSpPr txBox="1"/>
          <p:nvPr/>
        </p:nvSpPr>
        <p:spPr>
          <a:xfrm>
            <a:off x="308695" y="2660828"/>
            <a:ext cx="8917062" cy="829945"/>
          </a:xfrm>
          <a:prstGeom prst="rect">
            <a:avLst/>
          </a:prstGeom>
          <a:noFill/>
        </p:spPr>
        <p:txBody>
          <a:bodyPr wrap="square" rtlCol="0">
            <a:spAutoFit/>
          </a:bodyPr>
          <a:lstStyle/>
          <a:p>
            <a:r>
              <a:rPr lang="zh-CN" altLang="en-US" sz="4800" dirty="0">
                <a:solidFill>
                  <a:schemeClr val="bg1"/>
                </a:solidFill>
                <a:latin typeface="Times New Roman" panose="02020503050405090304" charset="0"/>
                <a:ea typeface="思源黑体" panose="020B0400000000000000" charset="-122"/>
                <a:cs typeface="+mn-ea"/>
                <a:sym typeface="+mn-lt"/>
              </a:rPr>
              <a:t>敬请老师和各位同学批评指正</a:t>
            </a:r>
            <a:endParaRPr lang="zh-CN" altLang="en-US" sz="4800" dirty="0">
              <a:solidFill>
                <a:schemeClr val="bg1"/>
              </a:solidFill>
              <a:latin typeface="Times New Roman" panose="02020503050405090304" charset="0"/>
              <a:ea typeface="思源黑体" panose="020B0400000000000000" charset="-122"/>
              <a:cs typeface="+mn-ea"/>
              <a:sym typeface="+mn-lt"/>
            </a:endParaRPr>
          </a:p>
        </p:txBody>
      </p:sp>
      <p:sp>
        <p:nvSpPr>
          <p:cNvPr id="10" name="文本框 9"/>
          <p:cNvSpPr txBox="1"/>
          <p:nvPr/>
        </p:nvSpPr>
        <p:spPr>
          <a:xfrm>
            <a:off x="455144" y="3758409"/>
            <a:ext cx="6258044" cy="350520"/>
          </a:xfrm>
          <a:prstGeom prst="rect">
            <a:avLst/>
          </a:prstGeom>
          <a:noFill/>
        </p:spPr>
        <p:txBody>
          <a:bodyPr wrap="square" rtlCol="0">
            <a:spAutoFit/>
          </a:bodyPr>
          <a:lstStyle/>
          <a:p>
            <a:pPr algn="dist"/>
            <a:r>
              <a:rPr lang="en-US" altLang="zh-CN" sz="1685" dirty="0">
                <a:solidFill>
                  <a:schemeClr val="bg1"/>
                </a:solidFill>
                <a:latin typeface="Times New Roman" panose="02020503050405090304" charset="0"/>
                <a:ea typeface="思源黑体" panose="020B0400000000000000" charset="-122"/>
                <a:cs typeface="+mn-ea"/>
                <a:sym typeface="+mn-lt"/>
              </a:rPr>
              <a:t>THANK</a:t>
            </a:r>
            <a:r>
              <a:rPr lang="zh-CN" altLang="en-US" sz="1685" dirty="0">
                <a:solidFill>
                  <a:schemeClr val="bg1"/>
                </a:solidFill>
                <a:latin typeface="Times New Roman" panose="02020503050405090304" charset="0"/>
                <a:ea typeface="思源黑体" panose="020B0400000000000000" charset="-122"/>
                <a:cs typeface="+mn-ea"/>
                <a:sym typeface="+mn-lt"/>
              </a:rPr>
              <a:t> </a:t>
            </a:r>
            <a:r>
              <a:rPr lang="en-US" altLang="zh-CN" sz="1685" dirty="0">
                <a:solidFill>
                  <a:schemeClr val="bg1"/>
                </a:solidFill>
                <a:latin typeface="Times New Roman" panose="02020503050405090304" charset="0"/>
                <a:ea typeface="思源黑体" panose="020B0400000000000000" charset="-122"/>
                <a:cs typeface="+mn-ea"/>
                <a:sym typeface="+mn-lt"/>
              </a:rPr>
              <a:t>YOU</a:t>
            </a:r>
            <a:r>
              <a:rPr lang="zh-CN" altLang="en-US" sz="1685" dirty="0">
                <a:solidFill>
                  <a:schemeClr val="bg1"/>
                </a:solidFill>
                <a:latin typeface="Times New Roman" panose="02020503050405090304" charset="0"/>
                <a:ea typeface="思源黑体" panose="020B0400000000000000" charset="-122"/>
                <a:cs typeface="+mn-ea"/>
                <a:sym typeface="+mn-lt"/>
              </a:rPr>
              <a:t> </a:t>
            </a:r>
            <a:r>
              <a:rPr lang="en-US" altLang="zh-CN" sz="1685" dirty="0">
                <a:solidFill>
                  <a:schemeClr val="bg1"/>
                </a:solidFill>
                <a:latin typeface="Times New Roman" panose="02020503050405090304" charset="0"/>
                <a:ea typeface="思源黑体" panose="020B0400000000000000" charset="-122"/>
                <a:cs typeface="+mn-ea"/>
                <a:sym typeface="+mn-lt"/>
              </a:rPr>
              <a:t>FOR</a:t>
            </a:r>
            <a:r>
              <a:rPr lang="zh-CN" altLang="en-US" sz="1685" dirty="0">
                <a:solidFill>
                  <a:schemeClr val="bg1"/>
                </a:solidFill>
                <a:latin typeface="Times New Roman" panose="02020503050405090304" charset="0"/>
                <a:ea typeface="思源黑体" panose="020B0400000000000000" charset="-122"/>
                <a:cs typeface="+mn-ea"/>
                <a:sym typeface="+mn-lt"/>
              </a:rPr>
              <a:t> </a:t>
            </a:r>
            <a:r>
              <a:rPr lang="en-US" altLang="zh-CN" sz="1685" dirty="0">
                <a:solidFill>
                  <a:schemeClr val="bg1"/>
                </a:solidFill>
                <a:latin typeface="Times New Roman" panose="02020503050405090304" charset="0"/>
                <a:ea typeface="思源黑体" panose="020B0400000000000000" charset="-122"/>
                <a:cs typeface="+mn-ea"/>
                <a:sym typeface="+mn-lt"/>
              </a:rPr>
              <a:t>LISTENING</a:t>
            </a:r>
            <a:endParaRPr lang="zh-CN" altLang="en-US" sz="1685" dirty="0">
              <a:solidFill>
                <a:schemeClr val="bg1"/>
              </a:solidFill>
              <a:latin typeface="Times New Roman" panose="02020503050405090304" charset="0"/>
              <a:ea typeface="思源黑体" panose="020B0400000000000000" charset="-122"/>
              <a:cs typeface="+mn-ea"/>
              <a:sym typeface="+mn-lt"/>
            </a:endParaRPr>
          </a:p>
        </p:txBody>
      </p:sp>
      <p:sp>
        <p:nvSpPr>
          <p:cNvPr id="11" name="矩形 10"/>
          <p:cNvSpPr/>
          <p:nvPr/>
        </p:nvSpPr>
        <p:spPr>
          <a:xfrm>
            <a:off x="566118" y="4236192"/>
            <a:ext cx="417633" cy="569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476923" y="4809537"/>
            <a:ext cx="6806565" cy="368300"/>
            <a:chOff x="415303" y="6238391"/>
            <a:chExt cx="6453986" cy="349222"/>
          </a:xfrm>
        </p:grpSpPr>
        <p:sp>
          <p:nvSpPr>
            <p:cNvPr id="12" name="文本框 11"/>
            <p:cNvSpPr txBox="1"/>
            <p:nvPr/>
          </p:nvSpPr>
          <p:spPr>
            <a:xfrm>
              <a:off x="415303" y="6238391"/>
              <a:ext cx="1914942" cy="349222"/>
            </a:xfrm>
            <a:prstGeom prst="rect">
              <a:avLst/>
            </a:prstGeom>
            <a:noFill/>
          </p:spPr>
          <p:txBody>
            <a:bodyPr wrap="square" rtlCol="0">
              <a:spAutoFit/>
            </a:bodyPr>
            <a:lstStyle/>
            <a:p>
              <a:r>
                <a:rPr lang="zh-CN" altLang="en-US" sz="1795" dirty="0">
                  <a:solidFill>
                    <a:schemeClr val="bg1"/>
                  </a:solidFill>
                  <a:latin typeface="Times New Roman" panose="02020503050405090304" charset="0"/>
                  <a:ea typeface="思源黑体" panose="020B0400000000000000" charset="-122"/>
                  <a:cs typeface="+mn-ea"/>
                  <a:sym typeface="+mn-lt"/>
                </a:rPr>
                <a:t>答辩人：</a:t>
              </a:r>
              <a:r>
                <a:rPr lang="en-US" altLang="zh-CN" sz="1795" dirty="0">
                  <a:solidFill>
                    <a:schemeClr val="bg1"/>
                  </a:solidFill>
                  <a:latin typeface="Times New Roman" panose="02020503050405090304" charset="0"/>
                  <a:ea typeface="思源黑体" panose="020B0400000000000000" charset="-122"/>
                  <a:cs typeface="+mn-ea"/>
                  <a:sym typeface="+mn-lt"/>
                </a:rPr>
                <a:t>Illusion</a:t>
              </a:r>
              <a:r>
                <a:rPr lang="en-US" altLang="zh-CN" sz="1795" dirty="0">
                  <a:solidFill>
                    <a:schemeClr val="bg1"/>
                  </a:solidFill>
                  <a:latin typeface="Times New Roman" panose="02020503050405090304" charset="0"/>
                  <a:ea typeface="思源黑体" panose="020B0400000000000000" charset="-122"/>
                  <a:cs typeface="+mn-ea"/>
                  <a:sym typeface="+mn-lt"/>
                </a:rPr>
                <a:t>na</a:t>
              </a:r>
              <a:endParaRPr lang="en-US" altLang="zh-CN" sz="1795" dirty="0">
                <a:solidFill>
                  <a:schemeClr val="bg1"/>
                </a:solidFill>
                <a:latin typeface="Times New Roman" panose="02020503050405090304" charset="0"/>
                <a:ea typeface="思源黑体" panose="020B0400000000000000" charset="-122"/>
                <a:cs typeface="+mn-ea"/>
                <a:sym typeface="+mn-lt"/>
              </a:endParaRPr>
            </a:p>
          </p:txBody>
        </p:sp>
        <p:sp>
          <p:nvSpPr>
            <p:cNvPr id="13" name="文本框 12"/>
            <p:cNvSpPr txBox="1"/>
            <p:nvPr/>
          </p:nvSpPr>
          <p:spPr>
            <a:xfrm>
              <a:off x="2649120" y="6238391"/>
              <a:ext cx="4220169" cy="349222"/>
            </a:xfrm>
            <a:prstGeom prst="rect">
              <a:avLst/>
            </a:prstGeom>
            <a:noFill/>
          </p:spPr>
          <p:txBody>
            <a:bodyPr wrap="square" rtlCol="0">
              <a:spAutoFit/>
            </a:bodyPr>
            <a:lstStyle/>
            <a:p>
              <a:r>
                <a:rPr lang="zh-CN" altLang="en-US" sz="1795" dirty="0">
                  <a:solidFill>
                    <a:schemeClr val="bg1"/>
                  </a:solidFill>
                  <a:latin typeface="Times New Roman" panose="02020503050405090304" charset="0"/>
                  <a:ea typeface="思源黑体" panose="020B0400000000000000" charset="-122"/>
                  <a:cs typeface="+mn-ea"/>
                  <a:sym typeface="+mn-lt"/>
                </a:rPr>
                <a:t>第</a:t>
              </a:r>
              <a:r>
                <a:rPr lang="en-US" altLang="zh-CN" sz="1795" dirty="0">
                  <a:solidFill>
                    <a:schemeClr val="bg1"/>
                  </a:solidFill>
                  <a:latin typeface="Times New Roman" panose="02020503050405090304" charset="0"/>
                  <a:ea typeface="思源黑体" panose="020B0400000000000000" charset="-122"/>
                  <a:cs typeface="+mn-ea"/>
                  <a:sym typeface="+mn-lt"/>
                </a:rPr>
                <a:t> 35 </a:t>
              </a:r>
              <a:r>
                <a:rPr lang="zh-CN" altLang="en-US" sz="1795" dirty="0">
                  <a:solidFill>
                    <a:schemeClr val="bg1"/>
                  </a:solidFill>
                  <a:latin typeface="Times New Roman" panose="02020503050405090304" charset="0"/>
                  <a:ea typeface="思源黑体" panose="020B0400000000000000" charset="-122"/>
                  <a:cs typeface="+mn-ea"/>
                  <a:sym typeface="+mn-lt"/>
                </a:rPr>
                <a:t>组</a:t>
              </a:r>
              <a:r>
                <a:rPr lang="en-US" altLang="zh-CN" sz="1795" dirty="0">
                  <a:solidFill>
                    <a:schemeClr val="bg1"/>
                  </a:solidFill>
                  <a:latin typeface="Times New Roman" panose="02020503050405090304" charset="0"/>
                  <a:ea typeface="思源黑体" panose="020B0400000000000000" charset="-122"/>
                  <a:cs typeface="+mn-ea"/>
                  <a:sym typeface="+mn-lt"/>
                </a:rPr>
                <a:t>：Illusion</a:t>
              </a:r>
              <a:r>
                <a:rPr lang="en-US" altLang="zh-CN" sz="1795" dirty="0">
                  <a:solidFill>
                    <a:schemeClr val="bg1"/>
                  </a:solidFill>
                  <a:latin typeface="Times New Roman" panose="02020503050405090304" charset="0"/>
                  <a:ea typeface="思源黑体" panose="020B0400000000000000" charset="-122"/>
                  <a:cs typeface="+mn-ea"/>
                  <a:sym typeface="+mn-lt"/>
                </a:rPr>
                <a:t>na、</a:t>
              </a:r>
              <a:r>
                <a:rPr lang="zh-CN" altLang="en-US" sz="1795" dirty="0">
                  <a:solidFill>
                    <a:schemeClr val="bg1"/>
                  </a:solidFill>
                  <a:latin typeface="Times New Roman" panose="02020503050405090304" charset="0"/>
                  <a:ea typeface="思源黑体" panose="020B0400000000000000" charset="-122"/>
                  <a:cs typeface="+mn-ea"/>
                  <a:sym typeface="+mn-lt"/>
                </a:rPr>
                <a:t>廖文焘</a:t>
              </a:r>
              <a:r>
                <a:rPr lang="en-US" altLang="zh-CN" sz="1795" dirty="0">
                  <a:solidFill>
                    <a:schemeClr val="bg1"/>
                  </a:solidFill>
                  <a:latin typeface="Times New Roman" panose="02020503050405090304" charset="0"/>
                  <a:ea typeface="思源黑体" panose="020B0400000000000000" charset="-122"/>
                  <a:cs typeface="+mn-ea"/>
                  <a:sym typeface="+mn-lt"/>
                </a:rPr>
                <a:t>、</a:t>
              </a:r>
              <a:r>
                <a:rPr lang="zh-CN" altLang="en-US" sz="1795" dirty="0">
                  <a:solidFill>
                    <a:schemeClr val="bg1"/>
                  </a:solidFill>
                  <a:latin typeface="Times New Roman" panose="02020503050405090304" charset="0"/>
                  <a:ea typeface="思源黑体" panose="020B0400000000000000" charset="-122"/>
                  <a:cs typeface="+mn-ea"/>
                  <a:sym typeface="+mn-lt"/>
                </a:rPr>
                <a:t>李正</a:t>
              </a:r>
              <a:r>
                <a:rPr lang="en-US" altLang="zh-CN" sz="1795" dirty="0">
                  <a:solidFill>
                    <a:schemeClr val="bg1"/>
                  </a:solidFill>
                  <a:latin typeface="Times New Roman" panose="02020503050405090304" charset="0"/>
                  <a:ea typeface="思源黑体" panose="020B0400000000000000" charset="-122"/>
                  <a:cs typeface="+mn-ea"/>
                  <a:sym typeface="+mn-lt"/>
                </a:rPr>
                <a:t>、</a:t>
              </a:r>
              <a:r>
                <a:rPr lang="zh-CN" altLang="en-US" sz="1795" dirty="0">
                  <a:solidFill>
                    <a:schemeClr val="bg1"/>
                  </a:solidFill>
                  <a:latin typeface="Times New Roman" panose="02020503050405090304" charset="0"/>
                  <a:ea typeface="思源黑体" panose="020B0400000000000000" charset="-122"/>
                  <a:cs typeface="+mn-ea"/>
                  <a:sym typeface="+mn-lt"/>
                </a:rPr>
                <a:t>杨磊</a:t>
              </a:r>
              <a:endParaRPr lang="zh-CN" altLang="en-US" sz="1795" dirty="0">
                <a:solidFill>
                  <a:schemeClr val="bg1"/>
                </a:solidFill>
                <a:latin typeface="Times New Roman" panose="02020503050405090304" charset="0"/>
                <a:ea typeface="思源黑体" panose="020B0400000000000000" charset="-122"/>
                <a:cs typeface="+mn-ea"/>
                <a:sym typeface="+mn-lt"/>
              </a:endParaRPr>
            </a:p>
          </p:txBody>
        </p:sp>
      </p:grpSp>
      <p:grpSp>
        <p:nvGrpSpPr>
          <p:cNvPr id="8" name="组合 7"/>
          <p:cNvGrpSpPr/>
          <p:nvPr/>
        </p:nvGrpSpPr>
        <p:grpSpPr>
          <a:xfrm>
            <a:off x="9017770" y="6098612"/>
            <a:ext cx="3428994" cy="829945"/>
            <a:chOff x="9017770" y="6098612"/>
            <a:chExt cx="3428994" cy="829945"/>
          </a:xfrm>
        </p:grpSpPr>
        <p:cxnSp>
          <p:nvCxnSpPr>
            <p:cNvPr id="39" name="直接连接符 38"/>
            <p:cNvCxnSpPr/>
            <p:nvPr/>
          </p:nvCxnSpPr>
          <p:spPr>
            <a:xfrm>
              <a:off x="9453711" y="6890239"/>
              <a:ext cx="2922490"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9017770" y="6098612"/>
              <a:ext cx="3428994" cy="829945"/>
            </a:xfrm>
            <a:prstGeom prst="rect">
              <a:avLst/>
            </a:prstGeom>
            <a:noFill/>
          </p:spPr>
          <p:txBody>
            <a:bodyPr wrap="square" rtlCol="0">
              <a:spAutoFit/>
            </a:bodyPr>
            <a:lstStyle/>
            <a:p>
              <a:pPr algn="r">
                <a:lnSpc>
                  <a:spcPct val="150000"/>
                </a:lnSpc>
              </a:pPr>
              <a:r>
                <a:rPr lang="en-GB" altLang="zh-CN" sz="1600" b="1" dirty="0">
                  <a:solidFill>
                    <a:schemeClr val="bg1"/>
                  </a:solidFill>
                  <a:latin typeface="Times New Roman" panose="02020503050405090304" charset="0"/>
                  <a:ea typeface="思源黑体" panose="020B0400000000000000" charset="-122"/>
                </a:rPr>
                <a:t>University of </a:t>
              </a:r>
              <a:endParaRPr lang="en-GB" altLang="zh-CN" sz="1600" b="1" dirty="0">
                <a:solidFill>
                  <a:schemeClr val="bg1"/>
                </a:solidFill>
                <a:latin typeface="Times New Roman" panose="02020503050405090304" charset="0"/>
                <a:ea typeface="思源黑体" panose="020B0400000000000000" charset="-122"/>
              </a:endParaRPr>
            </a:p>
            <a:p>
              <a:pPr algn="r">
                <a:lnSpc>
                  <a:spcPct val="150000"/>
                </a:lnSpc>
              </a:pPr>
              <a:r>
                <a:rPr lang="en-GB" altLang="zh-CN" sz="1600" b="1" dirty="0">
                  <a:solidFill>
                    <a:schemeClr val="bg1"/>
                  </a:solidFill>
                  <a:latin typeface="Times New Roman" panose="02020503050405090304" charset="0"/>
                  <a:ea typeface="思源黑体" panose="020B0400000000000000" charset="-122"/>
                </a:rPr>
                <a:t>Chinese Academy of Sciences</a:t>
              </a:r>
              <a:endParaRPr lang="zh-CN" altLang="en-US" sz="1795" b="1" spc="53" dirty="0">
                <a:solidFill>
                  <a:schemeClr val="bg1"/>
                </a:solidFill>
                <a:latin typeface="Times New Roman" panose="02020503050405090304" charset="0"/>
                <a:ea typeface="思源黑体" panose="020B0400000000000000" charset="-122"/>
                <a:cs typeface="+mn-ea"/>
                <a:sym typeface="+mn-lt"/>
              </a:endParaRPr>
            </a:p>
          </p:txBody>
        </p:sp>
      </p:gr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6900" y="410474"/>
            <a:ext cx="2697427" cy="569181"/>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par>
                          <p:cTn id="20" fill="hold">
                            <p:stCondLst>
                              <p:cond delay="1250"/>
                            </p:stCondLst>
                            <p:childTnLst>
                              <p:par>
                                <p:cTn id="21" presetID="22" presetClass="entr" presetSubtype="8" fill="hold" nodeType="afterEffect">
                                  <p:stCondLst>
                                    <p:cond delay="25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bldLvl="0" animBg="1"/>
    </p:bldLst>
  </p:timing>
</p:sld>
</file>

<file path=ppt/tags/tag1.xml><?xml version="1.0" encoding="utf-8"?>
<p:tagLst xmlns:p="http://schemas.openxmlformats.org/presentationml/2006/main">
  <p:tag name="ISPRING_PRESENTATION_TITLE" val="bt040.pptx"/>
  <p:tag name="COMMONDATA" val="eyJoZGlkIjoiZWNmMTdiZjYwYTE0N2JiZTY2ZmQwZjRkNjc0ZWQ1ZjMifQ=="/>
</p:tagLst>
</file>

<file path=ppt/theme/theme1.xml><?xml version="1.0" encoding="utf-8"?>
<a:theme xmlns:a="http://schemas.openxmlformats.org/drawingml/2006/main" name="2023国科大融媒体编辑部出品">
  <a:themeElements>
    <a:clrScheme name="自定义 16">
      <a:dk1>
        <a:sysClr val="windowText" lastClr="000000"/>
      </a:dk1>
      <a:lt1>
        <a:sysClr val="window" lastClr="FFFFFF"/>
      </a:lt1>
      <a:dk2>
        <a:srgbClr val="323232"/>
      </a:dk2>
      <a:lt2>
        <a:srgbClr val="E3DED1"/>
      </a:lt2>
      <a:accent1>
        <a:srgbClr val="002060"/>
      </a:accent1>
      <a:accent2>
        <a:srgbClr val="C00000"/>
      </a:accent2>
      <a:accent3>
        <a:srgbClr val="002060"/>
      </a:accent3>
      <a:accent4>
        <a:srgbClr val="C00000"/>
      </a:accent4>
      <a:accent5>
        <a:srgbClr val="002060"/>
      </a:accent5>
      <a:accent6>
        <a:srgbClr val="C00000"/>
      </a:accent6>
      <a:hlink>
        <a:srgbClr val="002060"/>
      </a:hlink>
      <a:folHlink>
        <a:srgbClr val="C00000"/>
      </a:folHlink>
    </a:clrScheme>
    <a:fontScheme name="ltcuzvoa">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9685</Words>
  <Application>WPS 演示</Application>
  <PresentationFormat>自定义</PresentationFormat>
  <Paragraphs>924</Paragraphs>
  <Slides>35</Slides>
  <Notes>8</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35</vt:i4>
      </vt:variant>
    </vt:vector>
  </HeadingPairs>
  <TitlesOfParts>
    <vt:vector size="58" baseType="lpstr">
      <vt:lpstr>Arial</vt:lpstr>
      <vt:lpstr>宋体</vt:lpstr>
      <vt:lpstr>Wingdings</vt:lpstr>
      <vt:lpstr>Calibri</vt:lpstr>
      <vt:lpstr>Helvetica Neue</vt:lpstr>
      <vt:lpstr>汉仪书宋二KW</vt:lpstr>
      <vt:lpstr>微软雅黑</vt:lpstr>
      <vt:lpstr>Times New Roman</vt:lpstr>
      <vt:lpstr>思源黑体</vt:lpstr>
      <vt:lpstr>汉仪中黑KW</vt:lpstr>
      <vt:lpstr>等线 Light</vt:lpstr>
      <vt:lpstr>等线</vt:lpstr>
      <vt:lpstr>汉仪旗黑</vt:lpstr>
      <vt:lpstr>宋体</vt:lpstr>
      <vt:lpstr>Arial Unicode MS</vt:lpstr>
      <vt:lpstr>Arial</vt:lpstr>
      <vt:lpstr>Times New Roman Regular</vt:lpstr>
      <vt:lpstr>汉仪中等线KW</vt:lpstr>
      <vt:lpstr>微软雅黑</vt:lpstr>
      <vt:lpstr>思源黑体</vt:lpstr>
      <vt:lpstr>等线</vt:lpstr>
      <vt:lpstr>等线 Light</vt:lpstr>
      <vt:lpstr>2023国科大融媒体编辑部出品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蓝色扁平化</dc:title>
  <dc:creator/>
  <cp:lastModifiedBy>幻象</cp:lastModifiedBy>
  <cp:revision>94</cp:revision>
  <dcterms:created xsi:type="dcterms:W3CDTF">2026-01-30T14:11:39Z</dcterms:created>
  <dcterms:modified xsi:type="dcterms:W3CDTF">2026-01-30T14:11:39Z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6975B37239B1403D95543D2AB2194B3A_12</vt:lpwstr>
  </property>
  <property fmtid="{D5CDD505-2E9C-101B-9397-08002B2CF9AE}" pid="3" name="KSOProductBuildVer">
    <vt:lpwstr>2052-12.1.24031.24031</vt:lpwstr>
  </property>
</Properties>
</file>