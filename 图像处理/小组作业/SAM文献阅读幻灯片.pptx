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0"/>
  </p:handoutMasterIdLst>
  <p:sldIdLst>
    <p:sldId id="260" r:id="rId3"/>
    <p:sldId id="265" r:id="rId4"/>
    <p:sldId id="267" r:id="rId6"/>
    <p:sldId id="263" r:id="rId7"/>
    <p:sldId id="268" r:id="rId8"/>
    <p:sldId id="269" r:id="rId9"/>
    <p:sldId id="270" r:id="rId10"/>
    <p:sldId id="271" r:id="rId11"/>
    <p:sldId id="272" r:id="rId12"/>
    <p:sldId id="273" r:id="rId13"/>
    <p:sldId id="261" r:id="rId14"/>
    <p:sldId id="274" r:id="rId15"/>
    <p:sldId id="275" r:id="rId16"/>
    <p:sldId id="276" r:id="rId17"/>
    <p:sldId id="262" r:id="rId18"/>
    <p:sldId id="27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B1D4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2"/>
        <p:guide pos="38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7"/>
          <p:cNvSpPr/>
          <p:nvPr userDrawn="1"/>
        </p:nvSpPr>
        <p:spPr>
          <a:xfrm>
            <a:off x="0" y="6822017"/>
            <a:ext cx="12192000" cy="46567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base" latinLnBrk="1" hangingPunct="1">
              <a:defRPr/>
            </a:pPr>
            <a:endParaRPr lang="zh-CN" altLang="en-US" sz="3200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4" name="矩形 8"/>
          <p:cNvSpPr/>
          <p:nvPr userDrawn="1"/>
        </p:nvSpPr>
        <p:spPr>
          <a:xfrm>
            <a:off x="0" y="5810251"/>
            <a:ext cx="12192000" cy="1047749"/>
          </a:xfrm>
          <a:prstGeom prst="rect">
            <a:avLst/>
          </a:prstGeom>
          <a:solidFill>
            <a:srgbClr val="004992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base" latinLnBrk="1" hangingPunct="1">
              <a:defRPr/>
            </a:pPr>
            <a:endParaRPr lang="zh-CN" altLang="en-US" sz="3200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5" name="矩形 9"/>
          <p:cNvSpPr/>
          <p:nvPr userDrawn="1"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004992"/>
          </a:solidFill>
          <a:ln>
            <a:noFill/>
          </a:ln>
          <a:effectLst>
            <a:outerShdw blurRad="40000" dist="20000" dir="5400000" rotWithShape="0">
              <a:schemeClr val="bg1">
                <a:alpha val="38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base" latinLnBrk="1" hangingPunct="1">
              <a:defRPr/>
            </a:pPr>
            <a:endParaRPr lang="zh-CN" altLang="en-US" sz="3200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tx2"/>
              </a:solidFill>
            </a:endParaRPr>
          </a:p>
        </p:txBody>
      </p:sp>
      <p:pic>
        <p:nvPicPr>
          <p:cNvPr id="6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1" y="6043084"/>
            <a:ext cx="2952749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14"/>
          <p:cNvSpPr/>
          <p:nvPr userDrawn="1"/>
        </p:nvSpPr>
        <p:spPr>
          <a:xfrm>
            <a:off x="0" y="5791200"/>
            <a:ext cx="12192000" cy="232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base" latinLnBrk="1" hangingPunct="1">
              <a:defRPr/>
            </a:pPr>
            <a:endParaRPr lang="zh-CN" altLang="en-US" sz="3200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8" name="矩形 15"/>
          <p:cNvSpPr/>
          <p:nvPr userDrawn="1"/>
        </p:nvSpPr>
        <p:spPr>
          <a:xfrm>
            <a:off x="0" y="531284"/>
            <a:ext cx="12192000" cy="105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base" latinLnBrk="1" hangingPunct="1">
              <a:defRPr/>
            </a:pPr>
            <a:endParaRPr lang="zh-CN" altLang="en-US" sz="3200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itchFamily="49" charset="-122"/>
                <a:ea typeface="黑体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14400" y="6477000"/>
            <a:ext cx="2540000" cy="304800"/>
          </a:xfrm>
          <a:ln>
            <a:miter lim="800000"/>
          </a:ln>
        </p:spPr>
        <p:txBody>
          <a:bodyPr wrap="square" numCol="1" anchor="t" anchorCtr="0" compatLnSpc="1"/>
          <a:lstStyle>
            <a:lvl1pPr algn="l">
              <a:defRPr sz="1865">
                <a:solidFill>
                  <a:srgbClr val="192214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00" y="6477000"/>
            <a:ext cx="3860800" cy="304800"/>
          </a:xfrm>
          <a:ln>
            <a:miter lim="800000"/>
          </a:ln>
        </p:spPr>
        <p:txBody>
          <a:bodyPr wrap="square" numCol="1" anchor="t" anchorCtr="0" compatLnSpc="1"/>
          <a:lstStyle>
            <a:lvl1pPr>
              <a:defRPr sz="1865">
                <a:solidFill>
                  <a:srgbClr val="192214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477000"/>
            <a:ext cx="2540000" cy="304800"/>
          </a:xfrm>
          <a:ln>
            <a:miter lim="800000"/>
          </a:ln>
        </p:spPr>
        <p:txBody>
          <a:bodyPr anchor="t"/>
          <a:lstStyle>
            <a:lvl1pPr>
              <a:defRPr sz="1865">
                <a:solidFill>
                  <a:srgbClr val="192214"/>
                </a:solidFill>
                <a:latin typeface="-쉬리M" panose="02030600000101010101" pitchFamily="18" charset="-127"/>
                <a:ea typeface="-쉬리M" panose="02030600000101010101" pitchFamily="18" charset="-127"/>
              </a:defRPr>
            </a:lvl1pPr>
          </a:lstStyle>
          <a:p>
            <a:pPr>
              <a:defRPr/>
            </a:pPr>
            <a:fld id="{6A3A4197-5C2D-48FE-BC09-23C048E686D0}" type="slidenum">
              <a:rPr lang="en-US" altLang="ko-KR"/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55639"/>
            <a:ext cx="10972800" cy="773095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20755"/>
            <a:ext cx="10972800" cy="4905409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itchFamily="49" charset="-122"/>
                <a:ea typeface="楷体" pitchFamily="49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1" hangingPunct="1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FE01024-ED54-4812-9021-73ACCB10C07D}" type="datetimeFigureOut">
              <a:rPr lang="zh-CN" altLang="en-US"/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1" hangingPunct="1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latinLnBrk="1" hangingPunct="1">
              <a:defRPr sz="16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22C212A-87C6-4DBD-AE29-35349032BA6E}" type="slidenum">
              <a:rPr lang="zh-CN" altLang="en-US"/>
            </a:fld>
            <a:endParaRPr lang="zh-CN" altLang="en-US"/>
          </a:p>
        </p:txBody>
      </p:sp>
      <p:pic>
        <p:nvPicPr>
          <p:cNvPr id="1029" name="图片 1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7" y="6275917"/>
            <a:ext cx="4652433" cy="46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图片 1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6267451"/>
            <a:ext cx="4572000" cy="452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图片 2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1" y="6252633"/>
            <a:ext cx="2286000" cy="478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5335">
          <a:solidFill>
            <a:srgbClr val="E7EDEB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E7EDEB"/>
          </a:solidFill>
          <a:latin typeface="-쉬리B" pitchFamily="18" charset="-127"/>
          <a:ea typeface="-쉬리B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E7EDEB"/>
          </a:solidFill>
          <a:latin typeface="-쉬리B" pitchFamily="18" charset="-127"/>
          <a:ea typeface="-쉬리B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E7EDEB"/>
          </a:solidFill>
          <a:latin typeface="-쉬리B" pitchFamily="18" charset="-127"/>
          <a:ea typeface="-쉬리B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rgbClr val="E7EDEB"/>
          </a:solidFill>
          <a:latin typeface="-쉬리B" pitchFamily="18" charset="-127"/>
          <a:ea typeface="-쉬리B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000">
          <a:solidFill>
            <a:srgbClr val="E7EDEB"/>
          </a:solidFill>
          <a:latin typeface="-쉬리B" pitchFamily="18" charset="-127"/>
          <a:ea typeface="-쉬리B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000">
          <a:solidFill>
            <a:srgbClr val="E7EDEB"/>
          </a:solidFill>
          <a:latin typeface="-쉬리B" pitchFamily="18" charset="-127"/>
          <a:ea typeface="-쉬리B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000">
          <a:solidFill>
            <a:srgbClr val="E7EDEB"/>
          </a:solidFill>
          <a:latin typeface="-쉬리B" pitchFamily="18" charset="-127"/>
          <a:ea typeface="-쉬리B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000">
          <a:solidFill>
            <a:srgbClr val="E7EDEB"/>
          </a:solidFill>
          <a:latin typeface="-쉬리B" pitchFamily="18" charset="-127"/>
          <a:ea typeface="-쉬리B" pitchFamily="18" charset="-127"/>
        </a:defRPr>
      </a:lvl9pPr>
    </p:titleStyle>
    <p:bodyStyle>
      <a:lvl1pPr marL="457200" indent="-457200" algn="l" rtl="0" eaLnBrk="0" fontAlgn="base" latinLnBrk="1" hangingPunct="0">
        <a:spcBef>
          <a:spcPts val="130"/>
        </a:spcBef>
        <a:spcAft>
          <a:spcPct val="0"/>
        </a:spcAft>
        <a:buChar char="•"/>
        <a:defRPr kumimoji="1" sz="2935">
          <a:solidFill>
            <a:srgbClr val="B1C9A9"/>
          </a:solidFill>
          <a:latin typeface="+mn-lt"/>
          <a:ea typeface="+mn-ea"/>
          <a:cs typeface="+mn-cs"/>
        </a:defRPr>
      </a:lvl1pPr>
      <a:lvl2pPr marL="990600" indent="-381000" algn="l" rtl="0" eaLnBrk="0" fontAlgn="base" latinLnBrk="1" hangingPunct="0">
        <a:spcBef>
          <a:spcPts val="130"/>
        </a:spcBef>
        <a:spcAft>
          <a:spcPct val="0"/>
        </a:spcAft>
        <a:buChar char="•"/>
        <a:defRPr kumimoji="1" sz="2665">
          <a:solidFill>
            <a:srgbClr val="B1C9A9"/>
          </a:solidFill>
          <a:latin typeface="+mn-lt"/>
          <a:ea typeface="+mn-ea"/>
        </a:defRPr>
      </a:lvl2pPr>
      <a:lvl3pPr marL="1524000" indent="-304800" algn="l" rtl="0" eaLnBrk="0" fontAlgn="base" latinLnBrk="1" hangingPunct="0">
        <a:spcBef>
          <a:spcPts val="130"/>
        </a:spcBef>
        <a:spcAft>
          <a:spcPct val="0"/>
        </a:spcAft>
        <a:buChar char="•"/>
        <a:defRPr kumimoji="1">
          <a:solidFill>
            <a:srgbClr val="B1C9A9"/>
          </a:solidFill>
          <a:latin typeface="+mn-lt"/>
          <a:ea typeface="+mn-ea"/>
        </a:defRPr>
      </a:lvl3pPr>
      <a:lvl4pPr marL="2133600" indent="-304800" algn="l" rtl="0" eaLnBrk="0" fontAlgn="base" latinLnBrk="1" hangingPunct="0">
        <a:spcBef>
          <a:spcPts val="130"/>
        </a:spcBef>
        <a:spcAft>
          <a:spcPct val="0"/>
        </a:spcAft>
        <a:buChar char="•"/>
        <a:defRPr kumimoji="1" sz="2135">
          <a:solidFill>
            <a:srgbClr val="B1C9A9"/>
          </a:solidFill>
          <a:latin typeface="+mn-lt"/>
          <a:ea typeface="+mn-ea"/>
        </a:defRPr>
      </a:lvl4pPr>
      <a:lvl5pPr marL="2743200" indent="-304800" algn="l" rtl="0" eaLnBrk="0" fontAlgn="base" latinLnBrk="1" hangingPunct="0">
        <a:spcBef>
          <a:spcPts val="130"/>
        </a:spcBef>
        <a:spcAft>
          <a:spcPct val="0"/>
        </a:spcAft>
        <a:buChar char="•"/>
        <a:defRPr kumimoji="1" sz="1865">
          <a:solidFill>
            <a:srgbClr val="B1C9A9"/>
          </a:solidFill>
          <a:latin typeface="+mn-lt"/>
          <a:ea typeface="+mn-ea"/>
        </a:defRPr>
      </a:lvl5pPr>
      <a:lvl6pPr marL="3352800" indent="-304800" algn="l" rtl="0" fontAlgn="base" latinLnBrk="1">
        <a:spcBef>
          <a:spcPts val="130"/>
        </a:spcBef>
        <a:spcAft>
          <a:spcPct val="0"/>
        </a:spcAft>
        <a:buChar char="•"/>
        <a:defRPr kumimoji="1" sz="1865">
          <a:solidFill>
            <a:srgbClr val="B1C9A9"/>
          </a:solidFill>
          <a:latin typeface="+mn-lt"/>
          <a:ea typeface="+mn-ea"/>
        </a:defRPr>
      </a:lvl6pPr>
      <a:lvl7pPr marL="3962400" indent="-304800" algn="l" rtl="0" fontAlgn="base" latinLnBrk="1">
        <a:spcBef>
          <a:spcPts val="130"/>
        </a:spcBef>
        <a:spcAft>
          <a:spcPct val="0"/>
        </a:spcAft>
        <a:buChar char="•"/>
        <a:defRPr kumimoji="1" sz="1865">
          <a:solidFill>
            <a:srgbClr val="B1C9A9"/>
          </a:solidFill>
          <a:latin typeface="+mn-lt"/>
          <a:ea typeface="+mn-ea"/>
        </a:defRPr>
      </a:lvl7pPr>
      <a:lvl8pPr marL="4572000" indent="-304800" algn="l" rtl="0" fontAlgn="base" latinLnBrk="1">
        <a:spcBef>
          <a:spcPts val="130"/>
        </a:spcBef>
        <a:spcAft>
          <a:spcPct val="0"/>
        </a:spcAft>
        <a:buChar char="•"/>
        <a:defRPr kumimoji="1" sz="1865">
          <a:solidFill>
            <a:srgbClr val="B1C9A9"/>
          </a:solidFill>
          <a:latin typeface="+mn-lt"/>
          <a:ea typeface="+mn-ea"/>
        </a:defRPr>
      </a:lvl8pPr>
      <a:lvl9pPr marL="5181600" indent="-304800" algn="l" rtl="0" fontAlgn="base" latinLnBrk="1">
        <a:spcBef>
          <a:spcPts val="130"/>
        </a:spcBef>
        <a:spcAft>
          <a:spcPct val="0"/>
        </a:spcAft>
        <a:buChar char="•"/>
        <a:defRPr kumimoji="1" sz="1865">
          <a:solidFill>
            <a:srgbClr val="B1C9A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3947" y="3044613"/>
            <a:ext cx="10843260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/>
            <a:r>
              <a:rPr lang="zh-CN" altLang="en-US" sz="3735" b="1" dirty="0">
                <a:latin typeface="微软雅黑" charset="-122"/>
                <a:ea typeface="微软雅黑" charset="-122"/>
                <a:cs typeface="STHeiti Light" panose="02010600040101010101" charset="-122"/>
              </a:rPr>
              <a:t>研 究 背 </a:t>
            </a:r>
            <a:r>
              <a:rPr lang="zh-CN" altLang="en-US" sz="3735" b="1" dirty="0">
                <a:latin typeface="微软雅黑" charset="-122"/>
                <a:ea typeface="微软雅黑" charset="-122"/>
                <a:cs typeface="STHeiti Light" panose="02010600040101010101" charset="-122"/>
              </a:rPr>
              <a:t>景</a:t>
            </a:r>
            <a:endParaRPr lang="zh-CN" altLang="en-US" sz="3735" b="1" dirty="0">
              <a:latin typeface="微软雅黑" charset="-122"/>
              <a:ea typeface="微软雅黑" charset="-122"/>
              <a:cs typeface="STHeiti Light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50926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研究背景与动机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0111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基础模型的崛起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9700" y="1938020"/>
            <a:ext cx="3876675" cy="12604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indent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NLP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领域的成功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：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大语言模型（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LLM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）如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GPT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系列，通过大规模网络数据预训练，展现了强大的零样本（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Zero-shot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）和少样本泛化能力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57345" y="1939290"/>
            <a:ext cx="3876675" cy="12623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CV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领域的现状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：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尽管出现了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CLIP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和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ALIGN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等图文对齐模型，但在图像分割任务中，仍缺乏类似的基础模型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174990" y="1942465"/>
            <a:ext cx="3876675" cy="12592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indent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核心痛点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：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现有的分割模型多为全监督训练，针对特定任务设计，难以泛化到新的数据分布和任务中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" y="3552825"/>
            <a:ext cx="5509895" cy="219392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395" y="3552825"/>
            <a:ext cx="6224270" cy="2193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50926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研究背景与动机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0111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研究目标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6265" y="1880235"/>
            <a:ext cx="2846705" cy="1123950"/>
          </a:xfrm>
          <a:prstGeom prst="rect">
            <a:avLst/>
          </a:prstGeom>
          <a:ln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1600" b="1" dirty="0"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构建</a:t>
            </a:r>
            <a:r>
              <a:rPr lang="en-US" altLang="zh-CN" sz="1600" b="1" dirty="0"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CV </a:t>
            </a:r>
            <a:r>
              <a:rPr lang="zh-CN" altLang="en-US" sz="1600" b="1" dirty="0"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基础模型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旨在开发一个通用的图像分割基础模型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6265" y="3759835"/>
            <a:ext cx="2846705" cy="2380615"/>
          </a:xfrm>
          <a:prstGeom prst="rect">
            <a:avLst/>
          </a:prstGeom>
          <a:ln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1600" b="1" dirty="0"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核心路径</a:t>
            </a:r>
            <a:endParaRPr lang="en-GB" altLang="zh-CN" sz="1600" b="1" dirty="0"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引入“提示工程”（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Prompt Engineering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）机制，通过构建可提示模型（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Promptable Model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）和海量数据集（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SA-1B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）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，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实现对未知任务和图像的有效分割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pic>
        <p:nvPicPr>
          <p:cNvPr id="5" name="图片 4" descr="截屏2025-12-17 23.17.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0" y="2108835"/>
            <a:ext cx="7524115" cy="38931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85995" y="1623060"/>
            <a:ext cx="5864860" cy="359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SA-1B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数据集掩码数量不断提升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，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模型分割效果依然表现优异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1734185" y="3139440"/>
            <a:ext cx="571500" cy="485775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3947" y="3044613"/>
            <a:ext cx="10843260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/>
            <a:r>
              <a:rPr lang="zh-CN" altLang="en-US" sz="3735" b="1" dirty="0">
                <a:latin typeface="微软雅黑" charset="-122"/>
                <a:ea typeface="微软雅黑" charset="-122"/>
                <a:cs typeface="STHeiti Light" panose="02010600040101010101" charset="-122"/>
              </a:rPr>
              <a:t>方 法 介 绍</a:t>
            </a:r>
            <a:endParaRPr lang="zh-CN" altLang="en-US" sz="3735" b="1" dirty="0">
              <a:latin typeface="微软雅黑" charset="-122"/>
              <a:ea typeface="微软雅黑" charset="-122"/>
              <a:cs typeface="STHeiti Light" panose="0201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239395" y="1938020"/>
            <a:ext cx="2689225" cy="18421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86549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可提示分割核心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任务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0111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任务定义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46075" y="2946400"/>
            <a:ext cx="2430780" cy="7124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indent="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提示可以是空间信息（点、框、掩码）或语义信息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6075" y="2065020"/>
            <a:ext cx="2430780" cy="7124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ko-KR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输入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：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图像和分割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提示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ongti SC Regular" panose="02010800040101010101" charset="-122"/>
              <a:ea typeface="Songti SC Regular" panose="0201080004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48810" y="2503170"/>
            <a:ext cx="2430780" cy="7124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ko-KR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输出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：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有效的分割掩码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ongti SC Regular" panose="02010800040101010101" charset="-122"/>
              <a:ea typeface="Songti SC Regular" panose="02010800040101010101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060065" y="2701925"/>
            <a:ext cx="1257300" cy="314325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pic>
        <p:nvPicPr>
          <p:cNvPr id="15" name="图片 14" descr="截屏2025-12-18 00.10.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6335" y="1603375"/>
            <a:ext cx="3362960" cy="2510790"/>
          </a:xfrm>
          <a:prstGeom prst="rect">
            <a:avLst/>
          </a:prstGeom>
          <a:ln w="28575" cmpd="sng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/>
        </p:spPr>
      </p:pic>
      <p:sp>
        <p:nvSpPr>
          <p:cNvPr id="18" name="文本框 17"/>
          <p:cNvSpPr txBox="1"/>
          <p:nvPr/>
        </p:nvSpPr>
        <p:spPr>
          <a:xfrm>
            <a:off x="239395" y="3966210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核心机制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506335" y="4410075"/>
            <a:ext cx="2018030" cy="473075"/>
          </a:xfrm>
          <a:prstGeom prst="rect">
            <a:avLst/>
          </a:prstGeom>
          <a:ln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提示可能具有歧义</a:t>
            </a:r>
            <a:endParaRPr kumimoji="1" lang="zh-CN" altLang="en-US" sz="1600" dirty="0">
              <a:solidFill>
                <a:schemeClr val="tx1"/>
              </a:solidFill>
              <a:uFillTx/>
              <a:latin typeface="Songti SC Regular" panose="02010800040101010101" charset="-122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506335" y="4883150"/>
            <a:ext cx="4367530" cy="1123315"/>
          </a:xfrm>
          <a:prstGeom prst="rect">
            <a:avLst/>
          </a:prstGeom>
          <a:solidFill>
            <a:srgbClr val="AFB1D4"/>
          </a:solidFill>
          <a:ln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模型必须能够输出至少一个合理的掩码。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SAM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通过设计多掩码输出（通常预测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 3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个掩码：整体、部分、子部分）来应对这一问题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pic>
        <p:nvPicPr>
          <p:cNvPr id="24" name="图片 23" descr="截屏2025-12-18 00.46.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5" y="4593590"/>
            <a:ext cx="6858635" cy="1412875"/>
          </a:xfrm>
          <a:prstGeom prst="rec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25" name="文本框 24"/>
          <p:cNvSpPr txBox="1"/>
          <p:nvPr/>
        </p:nvSpPr>
        <p:spPr>
          <a:xfrm>
            <a:off x="2436495" y="3954145"/>
            <a:ext cx="4661535" cy="514985"/>
          </a:xfrm>
          <a:prstGeom prst="rect">
            <a:avLst/>
          </a:prstGeom>
          <a:ln w="19050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2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可提示分割</a:t>
            </a:r>
            <a:r>
              <a:rPr kumimoji="1" lang="zh-CN" altLang="en-US" sz="12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任务不仅作为预训练目标，还赋予了模型在推理时通过设计不同提示来解决下游任务（如边缘检测、实例分割）的能力</a:t>
            </a:r>
            <a:endParaRPr kumimoji="1" lang="zh-CN" altLang="en-US" sz="1200" dirty="0">
              <a:solidFill>
                <a:schemeClr val="tx1"/>
              </a:solidFill>
              <a:uFillTx/>
              <a:latin typeface="Songti SC Regular" panose="02010800040101010101" charset="-122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86549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模型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架构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0111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图像编码器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9725" y="1748790"/>
            <a:ext cx="5864860" cy="785495"/>
          </a:xfrm>
          <a:prstGeom prst="rect">
            <a:avLst/>
          </a:prstGeom>
          <a:ln w="19050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基于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MAE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预训练的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ViT-H16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，输入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1024x1024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，输出图像嵌入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，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计算量大，但对每张图仅运行一次，生成的嵌入可重复使用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Songti SC Regular" panose="02010800040101010101" charset="-122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9395" y="3653790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提示编码器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9395" y="547433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掩码解码器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pic>
        <p:nvPicPr>
          <p:cNvPr id="7" name="图片 6" descr="截屏2025-12-18 09.15.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7275" y="1274445"/>
            <a:ext cx="4666615" cy="3598545"/>
          </a:xfrm>
          <a:prstGeom prst="rect">
            <a:avLst/>
          </a:prstGeom>
          <a:effectLst>
            <a:reflection blurRad="50800" stA="50000" endA="300" endPos="45000" dir="5400000" sy="-100000" algn="bl" rotWithShape="0"/>
          </a:effectLst>
        </p:spPr>
      </p:pic>
      <p:sp>
        <p:nvSpPr>
          <p:cNvPr id="8" name="文本框 7"/>
          <p:cNvSpPr txBox="1"/>
          <p:nvPr/>
        </p:nvSpPr>
        <p:spPr>
          <a:xfrm>
            <a:off x="1752600" y="5311775"/>
            <a:ext cx="3890010" cy="785495"/>
          </a:xfrm>
          <a:prstGeom prst="rect">
            <a:avLst/>
          </a:prstGeom>
          <a:ln w="19050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轻量级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Transformer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架构，包含双向交叉注意力机制（提示到图像，图像到提示）</a:t>
            </a:r>
            <a:endParaRPr kumimoji="1" lang="zh-CN" altLang="en-US" sz="1600" dirty="0">
              <a:solidFill>
                <a:schemeClr val="tx1"/>
              </a:solidFill>
              <a:uFillTx/>
              <a:latin typeface="Songti SC Regular" panose="02010800040101010101" charset="-122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363470" y="2663825"/>
            <a:ext cx="2430780" cy="7124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稀疏提示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（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点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、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框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）：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使用位置编码和学习型嵌入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ongti SC Regular" panose="02010800040101010101" charset="-122"/>
              <a:ea typeface="Songti SC Regular" panose="0201080004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63470" y="3546475"/>
            <a:ext cx="2430780" cy="7124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稠密提示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（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掩码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）：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使用卷积层嵌入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ongti SC Regular" panose="02010800040101010101" charset="-122"/>
              <a:ea typeface="Songti SC Regular" panose="0201080004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63470" y="4429125"/>
            <a:ext cx="2430780" cy="7124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文本提示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：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使用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 CLIP 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的文本编码器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ongti SC Regular" panose="02010800040101010101" charset="-122"/>
              <a:ea typeface="Songti SC Regular" panose="020108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07275" y="5311775"/>
            <a:ext cx="2324100" cy="785495"/>
          </a:xfrm>
          <a:prstGeom prst="rect">
            <a:avLst/>
          </a:prstGeom>
          <a:ln w="19050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实时性极高，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CPU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浏览器端运行仅需约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50ms</a:t>
            </a:r>
            <a:endParaRPr kumimoji="1" lang="en-US" altLang="zh-CN" sz="1600" dirty="0">
              <a:solidFill>
                <a:schemeClr val="tx1"/>
              </a:solidFill>
              <a:uFillTx/>
              <a:latin typeface="Songti SC Regular" panose="02010800040101010101" charset="-122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13" name="左右箭头 12"/>
          <p:cNvSpPr/>
          <p:nvPr/>
        </p:nvSpPr>
        <p:spPr>
          <a:xfrm>
            <a:off x="5817870" y="5474335"/>
            <a:ext cx="1414145" cy="428625"/>
          </a:xfrm>
          <a:prstGeom prst="leftRightArrow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4822825" y="3987800"/>
            <a:ext cx="5425440" cy="1022350"/>
          </a:xfrm>
          <a:custGeom>
            <a:avLst/>
            <a:gdLst>
              <a:gd name="connisteX0" fmla="*/ 0 w 5778500"/>
              <a:gd name="connsiteY0" fmla="*/ 0 h 1310569"/>
              <a:gd name="connisteX1" fmla="*/ 1418590 w 5778500"/>
              <a:gd name="connsiteY1" fmla="*/ 1093470 h 1310569"/>
              <a:gd name="connisteX2" fmla="*/ 4093845 w 5778500"/>
              <a:gd name="connsiteY2" fmla="*/ 1226820 h 1310569"/>
              <a:gd name="connisteX3" fmla="*/ 5778500 w 5778500"/>
              <a:gd name="connsiteY3" fmla="*/ 398780 h 1310569"/>
              <a:gd name="connisteX4" fmla="*/ 4758690 w 5778500"/>
              <a:gd name="connsiteY4" fmla="*/ 798195 h 131056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5778500" h="1310569">
                <a:moveTo>
                  <a:pt x="0" y="0"/>
                </a:moveTo>
                <a:cubicBezTo>
                  <a:pt x="230505" y="215900"/>
                  <a:pt x="600075" y="848360"/>
                  <a:pt x="1418590" y="1093470"/>
                </a:cubicBezTo>
                <a:cubicBezTo>
                  <a:pt x="2237105" y="1338580"/>
                  <a:pt x="3221990" y="1365885"/>
                  <a:pt x="4093845" y="1226820"/>
                </a:cubicBezTo>
                <a:cubicBezTo>
                  <a:pt x="4965700" y="1087755"/>
                  <a:pt x="5645785" y="484505"/>
                  <a:pt x="5778500" y="398780"/>
                </a:cubicBezTo>
              </a:path>
            </a:pathLst>
          </a:custGeom>
          <a:ln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cxnSp>
        <p:nvCxnSpPr>
          <p:cNvPr id="19" name="曲线连接符 18"/>
          <p:cNvCxnSpPr>
            <a:stCxn id="10" idx="3"/>
          </p:cNvCxnSpPr>
          <p:nvPr/>
        </p:nvCxnSpPr>
        <p:spPr>
          <a:xfrm>
            <a:off x="4794250" y="3020060"/>
            <a:ext cx="3009900" cy="984250"/>
          </a:xfrm>
          <a:prstGeom prst="curvedConnector3">
            <a:avLst>
              <a:gd name="adj1" fmla="val 50000"/>
            </a:avLst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9" idx="3"/>
          </p:cNvCxnSpPr>
          <p:nvPr/>
        </p:nvCxnSpPr>
        <p:spPr>
          <a:xfrm flipV="1">
            <a:off x="4794250" y="2304415"/>
            <a:ext cx="3394075" cy="2480945"/>
          </a:xfrm>
          <a:prstGeom prst="line">
            <a:avLst/>
          </a:prstGeom>
          <a:ln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截屏2025-12-18 09.33.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325" y="1972945"/>
            <a:ext cx="7199630" cy="2905760"/>
          </a:xfrm>
          <a:prstGeom prst="rect">
            <a:avLst/>
          </a:prstGeom>
          <a:ln w="28575" cmpd="sng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>
            <a:outerShdw blurRad="571500" dist="38100" dir="8100000" algn="tr" rotWithShape="0">
              <a:prstClr val="black">
                <a:alpha val="40000"/>
              </a:prstClr>
            </a:outerShdw>
            <a:reflection blurRad="6350" stA="30000" endA="300" endPos="35000" dir="5400000" sy="-100000" algn="bl" rotWithShape="0"/>
          </a:effectLst>
        </p:spPr>
      </p:pic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86549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训练损失与输出策略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0111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多掩码预测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52195" y="5094605"/>
            <a:ext cx="2846705" cy="721995"/>
          </a:xfrm>
          <a:prstGeom prst="rect">
            <a:avLst/>
          </a:prstGeom>
          <a:ln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模型针对一个提示默认输出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3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个层级的掩码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267065" y="5094605"/>
            <a:ext cx="2846705" cy="721995"/>
          </a:xfrm>
          <a:prstGeom prst="rect">
            <a:avLst/>
          </a:prstGeom>
          <a:ln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同时预测每个掩码的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IoU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置信度评分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cxnSp>
        <p:nvCxnSpPr>
          <p:cNvPr id="21" name="曲线连接符 20"/>
          <p:cNvCxnSpPr/>
          <p:nvPr/>
        </p:nvCxnSpPr>
        <p:spPr>
          <a:xfrm flipV="1">
            <a:off x="3948430" y="2884805"/>
            <a:ext cx="3006090" cy="2599055"/>
          </a:xfrm>
          <a:prstGeom prst="curvedConnector3">
            <a:avLst>
              <a:gd name="adj1" fmla="val 50021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 flipV="1">
            <a:off x="9759950" y="2472690"/>
            <a:ext cx="673100" cy="260350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 flipV="1">
            <a:off x="9747250" y="3361690"/>
            <a:ext cx="673100" cy="168910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 flipV="1">
            <a:off x="9744710" y="4206240"/>
            <a:ext cx="678815" cy="862965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86549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训练损失与输出策略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0111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损失函数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pic>
        <p:nvPicPr>
          <p:cNvPr id="5" name="图片 4" descr="截屏2025-12-18 09.45.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4890" y="2245360"/>
            <a:ext cx="4660900" cy="635000"/>
          </a:xfrm>
          <a:prstGeom prst="rect">
            <a:avLst/>
          </a:prstGeom>
        </p:spPr>
      </p:pic>
      <p:pic>
        <p:nvPicPr>
          <p:cNvPr id="6" name="图片 5" descr="截屏2025-12-18 09.46.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890" y="3195320"/>
            <a:ext cx="5524500" cy="1828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37820" y="1938020"/>
            <a:ext cx="3890010" cy="785495"/>
          </a:xfrm>
          <a:prstGeom prst="rect">
            <a:avLst/>
          </a:prstGeom>
          <a:ln w="19050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采用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Focal Loss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和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Dice Loss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的线性组合（比例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20 : 1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）进行监督训练</a:t>
            </a:r>
            <a:endParaRPr kumimoji="1" lang="zh-CN" altLang="en-US" sz="1600" dirty="0">
              <a:solidFill>
                <a:schemeClr val="tx1"/>
              </a:solidFill>
              <a:uFillTx/>
              <a:latin typeface="Songti SC Regular" panose="02010800040101010101" charset="-122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1530985" y="3214370"/>
            <a:ext cx="2851150" cy="914400"/>
          </a:xfrm>
          <a:prstGeom prst="roundRect">
            <a:avLst/>
          </a:prstGeom>
          <a:ln w="254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ko-KR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Focal Loss：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关注难分类样本</a:t>
            </a:r>
            <a:endParaRPr kumimoji="1" lang="zh-CN" altLang="en-US" sz="1600" b="0" i="0" baseline="0" smtClean="0">
              <a:ln>
                <a:noFill/>
              </a:ln>
              <a:solidFill>
                <a:schemeClr val="bg2"/>
              </a:solidFill>
              <a:effectLst/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530985" y="4619625"/>
            <a:ext cx="2878455" cy="9144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254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ko-KR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Dice Loss：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优化区域重叠，对正负样本不平衡稳健</a:t>
            </a:r>
            <a:endParaRPr kumimoji="1" lang="zh-CN" altLang="en-US" sz="1600" b="0" i="0" baseline="0" smtClean="0">
              <a:ln>
                <a:noFill/>
              </a:ln>
              <a:solidFill>
                <a:schemeClr val="bg2"/>
              </a:solidFill>
              <a:effectLst/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04890" y="1721485"/>
            <a:ext cx="2691130" cy="359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其中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γ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降低易分类样本权重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04890" y="5224780"/>
            <a:ext cx="3890645" cy="3594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直接衡量预测区域与真实区域的重叠程度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20" name="燕尾形箭头 19"/>
          <p:cNvSpPr/>
          <p:nvPr/>
        </p:nvSpPr>
        <p:spPr>
          <a:xfrm rot="20100000">
            <a:off x="4445635" y="2853690"/>
            <a:ext cx="1527175" cy="460375"/>
          </a:xfrm>
          <a:prstGeom prst="notchedRightArrow">
            <a:avLst>
              <a:gd name="adj1" fmla="val 50000"/>
              <a:gd name="adj2" fmla="val 99041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2" name="燕尾形箭头 21"/>
          <p:cNvSpPr/>
          <p:nvPr/>
        </p:nvSpPr>
        <p:spPr>
          <a:xfrm rot="20160000">
            <a:off x="4493895" y="4439920"/>
            <a:ext cx="1527175" cy="460375"/>
          </a:xfrm>
          <a:prstGeom prst="notchedRightArrow">
            <a:avLst>
              <a:gd name="adj1" fmla="val 50000"/>
              <a:gd name="adj2" fmla="val 99041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ko-KR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86549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数据引擎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0111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手动标注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98320" y="1138555"/>
            <a:ext cx="3890010" cy="785495"/>
          </a:xfrm>
          <a:prstGeom prst="rect">
            <a:avLst/>
          </a:prstGeom>
          <a:ln w="19050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标注员使用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SAM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辅助工具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（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点击、刷子、橡皮擦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）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标注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Songti SC Regular" panose="02010800040101010101" charset="-122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9395" y="2552700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半自动标注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9395" y="375856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全自动标注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98320" y="2367280"/>
            <a:ext cx="3890010" cy="785495"/>
          </a:xfrm>
          <a:prstGeom prst="rect">
            <a:avLst/>
          </a:prstGeom>
          <a:ln w="19050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SAM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自动检测高置信度物体并填充，标注员专注于未被检测到的低显著物体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Songti SC Regular" panose="02010800040101010101" charset="-122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98320" y="3596005"/>
            <a:ext cx="3890010" cy="785495"/>
          </a:xfrm>
          <a:prstGeom prst="rect">
            <a:avLst/>
          </a:prstGeom>
          <a:ln w="19050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模型向图像输入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32x32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网格点提示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，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预测所有掩码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Songti SC Regular" panose="02010800040101010101" charset="-122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pic>
        <p:nvPicPr>
          <p:cNvPr id="14" name="图片 13" descr="截屏2025-12-18 10.06.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795" y="4687570"/>
            <a:ext cx="5969635" cy="139065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  <a:effectLst>
            <a:reflection stA="90000" endA="300" endPos="25000" dir="5400000" sy="-100000" algn="bl" rotWithShape="0"/>
          </a:effectLst>
        </p:spPr>
      </p:pic>
      <p:sp>
        <p:nvSpPr>
          <p:cNvPr id="15" name="圆角矩形 14"/>
          <p:cNvSpPr/>
          <p:nvPr/>
        </p:nvSpPr>
        <p:spPr>
          <a:xfrm>
            <a:off x="6816090" y="1189355"/>
            <a:ext cx="2851150" cy="914400"/>
          </a:xfrm>
          <a:prstGeom prst="roundRect">
            <a:avLst/>
          </a:prstGeom>
          <a:ln w="254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12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万张图像，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430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万掩码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（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每张图平均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44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个掩码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）</a:t>
            </a:r>
            <a:endParaRPr kumimoji="1" lang="en-US" altLang="zh-CN" sz="1600" b="0" i="0" baseline="0" smtClean="0">
              <a:ln>
                <a:noFill/>
              </a:ln>
              <a:solidFill>
                <a:schemeClr val="bg2"/>
              </a:solidFill>
              <a:effectLst/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540625" y="2311400"/>
            <a:ext cx="2878455" cy="9144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254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增加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18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万张图像，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590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万掩码（每张图平均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72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个掩码），增加了掩码多样性</a:t>
            </a:r>
            <a:endParaRPr kumimoji="1" lang="zh-CN" altLang="en-US" sz="1600" b="0" i="0" baseline="0" smtClean="0">
              <a:ln>
                <a:noFill/>
              </a:ln>
              <a:solidFill>
                <a:schemeClr val="bg2"/>
              </a:solidFill>
              <a:effectLst/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245475" y="3467100"/>
            <a:ext cx="2878455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扩展至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1100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万张图像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，11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亿掩码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，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生成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SA-1B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数据集</a:t>
            </a:r>
            <a:endParaRPr kumimoji="1" lang="zh-CN" altLang="en-US" sz="1600" b="0" i="0" baseline="0" smtClean="0">
              <a:ln>
                <a:noFill/>
              </a:ln>
              <a:solidFill>
                <a:schemeClr val="bg2"/>
              </a:solidFill>
              <a:effectLst/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68490" y="4872990"/>
            <a:ext cx="4559935" cy="1020445"/>
          </a:xfrm>
          <a:prstGeom prst="rect">
            <a:avLst/>
          </a:prstGeom>
          <a:ln>
            <a:prstDash val="sysDot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归一化后图像尺寸的掩码中心分布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Songti SC Regular" panose="02010800040101010101" charset="-122"/>
              <a:cs typeface="Times New Roman Regular" panose="02020503050405090304" charset="0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SA-1B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数据集是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 Open Images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数据集的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 400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倍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24" name="梯形 23"/>
          <p:cNvSpPr/>
          <p:nvPr/>
        </p:nvSpPr>
        <p:spPr bwMode="auto">
          <a:xfrm rot="16200000">
            <a:off x="5302284" y="2343891"/>
            <a:ext cx="2190150" cy="836629"/>
          </a:xfrm>
          <a:prstGeom prst="trapezoid">
            <a:avLst>
              <a:gd name="adj" fmla="val 35853"/>
            </a:avLst>
          </a:prstGeom>
          <a:gradFill>
            <a:gsLst>
              <a:gs pos="0">
                <a:schemeClr val="accent5">
                  <a:shade val="51000"/>
                  <a:satMod val="130000"/>
                  <a:alpha val="0"/>
                  <a:lumMod val="0"/>
                  <a:lumOff val="100000"/>
                </a:schemeClr>
              </a:gs>
              <a:gs pos="80000">
                <a:schemeClr val="accent5">
                  <a:shade val="93000"/>
                  <a:satMod val="130000"/>
                  <a:alpha val="50000"/>
                </a:schemeClr>
              </a:gs>
              <a:gs pos="100000">
                <a:schemeClr val="accent5">
                  <a:shade val="94000"/>
                  <a:satMod val="135000"/>
                  <a:alpha val="50000"/>
                </a:schemeClr>
              </a:gs>
            </a:gsLst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854065" y="3623945"/>
            <a:ext cx="2331085" cy="12153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94%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的自动生成掩码与人工修正掩码的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IoU &gt; 90%，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质量极高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86549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SA-1B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数据集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01115"/>
            <a:ext cx="2124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数据质量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pic>
        <p:nvPicPr>
          <p:cNvPr id="5" name="图片 4" descr="截屏2025-12-18 10.52.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2098675"/>
            <a:ext cx="11836400" cy="22009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81430" y="4636135"/>
            <a:ext cx="9629140" cy="785495"/>
          </a:xfrm>
          <a:prstGeom prst="rect">
            <a:avLst/>
          </a:prstGeom>
          <a:ln w="19050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空间分布上，相比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COCO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和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Open Images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存在的中心偏差，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SA-1B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的掩码覆盖了更多的图像角落区域，其相对大小包含更高比例的中小型相对尺寸掩码，这归功于每张图像拥有平均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 100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个甚至更多的掩码数量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Songti SC Regular" panose="02010800040101010101" charset="-122"/>
                <a:ea typeface="Songti SC Regular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Songti SC Regular" panose="02010800040101010101" charset="-122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3947" y="3044613"/>
            <a:ext cx="10843260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/>
            <a:r>
              <a:rPr lang="zh-CN" altLang="en-US" sz="3735" b="1" dirty="0">
                <a:latin typeface="微软雅黑" charset="-122"/>
                <a:ea typeface="微软雅黑" charset="-122"/>
                <a:cs typeface="STHeiti Light" panose="02010600040101010101" charset="-122"/>
              </a:rPr>
              <a:t>实 验 结 果</a:t>
            </a:r>
            <a:endParaRPr lang="zh-CN" altLang="en-US" sz="3735" b="1" dirty="0">
              <a:latin typeface="微软雅黑" charset="-122"/>
              <a:ea typeface="微软雅黑" charset="-122"/>
              <a:cs typeface="STHeiti Light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86549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零样本迁移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01115"/>
            <a:ext cx="2547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单点有效掩码评估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9395" y="3763645"/>
            <a:ext cx="1583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边缘检测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1037590" y="1986915"/>
            <a:ext cx="2851150" cy="914400"/>
          </a:xfrm>
          <a:prstGeom prst="roundRect">
            <a:avLst/>
          </a:prstGeom>
          <a:ln w="254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仅给定一个前景点提示</a:t>
            </a:r>
            <a:endParaRPr kumimoji="1" lang="zh-CN" altLang="en-US" sz="1600" b="0" i="0" baseline="0" smtClean="0">
              <a:ln>
                <a:noFill/>
              </a:ln>
              <a:solidFill>
                <a:schemeClr val="bg2"/>
              </a:solidFill>
              <a:effectLst/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478655" y="1986915"/>
            <a:ext cx="3221355" cy="9144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254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在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23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个数据集中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，SAM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在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16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个上优于最强交互式基线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RITM</a:t>
            </a:r>
            <a:endParaRPr kumimoji="1" lang="en-US" altLang="zh-CN" sz="1600" b="0" i="0" baseline="0" smtClean="0">
              <a:ln>
                <a:noFill/>
              </a:ln>
              <a:solidFill>
                <a:schemeClr val="bg2"/>
              </a:solidFill>
              <a:effectLst/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289925" y="1986915"/>
            <a:ext cx="2878455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标注员一致认为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SAM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的掩码质量显著更高</a:t>
            </a:r>
            <a:endParaRPr kumimoji="1" lang="zh-CN" altLang="en-US" sz="1600" b="0" i="0" baseline="0" smtClean="0">
              <a:ln>
                <a:noFill/>
              </a:ln>
              <a:solidFill>
                <a:schemeClr val="bg2"/>
              </a:solidFill>
              <a:effectLst/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125855" y="5300345"/>
            <a:ext cx="4856480" cy="7366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使用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16x16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点网格生成掩码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--&gt; Sobel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滤波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--&gt; NMS</a:t>
            </a:r>
            <a:endParaRPr kumimoji="1" lang="en-US" altLang="zh-CN" sz="1600" b="0" i="0" baseline="0" smtClean="0">
              <a:ln>
                <a:noFill/>
              </a:ln>
              <a:solidFill>
                <a:schemeClr val="bg2"/>
              </a:solidFill>
              <a:effectLst/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823085" y="3683635"/>
            <a:ext cx="3462020" cy="135445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在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BSDS500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数据集上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，SAM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未经专门训练即生成了合理的边缘图，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Recall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很高，甚至能捕捉到人工未标注的逻辑边缘</a:t>
            </a:r>
            <a:endParaRPr kumimoji="1" lang="zh-CN" altLang="en-US" sz="1600" b="0" i="0" baseline="0" smtClean="0">
              <a:ln>
                <a:noFill/>
              </a:ln>
              <a:solidFill>
                <a:schemeClr val="bg2"/>
              </a:solidFill>
              <a:effectLst/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  <p:pic>
        <p:nvPicPr>
          <p:cNvPr id="11" name="图片 10" descr="截屏2025-12-18 11.09.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365" y="3594735"/>
            <a:ext cx="5015865" cy="244221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dash"/>
          </a:ln>
        </p:spPr>
      </p:pic>
      <p:sp>
        <p:nvSpPr>
          <p:cNvPr id="25" name="文本框 24"/>
          <p:cNvSpPr txBox="1"/>
          <p:nvPr/>
        </p:nvSpPr>
        <p:spPr>
          <a:xfrm>
            <a:off x="5473065" y="3026410"/>
            <a:ext cx="6245860" cy="4432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SAM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自动捕捉到未经人类标注的逻辑边缘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，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展现了强大的迁移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能力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86549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下游任务应用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18260"/>
            <a:ext cx="2547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目标建议生成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9395" y="3369310"/>
            <a:ext cx="1583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实例分割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9395" y="5419725"/>
            <a:ext cx="1583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文本到掩码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62445" y="1297940"/>
            <a:ext cx="5213985" cy="684530"/>
          </a:xfrm>
          <a:prstGeom prst="rect">
            <a:avLst/>
          </a:prstGeom>
          <a:ln w="19050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在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 LVIS v1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数据集上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，SAM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生成的候选区域在中型、大型及稀有类别物体上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，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表现优于全监督的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 ViTDet-H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模型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62445" y="2155825"/>
            <a:ext cx="5213985" cy="969010"/>
          </a:xfrm>
          <a:prstGeom prst="rect">
            <a:avLst/>
          </a:prstGeom>
          <a:ln w="19050"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ViTDet（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检测框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）--&gt; SAM（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生成掩码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）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虽然严格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 AP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指标略低，但在人工视觉评估中，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SAM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生成的边界更清晰、质量更高，克服了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 COCO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等数据集标注粗糙的局限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Songti SC Regular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Songti SC Regular" panose="02010800040101010101" charset="-122"/>
              <a:cs typeface="Times New Roman Regular" panose="02020503050405090304" charset="0"/>
            </a:endParaRPr>
          </a:p>
        </p:txBody>
      </p:sp>
      <p:pic>
        <p:nvPicPr>
          <p:cNvPr id="13" name="图片 12" descr="截屏2025-12-18 13.28.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370" y="1297940"/>
            <a:ext cx="4624070" cy="1232535"/>
          </a:xfrm>
          <a:prstGeom prst="rect">
            <a:avLst/>
          </a:prstGeom>
          <a:effectLst/>
        </p:spPr>
      </p:pic>
      <p:pic>
        <p:nvPicPr>
          <p:cNvPr id="14" name="图片 13" descr="截屏2025-12-18 13.33.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70" y="2608580"/>
            <a:ext cx="4622165" cy="1057275"/>
          </a:xfrm>
          <a:prstGeom prst="rect">
            <a:avLst/>
          </a:prstGeom>
        </p:spPr>
      </p:pic>
      <p:pic>
        <p:nvPicPr>
          <p:cNvPr id="17" name="图片 16" descr="截屏2025-12-18 13.34.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275" y="3743960"/>
            <a:ext cx="4634865" cy="1584325"/>
          </a:xfrm>
          <a:prstGeom prst="rect">
            <a:avLst/>
          </a:prstGeom>
        </p:spPr>
      </p:pic>
      <p:pic>
        <p:nvPicPr>
          <p:cNvPr id="18" name="图片 17" descr="截屏2025-12-18 13.35.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235" y="3202305"/>
            <a:ext cx="4002405" cy="2907030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2034540" y="5424805"/>
            <a:ext cx="4676140" cy="68453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结合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 CLIP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文本嵌入，</a:t>
            </a:r>
            <a:r>
              <a:rPr kumimoji="1" lang="en-US" altLang="zh-CN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SAM </a:t>
            </a:r>
            <a:r>
              <a:rPr kumimoji="1" lang="zh-CN" altLang="en-US" sz="1600" b="0" i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Times New Roman" panose="02020503050405090304" pitchFamily="18" charset="0"/>
                <a:ea typeface="宋体-简" panose="02010800040101010101" charset="-122"/>
              </a:rPr>
              <a:t>能根据简单的文本提示成功分割物体，验证了多模态融合潜力。</a:t>
            </a:r>
            <a:endParaRPr kumimoji="1" lang="zh-CN" altLang="en-US" sz="1600" b="0" i="0" baseline="0" smtClean="0">
              <a:ln>
                <a:noFill/>
              </a:ln>
              <a:solidFill>
                <a:schemeClr val="bg2"/>
              </a:solidFill>
              <a:effectLst/>
              <a:uFillTx/>
              <a:latin typeface="Times New Roman" panose="02020503050405090304" pitchFamily="18" charset="0"/>
              <a:ea typeface="宋体-简" panose="020108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86549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消融实验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18260"/>
            <a:ext cx="2547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数据量对性能的影响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84260" y="1331595"/>
            <a:ext cx="21405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模型规模的影响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2810" y="1855470"/>
            <a:ext cx="5032375" cy="1123950"/>
          </a:xfrm>
          <a:prstGeom prst="rect">
            <a:avLst/>
          </a:prstGeom>
          <a:ln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全自动数据的有效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性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仅使用全自动生成的掩码训练，性能仅比使用全量数据（含人工标注）低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0.5 mIoU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2810" y="2977515"/>
            <a:ext cx="5032375" cy="1452880"/>
          </a:xfrm>
          <a:prstGeom prst="rect">
            <a:avLst/>
          </a:prstGeom>
          <a:ln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GB" sz="1600" b="1" dirty="0"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数据缩放</a:t>
            </a:r>
            <a:endParaRPr lang="en-GB" altLang="zh-CN" sz="1600" b="1" dirty="0"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即使仅使用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SA-1B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的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10%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（约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100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万张图像，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1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亿掩码），模型性能已与完整数据集相当。这表明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100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万张图像是很多场景下的实用设置</a:t>
            </a:r>
            <a:endParaRPr kumimoji="1" lang="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11185" y="2230120"/>
            <a:ext cx="3087370" cy="8407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ViT-H 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相比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 ViT-B 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提升显著，但相比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 ViT-L 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仅有边际提升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ongti SC Regular" panose="02010800040101010101" charset="-122"/>
              <a:ea typeface="Songti SC Regular" panose="0201080004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12455" y="3227705"/>
            <a:ext cx="3086100" cy="8407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/>
          <a:p>
            <a:pPr marL="0" marR="0" indent="0" algn="ctr" defTabSz="914400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进一步扩大图像编码器规模（超过</a:t>
            </a:r>
            <a:r>
              <a:rPr kumimoji="1" lang="en-US" altLang="zh-CN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 ViT-H</a:t>
            </a:r>
            <a:r>
              <a:rPr kumimoji="1" lang="zh-CN" alt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ongti SC Regular" panose="02010800040101010101" charset="-122"/>
                <a:ea typeface="Songti SC Regular" panose="02010800040101010101" charset="-122"/>
              </a:rPr>
              <a:t>）可能收益递减</a:t>
            </a:r>
            <a:endParaRPr kumimoji="1" lang="zh-CN" altLang="en-US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ongti SC Regular" panose="02010800040101010101" charset="-122"/>
              <a:ea typeface="Songti SC Regular" panose="02010800040101010101" charset="-122"/>
            </a:endParaRPr>
          </a:p>
        </p:txBody>
      </p:sp>
      <p:pic>
        <p:nvPicPr>
          <p:cNvPr id="16" name="图片 15" descr="截屏2025-12-18 13.53.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810" y="4507230"/>
            <a:ext cx="10405745" cy="165925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174105" y="1855470"/>
            <a:ext cx="1788160" cy="25749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全自动数据具备有效性，为简化训练设置，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SAM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默认仅使用全自动生成的掩码进行训练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。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3947" y="3044613"/>
            <a:ext cx="10843260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/>
            <a:r>
              <a:rPr lang="zh-CN" altLang="en-US" sz="3735" b="1" dirty="0">
                <a:latin typeface="微软雅黑" charset="-122"/>
                <a:ea typeface="微软雅黑" charset="-122"/>
                <a:cs typeface="STHeiti Light" panose="02010600040101010101" charset="-122"/>
              </a:rPr>
              <a:t>总 结</a:t>
            </a:r>
            <a:endParaRPr lang="zh-CN" altLang="en-US" sz="3735" b="1" dirty="0">
              <a:latin typeface="微软雅黑" charset="-122"/>
              <a:ea typeface="微软雅黑" charset="-122"/>
              <a:cs typeface="STHeiti Light" panose="0201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0" y="845"/>
            <a:ext cx="12192000" cy="11238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21920" tIns="60960" rIns="121920" bIns="60960" numCol="1" rtlCol="0" anchor="t" anchorCtr="0" compatLnSpc="1"/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95" y="298450"/>
            <a:ext cx="586549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latinLnBrk="0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Segment Anything </a:t>
            </a:r>
            <a:r>
              <a:rPr lang="zh-CN" altLang="en-US" sz="2400" b="1" dirty="0">
                <a:solidFill>
                  <a:schemeClr val="bg1"/>
                </a:solidFill>
                <a:uFillTx/>
                <a:latin typeface="黑体" charset="0"/>
                <a:ea typeface="黑体" charset="0"/>
                <a:cs typeface="黑体" charset="0"/>
              </a:rPr>
              <a:t>总结</a:t>
            </a:r>
            <a:endParaRPr lang="zh-CN" altLang="en-US" sz="2400" b="1" dirty="0">
              <a:solidFill>
                <a:schemeClr val="bg1"/>
              </a:solidFill>
              <a:uFillTx/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9395" y="1318260"/>
            <a:ext cx="2547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核心</a:t>
            </a:r>
            <a:r>
              <a:rPr lang="zh-CN" altLang="en-US" sz="2000" b="1" dirty="0">
                <a:latin typeface="黑体" charset="0"/>
                <a:ea typeface="黑体" charset="0"/>
                <a:cs typeface="Times New Roman Regular" panose="02020503050405090304" charset="0"/>
              </a:rPr>
              <a:t>贡献</a:t>
            </a:r>
            <a:endParaRPr lang="zh-CN" altLang="en-US" sz="2000" b="1" dirty="0">
              <a:latin typeface="黑体" charset="0"/>
              <a:ea typeface="黑体" charset="0"/>
              <a:cs typeface="Times New Roman Regular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83690" y="4287520"/>
            <a:ext cx="9024620" cy="194881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Segment Anything（SAM）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标志着计算机视觉向基础模型范式演进的关键一步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：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1.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定义新范式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：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引入“提示工程”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，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通过点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、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框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、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文本实现零样本迁移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；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2.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最大规模数据集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：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发布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 SA-1B（1100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万个图像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、11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亿个掩码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），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极大丰富了社区资源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；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3.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高效的架构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：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图像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、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</a:rPr>
              <a:t>提示编码器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解耦，实现浏览器端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 50ms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实时交互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；</a:t>
            </a:r>
            <a:endParaRPr kumimoji="1" lang="en-US" altLang="zh-CN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  <a:sym typeface="+mn-ea"/>
            </a:endParaRP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4. 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卓越泛化能力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：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在零样本情景下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，</a:t>
            </a:r>
            <a:r>
              <a:rPr kumimoji="1" lang="zh-CN" altLang="en-US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多项任务表现优于全监督专有模型</a:t>
            </a:r>
            <a:r>
              <a:rPr kumimoji="1" lang="en-US" altLang="zh-CN" sz="1600" dirty="0">
                <a:solidFill>
                  <a:schemeClr val="tx1"/>
                </a:solidFill>
                <a:uFillTx/>
                <a:latin typeface="Times New Roman" panose="02020503050405090304" pitchFamily="18" charset="0"/>
                <a:ea typeface="宋体-简" panose="02010800040101010101" charset="-122"/>
                <a:cs typeface="Times New Roman Regular" panose="02020503050405090304" charset="0"/>
                <a:sym typeface="+mn-ea"/>
              </a:rPr>
              <a:t>。</a:t>
            </a:r>
            <a:endParaRPr kumimoji="1" lang="zh-CN" altLang="en-US" sz="1600" dirty="0">
              <a:solidFill>
                <a:schemeClr val="tx1"/>
              </a:solidFill>
              <a:uFillTx/>
              <a:latin typeface="Times New Roman" panose="02020503050405090304" pitchFamily="18" charset="0"/>
              <a:ea typeface="宋体-简" panose="02010800040101010101" charset="-122"/>
              <a:cs typeface="Times New Roman Regular" panose="02020503050405090304" charset="0"/>
            </a:endParaRPr>
          </a:p>
        </p:txBody>
      </p:sp>
      <p:pic>
        <p:nvPicPr>
          <p:cNvPr id="5" name="图片 4" descr="截屏2025-12-18 14.09.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690" y="1318260"/>
            <a:ext cx="9024620" cy="28759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132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B132">
      <a:majorFont>
        <a:latin typeface="-쉬리B"/>
        <a:ea typeface="-쉬리B"/>
        <a:cs typeface=""/>
      </a:majorFont>
      <a:minorFont>
        <a:latin typeface="-쉬리M"/>
        <a:ea typeface="-쉬리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bg2"/>
          </a:solidFill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anose="020B0600000101010101" pitchFamily="34" charset="-127"/>
            <a:ea typeface="Gulim" panose="020B0600000101010101" pitchFamily="34" charset="-127"/>
          </a:defRPr>
        </a:defPPr>
      </a:lstStyle>
      <a:style>
        <a:lnRef idx="0">
          <a:srgbClr val="FFFFFF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headEnd type="none" w="med" len="med"/>
          <a:tailEnd type="arrow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indent="0" algn="l" latinLnBrk="0">
          <a:lnSpc>
            <a:spcPct val="120000"/>
          </a:lnSpc>
          <a:spcAft>
            <a:spcPts val="600"/>
          </a:spcAft>
          <a:defRPr sz="1400" dirty="0">
            <a:solidFill>
              <a:schemeClr val="tx1"/>
            </a:solidFill>
            <a:uFillTx/>
            <a:latin typeface="Times New Roman" panose="02020503050405090304" pitchFamily="18" charset="0"/>
            <a:ea typeface="新宋体" panose="02010609030101010101" pitchFamily="49" charset="-122"/>
            <a:cs typeface="Times New Roman Regular" panose="02020503050405090304" charset="0"/>
          </a:defRPr>
        </a:defPPr>
      </a:lstStyle>
    </a:txDef>
  </a:objectDefaults>
  <a:extraClrSchemeLst>
    <a:extraClrScheme>
      <a:clrScheme name="B13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13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3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3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3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3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13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2464</Words>
  <Application>WPS 演示</Application>
  <PresentationFormat>宽屏</PresentationFormat>
  <Paragraphs>181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48" baseType="lpstr">
      <vt:lpstr>Arial</vt:lpstr>
      <vt:lpstr>宋体</vt:lpstr>
      <vt:lpstr>Wingdings</vt:lpstr>
      <vt:lpstr>Gulim</vt:lpstr>
      <vt:lpstr>Apple SD Gothic Neo</vt:lpstr>
      <vt:lpstr>Times New Roman</vt:lpstr>
      <vt:lpstr>新宋体</vt:lpstr>
      <vt:lpstr>方正书宋_GBK</vt:lpstr>
      <vt:lpstr>Times New Roman Regular</vt:lpstr>
      <vt:lpstr>-쉬리B</vt:lpstr>
      <vt:lpstr>黑体</vt:lpstr>
      <vt:lpstr>汉仪中黑KW</vt:lpstr>
      <vt:lpstr>-쉬리M</vt:lpstr>
      <vt:lpstr>楷体</vt:lpstr>
      <vt:lpstr>汉仪楷体KW</vt:lpstr>
      <vt:lpstr>微软雅黑</vt:lpstr>
      <vt:lpstr>汉仪旗黑</vt:lpstr>
      <vt:lpstr>STHeiti Light</vt:lpstr>
      <vt:lpstr>黑体</vt:lpstr>
      <vt:lpstr>宋体-简</vt:lpstr>
      <vt:lpstr>Songti SC Regular</vt:lpstr>
      <vt:lpstr>汉仪书宋二KW</vt:lpstr>
      <vt:lpstr>宋体</vt:lpstr>
      <vt:lpstr>Arial Unicode MS</vt:lpstr>
      <vt:lpstr>苹方-简</vt:lpstr>
      <vt:lpstr>-쉬리M</vt:lpstr>
      <vt:lpstr>Gulim</vt:lpstr>
      <vt:lpstr>Wingdings</vt:lpstr>
      <vt:lpstr>微软雅黑</vt:lpstr>
      <vt:lpstr>新宋体</vt:lpstr>
      <vt:lpstr>凌慧体-繁</vt:lpstr>
      <vt:lpstr>B132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illusionna</dc:creator>
  <cp:lastModifiedBy>幻象</cp:lastModifiedBy>
  <cp:revision>284</cp:revision>
  <dcterms:created xsi:type="dcterms:W3CDTF">2025-12-18T06:12:32Z</dcterms:created>
  <dcterms:modified xsi:type="dcterms:W3CDTF">2025-12-18T06:12:32Z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F6E7363B2F596C0656A2426900236F6C_41</vt:lpwstr>
  </property>
</Properties>
</file>